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A2 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
Baseline</c:v>
                  </c:pt>
                  <c:pt idx="1">
                    <c:v>Top-1</c:v>
                  </c:pt>
                  <c:pt idx="2">
                    <c:v>Top-3</c:v>
                  </c:pt>
                  <c:pt idx="3">
                    <c:v>Top-5</c:v>
                  </c:pt>
                  <c:pt idx="4">
                    <c:v>Top-10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</c:v>
                </c:pt>
                <c:pt idx="1">
                  <c:v>42.9</c:v>
                </c:pt>
                <c:pt idx="2">
                  <c:v>70.1</c:v>
                </c:pt>
                <c:pt idx="3">
                  <c:v>71.4</c:v>
                </c:pt>
                <c:pt idx="4">
                  <c:v>77.9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Sharpness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Sharp (top-1 &gt; 30%)</c:v>
                </c:pt>
                <c:pt idx="1">
                  <c:v>Moderate (15-30%)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</c:v>
                </c:pt>
                <c:pt idx="1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Zhang BN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Inop. Instruments</c:v>
                  </c:pt>
                  <c:pt idx="1">
                    <c:v>Combustion Liner</c:v>
                  </c:pt>
                  <c:pt idx="2">
                    <c:v>Improper Oil</c:v>
                  </c:pt>
                  <c:pt idx="3">
                    <c:v>Inop. + Oil</c:v>
                  </c:pt>
                  <c:pt idx="4">
                    <c:v>All Three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</c:v>
                </c:pt>
                <c:pt idx="1">
                  <c:v>0.5</c:v>
                </c:pt>
                <c:pt idx="2">
                  <c:v>0.95</c:v>
                </c:pt>
                <c:pt idx="3">
                  <c:v>0.99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A2</c:v>
                </c:pt>
              </c:strCache>
            </c:strRef>
          </c:tx>
          <c:spPr>
            <a:solidFill>
              <a:srgbClr val="E891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Inop. Instruments</c:v>
                  </c:pt>
                  <c:pt idx="1">
                    <c:v>Combustion Liner</c:v>
                  </c:pt>
                  <c:pt idx="2">
                    <c:v>Improper Oil</c:v>
                  </c:pt>
                  <c:pt idx="3">
                    <c:v>Inop. + Oil</c:v>
                  </c:pt>
                  <c:pt idx="4">
                    <c:v>All Three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0.093</c:v>
                </c:pt>
                <c:pt idx="1">
                  <c:v>0.081</c:v>
                </c:pt>
                <c:pt idx="2">
                  <c:v>0.082</c:v>
                </c:pt>
                <c:pt idx="3">
                  <c:v>0.092</c:v>
                </c:pt>
                <c:pt idx="4">
                  <c:v>0.095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Zhang — Forced Landing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Inop. Instr.</c:v>
                  </c:pt>
                  <c:pt idx="1">
                    <c:v>Comb. Liner</c:v>
                  </c:pt>
                  <c:pt idx="2">
                    <c:v>Impr. Oil</c:v>
                  </c:pt>
                  <c:pt idx="3">
                    <c:v>Inop+Oil</c:v>
                  </c:pt>
                  <c:pt idx="4">
                    <c:v>All 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0.136</c:v>
                </c:pt>
                <c:pt idx="1">
                  <c:v>0.071</c:v>
                </c:pt>
                <c:pt idx="2">
                  <c:v>0.136</c:v>
                </c:pt>
                <c:pt idx="3">
                  <c:v>0.147</c:v>
                </c:pt>
                <c:pt idx="4">
                  <c:v>0.143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A2 — Forced Landing</c:v>
                </c:pt>
              </c:strCache>
            </c:strRef>
          </c:tx>
          <c:spPr>
            <a:solidFill>
              <a:srgbClr val="E891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Inop. Instr.</c:v>
                  </c:pt>
                  <c:pt idx="1">
                    <c:v>Comb. Liner</c:v>
                  </c:pt>
                  <c:pt idx="2">
                    <c:v>Impr. Oil</c:v>
                  </c:pt>
                  <c:pt idx="3">
                    <c:v>Inop+Oil</c:v>
                  </c:pt>
                  <c:pt idx="4">
                    <c:v>All 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0.669</c:v>
                </c:pt>
                <c:pt idx="1">
                  <c:v>0.545</c:v>
                </c:pt>
                <c:pt idx="2">
                  <c:v>0.588</c:v>
                </c:pt>
                <c:pt idx="3">
                  <c:v>0.516</c:v>
                </c:pt>
                <c:pt idx="4">
                  <c:v>0.485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Zhang — Subst. Damage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Inop. Instr.</c:v>
                  </c:pt>
                  <c:pt idx="1">
                    <c:v>Comb. Liner</c:v>
                  </c:pt>
                  <c:pt idx="2">
                    <c:v>Impr. Oil</c:v>
                  </c:pt>
                  <c:pt idx="3">
                    <c:v>Inop+Oil</c:v>
                  </c:pt>
                  <c:pt idx="4">
                    <c:v>All 3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0.046</c:v>
                </c:pt>
                <c:pt idx="1">
                  <c:v>0.004</c:v>
                </c:pt>
                <c:pt idx="2">
                  <c:v>0.006</c:v>
                </c:pt>
                <c:pt idx="3">
                  <c:v>0.046</c:v>
                </c:pt>
                <c:pt idx="4">
                  <c:v>0.017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A2 — Subst. Damage</c:v>
                </c:pt>
              </c:strCache>
            </c:strRef>
          </c:tx>
          <c:spPr>
            <a:solidFill>
              <a:srgbClr val="D484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Inop. Instr.</c:v>
                  </c:pt>
                  <c:pt idx="1">
                    <c:v>Comb. Liner</c:v>
                  </c:pt>
                  <c:pt idx="2">
                    <c:v>Impr. Oil</c:v>
                  </c:pt>
                  <c:pt idx="3">
                    <c:v>Inop+Oil</c:v>
                  </c:pt>
                  <c:pt idx="4">
                    <c:v>All 3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0.171</c:v>
                </c:pt>
                <c:pt idx="1">
                  <c:v>0.169</c:v>
                </c:pt>
                <c:pt idx="2">
                  <c:v>0.235</c:v>
                </c:pt>
                <c:pt idx="3">
                  <c:v>0.329</c:v>
                </c:pt>
                <c:pt idx="4">
                  <c:v>0.285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 Model Results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Analysis &amp; Zhang BN Comparison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Kanu  |  Vanderbilt University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A2 Model?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0604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A0 — Baseline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25146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Embedding-only retrieval.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similar incidents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text.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60604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044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 — Structural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520440" y="25146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+ structural mapping.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causal chains, then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reranks by structural similarity.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097280"/>
            <a:ext cx="260604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2588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508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55080" y="25146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P(cause | evidence)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P(downstream event)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distributions over 54 codes.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is our best model — embeddings + structural causal chain extraction + reranking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Tested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0604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Incidents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from training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0604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34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Codes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 code taxonomy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0604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Prognosis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Given incident evidence, what caused it? Full probability distribution over all 54 occurrence codes.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Given incident evidence, what happens next? Top-5 predicted downstream events with probabilities.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Accuracy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822960"/>
            <a:ext cx="31089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6928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Context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06440" y="1417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0" y="1417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 (1/54)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8379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top-1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0" y="1837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06440" y="2258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random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2258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679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26791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06440" y="30998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accuracy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30998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 top-1 accuracy is 23x above random chance. The correct cause is in the top 3 predictions 70% of the time.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 vs A0 — Did Structural Mapping Help?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A2's structural causal chain extraction + reranking should meaningfully improve over A0's embedding-only approach. Structural similarity should catch cases that cosine similarity misses.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Happened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changed top-1 on 1/77 incidents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1 change was a correction (A0 wrong → A2 right)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nearly identical (2.527 vs 2.526)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top-1 prob identical (0.434 vs 0.435)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F0FF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Incident: 20090223X03403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Loss of control - in flight (code 250).  A0 predicted: UNMAPPED (wrong).  A2 predicted: Loss of control - in flight (correct).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Embedding similarity already captures most signal. Structural mapping may add more value on edge cases or with a larger/harder test set.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Distributions Informative?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822960"/>
            <a:ext cx="393192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Quality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37760" y="13716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47/77 (61%) have top-1 probability &gt; 30%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30/77 (39%) have moderate concentration (15-30%)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0/77 have flat distributions (top-1 &lt; 15%)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top-1 probability: 43.5%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not guessing uniformly — every single incident has a clear top prediction. The majority (61%) have a strongly dominant cause.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Prognosis — Downstream Event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77/77 incidents complete, zero errors. Top predictions are sensible and domain-appropriate: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640080"/>
                <a:gridCol w="1828800"/>
                <a:gridCol w="64008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Prediction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Prediction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encounter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flight encounter with weather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sharp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landing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incident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landing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Fire/explosion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domain-appropriate: engine failures predict forced landings, weather incidents predict weather encounters with very high confidence. The model is discriminating between outcomes, not guessing.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Zhang BN Comparison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Zhang's exact scenarios through our A2 model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2743200"/>
            <a:ext cx="2468880" cy="18288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Engine Power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evidence sets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probability rows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66160" y="2743200"/>
            <a:ext cx="2468880" cy="18288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6616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Gear Collapse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gear failure types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outcome probabilities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743200"/>
            <a:ext cx="2468880" cy="18288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9224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Error Propagation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conditions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downstream nodes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9 — Diagnosis: Loss of Engine Power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P(Loss of Engine Power | Evidence) — Zhang concentrates on one cause, we distribute across many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Zhang's BN directly models P(loss of engine power) as a single node. Our retrieval model distributes probability across all 54 possible causes (~9% each for top causes). These are different questions: "is this THE cause?" vs "how likely is each cause?"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9 — Prognosis: Our Model is Stronger Here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landing + substantial damage probabilities — our model reflects real historical frequencies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forced landing probabilities (49–67%) are higher than Zhang's (7–15%). In real NTSB data, engine failures very frequently do result in forced landings — our model reflects actual outcome frequencies.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11 — Main Gear Collapse Outcomes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10312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Destroyed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Destroyed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Dmg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Dmg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Inj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Inj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gear strut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extension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Locking mechanism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gear attachment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predicts higher damage rates because it learns from real NTSB outcomes — gear collapses frequently cause substantial damage. Zhang's BN uses expert-defined probability tables that may be more conservative than real-world frequencies.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12 — Pilot Error Influence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(Pilot Err)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(Pilot Err)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(+Unstable)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(+Unstable)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landing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Dragged wing/tail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Subst. damage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injury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landing stands out: A2 says 94.6%, Zhang says 6.0%. Our model strongly associates pilot error with hard landings — in real NTSB data, that's the most common outcome. "No injury" at 0% is the known limitation (next slide).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Numbers Differ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Zhang's Bayesian Network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Expert-defined 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tables from domain knowledge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model absence states ("No injury" = 97%)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"What's the conditional probability at this node?"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Retrieval Model (A2)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600+ real NTSB incidents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from actual historical outcomes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model absence states (only what happened)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"In incidents like this, what usually happened?"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wrong — they answer different questions. You can't directly say one "performed better" without shared ground truth for these specific scenarios.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"No Injury" Limitation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BN says: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Injury = 94–99%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probability that nothing bad happens. Most flights are safe.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says: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Injury = 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incidents where things went wrong. Can't predict the absence of events.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inherent architectural difference: BNs model joint distributions including negatives, retrieval systems aggregate historical outcomes. Our model answers "what will go wrong?" not "what won't go wrong?"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88720" y="1508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 top-1 accuracy (23x random). Top-3 is 70.1%. Full distributions over 54 codes for all 77 test incidents — diagnosis and prognosis both complete.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88720" y="2377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A2's structural reranking made minimal quantitative difference from A0 (1/77 changed), but that one change was a correction. Embeddings may already capture most of the signal.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88720" y="3246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and Zhang's BN answer different questions — different probability scales are expected. Neither is provably better without shared ground truth.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88720" y="4114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is strong on prognosis — forced landing at 49–67% vs Zhang's 7–15% — because it learns directly from real outcome frequencies in NTSB data.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investigate why A2 structural mapping didn't differentiate more from A0?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calibrate our probabilities to enable direct numerical comparison with Zhang?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"No Injury" limitation acceptable, or do we need a complementary approach?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additional metrics (calibration curves, Brier score) would strengthen the analysis?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available in Testing_Structural_Mapping_Slides/outputs/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Model Results — Probability Analysis</dc:title>
  <dc:subject>PptxGenJS Presentation</dc:subject>
  <dc:creator>Kanu</dc:creator>
  <cp:lastModifiedBy>Kanu</cp:lastModifiedBy>
  <cp:revision>1</cp:revision>
  <dcterms:created xsi:type="dcterms:W3CDTF">2026-04-30T16:31:43Z</dcterms:created>
  <dcterms:modified xsi:type="dcterms:W3CDTF">2026-04-30T16:31:43Z</dcterms:modified>
</cp:coreProperties>
</file>