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frame: the model is fine for what it was built to do. The point is that its output should carry an interval and nothing currently computes one. Then: this is Zhang’s recipe on our data, no LLM, so it cannot be dismissed as the AI being unreliable.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here. The ratios DO justify the ranking. They do not justify the cutoff. Analogy if he pushes: ranking 100 job candidates by score is justified by the scores; "hire the top 12" is not. If he says a developer would pick the cutoff by some criterion: they would have to state it, and they did not, and different reasonable criteria land in different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mechanism, be ready for this: at a low cap none of the kept parents is active for that accident, so the rule puts ALL the mass on the default state "no injury". The model reports certainty and is certainly wrong. If you cannot explain that, the result looks borrowed.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protective slide. Do NOT say "the network changes every time" — he will correct you. Say: it does not change if I re-run it, it changes if I change a choice nobody justified, and Zhang’s own version was random at the tie-break.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short. End on the questions. If he only has five minutes, show slide 3 and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84048" y="274320"/>
            <a:ext cx="8412480" cy="502920"/>
          </a:xfrm>
          <a:prstGeom prst="rect">
            <a:avLst/>
          </a:prstGeom>
          <a:noFill/>
          <a:ln/>
        </p:spPr>
        <p:txBody>
          <a:bodyPr wrap="square" lIns="0" tIns="0" rIns="0" bIns="0" rtlCol="0" anchor="ctr"/>
          <a:lstStyle/>
          <a:p>
            <a:pPr indent="0" marL="0">
              <a:buNone/>
            </a:pPr>
            <a:r>
              <a:rPr lang="en-US" sz="2600" b="1" dirty="0">
                <a:solidFill>
                  <a:srgbClr val="000000"/>
                </a:solidFill>
                <a:latin typeface="Arial" pitchFamily="34" charset="0"/>
                <a:ea typeface="Arial" pitchFamily="34" charset="-122"/>
                <a:cs typeface="Arial" pitchFamily="34" charset="-120"/>
              </a:rPr>
              <a:t>What I did since Tuesday</a:t>
            </a:r>
            <a:endParaRPr lang="en-US" sz="2600" dirty="0"/>
          </a:p>
        </p:txBody>
      </p:sp>
      <p:sp>
        <p:nvSpPr>
          <p:cNvPr id="3" name="Shape 1"/>
          <p:cNvSpPr/>
          <p:nvPr/>
        </p:nvSpPr>
        <p:spPr>
          <a:xfrm>
            <a:off x="0" y="4736592"/>
            <a:ext cx="9144000" cy="402336"/>
          </a:xfrm>
          <a:prstGeom prst="rect">
            <a:avLst/>
          </a:prstGeom>
          <a:solidFill>
            <a:srgbClr val="FFC107"/>
          </a:solidFill>
          <a:ln w="12700">
            <a:solidFill>
              <a:srgbClr val="FFC107"/>
            </a:solidFill>
            <a:prstDash val="solid"/>
          </a:ln>
        </p:spPr>
      </p:sp>
      <p:sp>
        <p:nvSpPr>
          <p:cNvPr id="4" name="Shape 2"/>
          <p:cNvSpPr/>
          <p:nvPr/>
        </p:nvSpPr>
        <p:spPr>
          <a:xfrm>
            <a:off x="3749040" y="4736592"/>
            <a:ext cx="1463040" cy="402336"/>
          </a:xfrm>
          <a:prstGeom prst="rect">
            <a:avLst/>
          </a:prstGeom>
          <a:solidFill>
            <a:srgbClr val="000000"/>
          </a:solidFill>
          <a:ln w="12700">
            <a:solidFill>
              <a:srgbClr val="000000"/>
            </a:solidFill>
            <a:prstDash val="solid"/>
          </a:ln>
        </p:spPr>
      </p:sp>
      <p:sp>
        <p:nvSpPr>
          <p:cNvPr id="5" name="Text 3"/>
          <p:cNvSpPr txBox="1"/>
          <p:nvPr/>
        </p:nvSpPr>
        <p:spPr>
          <a:xfrm>
            <a:off x="3749040" y="4736592"/>
            <a:ext cx="1463040" cy="402336"/>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Slide 12</a:t>
            </a:r>
            <a:endParaRPr lang="en-US" sz="1100" dirty="0"/>
          </a:p>
        </p:txBody>
      </p:sp>
      <p:sp>
        <p:nvSpPr>
          <p:cNvPr id="6" name="Text 4"/>
          <p:cNvSpPr txBox="1"/>
          <p:nvPr/>
        </p:nvSpPr>
        <p:spPr>
          <a:xfrm>
            <a:off x="5394960" y="4736592"/>
            <a:ext cx="2377440" cy="402336"/>
          </a:xfrm>
          <a:prstGeom prst="rect">
            <a:avLst/>
          </a:prstGeom>
          <a:noFill/>
          <a:ln/>
        </p:spPr>
        <p:txBody>
          <a:bodyPr wrap="square"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Vanderbilt University</a:t>
            </a:r>
            <a:endParaRPr lang="en-US" sz="1100" dirty="0"/>
          </a:p>
        </p:txBody>
      </p:sp>
      <p:sp>
        <p:nvSpPr>
          <p:cNvPr id="7" name="Text 5"/>
          <p:cNvSpPr txBox="1"/>
          <p:nvPr/>
        </p:nvSpPr>
        <p:spPr>
          <a:xfrm>
            <a:off x="502920" y="960120"/>
            <a:ext cx="8138160" cy="3566160"/>
          </a:xfrm>
          <a:prstGeom prst="rect">
            <a:avLst/>
          </a:prstGeom>
          <a:noFill/>
          <a:ln/>
        </p:spPr>
        <p:txBody>
          <a:bodyPr wrap="square" lIns="0" tIns="0" rIns="0" bIns="0" rtlCol="0" anchor="t"/>
          <a:lstStyle/>
          <a:p>
            <a:pPr marL="342900" indent="-342900">
              <a:lnSpc>
                <a:spcPts val="2200"/>
              </a:lnSpc>
              <a:spcAft>
                <a:spcPts val="1100"/>
              </a:spcAft>
              <a:buSzPct val="100000"/>
              <a:buChar char="–"/>
            </a:pPr>
            <a:r>
              <a:rPr lang="en-US" sz="1500" dirty="0">
                <a:solidFill>
                  <a:srgbClr val="000000"/>
                </a:solidFill>
                <a:latin typeface="Arial" pitchFamily="34" charset="0"/>
                <a:ea typeface="Arial" pitchFamily="34" charset="-122"/>
                <a:cs typeface="Arial" pitchFamily="34" charset="-120"/>
              </a:rPr>
              <a:t>You asked for a concrete example of the structural uncertainty. This is it.</a:t>
            </a:r>
            <a:endParaRPr lang="en-US" sz="1500" dirty="0"/>
          </a:p>
          <a:p>
            <a:pPr marL="342900" indent="-342900">
              <a:lnSpc>
                <a:spcPts val="2200"/>
              </a:lnSpc>
              <a:spcAft>
                <a:spcPts val="1100"/>
              </a:spcAft>
              <a:buSzPct val="100000"/>
              <a:buChar char="–"/>
            </a:pPr>
            <a:r>
              <a:rPr lang="en-US" sz="1500" dirty="0">
                <a:solidFill>
                  <a:srgbClr val="000000"/>
                </a:solidFill>
                <a:latin typeface="Arial" pitchFamily="34" charset="0"/>
                <a:ea typeface="Arial" pitchFamily="34" charset="-122"/>
                <a:cs typeface="Arial" pitchFamily="34" charset="-120"/>
              </a:rPr>
              <a:t>I used our own frozen network and our own NTSB data. Nothing new was built.</a:t>
            </a:r>
            <a:endParaRPr lang="en-US" sz="1500" dirty="0"/>
          </a:p>
          <a:p>
            <a:pPr marL="342900" indent="-342900">
              <a:lnSpc>
                <a:spcPts val="2200"/>
              </a:lnSpc>
              <a:spcAft>
                <a:spcPts val="1100"/>
              </a:spcAft>
              <a:buSzPct val="100000"/>
              <a:buChar char="–"/>
            </a:pPr>
            <a:r>
              <a:rPr lang="en-US" sz="1500" dirty="0">
                <a:solidFill>
                  <a:srgbClr val="000000"/>
                </a:solidFill>
                <a:latin typeface="Arial" pitchFamily="34" charset="0"/>
                <a:ea typeface="Arial" pitchFamily="34" charset="-122"/>
                <a:cs typeface="Arial" pitchFamily="34" charset="-120"/>
              </a:rPr>
              <a:t>I changed one thing in how the network is constructed, then rebuilt it and asked the same question.</a:t>
            </a:r>
            <a:endParaRPr lang="en-US" sz="1500" dirty="0"/>
          </a:p>
          <a:p>
            <a:pPr marL="342900" indent="-342900">
              <a:lnSpc>
                <a:spcPts val="2200"/>
              </a:lnSpc>
              <a:spcAft>
                <a:spcPts val="1100"/>
              </a:spcAft>
              <a:buSzPct val="100000"/>
              <a:buChar char="–"/>
            </a:pPr>
            <a:r>
              <a:rPr lang="en-US" sz="1500" dirty="0">
                <a:solidFill>
                  <a:srgbClr val="000000"/>
                </a:solidFill>
                <a:latin typeface="Arial" pitchFamily="34" charset="0"/>
                <a:ea typeface="Arial" pitchFamily="34" charset="-122"/>
                <a:cs typeface="Arial" pitchFamily="34" charset="-120"/>
              </a:rPr>
              <a:t>Everything else is held fixed: same 1,742 accidents, same CPT rules, same query.</a:t>
            </a:r>
            <a:endParaRPr lang="en-US" sz="1500" dirty="0"/>
          </a:p>
          <a:p>
            <a:pPr marL="342900" indent="-342900">
              <a:lnSpc>
                <a:spcPts val="2200"/>
              </a:lnSpc>
              <a:spcAft>
                <a:spcPts val="1100"/>
              </a:spcAft>
              <a:buSzPct val="100000"/>
              <a:buChar char="–"/>
            </a:pPr>
            <a:r>
              <a:rPr lang="en-US" sz="1500" dirty="0">
                <a:solidFill>
                  <a:srgbClr val="000000"/>
                </a:solidFill>
                <a:latin typeface="Arial" pitchFamily="34" charset="0"/>
                <a:ea typeface="Arial" pitchFamily="34" charset="-122"/>
                <a:cs typeface="Arial" pitchFamily="34" charset="-120"/>
              </a:rPr>
              <a:t>No LLM is involved anywhere in this test.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84048" y="274320"/>
            <a:ext cx="8412480" cy="502920"/>
          </a:xfrm>
          <a:prstGeom prst="rect">
            <a:avLst/>
          </a:prstGeom>
          <a:noFill/>
          <a:ln/>
        </p:spPr>
        <p:txBody>
          <a:bodyPr wrap="square" lIns="0" tIns="0" rIns="0" bIns="0" rtlCol="0" anchor="ctr"/>
          <a:lstStyle/>
          <a:p>
            <a:pPr indent="0" marL="0">
              <a:buNone/>
            </a:pPr>
            <a:r>
              <a:rPr lang="en-US" sz="2600" b="1" dirty="0">
                <a:solidFill>
                  <a:srgbClr val="000000"/>
                </a:solidFill>
                <a:latin typeface="Arial" pitchFamily="34" charset="0"/>
                <a:ea typeface="Arial" pitchFamily="34" charset="-122"/>
                <a:cs typeface="Arial" pitchFamily="34" charset="-120"/>
              </a:rPr>
              <a:t>What the structural uncertainty is</a:t>
            </a:r>
            <a:endParaRPr lang="en-US" sz="2600" dirty="0"/>
          </a:p>
        </p:txBody>
      </p:sp>
      <p:sp>
        <p:nvSpPr>
          <p:cNvPr id="3" name="Shape 1"/>
          <p:cNvSpPr/>
          <p:nvPr/>
        </p:nvSpPr>
        <p:spPr>
          <a:xfrm>
            <a:off x="0" y="4736592"/>
            <a:ext cx="9144000" cy="402336"/>
          </a:xfrm>
          <a:prstGeom prst="rect">
            <a:avLst/>
          </a:prstGeom>
          <a:solidFill>
            <a:srgbClr val="FFC107"/>
          </a:solidFill>
          <a:ln w="12700">
            <a:solidFill>
              <a:srgbClr val="FFC107"/>
            </a:solidFill>
            <a:prstDash val="solid"/>
          </a:ln>
        </p:spPr>
      </p:sp>
      <p:sp>
        <p:nvSpPr>
          <p:cNvPr id="4" name="Shape 2"/>
          <p:cNvSpPr/>
          <p:nvPr/>
        </p:nvSpPr>
        <p:spPr>
          <a:xfrm>
            <a:off x="3749040" y="4736592"/>
            <a:ext cx="1463040" cy="402336"/>
          </a:xfrm>
          <a:prstGeom prst="rect">
            <a:avLst/>
          </a:prstGeom>
          <a:solidFill>
            <a:srgbClr val="000000"/>
          </a:solidFill>
          <a:ln w="12700">
            <a:solidFill>
              <a:srgbClr val="000000"/>
            </a:solidFill>
            <a:prstDash val="solid"/>
          </a:ln>
        </p:spPr>
      </p:sp>
      <p:sp>
        <p:nvSpPr>
          <p:cNvPr id="5" name="Text 3"/>
          <p:cNvSpPr txBox="1"/>
          <p:nvPr/>
        </p:nvSpPr>
        <p:spPr>
          <a:xfrm>
            <a:off x="3749040" y="4736592"/>
            <a:ext cx="1463040" cy="402336"/>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Slide 13</a:t>
            </a:r>
            <a:endParaRPr lang="en-US" sz="1100" dirty="0"/>
          </a:p>
        </p:txBody>
      </p:sp>
      <p:sp>
        <p:nvSpPr>
          <p:cNvPr id="6" name="Text 4"/>
          <p:cNvSpPr txBox="1"/>
          <p:nvPr/>
        </p:nvSpPr>
        <p:spPr>
          <a:xfrm>
            <a:off x="5394960" y="4736592"/>
            <a:ext cx="2377440" cy="402336"/>
          </a:xfrm>
          <a:prstGeom prst="rect">
            <a:avLst/>
          </a:prstGeom>
          <a:noFill/>
          <a:ln/>
        </p:spPr>
        <p:txBody>
          <a:bodyPr wrap="square"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Vanderbilt University</a:t>
            </a:r>
            <a:endParaRPr lang="en-US" sz="1100" dirty="0"/>
          </a:p>
        </p:txBody>
      </p:sp>
      <p:sp>
        <p:nvSpPr>
          <p:cNvPr id="7" name="Text 5"/>
          <p:cNvSpPr txBox="1"/>
          <p:nvPr/>
        </p:nvSpPr>
        <p:spPr>
          <a:xfrm>
            <a:off x="502920" y="960120"/>
            <a:ext cx="8138160" cy="3291840"/>
          </a:xfrm>
          <a:prstGeom prst="rect">
            <a:avLst/>
          </a:prstGeom>
          <a:noFill/>
          <a:ln/>
        </p:spPr>
        <p:txBody>
          <a:bodyPr wrap="square" lIns="0" tIns="0" rIns="0" bIns="0" rtlCol="0" anchor="t"/>
          <a:lstStyle/>
          <a:p>
            <a:pPr marL="342900" indent="-342900">
              <a:lnSpc>
                <a:spcPts val="2200"/>
              </a:lnSpc>
              <a:spcAft>
                <a:spcPts val="1100"/>
              </a:spcAft>
              <a:buSzPct val="100000"/>
              <a:buChar char="–"/>
            </a:pPr>
            <a:r>
              <a:rPr lang="en-US" sz="1500" dirty="0">
                <a:solidFill>
                  <a:srgbClr val="000000"/>
                </a:solidFill>
                <a:latin typeface="Arial" pitchFamily="34" charset="0"/>
                <a:ea typeface="Arial" pitchFamily="34" charset="-122"/>
                <a:cs typeface="Arial" pitchFamily="34" charset="-120"/>
              </a:rPr>
              <a:t>The structure is which parent nodes point into each node.</a:t>
            </a:r>
            <a:endParaRPr lang="en-US" sz="1500" dirty="0"/>
          </a:p>
          <a:p>
            <a:pPr marL="342900" indent="-342900">
              <a:lnSpc>
                <a:spcPts val="2200"/>
              </a:lnSpc>
              <a:spcAft>
                <a:spcPts val="1100"/>
              </a:spcAft>
              <a:buSzPct val="100000"/>
              <a:buChar char="–"/>
            </a:pPr>
            <a:r>
              <a:rPr lang="en-US" sz="1500" dirty="0">
                <a:solidFill>
                  <a:srgbClr val="000000"/>
                </a:solidFill>
                <a:latin typeface="Arial" pitchFamily="34" charset="0"/>
                <a:ea typeface="Arial" pitchFamily="34" charset="-122"/>
                <a:cs typeface="Arial" pitchFamily="34" charset="-120"/>
              </a:rPr>
              <a:t>The data does decide a lot: which edges exist, and how strong each edge is. So the data ranks the candidate parents.</a:t>
            </a:r>
            <a:endParaRPr lang="en-US" sz="1500" dirty="0"/>
          </a:p>
          <a:p>
            <a:pPr marL="342900" indent="-342900">
              <a:lnSpc>
                <a:spcPts val="2200"/>
              </a:lnSpc>
              <a:spcAft>
                <a:spcPts val="1100"/>
              </a:spcAft>
              <a:buSzPct val="100000"/>
              <a:buChar char="–"/>
            </a:pPr>
            <a:r>
              <a:rPr lang="en-US" sz="1500" dirty="0">
                <a:solidFill>
                  <a:srgbClr val="000000"/>
                </a:solidFill>
                <a:latin typeface="Arial" pitchFamily="34" charset="0"/>
                <a:ea typeface="Arial" pitchFamily="34" charset="-122"/>
                <a:cs typeface="Arial" pitchFamily="34" charset="-120"/>
              </a:rPr>
              <a:t>The data does not decide how many parents to keep.</a:t>
            </a:r>
            <a:endParaRPr lang="en-US" sz="1500" dirty="0"/>
          </a:p>
          <a:p>
            <a:pPr marL="342900" indent="-342900">
              <a:lnSpc>
                <a:spcPts val="2200"/>
              </a:lnSpc>
              <a:spcAft>
                <a:spcPts val="1100"/>
              </a:spcAft>
              <a:buSzPct val="100000"/>
              <a:buChar char="–"/>
            </a:pPr>
            <a:r>
              <a:rPr lang="en-US" sz="1500" dirty="0">
                <a:solidFill>
                  <a:srgbClr val="000000"/>
                </a:solidFill>
                <a:latin typeface="Arial" pitchFamily="34" charset="0"/>
                <a:ea typeface="Arial" pitchFamily="34" charset="-122"/>
                <a:cs typeface="Arial" pitchFamily="34" charset="-120"/>
              </a:rPr>
              <a:t>That number is maxElements = 12, a constant in Zhang’s code. No threshold, no stopping rule, no test produces it.</a:t>
            </a:r>
            <a:endParaRPr lang="en-US" sz="1500" dirty="0"/>
          </a:p>
          <a:p>
            <a:pPr marL="342900" indent="-342900">
              <a:lnSpc>
                <a:spcPts val="2200"/>
              </a:lnSpc>
              <a:spcAft>
                <a:spcPts val="1100"/>
              </a:spcAft>
              <a:buSzPct val="100000"/>
              <a:buChar char="–"/>
            </a:pPr>
            <a:r>
              <a:rPr lang="en-US" sz="1500" dirty="0">
                <a:solidFill>
                  <a:srgbClr val="000000"/>
                </a:solidFill>
                <a:latin typeface="Arial" pitchFamily="34" charset="0"/>
                <a:ea typeface="Arial" pitchFamily="34" charset="-122"/>
                <a:cs typeface="Arial" pitchFamily="34" charset="-120"/>
              </a:rPr>
              <a:t>The injury node therefore has 12 parents, which is 4,096 parent combinations. Only 59 of them ever appear in our 1,742 accidents.</a:t>
            </a:r>
            <a:endParaRPr lang="en-US" sz="1500" dirty="0"/>
          </a:p>
        </p:txBody>
      </p:sp>
      <p:sp>
        <p:nvSpPr>
          <p:cNvPr id="8" name="Text 6"/>
          <p:cNvSpPr txBox="1"/>
          <p:nvPr/>
        </p:nvSpPr>
        <p:spPr>
          <a:xfrm>
            <a:off x="502920" y="4224528"/>
            <a:ext cx="8138160" cy="365760"/>
          </a:xfrm>
          <a:prstGeom prst="rect">
            <a:avLst/>
          </a:prstGeom>
          <a:noFill/>
          <a:ln/>
        </p:spPr>
        <p:txBody>
          <a:bodyPr wrap="square" lIns="0" tIns="0" rIns="0" bIns="0" rtlCol="0" anchor="ctr"/>
          <a:lstStyle/>
          <a:p>
            <a:pPr indent="0" marL="0">
              <a:buNone/>
            </a:pPr>
            <a:r>
              <a:rPr lang="en-US" sz="1500" b="1" dirty="0">
                <a:solidFill>
                  <a:srgbClr val="B03A2E"/>
                </a:solidFill>
                <a:latin typeface="Arial" pitchFamily="34" charset="0"/>
                <a:ea typeface="Arial" pitchFamily="34" charset="-122"/>
                <a:cs typeface="Arial" pitchFamily="34" charset="-120"/>
              </a:rPr>
              <a:t>Everything the model says about injury is estimated from those 59.</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84048" y="274320"/>
            <a:ext cx="8412480" cy="502920"/>
          </a:xfrm>
          <a:prstGeom prst="rect">
            <a:avLst/>
          </a:prstGeom>
          <a:noFill/>
          <a:ln/>
        </p:spPr>
        <p:txBody>
          <a:bodyPr wrap="square" lIns="0" tIns="0" rIns="0" bIns="0" rtlCol="0" anchor="ctr"/>
          <a:lstStyle/>
          <a:p>
            <a:pPr indent="0" marL="0">
              <a:buNone/>
            </a:pPr>
            <a:r>
              <a:rPr lang="en-US" sz="2600" b="1" dirty="0">
                <a:solidFill>
                  <a:srgbClr val="000000"/>
                </a:solidFill>
                <a:latin typeface="Arial" pitchFamily="34" charset="0"/>
                <a:ea typeface="Arial" pitchFamily="34" charset="-122"/>
                <a:cs typeface="Arial" pitchFamily="34" charset="-120"/>
              </a:rPr>
              <a:t>Same accident, same data, different answer</a:t>
            </a:r>
            <a:endParaRPr lang="en-US" sz="2600" dirty="0"/>
          </a:p>
        </p:txBody>
      </p:sp>
      <p:sp>
        <p:nvSpPr>
          <p:cNvPr id="3" name="Shape 1"/>
          <p:cNvSpPr/>
          <p:nvPr/>
        </p:nvSpPr>
        <p:spPr>
          <a:xfrm>
            <a:off x="0" y="4736592"/>
            <a:ext cx="9144000" cy="402336"/>
          </a:xfrm>
          <a:prstGeom prst="rect">
            <a:avLst/>
          </a:prstGeom>
          <a:solidFill>
            <a:srgbClr val="FFC107"/>
          </a:solidFill>
          <a:ln w="12700">
            <a:solidFill>
              <a:srgbClr val="FFC107"/>
            </a:solidFill>
            <a:prstDash val="solid"/>
          </a:ln>
        </p:spPr>
      </p:sp>
      <p:sp>
        <p:nvSpPr>
          <p:cNvPr id="4" name="Shape 2"/>
          <p:cNvSpPr/>
          <p:nvPr/>
        </p:nvSpPr>
        <p:spPr>
          <a:xfrm>
            <a:off x="3749040" y="4736592"/>
            <a:ext cx="1463040" cy="402336"/>
          </a:xfrm>
          <a:prstGeom prst="rect">
            <a:avLst/>
          </a:prstGeom>
          <a:solidFill>
            <a:srgbClr val="000000"/>
          </a:solidFill>
          <a:ln w="12700">
            <a:solidFill>
              <a:srgbClr val="000000"/>
            </a:solidFill>
            <a:prstDash val="solid"/>
          </a:ln>
        </p:spPr>
      </p:sp>
      <p:sp>
        <p:nvSpPr>
          <p:cNvPr id="5" name="Text 3"/>
          <p:cNvSpPr txBox="1"/>
          <p:nvPr/>
        </p:nvSpPr>
        <p:spPr>
          <a:xfrm>
            <a:off x="3749040" y="4736592"/>
            <a:ext cx="1463040" cy="402336"/>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Slide 14</a:t>
            </a:r>
            <a:endParaRPr lang="en-US" sz="1100" dirty="0"/>
          </a:p>
        </p:txBody>
      </p:sp>
      <p:sp>
        <p:nvSpPr>
          <p:cNvPr id="6" name="Text 4"/>
          <p:cNvSpPr txBox="1"/>
          <p:nvPr/>
        </p:nvSpPr>
        <p:spPr>
          <a:xfrm>
            <a:off x="5394960" y="4736592"/>
            <a:ext cx="2377440" cy="402336"/>
          </a:xfrm>
          <a:prstGeom prst="rect">
            <a:avLst/>
          </a:prstGeom>
          <a:noFill/>
          <a:ln/>
        </p:spPr>
        <p:txBody>
          <a:bodyPr wrap="square"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Vanderbilt University</a:t>
            </a:r>
            <a:endParaRPr lang="en-US" sz="1100" dirty="0"/>
          </a:p>
        </p:txBody>
      </p:sp>
      <p:pic>
        <p:nvPicPr>
          <p:cNvPr id="7" name="Image 0" descr="cap.png">    </p:cNvPr>
          <p:cNvPicPr>
            <a:picLocks noChangeAspect="1"/>
          </p:cNvPicPr>
          <p:nvPr/>
        </p:nvPicPr>
        <p:blipFill>
          <a:blip r:embed="rId1"/>
          <a:stretch>
            <a:fillRect/>
          </a:stretch>
        </p:blipFill>
        <p:spPr>
          <a:xfrm>
            <a:off x="384048" y="896112"/>
            <a:ext cx="6263640" cy="3127248"/>
          </a:xfrm>
          <a:prstGeom prst="rect">
            <a:avLst/>
          </a:prstGeom>
        </p:spPr>
      </p:pic>
      <p:sp>
        <p:nvSpPr>
          <p:cNvPr id="8" name="Text 5"/>
          <p:cNvSpPr txBox="1"/>
          <p:nvPr/>
        </p:nvSpPr>
        <p:spPr>
          <a:xfrm>
            <a:off x="6812280" y="960120"/>
            <a:ext cx="1965960" cy="3108960"/>
          </a:xfrm>
          <a:prstGeom prst="rect">
            <a:avLst/>
          </a:prstGeom>
          <a:noFill/>
          <a:ln/>
        </p:spPr>
        <p:txBody>
          <a:bodyPr wrap="square" lIns="0" tIns="0" rIns="0" bIns="0" rtlCol="0" anchor="t"/>
          <a:lstStyle/>
          <a:p>
            <a:pPr indent="0" marL="0">
              <a:lnSpc>
                <a:spcPts val="1600"/>
              </a:lnSpc>
              <a:buNone/>
            </a:pPr>
            <a:r>
              <a:rPr lang="en-US" sz="1150" b="1" dirty="0">
                <a:solidFill>
                  <a:srgbClr val="000000"/>
                </a:solidFill>
                <a:latin typeface="Arial" pitchFamily="34" charset="0"/>
                <a:ea typeface="Arial" pitchFamily="34" charset="-122"/>
                <a:cs typeface="Arial" pitchFamily="34" charset="-120"/>
              </a:rPr>
              <a:t>At a cap of 4</a:t>
            </a:r>
            <a:endParaRPr lang="en-US" sz="1150" dirty="0"/>
          </a:p>
          <a:p>
            <a:pPr indent="0" marL="0">
              <a:lnSpc>
                <a:spcPts val="1600"/>
              </a:lnSpc>
              <a:spcAft>
                <a:spcPts val="1400"/>
              </a:spcAft>
              <a:buNone/>
            </a:pPr>
            <a:r>
              <a:rPr lang="en-US" sz="1150" dirty="0">
                <a:solidFill>
                  <a:srgbClr val="000000"/>
                </a:solidFill>
                <a:latin typeface="Arial" pitchFamily="34" charset="0"/>
                <a:ea typeface="Arial" pitchFamily="34" charset="-122"/>
                <a:cs typeface="Arial" pitchFamily="34" charset="-120"/>
              </a:rPr>
              <a:t>the model reports a 0% chance of a fatality, for an accident that killed people.</a:t>
            </a:r>
            <a:endParaRPr lang="en-US" sz="1150" dirty="0"/>
          </a:p>
          <a:p>
            <a:pPr indent="0" marL="0">
              <a:lnSpc>
                <a:spcPts val="1600"/>
              </a:lnSpc>
              <a:buNone/>
            </a:pPr>
            <a:r>
              <a:rPr lang="en-US" sz="1150" b="1" dirty="0">
                <a:solidFill>
                  <a:srgbClr val="000000"/>
                </a:solidFill>
                <a:latin typeface="Arial" pitchFamily="34" charset="0"/>
                <a:ea typeface="Arial" pitchFamily="34" charset="-122"/>
                <a:cs typeface="Arial" pitchFamily="34" charset="-120"/>
              </a:rPr>
              <a:t>At a cap of 6</a:t>
            </a:r>
            <a:endParaRPr lang="en-US" sz="1150" dirty="0"/>
          </a:p>
          <a:p>
            <a:pPr indent="0" marL="0">
              <a:lnSpc>
                <a:spcPts val="1600"/>
              </a:lnSpc>
              <a:spcAft>
                <a:spcPts val="1400"/>
              </a:spcAft>
              <a:buNone/>
            </a:pPr>
            <a:r>
              <a:rPr lang="en-US" sz="1150" dirty="0">
                <a:solidFill>
                  <a:srgbClr val="000000"/>
                </a:solidFill>
                <a:latin typeface="Arial" pitchFamily="34" charset="0"/>
                <a:ea typeface="Arial" pitchFamily="34" charset="-122"/>
                <a:cs typeface="Arial" pitchFamily="34" charset="-120"/>
              </a:rPr>
              <a:t>the same accident reads 53%.</a:t>
            </a:r>
            <a:endParaRPr lang="en-US" sz="1150" dirty="0"/>
          </a:p>
          <a:p>
            <a:pPr indent="0" marL="0">
              <a:lnSpc>
                <a:spcPts val="1600"/>
              </a:lnSpc>
              <a:buNone/>
            </a:pPr>
            <a:r>
              <a:rPr lang="en-US" sz="1150" b="1" dirty="0">
                <a:solidFill>
                  <a:srgbClr val="000000"/>
                </a:solidFill>
                <a:latin typeface="Arial" pitchFamily="34" charset="0"/>
                <a:ea typeface="Arial" pitchFamily="34" charset="-122"/>
                <a:cs typeface="Arial" pitchFamily="34" charset="-120"/>
              </a:rPr>
              <a:t>Across all 1,742 accidents</a:t>
            </a:r>
            <a:endParaRPr lang="en-US" sz="1150" dirty="0"/>
          </a:p>
          <a:p>
            <a:pPr indent="0" marL="0">
              <a:lnSpc>
                <a:spcPts val="1600"/>
              </a:lnSpc>
              <a:buNone/>
            </a:pPr>
            <a:r>
              <a:rPr lang="en-US" sz="1150" dirty="0">
                <a:solidFill>
                  <a:srgbClr val="000000"/>
                </a:solidFill>
                <a:latin typeface="Arial" pitchFamily="34" charset="0"/>
                <a:ea typeface="Arial" pitchFamily="34" charset="-122"/>
                <a:cs typeface="Arial" pitchFamily="34" charset="-120"/>
              </a:rPr>
              <a:t>44% at least double between the lowest and highest cap.</a:t>
            </a:r>
            <a:endParaRPr lang="en-US" sz="1150" dirty="0"/>
          </a:p>
        </p:txBody>
      </p:sp>
      <p:sp>
        <p:nvSpPr>
          <p:cNvPr id="9" name="Text 6"/>
          <p:cNvSpPr txBox="1"/>
          <p:nvPr/>
        </p:nvSpPr>
        <p:spPr>
          <a:xfrm>
            <a:off x="384048" y="4160520"/>
            <a:ext cx="8412480" cy="365760"/>
          </a:xfrm>
          <a:prstGeom prst="rect">
            <a:avLst/>
          </a:prstGeom>
          <a:noFill/>
          <a:ln/>
        </p:spPr>
        <p:txBody>
          <a:bodyPr wrap="square" lIns="0" tIns="0" rIns="0" bIns="0" rtlCol="0" anchor="ctr"/>
          <a:lstStyle/>
          <a:p>
            <a:pPr indent="0" marL="0">
              <a:buNone/>
            </a:pPr>
            <a:r>
              <a:rPr lang="en-US" sz="1200" dirty="0">
                <a:solidFill>
                  <a:srgbClr val="555555"/>
                </a:solidFill>
                <a:latin typeface="Arial" pitchFamily="34" charset="0"/>
                <a:ea typeface="Arial" pitchFamily="34" charset="-122"/>
                <a:cs typeface="Arial" pitchFamily="34" charset="-120"/>
              </a:rPr>
              <a:t>Rebuilt with our own CPT rules. It is also not monotonic — more parents is not better, it is sparser.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84048" y="274320"/>
            <a:ext cx="8412480" cy="502920"/>
          </a:xfrm>
          <a:prstGeom prst="rect">
            <a:avLst/>
          </a:prstGeom>
          <a:noFill/>
          <a:ln/>
        </p:spPr>
        <p:txBody>
          <a:bodyPr wrap="square" lIns="0" tIns="0" rIns="0" bIns="0" rtlCol="0" anchor="ctr"/>
          <a:lstStyle/>
          <a:p>
            <a:pPr indent="0" marL="0">
              <a:buNone/>
            </a:pPr>
            <a:r>
              <a:rPr lang="en-US" sz="2600" b="1" dirty="0">
                <a:solidFill>
                  <a:srgbClr val="000000"/>
                </a:solidFill>
                <a:latin typeface="Arial" pitchFamily="34" charset="0"/>
                <a:ea typeface="Arial" pitchFamily="34" charset="-122"/>
                <a:cs typeface="Arial" pitchFamily="34" charset="-120"/>
              </a:rPr>
              <a:t>Does the graph change every time?</a:t>
            </a:r>
            <a:endParaRPr lang="en-US" sz="2600" dirty="0"/>
          </a:p>
        </p:txBody>
      </p:sp>
      <p:sp>
        <p:nvSpPr>
          <p:cNvPr id="3" name="Shape 1"/>
          <p:cNvSpPr/>
          <p:nvPr/>
        </p:nvSpPr>
        <p:spPr>
          <a:xfrm>
            <a:off x="0" y="4736592"/>
            <a:ext cx="9144000" cy="402336"/>
          </a:xfrm>
          <a:prstGeom prst="rect">
            <a:avLst/>
          </a:prstGeom>
          <a:solidFill>
            <a:srgbClr val="FFC107"/>
          </a:solidFill>
          <a:ln w="12700">
            <a:solidFill>
              <a:srgbClr val="FFC107"/>
            </a:solidFill>
            <a:prstDash val="solid"/>
          </a:ln>
        </p:spPr>
      </p:sp>
      <p:sp>
        <p:nvSpPr>
          <p:cNvPr id="4" name="Shape 2"/>
          <p:cNvSpPr/>
          <p:nvPr/>
        </p:nvSpPr>
        <p:spPr>
          <a:xfrm>
            <a:off x="3749040" y="4736592"/>
            <a:ext cx="1463040" cy="402336"/>
          </a:xfrm>
          <a:prstGeom prst="rect">
            <a:avLst/>
          </a:prstGeom>
          <a:solidFill>
            <a:srgbClr val="000000"/>
          </a:solidFill>
          <a:ln w="12700">
            <a:solidFill>
              <a:srgbClr val="000000"/>
            </a:solidFill>
            <a:prstDash val="solid"/>
          </a:ln>
        </p:spPr>
      </p:sp>
      <p:sp>
        <p:nvSpPr>
          <p:cNvPr id="5" name="Text 3"/>
          <p:cNvSpPr txBox="1"/>
          <p:nvPr/>
        </p:nvSpPr>
        <p:spPr>
          <a:xfrm>
            <a:off x="3749040" y="4736592"/>
            <a:ext cx="1463040" cy="402336"/>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Slide 15</a:t>
            </a:r>
            <a:endParaRPr lang="en-US" sz="1100" dirty="0"/>
          </a:p>
        </p:txBody>
      </p:sp>
      <p:sp>
        <p:nvSpPr>
          <p:cNvPr id="6" name="Text 4"/>
          <p:cNvSpPr txBox="1"/>
          <p:nvPr/>
        </p:nvSpPr>
        <p:spPr>
          <a:xfrm>
            <a:off x="5394960" y="4736592"/>
            <a:ext cx="2377440" cy="402336"/>
          </a:xfrm>
          <a:prstGeom prst="rect">
            <a:avLst/>
          </a:prstGeom>
          <a:noFill/>
          <a:ln/>
        </p:spPr>
        <p:txBody>
          <a:bodyPr wrap="square"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Vanderbilt University</a:t>
            </a:r>
            <a:endParaRPr lang="en-US" sz="1100" dirty="0"/>
          </a:p>
        </p:txBody>
      </p:sp>
      <p:sp>
        <p:nvSpPr>
          <p:cNvPr id="7" name="Text 5"/>
          <p:cNvSpPr txBox="1"/>
          <p:nvPr/>
        </p:nvSpPr>
        <p:spPr>
          <a:xfrm>
            <a:off x="502920" y="960120"/>
            <a:ext cx="8138160" cy="3566160"/>
          </a:xfrm>
          <a:prstGeom prst="rect">
            <a:avLst/>
          </a:prstGeom>
          <a:noFill/>
          <a:ln/>
        </p:spPr>
        <p:txBody>
          <a:bodyPr wrap="square" lIns="0" tIns="0" rIns="0" bIns="0" rtlCol="0" anchor="t"/>
          <a:lstStyle/>
          <a:p>
            <a:pPr marL="342900" indent="-342900">
              <a:lnSpc>
                <a:spcPts val="2200"/>
              </a:lnSpc>
              <a:spcAft>
                <a:spcPts val="1100"/>
              </a:spcAft>
              <a:buSzPct val="100000"/>
              <a:buChar char="–"/>
            </a:pPr>
            <a:r>
              <a:rPr lang="en-US" sz="1500" dirty="0">
                <a:solidFill>
                  <a:srgbClr val="000000"/>
                </a:solidFill>
                <a:latin typeface="Arial" pitchFamily="34" charset="0"/>
                <a:ea typeface="Arial" pitchFamily="34" charset="-122"/>
                <a:cs typeface="Arial" pitchFamily="34" charset="-120"/>
              </a:rPr>
              <a:t>No. Same data, same settings, run it twice and you get the identical network. Ours is deterministic.</a:t>
            </a:r>
            <a:endParaRPr lang="en-US" sz="1500" dirty="0"/>
          </a:p>
          <a:p>
            <a:pPr marL="342900" indent="-342900">
              <a:lnSpc>
                <a:spcPts val="2200"/>
              </a:lnSpc>
              <a:spcAft>
                <a:spcPts val="1100"/>
              </a:spcAft>
              <a:buSzPct val="100000"/>
              <a:buChar char="–"/>
            </a:pPr>
            <a:r>
              <a:rPr lang="en-US" sz="1500" dirty="0">
                <a:solidFill>
                  <a:srgbClr val="000000"/>
                </a:solidFill>
                <a:latin typeface="Arial" pitchFamily="34" charset="0"/>
                <a:ea typeface="Arial" pitchFamily="34" charset="-122"/>
                <a:cs typeface="Arial" pitchFamily="34" charset="-120"/>
              </a:rPr>
              <a:t>It changes when a construction choice changes. The cap is one. The 0.95 ratio cap and the cycle-removal order are others.</a:t>
            </a:r>
            <a:endParaRPr lang="en-US" sz="1500" dirty="0"/>
          </a:p>
          <a:p>
            <a:pPr marL="342900" indent="-342900">
              <a:lnSpc>
                <a:spcPts val="2200"/>
              </a:lnSpc>
              <a:spcAft>
                <a:spcPts val="1100"/>
              </a:spcAft>
              <a:buSzPct val="100000"/>
              <a:buChar char="–"/>
            </a:pPr>
            <a:r>
              <a:rPr lang="en-US" sz="1500" dirty="0">
                <a:solidFill>
                  <a:srgbClr val="000000"/>
                </a:solidFill>
                <a:latin typeface="Arial" pitchFamily="34" charset="0"/>
                <a:ea typeface="Arial" pitchFamily="34" charset="-122"/>
                <a:cs typeface="Arial" pitchFamily="34" charset="-120"/>
              </a:rPr>
              <a:t>Zhang’s original version would change run to run — he broke ties with random jitter. I replaced that with a fixed rule.</a:t>
            </a:r>
            <a:endParaRPr lang="en-US" sz="1500" dirty="0"/>
          </a:p>
          <a:p>
            <a:pPr marL="342900" indent="-342900">
              <a:lnSpc>
                <a:spcPts val="2200"/>
              </a:lnSpc>
              <a:spcAft>
                <a:spcPts val="1100"/>
              </a:spcAft>
              <a:buSzPct val="100000"/>
              <a:buChar char="–"/>
            </a:pPr>
            <a:r>
              <a:rPr lang="en-US" sz="1500" dirty="0">
                <a:solidFill>
                  <a:srgbClr val="000000"/>
                </a:solidFill>
                <a:latin typeface="Arial" pitchFamily="34" charset="0"/>
                <a:ea typeface="Arial" pitchFamily="34" charset="-122"/>
                <a:cs typeface="Arial" pitchFamily="34" charset="-120"/>
              </a:rPr>
              <a:t>So this is not run-to-run noise. Several defensible builds give different answers, and we report only one of them.</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84048" y="274320"/>
            <a:ext cx="8412480" cy="502920"/>
          </a:xfrm>
          <a:prstGeom prst="rect">
            <a:avLst/>
          </a:prstGeom>
          <a:noFill/>
          <a:ln/>
        </p:spPr>
        <p:txBody>
          <a:bodyPr wrap="square" lIns="0" tIns="0" rIns="0" bIns="0" rtlCol="0" anchor="ctr"/>
          <a:lstStyle/>
          <a:p>
            <a:pPr indent="0" marL="0">
              <a:buNone/>
            </a:pPr>
            <a:r>
              <a:rPr lang="en-US" sz="2600" b="1" dirty="0">
                <a:solidFill>
                  <a:srgbClr val="000000"/>
                </a:solidFill>
                <a:latin typeface="Arial" pitchFamily="34" charset="0"/>
                <a:ea typeface="Arial" pitchFamily="34" charset="-122"/>
                <a:cs typeface="Arial" pitchFamily="34" charset="-120"/>
              </a:rPr>
              <a:t>What I think this means</a:t>
            </a:r>
            <a:endParaRPr lang="en-US" sz="2600" dirty="0"/>
          </a:p>
        </p:txBody>
      </p:sp>
      <p:sp>
        <p:nvSpPr>
          <p:cNvPr id="3" name="Shape 1"/>
          <p:cNvSpPr/>
          <p:nvPr/>
        </p:nvSpPr>
        <p:spPr>
          <a:xfrm>
            <a:off x="0" y="4736592"/>
            <a:ext cx="9144000" cy="402336"/>
          </a:xfrm>
          <a:prstGeom prst="rect">
            <a:avLst/>
          </a:prstGeom>
          <a:solidFill>
            <a:srgbClr val="FFC107"/>
          </a:solidFill>
          <a:ln w="12700">
            <a:solidFill>
              <a:srgbClr val="FFC107"/>
            </a:solidFill>
            <a:prstDash val="solid"/>
          </a:ln>
        </p:spPr>
      </p:sp>
      <p:sp>
        <p:nvSpPr>
          <p:cNvPr id="4" name="Shape 2"/>
          <p:cNvSpPr/>
          <p:nvPr/>
        </p:nvSpPr>
        <p:spPr>
          <a:xfrm>
            <a:off x="3749040" y="4736592"/>
            <a:ext cx="1463040" cy="402336"/>
          </a:xfrm>
          <a:prstGeom prst="rect">
            <a:avLst/>
          </a:prstGeom>
          <a:solidFill>
            <a:srgbClr val="000000"/>
          </a:solidFill>
          <a:ln w="12700">
            <a:solidFill>
              <a:srgbClr val="000000"/>
            </a:solidFill>
            <a:prstDash val="solid"/>
          </a:ln>
        </p:spPr>
      </p:sp>
      <p:sp>
        <p:nvSpPr>
          <p:cNvPr id="5" name="Text 3"/>
          <p:cNvSpPr txBox="1"/>
          <p:nvPr/>
        </p:nvSpPr>
        <p:spPr>
          <a:xfrm>
            <a:off x="3749040" y="4736592"/>
            <a:ext cx="1463040" cy="402336"/>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Slide 16</a:t>
            </a:r>
            <a:endParaRPr lang="en-US" sz="1100" dirty="0"/>
          </a:p>
        </p:txBody>
      </p:sp>
      <p:sp>
        <p:nvSpPr>
          <p:cNvPr id="6" name="Text 4"/>
          <p:cNvSpPr txBox="1"/>
          <p:nvPr/>
        </p:nvSpPr>
        <p:spPr>
          <a:xfrm>
            <a:off x="5394960" y="4736592"/>
            <a:ext cx="2377440" cy="402336"/>
          </a:xfrm>
          <a:prstGeom prst="rect">
            <a:avLst/>
          </a:prstGeom>
          <a:noFill/>
          <a:ln/>
        </p:spPr>
        <p:txBody>
          <a:bodyPr wrap="square"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Vanderbilt University</a:t>
            </a:r>
            <a:endParaRPr lang="en-US" sz="1100" dirty="0"/>
          </a:p>
        </p:txBody>
      </p:sp>
      <p:sp>
        <p:nvSpPr>
          <p:cNvPr id="7" name="Text 5"/>
          <p:cNvSpPr txBox="1"/>
          <p:nvPr/>
        </p:nvSpPr>
        <p:spPr>
          <a:xfrm>
            <a:off x="502920" y="1051560"/>
            <a:ext cx="8138160" cy="3566160"/>
          </a:xfrm>
          <a:prstGeom prst="rect">
            <a:avLst/>
          </a:prstGeom>
          <a:noFill/>
          <a:ln/>
        </p:spPr>
        <p:txBody>
          <a:bodyPr wrap="square" lIns="0" tIns="0" rIns="0" bIns="0" rtlCol="0" anchor="t"/>
          <a:lstStyle/>
          <a:p>
            <a:pPr marL="342900" indent="-342900">
              <a:lnSpc>
                <a:spcPts val="2200"/>
              </a:lnSpc>
              <a:spcAft>
                <a:spcPts val="1100"/>
              </a:spcAft>
              <a:buSzPct val="100000"/>
              <a:buChar char="–"/>
            </a:pPr>
            <a:r>
              <a:rPr lang="en-US" sz="1500" dirty="0">
                <a:solidFill>
                  <a:srgbClr val="000000"/>
                </a:solidFill>
                <a:latin typeface="Arial" pitchFamily="34" charset="0"/>
                <a:ea typeface="Arial" pitchFamily="34" charset="-122"/>
                <a:cs typeface="Arial" pitchFamily="34" charset="-120"/>
              </a:rPr>
              <a:t>The network answers how likely the outcome is. It does not say how much to trust its own number.</a:t>
            </a:r>
            <a:endParaRPr lang="en-US" sz="1500" dirty="0"/>
          </a:p>
          <a:p>
            <a:pPr marL="342900" indent="-342900">
              <a:lnSpc>
                <a:spcPts val="2200"/>
              </a:lnSpc>
              <a:spcAft>
                <a:spcPts val="1100"/>
              </a:spcAft>
              <a:buSzPct val="100000"/>
              <a:buChar char="–"/>
            </a:pPr>
            <a:r>
              <a:rPr lang="en-US" sz="1500" dirty="0">
                <a:solidFill>
                  <a:srgbClr val="000000"/>
                </a:solidFill>
                <a:latin typeface="Arial" pitchFamily="34" charset="0"/>
                <a:ea typeface="Arial" pitchFamily="34" charset="-122"/>
                <a:cs typeface="Arial" pitchFamily="34" charset="-120"/>
              </a:rPr>
              <a:t>I would like to report a range instead of a single number, and say where that range comes from.</a:t>
            </a:r>
            <a:endParaRPr lang="en-US" sz="1500" dirty="0"/>
          </a:p>
          <a:p>
            <a:pPr marL="342900" indent="-342900">
              <a:lnSpc>
                <a:spcPts val="2200"/>
              </a:lnSpc>
              <a:spcAft>
                <a:spcPts val="1100"/>
              </a:spcAft>
              <a:buSzPct val="100000"/>
              <a:buChar char="–"/>
            </a:pPr>
            <a:r>
              <a:rPr lang="en-US" sz="1500" dirty="0">
                <a:solidFill>
                  <a:srgbClr val="000000"/>
                </a:solidFill>
                <a:latin typeface="Arial" pitchFamily="34" charset="0"/>
                <a:ea typeface="Arial" pitchFamily="34" charset="-122"/>
                <a:cs typeface="Arial" pitchFamily="34" charset="-120"/>
              </a:rPr>
              <a:t>This test only varied how the network is built. The next layer is how the narrative is read, which is where the agents come in.</a:t>
            </a:r>
            <a:endParaRPr lang="en-US" sz="1500" dirty="0"/>
          </a:p>
        </p:txBody>
      </p:sp>
      <p:sp>
        <p:nvSpPr>
          <p:cNvPr id="8" name="Text 6"/>
          <p:cNvSpPr txBox="1"/>
          <p:nvPr/>
        </p:nvSpPr>
        <p:spPr>
          <a:xfrm>
            <a:off x="502920" y="3611880"/>
            <a:ext cx="8138160" cy="731520"/>
          </a:xfrm>
          <a:prstGeom prst="rect">
            <a:avLst/>
          </a:prstGeom>
          <a:noFill/>
          <a:ln/>
        </p:spPr>
        <p:txBody>
          <a:bodyPr wrap="square" lIns="0" tIns="0" rIns="0" bIns="0" rtlCol="0" anchor="ctr"/>
          <a:lstStyle/>
          <a:p>
            <a:pPr indent="0" marL="0">
              <a:lnSpc>
                <a:spcPts val="2000"/>
              </a:lnSpc>
              <a:buNone/>
            </a:pPr>
            <a:r>
              <a:rPr lang="en-US" sz="1400" b="1" dirty="0">
                <a:solidFill>
                  <a:srgbClr val="000000"/>
                </a:solidFill>
                <a:latin typeface="Arial" pitchFamily="34" charset="0"/>
                <a:ea typeface="Arial" pitchFamily="34" charset="-122"/>
                <a:cs typeface="Arial" pitchFamily="34" charset="-120"/>
              </a:rPr>
              <a:t>Questions: is model form uncertainty the right frame? What would convince you this matters — a wider range, or a changed decision?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2026-09-11T03:19:47Z</dcterms:created>
  <dcterms:modified xsi:type="dcterms:W3CDTF">2026-09-11T03:19:47Z</dcterms:modified>
</cp:coreProperties>
</file>