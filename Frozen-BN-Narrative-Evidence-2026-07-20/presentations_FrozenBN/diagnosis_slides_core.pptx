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beats: the bug I found, the fix, the results. New this version: every key result is paired with the actual figure/table from Zhang's paper so you can verify the numbers. Headline: same data -&gt; same numbers as Zhang, and we go a bit beyond. Scope is the fire node, 1982-2006 window.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wasn't close-but-off. Everything was wrong at once, which signals a data problem upstream, not a parameter to nudge.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single gap explains why nothing lined up: the fire denominator was wrong, so every P(cause|fire) was computed on the wrong population.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slide that makes the 'process change' explicit. Each row is a knob we turned from a wrong setting to the setting Zhang actually used; the right column says exactly what that buys us. No tuning, just alignment.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sanity check passing to the digit, against Zhang's own equation one slide back. That's the gate cleared.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this next to the previous slide — same causes, same probabilities. Convergence is clean: tighter retrieval is query-focused; full breadth reproduces the whole population and equals Zhang.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directly answers the long-standing Table 4 question. The 0.99 is pedagogical — Zhang hand-fills that CPT to illustrate the toy network. His genuine estimator (Fig. 8 Beta-CDF) gives ~0.1 on the same inputs. So we don't chase 0.99; we reproduce the legitimate quantities (prior, Table 7) and reinterpret Table 4 as 'condition on more evidence', shown next.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4 asked 'given brake + wiring, how likely is fire?'. Our conditional asks the diagnosis-direction analogue — 'given fire AND wiring, which cause dominates?' — by restricting the population (14 incidents), not inventing a 0.99. Answer: wiring ~79%.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Everything before was reproduction — proving I can get Zhang's numbers. This is the actual new science: a better way to estimate probabilities when there's almost no data, and I validated it. I'll teach the concepts first, show the result, then be very honest about where it does and doesn't win.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picture. Left is accuracy, lower is better — the green semantic line is flat and low, around 0.11, no matter how little data there is. The grey and red counting lines start near 0.28 at one observation and come down, crossing green around seven. Right is stability — how much the answer jumps between random draws; semantic is pinned to zero, the others bounce. The blue Beta-CDF line is worst on accuracy everywhere. And it's all statistically significant — p below one in ten thousand against Beta-CDF.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arms me for the inevitable question — is it actually better than Zhang? Honest answer: yes, where it matters most. In the sparse regime, n of five or fewer, which is precisely where Zhang's 0.95 lives, it's significantly more accurate and dramatically more stable. And it's a clean win over his actual Beta-CDF smoother across the board. But I won't oversell it: once you have ten or more observations a plain raw count is better, and in the strictest leave-one-out test semantic actually loses to raw counting because its neighbour pool carries a small bias. So the honest takeaway isn't 'throw out counting,' it's 'use the right tool for the regime' — semantic when starved for data, counting when rich. That hybrid is the clean story for the paper.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closes the open item from last time. Beat one was reproduction, beat two was the sparse-cell estimator. This third part is the one thing only the narrative method can do: take a single incident's write-up and use it to guess that incident's cause better than just going with the most common cause overall. I validated four things — conditioning helps, the probabilities are honest, I added a safety switch, and it survives messy queries. The one honest thing I repeat throughout: I'm claiming a reliable improvement over the baseline, not high accuracy. Lead with lift, not the 47 percent.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top row, A-clean — the honest, leakage-free number, the one to quote. Conditioning gets top-1 of 47.4 percent versus 42.2 for the prior, about five points better, and the MRR goes up by about 0.052, p around 1e-11. Against the random pool the gap is even bigger, 8.5 points and 0.103, 1e-29. Beating the prior says the narrative helps; beating the random pool says it's not a small-pool artefact. Both hold decisively.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kills the 'isn't this just leakage?' objection. Stratum B is the cause-prose — text that literally describes the cause. If my method were winning by cheating off that, B would show a much bigger lift than clean A. It doesn't — B is +0.050, clean A is +0.052, basically the same. So A isn't riding on leakage. As a sanity check, the A-leak slice — factual reports that echo the cause — does show a bigger lift, +0.106, proving the detector detects leakage. And conditioning only helps when there's a specific mechanism to find; on the handful of generic-only cases the overall frequency is already best, so conditioning slightly hurts there — exactly as expected, and it motivates the safety gate.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things stand now. The reproduction is rock-solid and buys credibility. I have two genuinely validated contributions: query-conditioning, the narrative method's own win — it beats the no-narrative baseline with overwhelming significance and I've shown it's not leakage and not a small-pool artefact — and the sparse-cell robustness work that fixes Zhang's fragile smoother. And the conditioning method isn't just validated, it's hardened: the probabilities are calibrated and a one-parameter fix makes them honest to a few points, there's a safety gate so it's never worse than the prior, and it survives messy real queries. Every caveat stays attached: modest absolute accuracy, the gate is safety not score, very short queries lose most of the ranking benefit, and the sparse-cell method isn't a blanket win — all pointing to the obvious next step, a hybrid that uses each tool where it's best.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77639"/>
            <a:ext cx="12191695" cy="7315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10728655" cy="2926080"/>
          </a:xfrm>
          <a:prstGeom prst="rect">
            <a:avLst/>
          </a:prstGeom>
          <a:noFill/>
        </p:spPr>
        <p:txBody>
          <a:bodyPr wrap="square">
            <a:spAutoFit/>
          </a:bodyPr>
          <a:lstStyle/>
          <a:p>
            <a:r>
              <a:rPr sz="4000" b="1">
                <a:solidFill>
                  <a:srgbClr val="FFFFFF"/>
                </a:solidFill>
              </a:rPr>
              <a:t>NTSB Bayesian Network — Diagnosis</a:t>
            </a:r>
          </a:p>
          <a:p>
            <a:r>
              <a:rPr sz="2200">
                <a:solidFill>
                  <a:srgbClr val="CFDDEE"/>
                </a:solidFill>
              </a:rPr>
              <a:t>Reproduction &amp; generalization of Zhang et al. (RESS 2021)</a:t>
            </a:r>
          </a:p>
          <a:p>
            <a:pPr>
              <a:spcBef>
                <a:spcPts val="2400"/>
              </a:spcBef>
            </a:pPr>
            <a:r>
              <a:rPr sz="1600">
                <a:solidFill>
                  <a:srgbClr val="FFFFFF"/>
                </a:solidFill>
              </a:rPr>
              <a:t>Presenter: [student name]    •    Advisor: Maha    •    June 25, 2026</a:t>
            </a:r>
          </a:p>
          <a:p>
            <a:r>
              <a:rPr sz="1600" i="1">
                <a:solidFill>
                  <a:srgbClr val="9FC2E0"/>
                </a:solidFill>
              </a:rPr>
              <a:t>The issue I found  →  how I fixed it  →  the diagnosis results</a:t>
            </a:r>
          </a:p>
          <a:p>
            <a:pPr>
              <a:spcBef>
                <a:spcPts val="1000"/>
              </a:spcBef>
            </a:pPr>
            <a:r>
              <a:rPr sz="1400" i="1">
                <a:solidFill>
                  <a:srgbClr val="9FC2E0"/>
                </a:solidFill>
              </a:rPr>
              <a:t>Zhang's original figures/tables shown side-by-side with ours throughout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The problem: my numbers didn't match Zhang</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My diagnosis probabilities diverged from Zhang's across the board.</a:t>
            </a:r>
          </a:p>
          <a:p>
            <a:pPr>
              <a:spcAft>
                <a:spcPts val="600"/>
              </a:spcAft>
            </a:pPr>
            <a:r>
              <a:rPr sz="1800">
                <a:solidFill>
                  <a:srgbClr val="1A1A1A"/>
                </a:solidFill>
              </a:rPr>
              <a:t>•  The prior was off, and Table 7 cause shares didn't line up.</a:t>
            </a:r>
          </a:p>
          <a:p>
            <a:pPr>
              <a:spcAft>
                <a:spcPts val="600"/>
              </a:spcAft>
            </a:pPr>
            <a:r>
              <a:rPr sz="1800">
                <a:solidFill>
                  <a:srgbClr val="1A1A1A"/>
                </a:solidFill>
              </a:rPr>
              <a:t>•  My engine overlapped Zhang on only 3 of 10 top causes.</a:t>
            </a:r>
          </a:p>
          <a:p>
            <a:pPr>
              <a:spcAft>
                <a:spcPts val="600"/>
              </a:spcAft>
            </a:pPr>
            <a:r>
              <a:rPr sz="1800">
                <a:solidFill>
                  <a:srgbClr val="1A1A1A"/>
                </a:solidFill>
              </a:rPr>
              <a:t>•  This pointed to something systematic — not a tuning issue.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Root cause #1: missing legacy data  (38 vs 102 fires)</a:t>
            </a:r>
          </a:p>
        </p:txBody>
      </p:sp>
      <p:sp>
        <p:nvSpPr>
          <p:cNvPr id="3" name="TextBox 2"/>
          <p:cNvSpPr txBox="1"/>
          <p:nvPr/>
        </p:nvSpPr>
        <p:spPr>
          <a:xfrm>
            <a:off x="502920" y="1325880"/>
            <a:ext cx="11185855" cy="2377440"/>
          </a:xfrm>
          <a:prstGeom prst="rect">
            <a:avLst/>
          </a:prstGeom>
          <a:noFill/>
        </p:spPr>
        <p:txBody>
          <a:bodyPr wrap="square">
            <a:spAutoFit/>
          </a:bodyPr>
          <a:lstStyle/>
          <a:p>
            <a:pPr>
              <a:spcAft>
                <a:spcPts val="600"/>
              </a:spcAft>
            </a:pPr>
            <a:r>
              <a:rPr sz="1800">
                <a:solidFill>
                  <a:srgbClr val="1A1A1A"/>
                </a:solidFill>
              </a:rPr>
              <a:t>•  NTSB changed coding schemes (eADMS, the electronic Aviation Data Management System) ~2007.</a:t>
            </a:r>
          </a:p>
          <a:p>
            <a:pPr>
              <a:spcAft>
                <a:spcPts val="600"/>
              </a:spcAft>
            </a:pPr>
            <a:r>
              <a:rPr sz="1800">
                <a:solidFill>
                  <a:srgbClr val="1A1A1A"/>
                </a:solidFill>
              </a:rPr>
              <a:t>•  Pre-2007 accidents store event chains + findings in legacy files (Occurrences.txt, seq_of_events.txt).</a:t>
            </a:r>
          </a:p>
          <a:p>
            <a:pPr>
              <a:spcAft>
                <a:spcPts val="600"/>
              </a:spcAft>
            </a:pPr>
            <a:r>
              <a:rPr sz="1800">
                <a:solidFill>
                  <a:srgbClr val="1A1A1A"/>
                </a:solidFill>
              </a:rPr>
              <a:t>•  My processed dataset never merged that legacy layer — 1,742 pre-2007 incidents had empty sequence_of_events and findings.</a:t>
            </a:r>
          </a:p>
          <a:p>
            <a:pPr>
              <a:spcAft>
                <a:spcPts val="600"/>
              </a:spcAft>
            </a:pPr>
            <a:r>
              <a:rPr sz="1800">
                <a:solidFill>
                  <a:srgbClr val="1A1A1A"/>
                </a:solidFill>
              </a:rPr>
              <a:t>•  Result: only 38 fires counted instead of 102 (~78% of the window missing causal data).</a:t>
            </a:r>
          </a:p>
        </p:txBody>
      </p:sp>
      <p:graphicFrame>
        <p:nvGraphicFramePr>
          <p:cNvPr id="4" name="Table 3"/>
          <p:cNvGraphicFramePr>
            <a:graphicFrameLocks noGrp="1"/>
          </p:cNvGraphicFramePr>
          <p:nvPr/>
        </p:nvGraphicFramePr>
        <p:xfrm>
          <a:off x="1280160" y="4297680"/>
          <a:ext cx="9601200" cy="1737360"/>
        </p:xfrm>
        <a:graphic>
          <a:graphicData uri="http://schemas.openxmlformats.org/drawingml/2006/table">
            <a:tbl>
              <a:tblPr firstRow="1" bandRow="1">
                <a:tableStyleId>{5C22544A-7EE6-4342-B048-85BDC9FD1C3A}</a:tableStyleId>
              </a:tblPr>
              <a:tblGrid>
                <a:gridCol w="5029200"/>
                <a:gridCol w="2286000"/>
                <a:gridCol w="2286000"/>
              </a:tblGrid>
              <a:tr h="434340">
                <a:tc>
                  <a:txBody>
                    <a:bodyPr/>
                    <a:lstStyle/>
                    <a:p>
                      <a:r>
                        <a:rPr sz="1500" b="1">
                          <a:solidFill>
                            <a:srgbClr val="FFFFFF"/>
                          </a:solidFill>
                        </a:rPr>
                        <a:t>Symptom</a:t>
                      </a:r>
                    </a:p>
                  </a:txBody>
                  <a:tcPr marL="54864" marR="54864" marT="18288" marB="18288">
                    <a:solidFill>
                      <a:srgbClr val="1F6FB2"/>
                    </a:solidFill>
                  </a:tcPr>
                </a:tc>
                <a:tc>
                  <a:txBody>
                    <a:bodyPr/>
                    <a:lstStyle/>
                    <a:p>
                      <a:pPr algn="ctr"/>
                      <a:r>
                        <a:rPr sz="1500" b="1">
                          <a:solidFill>
                            <a:srgbClr val="FFFFFF"/>
                          </a:solidFill>
                        </a:rPr>
                        <a:t>Before</a:t>
                      </a:r>
                    </a:p>
                  </a:txBody>
                  <a:tcPr marL="54864" marR="54864" marT="18288" marB="18288">
                    <a:solidFill>
                      <a:srgbClr val="1F6FB2"/>
                    </a:solidFill>
                  </a:tcPr>
                </a:tc>
                <a:tc>
                  <a:txBody>
                    <a:bodyPr/>
                    <a:lstStyle/>
                    <a:p>
                      <a:pPr algn="ctr"/>
                      <a:r>
                        <a:rPr sz="1500" b="1">
                          <a:solidFill>
                            <a:srgbClr val="FFFFFF"/>
                          </a:solidFill>
                        </a:rPr>
                        <a:t>After</a:t>
                      </a:r>
                    </a:p>
                  </a:txBody>
                  <a:tcPr marL="54864" marR="54864" marT="18288" marB="18288">
                    <a:solidFill>
                      <a:srgbClr val="1F6FB2"/>
                    </a:solidFill>
                  </a:tcPr>
                </a:tc>
              </a:tr>
              <a:tr h="434340">
                <a:tc>
                  <a:txBody>
                    <a:bodyPr/>
                    <a:lstStyle/>
                    <a:p>
                      <a:r>
                        <a:rPr sz="1500" b="1">
                          <a:solidFill>
                            <a:srgbClr val="222222"/>
                          </a:solidFill>
                        </a:rPr>
                        <a:t>Fire occurrences</a:t>
                      </a:r>
                    </a:p>
                  </a:txBody>
                  <a:tcPr marL="54864" marR="54864" marT="18288" marB="18288">
                    <a:solidFill>
                      <a:srgbClr val="E6F4EA"/>
                    </a:solidFill>
                  </a:tcPr>
                </a:tc>
                <a:tc>
                  <a:txBody>
                    <a:bodyPr/>
                    <a:lstStyle/>
                    <a:p>
                      <a:pPr algn="ctr"/>
                      <a:r>
                        <a:rPr sz="1500" b="1">
                          <a:solidFill>
                            <a:srgbClr val="222222"/>
                          </a:solidFill>
                        </a:rPr>
                        <a:t>38</a:t>
                      </a:r>
                    </a:p>
                  </a:txBody>
                  <a:tcPr marL="54864" marR="54864" marT="18288" marB="18288">
                    <a:solidFill>
                      <a:srgbClr val="E6F4EA"/>
                    </a:solidFill>
                  </a:tcPr>
                </a:tc>
                <a:tc>
                  <a:txBody>
                    <a:bodyPr/>
                    <a:lstStyle/>
                    <a:p>
                      <a:pPr algn="ctr"/>
                      <a:r>
                        <a:rPr sz="1500" b="1">
                          <a:solidFill>
                            <a:srgbClr val="222222"/>
                          </a:solidFill>
                        </a:rPr>
                        <a:t>102</a:t>
                      </a:r>
                    </a:p>
                  </a:txBody>
                  <a:tcPr marL="54864" marR="54864" marT="18288" marB="18288">
                    <a:solidFill>
                      <a:srgbClr val="E6F4EA"/>
                    </a:solidFill>
                  </a:tcPr>
                </a:tc>
              </a:tr>
              <a:tr h="434340">
                <a:tc>
                  <a:txBody>
                    <a:bodyPr/>
                    <a:lstStyle/>
                    <a:p>
                      <a:r>
                        <a:rPr sz="1500">
                          <a:solidFill>
                            <a:srgbClr val="222222"/>
                          </a:solidFill>
                        </a:rPr>
                        <a:t>Incidents w/ event sequences</a:t>
                      </a:r>
                    </a:p>
                  </a:txBody>
                  <a:tcPr marL="54864" marR="54864" marT="18288" marB="18288">
                    <a:solidFill>
                      <a:srgbClr val="FFFFFF"/>
                    </a:solidFill>
                  </a:tcPr>
                </a:tc>
                <a:tc>
                  <a:txBody>
                    <a:bodyPr/>
                    <a:lstStyle/>
                    <a:p>
                      <a:pPr algn="ctr"/>
                      <a:r>
                        <a:rPr sz="1500">
                          <a:solidFill>
                            <a:srgbClr val="222222"/>
                          </a:solidFill>
                        </a:rPr>
                        <a:t>~500</a:t>
                      </a:r>
                    </a:p>
                  </a:txBody>
                  <a:tcPr marL="54864" marR="54864" marT="18288" marB="18288">
                    <a:solidFill>
                      <a:srgbClr val="FFFFFF"/>
                    </a:solidFill>
                  </a:tcPr>
                </a:tc>
                <a:tc>
                  <a:txBody>
                    <a:bodyPr/>
                    <a:lstStyle/>
                    <a:p>
                      <a:pPr algn="ctr"/>
                      <a:r>
                        <a:rPr sz="1500">
                          <a:solidFill>
                            <a:srgbClr val="222222"/>
                          </a:solidFill>
                        </a:rPr>
                        <a:t>2,009</a:t>
                      </a:r>
                    </a:p>
                  </a:txBody>
                  <a:tcPr marL="54864" marR="54864" marT="18288" marB="18288">
                    <a:solidFill>
                      <a:srgbClr val="FFFFFF"/>
                    </a:solidFill>
                  </a:tcPr>
                </a:tc>
              </a:tr>
              <a:tr h="434340">
                <a:tc>
                  <a:txBody>
                    <a:bodyPr/>
                    <a:lstStyle/>
                    <a:p>
                      <a:r>
                        <a:rPr sz="1500">
                          <a:solidFill>
                            <a:srgbClr val="222222"/>
                          </a:solidFill>
                        </a:rPr>
                        <a:t>Incidents w/ findings</a:t>
                      </a:r>
                    </a:p>
                  </a:txBody>
                  <a:tcPr marL="54864" marR="54864" marT="18288" marB="18288">
                    <a:solidFill>
                      <a:srgbClr val="F4F7FA"/>
                    </a:solidFill>
                  </a:tcPr>
                </a:tc>
                <a:tc>
                  <a:txBody>
                    <a:bodyPr/>
                    <a:lstStyle/>
                    <a:p>
                      <a:pPr algn="ctr"/>
                      <a:r>
                        <a:rPr sz="1500">
                          <a:solidFill>
                            <a:srgbClr val="222222"/>
                          </a:solidFill>
                        </a:rPr>
                        <a:t>~900</a:t>
                      </a:r>
                    </a:p>
                  </a:txBody>
                  <a:tcPr marL="54864" marR="54864" marT="18288" marB="18288">
                    <a:solidFill>
                      <a:srgbClr val="F4F7FA"/>
                    </a:solidFill>
                  </a:tcPr>
                </a:tc>
                <a:tc>
                  <a:txBody>
                    <a:bodyPr/>
                    <a:lstStyle/>
                    <a:p>
                      <a:pPr algn="ctr"/>
                      <a:r>
                        <a:rPr sz="1500">
                          <a:solidFill>
                            <a:srgbClr val="222222"/>
                          </a:solidFill>
                        </a:rPr>
                        <a:t>1,938</a:t>
                      </a:r>
                    </a:p>
                  </a:txBody>
                  <a:tcPr marL="54864" marR="54864" marT="18288" marB="18288">
                    <a:solidFill>
                      <a:srgbClr val="F4F7F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What changed in our process (and why)</a:t>
            </a:r>
          </a:p>
        </p:txBody>
      </p:sp>
      <p:graphicFrame>
        <p:nvGraphicFramePr>
          <p:cNvPr id="3" name="Table 2"/>
          <p:cNvGraphicFramePr>
            <a:graphicFrameLocks noGrp="1"/>
          </p:cNvGraphicFramePr>
          <p:nvPr/>
        </p:nvGraphicFramePr>
        <p:xfrm>
          <a:off x="411480" y="1371600"/>
          <a:ext cx="11384280" cy="4206240"/>
        </p:xfrm>
        <a:graphic>
          <a:graphicData uri="http://schemas.openxmlformats.org/drawingml/2006/table">
            <a:tbl>
              <a:tblPr firstRow="1" bandRow="1">
                <a:tableStyleId>{5C22544A-7EE6-4342-B048-85BDC9FD1C3A}</a:tableStyleId>
              </a:tblPr>
              <a:tblGrid>
                <a:gridCol w="1828800"/>
                <a:gridCol w="3017520"/>
                <a:gridCol w="3200400"/>
                <a:gridCol w="3337560"/>
              </a:tblGrid>
              <a:tr h="841248">
                <a:tc>
                  <a:txBody>
                    <a:bodyPr/>
                    <a:lstStyle/>
                    <a:p>
                      <a:r>
                        <a:rPr sz="1300" b="1">
                          <a:solidFill>
                            <a:srgbClr val="FFFFFF"/>
                          </a:solidFill>
                        </a:rPr>
                        <a:t>Knob</a:t>
                      </a:r>
                    </a:p>
                  </a:txBody>
                  <a:tcPr marL="54864" marR="54864" marT="18288" marB="18288">
                    <a:solidFill>
                      <a:srgbClr val="1F6FB2"/>
                    </a:solidFill>
                  </a:tcPr>
                </a:tc>
                <a:tc>
                  <a:txBody>
                    <a:bodyPr/>
                    <a:lstStyle/>
                    <a:p>
                      <a:pPr algn="ctr"/>
                      <a:r>
                        <a:rPr sz="1300" b="1">
                          <a:solidFill>
                            <a:srgbClr val="FFFFFF"/>
                          </a:solidFill>
                        </a:rPr>
                        <a:t>Before (wrong)</a:t>
                      </a:r>
                    </a:p>
                  </a:txBody>
                  <a:tcPr marL="54864" marR="54864" marT="18288" marB="18288">
                    <a:solidFill>
                      <a:srgbClr val="1F6FB2"/>
                    </a:solidFill>
                  </a:tcPr>
                </a:tc>
                <a:tc>
                  <a:txBody>
                    <a:bodyPr/>
                    <a:lstStyle/>
                    <a:p>
                      <a:pPr algn="ctr"/>
                      <a:r>
                        <a:rPr sz="1300" b="1">
                          <a:solidFill>
                            <a:srgbClr val="FFFFFF"/>
                          </a:solidFill>
                        </a:rPr>
                        <a:t>After (Zhang-aligned)</a:t>
                      </a:r>
                    </a:p>
                  </a:txBody>
                  <a:tcPr marL="54864" marR="54864" marT="18288" marB="18288">
                    <a:solidFill>
                      <a:srgbClr val="1F6FB2"/>
                    </a:solidFill>
                  </a:tcPr>
                </a:tc>
                <a:tc>
                  <a:txBody>
                    <a:bodyPr/>
                    <a:lstStyle/>
                    <a:p>
                      <a:pPr algn="ctr"/>
                      <a:r>
                        <a:rPr sz="1300" b="1">
                          <a:solidFill>
                            <a:srgbClr val="FFFFFF"/>
                          </a:solidFill>
                        </a:rPr>
                        <a:t>Why it matters</a:t>
                      </a:r>
                    </a:p>
                  </a:txBody>
                  <a:tcPr marL="54864" marR="54864" marT="18288" marB="18288">
                    <a:solidFill>
                      <a:srgbClr val="1F6FB2"/>
                    </a:solidFill>
                  </a:tcPr>
                </a:tc>
              </a:tr>
              <a:tr h="841248">
                <a:tc>
                  <a:txBody>
                    <a:bodyPr/>
                    <a:lstStyle/>
                    <a:p>
                      <a:r>
                        <a:rPr sz="1300">
                          <a:solidFill>
                            <a:srgbClr val="222222"/>
                          </a:solidFill>
                        </a:rPr>
                        <a:t>Data layer</a:t>
                      </a:r>
                    </a:p>
                  </a:txBody>
                  <a:tcPr marL="54864" marR="54864" marT="18288" marB="18288">
                    <a:solidFill>
                      <a:srgbClr val="F4F7FA"/>
                    </a:solidFill>
                  </a:tcPr>
                </a:tc>
                <a:tc>
                  <a:txBody>
                    <a:bodyPr/>
                    <a:lstStyle/>
                    <a:p>
                      <a:pPr algn="ctr"/>
                      <a:r>
                        <a:rPr sz="1300">
                          <a:solidFill>
                            <a:srgbClr val="222222"/>
                          </a:solidFill>
                        </a:rPr>
                        <a:t>findings only;
pre-2007 empty</a:t>
                      </a:r>
                    </a:p>
                  </a:txBody>
                  <a:tcPr marL="54864" marR="54864" marT="18288" marB="18288">
                    <a:solidFill>
                      <a:srgbClr val="F4F7FA"/>
                    </a:solidFill>
                  </a:tcPr>
                </a:tc>
                <a:tc>
                  <a:txBody>
                    <a:bodyPr/>
                    <a:lstStyle/>
                    <a:p>
                      <a:pPr algn="ctr"/>
                      <a:r>
                        <a:rPr sz="1300">
                          <a:solidFill>
                            <a:srgbClr val="222222"/>
                          </a:solidFill>
                        </a:rPr>
                        <a:t>legacy occurrences +
findings merged</a:t>
                      </a:r>
                    </a:p>
                  </a:txBody>
                  <a:tcPr marL="54864" marR="54864" marT="18288" marB="18288">
                    <a:solidFill>
                      <a:srgbClr val="F4F7FA"/>
                    </a:solidFill>
                  </a:tcPr>
                </a:tc>
                <a:tc>
                  <a:txBody>
                    <a:bodyPr/>
                    <a:lstStyle/>
                    <a:p>
                      <a:pPr algn="ctr"/>
                      <a:r>
                        <a:rPr sz="1300">
                          <a:solidFill>
                            <a:srgbClr val="222222"/>
                          </a:solidFill>
                        </a:rPr>
                        <a:t>restores 64 fires
(38 -&gt; 102)</a:t>
                      </a:r>
                    </a:p>
                  </a:txBody>
                  <a:tcPr marL="54864" marR="54864" marT="18288" marB="18288">
                    <a:solidFill>
                      <a:srgbClr val="F4F7FA"/>
                    </a:solidFill>
                  </a:tcPr>
                </a:tc>
              </a:tr>
              <a:tr h="841248">
                <a:tc>
                  <a:txBody>
                    <a:bodyPr/>
                    <a:lstStyle/>
                    <a:p>
                      <a:r>
                        <a:rPr sz="1300">
                          <a:solidFill>
                            <a:srgbClr val="222222"/>
                          </a:solidFill>
                        </a:rPr>
                        <a:t>Denominator</a:t>
                      </a:r>
                    </a:p>
                  </a:txBody>
                  <a:tcPr marL="54864" marR="54864" marT="18288" marB="18288">
                    <a:solidFill>
                      <a:srgbClr val="FFFFFF"/>
                    </a:solidFill>
                  </a:tcPr>
                </a:tc>
                <a:tc>
                  <a:txBody>
                    <a:bodyPr/>
                    <a:lstStyle/>
                    <a:p>
                      <a:pPr algn="ctr"/>
                      <a:r>
                        <a:rPr sz="1300">
                          <a:solidFill>
                            <a:srgbClr val="222222"/>
                          </a:solidFill>
                        </a:rPr>
                        <a:t>retrieval
'similarity-mass' (~100+)</a:t>
                      </a:r>
                    </a:p>
                  </a:txBody>
                  <a:tcPr marL="54864" marR="54864" marT="18288" marB="18288">
                    <a:solidFill>
                      <a:srgbClr val="FFFFFF"/>
                    </a:solidFill>
                  </a:tcPr>
                </a:tc>
                <a:tc>
                  <a:txBody>
                    <a:bodyPr/>
                    <a:lstStyle/>
                    <a:p>
                      <a:pPr algn="ctr"/>
                      <a:r>
                        <a:rPr sz="1300">
                          <a:solidFill>
                            <a:srgbClr val="222222"/>
                          </a:solidFill>
                        </a:rPr>
                        <a:t>count / 102
fire accidents</a:t>
                      </a:r>
                    </a:p>
                  </a:txBody>
                  <a:tcPr marL="54864" marR="54864" marT="18288" marB="18288">
                    <a:solidFill>
                      <a:srgbClr val="FFFFFF"/>
                    </a:solidFill>
                  </a:tcPr>
                </a:tc>
                <a:tc>
                  <a:txBody>
                    <a:bodyPr/>
                    <a:lstStyle/>
                    <a:p>
                      <a:pPr algn="ctr"/>
                      <a:r>
                        <a:rPr sz="1300">
                          <a:solidFill>
                            <a:srgbClr val="222222"/>
                          </a:solidFill>
                        </a:rPr>
                        <a:t>un-shrinks every prob.
to Zhang's scale</a:t>
                      </a:r>
                    </a:p>
                  </a:txBody>
                  <a:tcPr marL="54864" marR="54864" marT="18288" marB="18288">
                    <a:solidFill>
                      <a:srgbClr val="FFFFFF"/>
                    </a:solidFill>
                  </a:tcPr>
                </a:tc>
              </a:tr>
              <a:tr h="841248">
                <a:tc>
                  <a:txBody>
                    <a:bodyPr/>
                    <a:lstStyle/>
                    <a:p>
                      <a:r>
                        <a:rPr sz="1300">
                          <a:solidFill>
                            <a:srgbClr val="222222"/>
                          </a:solidFill>
                        </a:rPr>
                        <a:t>Vocabulary</a:t>
                      </a:r>
                    </a:p>
                  </a:txBody>
                  <a:tcPr marL="54864" marR="54864" marT="18288" marB="18288">
                    <a:solidFill>
                      <a:srgbClr val="F4F7FA"/>
                    </a:solidFill>
                  </a:tcPr>
                </a:tc>
                <a:tc>
                  <a:txBody>
                    <a:bodyPr/>
                    <a:lstStyle/>
                    <a:p>
                      <a:pPr algn="ctr"/>
                      <a:r>
                        <a:rPr sz="1300">
                          <a:solidFill>
                            <a:srgbClr val="222222"/>
                          </a:solidFill>
                        </a:rPr>
                        <a:t>findings + modifiers
(wiring, burned)</a:t>
                      </a:r>
                    </a:p>
                  </a:txBody>
                  <a:tcPr marL="54864" marR="54864" marT="18288" marB="18288">
                    <a:solidFill>
                      <a:srgbClr val="F4F7FA"/>
                    </a:solidFill>
                  </a:tcPr>
                </a:tc>
                <a:tc>
                  <a:txBody>
                    <a:bodyPr/>
                    <a:lstStyle/>
                    <a:p>
                      <a:pPr algn="ctr"/>
                      <a:r>
                        <a:rPr sz="1300">
                          <a:solidFill>
                            <a:srgbClr val="222222"/>
                          </a:solidFill>
                        </a:rPr>
                        <a:t>findings + occurrences,
clean labels</a:t>
                      </a:r>
                    </a:p>
                  </a:txBody>
                  <a:tcPr marL="54864" marR="54864" marT="18288" marB="18288">
                    <a:solidFill>
                      <a:srgbClr val="F4F7FA"/>
                    </a:solidFill>
                  </a:tcPr>
                </a:tc>
                <a:tc>
                  <a:txBody>
                    <a:bodyPr/>
                    <a:lstStyle/>
                    <a:p>
                      <a:pPr algn="ctr"/>
                      <a:r>
                        <a:rPr sz="1300">
                          <a:solidFill>
                            <a:srgbClr val="222222"/>
                          </a:solidFill>
                        </a:rPr>
                        <a:t>recovers #1 cause
(airframe)</a:t>
                      </a:r>
                    </a:p>
                  </a:txBody>
                  <a:tcPr marL="54864" marR="54864" marT="18288" marB="18288">
                    <a:solidFill>
                      <a:srgbClr val="F4F7FA"/>
                    </a:solidFill>
                  </a:tcPr>
                </a:tc>
              </a:tr>
              <a:tr h="841248">
                <a:tc>
                  <a:txBody>
                    <a:bodyPr/>
                    <a:lstStyle/>
                    <a:p>
                      <a:r>
                        <a:rPr sz="1300">
                          <a:solidFill>
                            <a:srgbClr val="222222"/>
                          </a:solidFill>
                        </a:rPr>
                        <a:t>Index coverage</a:t>
                      </a:r>
                    </a:p>
                  </a:txBody>
                  <a:tcPr marL="54864" marR="54864" marT="18288" marB="18288">
                    <a:solidFill>
                      <a:srgbClr val="FFFFFF"/>
                    </a:solidFill>
                  </a:tcPr>
                </a:tc>
                <a:tc>
                  <a:txBody>
                    <a:bodyPr/>
                    <a:lstStyle/>
                    <a:p>
                      <a:pPr algn="ctr"/>
                      <a:r>
                        <a:rPr sz="1300">
                          <a:solidFill>
                            <a:srgbClr val="222222"/>
                          </a:solidFill>
                        </a:rPr>
                        <a:t>340 records (19 fires)
un-embedded</a:t>
                      </a:r>
                    </a:p>
                  </a:txBody>
                  <a:tcPr marL="54864" marR="54864" marT="18288" marB="18288">
                    <a:solidFill>
                      <a:srgbClr val="FFFFFF"/>
                    </a:solidFill>
                  </a:tcPr>
                </a:tc>
                <a:tc>
                  <a:txBody>
                    <a:bodyPr/>
                    <a:lstStyle/>
                    <a:p>
                      <a:pPr algn="ctr"/>
                      <a:r>
                        <a:rPr sz="1300">
                          <a:solidFill>
                            <a:srgbClr val="222222"/>
                          </a:solidFill>
                        </a:rPr>
                        <a:t>all narratives
embedded</a:t>
                      </a:r>
                    </a:p>
                  </a:txBody>
                  <a:tcPr marL="54864" marR="54864" marT="18288" marB="18288">
                    <a:solidFill>
                      <a:srgbClr val="FFFFFF"/>
                    </a:solidFill>
                  </a:tcPr>
                </a:tc>
                <a:tc>
                  <a:txBody>
                    <a:bodyPr/>
                    <a:lstStyle/>
                    <a:p>
                      <a:pPr algn="ctr"/>
                      <a:r>
                        <a:rPr sz="1300">
                          <a:solidFill>
                            <a:srgbClr val="222222"/>
                          </a:solidFill>
                        </a:rPr>
                        <a:t>retrieval sees all
102 fire accidents</a:t>
                      </a:r>
                    </a:p>
                  </a:txBody>
                  <a:tcPr marL="54864" marR="54864" marT="18288" marB="18288">
                    <a:solidFill>
                      <a:srgbClr val="FFFFFF"/>
                    </a:solidFill>
                  </a:tcPr>
                </a:tc>
              </a:tr>
            </a:tbl>
          </a:graphicData>
        </a:graphic>
      </p:graphicFrame>
      <p:sp>
        <p:nvSpPr>
          <p:cNvPr id="4" name="TextBox 3"/>
          <p:cNvSpPr txBox="1"/>
          <p:nvPr/>
        </p:nvSpPr>
        <p:spPr>
          <a:xfrm>
            <a:off x="502920" y="5760720"/>
            <a:ext cx="11185855" cy="4297680"/>
          </a:xfrm>
          <a:prstGeom prst="rect">
            <a:avLst/>
          </a:prstGeom>
          <a:noFill/>
        </p:spPr>
        <p:txBody>
          <a:bodyPr wrap="square">
            <a:spAutoFit/>
          </a:bodyPr>
          <a:lstStyle/>
          <a:p>
            <a:pPr>
              <a:spcAft>
                <a:spcPts val="600"/>
              </a:spcAft>
            </a:pPr>
            <a:r>
              <a:rPr sz="1600">
                <a:solidFill>
                  <a:srgbClr val="1A1A1A"/>
                </a:solidFill>
              </a:rPr>
              <a:t>•  Net effect: same data, same definitions, same denominator as Zhang -&gt; the numbers line 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Our result: the prior reproduced EXACTLY</a:t>
            </a:r>
          </a:p>
          <a:p>
            <a:r>
              <a:rPr sz="1500">
                <a:solidFill>
                  <a:srgbClr val="CFDDEE"/>
                </a:solidFill>
              </a:rPr>
              <a:t>Compare directly with Zhang's Eq. (6) on the previous slide</a:t>
            </a:r>
          </a:p>
        </p:txBody>
      </p:sp>
      <p:graphicFrame>
        <p:nvGraphicFramePr>
          <p:cNvPr id="3" name="Table 2"/>
          <p:cNvGraphicFramePr>
            <a:graphicFrameLocks noGrp="1"/>
          </p:cNvGraphicFramePr>
          <p:nvPr/>
        </p:nvGraphicFramePr>
        <p:xfrm>
          <a:off x="914400" y="1554480"/>
          <a:ext cx="10332720" cy="1463040"/>
        </p:xfrm>
        <a:graphic>
          <a:graphicData uri="http://schemas.openxmlformats.org/drawingml/2006/table">
            <a:tbl>
              <a:tblPr firstRow="1" bandRow="1">
                <a:tableStyleId>{5C22544A-7EE6-4342-B048-85BDC9FD1C3A}</a:tableStyleId>
              </a:tblPr>
              <a:tblGrid>
                <a:gridCol w="3931920"/>
                <a:gridCol w="2377440"/>
                <a:gridCol w="2468880"/>
                <a:gridCol w="1554480"/>
              </a:tblGrid>
              <a:tr h="487680">
                <a:tc>
                  <a:txBody>
                    <a:bodyPr/>
                    <a:lstStyle/>
                    <a:p>
                      <a:r>
                        <a:rPr sz="1500" b="1">
                          <a:solidFill>
                            <a:srgbClr val="FFFFFF"/>
                          </a:solidFill>
                        </a:rPr>
                        <a:t>Quantity</a:t>
                      </a:r>
                    </a:p>
                  </a:txBody>
                  <a:tcPr marL="54864" marR="54864" marT="18288" marB="18288">
                    <a:solidFill>
                      <a:srgbClr val="1F6FB2"/>
                    </a:solidFill>
                  </a:tcPr>
                </a:tc>
                <a:tc>
                  <a:txBody>
                    <a:bodyPr/>
                    <a:lstStyle/>
                    <a:p>
                      <a:pPr algn="ctr"/>
                      <a:r>
                        <a:rPr sz="1500" b="1">
                          <a:solidFill>
                            <a:srgbClr val="FFFFFF"/>
                          </a:solidFill>
                        </a:rPr>
                        <a:t>Zhang (paper)</a:t>
                      </a:r>
                    </a:p>
                  </a:txBody>
                  <a:tcPr marL="54864" marR="54864" marT="18288" marB="18288">
                    <a:solidFill>
                      <a:srgbClr val="1F6FB2"/>
                    </a:solidFill>
                  </a:tcPr>
                </a:tc>
                <a:tc>
                  <a:txBody>
                    <a:bodyPr/>
                    <a:lstStyle/>
                    <a:p>
                      <a:pPr algn="ctr"/>
                      <a:r>
                        <a:rPr sz="1500" b="1">
                          <a:solidFill>
                            <a:srgbClr val="FFFFFF"/>
                          </a:solidFill>
                        </a:rPr>
                        <a:t>Ours</a:t>
                      </a:r>
                    </a:p>
                  </a:txBody>
                  <a:tcPr marL="54864" marR="54864" marT="18288" marB="18288">
                    <a:solidFill>
                      <a:srgbClr val="1F6FB2"/>
                    </a:solidFill>
                  </a:tcPr>
                </a:tc>
                <a:tc>
                  <a:txBody>
                    <a:bodyPr/>
                    <a:lstStyle/>
                    <a:p>
                      <a:pPr algn="ctr"/>
                      <a:r>
                        <a:rPr sz="1500" b="1">
                          <a:solidFill>
                            <a:srgbClr val="FFFFFF"/>
                          </a:solidFill>
                        </a:rPr>
                        <a:t>Match</a:t>
                      </a:r>
                    </a:p>
                  </a:txBody>
                  <a:tcPr marL="54864" marR="54864" marT="18288" marB="18288">
                    <a:solidFill>
                      <a:srgbClr val="1F6FB2"/>
                    </a:solidFill>
                  </a:tcPr>
                </a:tc>
              </a:tr>
              <a:tr h="487680">
                <a:tc>
                  <a:txBody>
                    <a:bodyPr/>
                    <a:lstStyle/>
                    <a:p>
                      <a:r>
                        <a:rPr sz="1500" b="1">
                          <a:solidFill>
                            <a:srgbClr val="222222"/>
                          </a:solidFill>
                        </a:rPr>
                        <a:t>Prior P(fire)</a:t>
                      </a:r>
                    </a:p>
                  </a:txBody>
                  <a:tcPr marL="54864" marR="54864" marT="18288" marB="18288">
                    <a:solidFill>
                      <a:srgbClr val="E6F4EA"/>
                    </a:solidFill>
                  </a:tcPr>
                </a:tc>
                <a:tc>
                  <a:txBody>
                    <a:bodyPr/>
                    <a:lstStyle/>
                    <a:p>
                      <a:pPr algn="ctr"/>
                      <a:r>
                        <a:rPr sz="1500" b="1">
                          <a:solidFill>
                            <a:srgbClr val="222222"/>
                          </a:solidFill>
                        </a:rPr>
                        <a:t>5.53 x 10^-7</a:t>
                      </a:r>
                    </a:p>
                  </a:txBody>
                  <a:tcPr marL="54864" marR="54864" marT="18288" marB="18288">
                    <a:solidFill>
                      <a:srgbClr val="E6F4EA"/>
                    </a:solidFill>
                  </a:tcPr>
                </a:tc>
                <a:tc>
                  <a:txBody>
                    <a:bodyPr/>
                    <a:lstStyle/>
                    <a:p>
                      <a:pPr algn="ctr"/>
                      <a:r>
                        <a:rPr sz="1500" b="1">
                          <a:solidFill>
                            <a:srgbClr val="222222"/>
                          </a:solidFill>
                        </a:rPr>
                        <a:t>5.527942 x 10^-7</a:t>
                      </a:r>
                    </a:p>
                  </a:txBody>
                  <a:tcPr marL="54864" marR="54864" marT="18288" marB="18288">
                    <a:solidFill>
                      <a:srgbClr val="E6F4EA"/>
                    </a:solidFill>
                  </a:tcPr>
                </a:tc>
                <a:tc>
                  <a:txBody>
                    <a:bodyPr/>
                    <a:lstStyle/>
                    <a:p>
                      <a:pPr algn="ctr"/>
                      <a:r>
                        <a:rPr sz="1500" b="1">
                          <a:solidFill>
                            <a:srgbClr val="222222"/>
                          </a:solidFill>
                        </a:rPr>
                        <a:t>EXACT</a:t>
                      </a:r>
                    </a:p>
                  </a:txBody>
                  <a:tcPr marL="54864" marR="54864" marT="18288" marB="18288">
                    <a:solidFill>
                      <a:srgbClr val="E6F4EA"/>
                    </a:solidFill>
                  </a:tcPr>
                </a:tc>
              </a:tr>
              <a:tr h="487680">
                <a:tc>
                  <a:txBody>
                    <a:bodyPr/>
                    <a:lstStyle/>
                    <a:p>
                      <a:r>
                        <a:rPr sz="1500" b="1">
                          <a:solidFill>
                            <a:srgbClr val="222222"/>
                          </a:solidFill>
                        </a:rPr>
                        <a:t>Fire occurrences (1982-2006)</a:t>
                      </a:r>
                    </a:p>
                  </a:txBody>
                  <a:tcPr marL="54864" marR="54864" marT="18288" marB="18288">
                    <a:solidFill>
                      <a:srgbClr val="E6F4EA"/>
                    </a:solidFill>
                  </a:tcPr>
                </a:tc>
                <a:tc>
                  <a:txBody>
                    <a:bodyPr/>
                    <a:lstStyle/>
                    <a:p>
                      <a:pPr algn="ctr"/>
                      <a:r>
                        <a:rPr sz="1500" b="1">
                          <a:solidFill>
                            <a:srgbClr val="222222"/>
                          </a:solidFill>
                        </a:rPr>
                        <a:t>102</a:t>
                      </a:r>
                    </a:p>
                  </a:txBody>
                  <a:tcPr marL="54864" marR="54864" marT="18288" marB="18288">
                    <a:solidFill>
                      <a:srgbClr val="E6F4EA"/>
                    </a:solidFill>
                  </a:tcPr>
                </a:tc>
                <a:tc>
                  <a:txBody>
                    <a:bodyPr/>
                    <a:lstStyle/>
                    <a:p>
                      <a:pPr algn="ctr"/>
                      <a:r>
                        <a:rPr sz="1500" b="1">
                          <a:solidFill>
                            <a:srgbClr val="222222"/>
                          </a:solidFill>
                        </a:rPr>
                        <a:t>102</a:t>
                      </a:r>
                    </a:p>
                  </a:txBody>
                  <a:tcPr marL="54864" marR="54864" marT="18288" marB="18288">
                    <a:solidFill>
                      <a:srgbClr val="E6F4EA"/>
                    </a:solidFill>
                  </a:tcPr>
                </a:tc>
                <a:tc>
                  <a:txBody>
                    <a:bodyPr/>
                    <a:lstStyle/>
                    <a:p>
                      <a:pPr algn="ctr"/>
                      <a:r>
                        <a:rPr sz="1500" b="1">
                          <a:solidFill>
                            <a:srgbClr val="222222"/>
                          </a:solidFill>
                        </a:rPr>
                        <a:t>EXACT</a:t>
                      </a:r>
                    </a:p>
                  </a:txBody>
                  <a:tcPr marL="54864" marR="54864" marT="18288" marB="18288">
                    <a:solidFill>
                      <a:srgbClr val="E6F4EA"/>
                    </a:solidFill>
                  </a:tcPr>
                </a:tc>
              </a:tr>
            </a:tbl>
          </a:graphicData>
        </a:graphic>
      </p:graphicFrame>
      <p:sp>
        <p:nvSpPr>
          <p:cNvPr id="4" name="TextBox 3"/>
          <p:cNvSpPr txBox="1"/>
          <p:nvPr/>
        </p:nvSpPr>
        <p:spPr>
          <a:xfrm>
            <a:off x="502920" y="3566160"/>
            <a:ext cx="11185855" cy="4297680"/>
          </a:xfrm>
          <a:prstGeom prst="rect">
            <a:avLst/>
          </a:prstGeom>
          <a:noFill/>
        </p:spPr>
        <p:txBody>
          <a:bodyPr wrap="square">
            <a:spAutoFit/>
          </a:bodyPr>
          <a:lstStyle/>
          <a:p>
            <a:pPr>
              <a:spcAft>
                <a:spcPts val="600"/>
              </a:spcAft>
            </a:pPr>
            <a:r>
              <a:rPr sz="1800">
                <a:solidFill>
                  <a:srgbClr val="1A1A1A"/>
                </a:solidFill>
              </a:rPr>
              <a:t>•  P(fire) = 102 / 184,517,128 = 5.527942 x 10^-7  — same formula, same denominator as Zhang.</a:t>
            </a:r>
          </a:p>
          <a:p>
            <a:pPr>
              <a:spcAft>
                <a:spcPts val="600"/>
              </a:spcAft>
            </a:pPr>
            <a:r>
              <a:rPr sz="1800">
                <a:solidFill>
                  <a:srgbClr val="1A1A1A"/>
                </a:solidFill>
              </a:rPr>
              <a:t>•  Denominator = total U.S. air-carrier departures 1982-2006 (BTS), interpolated &amp; summed.</a:t>
            </a:r>
          </a:p>
          <a:p>
            <a:pPr lvl="1">
              <a:spcAft>
                <a:spcPts val="600"/>
              </a:spcAft>
            </a:pPr>
            <a:r>
              <a:rPr sz="1600">
                <a:solidFill>
                  <a:srgbClr val="444444"/>
                </a:solidFill>
              </a:rPr>
              <a:t>–  The '184,572,128' said verbally is a digit transposition of 184,517,128.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Our result: Table 7 reproduced  (P(cause | fire))</a:t>
            </a:r>
          </a:p>
          <a:p>
            <a:r>
              <a:rPr sz="1500">
                <a:solidFill>
                  <a:srgbClr val="CFDDEE"/>
                </a:solidFill>
              </a:rPr>
              <a:t>Put next to Zhang's Table 7 on the previous slide</a:t>
            </a:r>
          </a:p>
        </p:txBody>
      </p:sp>
      <p:graphicFrame>
        <p:nvGraphicFramePr>
          <p:cNvPr id="3" name="Table 2"/>
          <p:cNvGraphicFramePr>
            <a:graphicFrameLocks noGrp="1"/>
          </p:cNvGraphicFramePr>
          <p:nvPr/>
        </p:nvGraphicFramePr>
        <p:xfrm>
          <a:off x="640080" y="1325880"/>
          <a:ext cx="7315200" cy="4206240"/>
        </p:xfrm>
        <a:graphic>
          <a:graphicData uri="http://schemas.openxmlformats.org/drawingml/2006/table">
            <a:tbl>
              <a:tblPr firstRow="1" bandRow="1">
                <a:tableStyleId>{5C22544A-7EE6-4342-B048-85BDC9FD1C3A}</a:tableStyleId>
              </a:tblPr>
              <a:tblGrid>
                <a:gridCol w="4754880"/>
                <a:gridCol w="914400"/>
                <a:gridCol w="1645920"/>
              </a:tblGrid>
              <a:tr h="525780">
                <a:tc>
                  <a:txBody>
                    <a:bodyPr/>
                    <a:lstStyle/>
                    <a:p>
                      <a:r>
                        <a:rPr sz="1300" b="1">
                          <a:solidFill>
                            <a:srgbClr val="FFFFFF"/>
                          </a:solidFill>
                        </a:rPr>
                        <a:t>Cause</a:t>
                      </a:r>
                    </a:p>
                  </a:txBody>
                  <a:tcPr marL="54864" marR="54864" marT="18288" marB="18288">
                    <a:solidFill>
                      <a:srgbClr val="1F6FB2"/>
                    </a:solidFill>
                  </a:tcPr>
                </a:tc>
                <a:tc>
                  <a:txBody>
                    <a:bodyPr/>
                    <a:lstStyle/>
                    <a:p>
                      <a:pPr algn="ctr"/>
                      <a:r>
                        <a:rPr sz="1300" b="1">
                          <a:solidFill>
                            <a:srgbClr val="FFFFFF"/>
                          </a:solidFill>
                        </a:rPr>
                        <a:t>n</a:t>
                      </a:r>
                    </a:p>
                  </a:txBody>
                  <a:tcPr marL="54864" marR="54864" marT="18288" marB="18288">
                    <a:solidFill>
                      <a:srgbClr val="1F6FB2"/>
                    </a:solidFill>
                  </a:tcPr>
                </a:tc>
                <a:tc>
                  <a:txBody>
                    <a:bodyPr/>
                    <a:lstStyle/>
                    <a:p>
                      <a:pPr algn="ctr"/>
                      <a:r>
                        <a:rPr sz="1300" b="1">
                          <a:solidFill>
                            <a:srgbClr val="FFFFFF"/>
                          </a:solidFill>
                        </a:rPr>
                        <a:t>Zhang / Ours</a:t>
                      </a:r>
                    </a:p>
                  </a:txBody>
                  <a:tcPr marL="54864" marR="54864" marT="18288" marB="18288">
                    <a:solidFill>
                      <a:srgbClr val="1F6FB2"/>
                    </a:solidFill>
                  </a:tcPr>
                </a:tc>
              </a:tr>
              <a:tr h="525780">
                <a:tc>
                  <a:txBody>
                    <a:bodyPr/>
                    <a:lstStyle/>
                    <a:p>
                      <a:r>
                        <a:rPr sz="1300" b="1">
                          <a:solidFill>
                            <a:srgbClr val="222222"/>
                          </a:solidFill>
                        </a:rPr>
                        <a:t>Airframe/component/system failure</a:t>
                      </a:r>
                    </a:p>
                  </a:txBody>
                  <a:tcPr marL="54864" marR="54864" marT="18288" marB="18288">
                    <a:solidFill>
                      <a:srgbClr val="E6F4EA"/>
                    </a:solidFill>
                  </a:tcPr>
                </a:tc>
                <a:tc>
                  <a:txBody>
                    <a:bodyPr/>
                    <a:lstStyle/>
                    <a:p>
                      <a:pPr algn="ctr"/>
                      <a:r>
                        <a:rPr sz="1300" b="1">
                          <a:solidFill>
                            <a:srgbClr val="222222"/>
                          </a:solidFill>
                        </a:rPr>
                        <a:t>32</a:t>
                      </a:r>
                    </a:p>
                  </a:txBody>
                  <a:tcPr marL="54864" marR="54864" marT="18288" marB="18288">
                    <a:solidFill>
                      <a:srgbClr val="E6F4EA"/>
                    </a:solidFill>
                  </a:tcPr>
                </a:tc>
                <a:tc>
                  <a:txBody>
                    <a:bodyPr/>
                    <a:lstStyle/>
                    <a:p>
                      <a:pPr algn="ctr"/>
                      <a:r>
                        <a:rPr sz="1300" b="1">
                          <a:solidFill>
                            <a:srgbClr val="222222"/>
                          </a:solidFill>
                        </a:rPr>
                        <a:t>0.3137</a:t>
                      </a:r>
                    </a:p>
                  </a:txBody>
                  <a:tcPr marL="54864" marR="54864" marT="18288" marB="18288">
                    <a:solidFill>
                      <a:srgbClr val="E6F4EA"/>
                    </a:solidFill>
                  </a:tcPr>
                </a:tc>
              </a:tr>
              <a:tr h="525780">
                <a:tc>
                  <a:txBody>
                    <a:bodyPr/>
                    <a:lstStyle/>
                    <a:p>
                      <a:r>
                        <a:rPr sz="1300">
                          <a:solidFill>
                            <a:srgbClr val="222222"/>
                          </a:solidFill>
                        </a:rPr>
                        <a:t>Electrical system, electric wiring</a:t>
                      </a:r>
                    </a:p>
                  </a:txBody>
                  <a:tcPr marL="54864" marR="54864" marT="18288" marB="18288">
                    <a:solidFill>
                      <a:srgbClr val="FFFFFF"/>
                    </a:solidFill>
                  </a:tcPr>
                </a:tc>
                <a:tc>
                  <a:txBody>
                    <a:bodyPr/>
                    <a:lstStyle/>
                    <a:p>
                      <a:pPr algn="ctr"/>
                      <a:r>
                        <a:rPr sz="1300">
                          <a:solidFill>
                            <a:srgbClr val="222222"/>
                          </a:solidFill>
                        </a:rPr>
                        <a:t>11</a:t>
                      </a:r>
                    </a:p>
                  </a:txBody>
                  <a:tcPr marL="54864" marR="54864" marT="18288" marB="18288">
                    <a:solidFill>
                      <a:srgbClr val="FFFFFF"/>
                    </a:solidFill>
                  </a:tcPr>
                </a:tc>
                <a:tc>
                  <a:txBody>
                    <a:bodyPr/>
                    <a:lstStyle/>
                    <a:p>
                      <a:pPr algn="ctr"/>
                      <a:r>
                        <a:rPr sz="1300">
                          <a:solidFill>
                            <a:srgbClr val="222222"/>
                          </a:solidFill>
                        </a:rPr>
                        <a:t>0.1078</a:t>
                      </a:r>
                    </a:p>
                  </a:txBody>
                  <a:tcPr marL="54864" marR="54864" marT="18288" marB="18288">
                    <a:solidFill>
                      <a:srgbClr val="FFFFFF"/>
                    </a:solidFill>
                  </a:tcPr>
                </a:tc>
              </a:tr>
              <a:tr h="525780">
                <a:tc>
                  <a:txBody>
                    <a:bodyPr/>
                    <a:lstStyle/>
                    <a:p>
                      <a:r>
                        <a:rPr sz="1300">
                          <a:solidFill>
                            <a:srgbClr val="222222"/>
                          </a:solidFill>
                        </a:rPr>
                        <a:t>Loss of engine power (total) - mech</a:t>
                      </a:r>
                    </a:p>
                  </a:txBody>
                  <a:tcPr marL="54864" marR="54864" marT="18288" marB="18288">
                    <a:solidFill>
                      <a:srgbClr val="F4F7FA"/>
                    </a:solidFill>
                  </a:tcPr>
                </a:tc>
                <a:tc>
                  <a:txBody>
                    <a:bodyPr/>
                    <a:lstStyle/>
                    <a:p>
                      <a:pPr algn="ctr"/>
                      <a:r>
                        <a:rPr sz="1300">
                          <a:solidFill>
                            <a:srgbClr val="222222"/>
                          </a:solidFill>
                        </a:rPr>
                        <a:t>9</a:t>
                      </a:r>
                    </a:p>
                  </a:txBody>
                  <a:tcPr marL="54864" marR="54864" marT="18288" marB="18288">
                    <a:solidFill>
                      <a:srgbClr val="F4F7FA"/>
                    </a:solidFill>
                  </a:tcPr>
                </a:tc>
                <a:tc>
                  <a:txBody>
                    <a:bodyPr/>
                    <a:lstStyle/>
                    <a:p>
                      <a:pPr algn="ctr"/>
                      <a:r>
                        <a:rPr sz="1300">
                          <a:solidFill>
                            <a:srgbClr val="222222"/>
                          </a:solidFill>
                        </a:rPr>
                        <a:t>0.0882</a:t>
                      </a:r>
                    </a:p>
                  </a:txBody>
                  <a:tcPr marL="54864" marR="54864" marT="18288" marB="18288">
                    <a:solidFill>
                      <a:srgbClr val="F4F7FA"/>
                    </a:solidFill>
                  </a:tcPr>
                </a:tc>
              </a:tr>
              <a:tr h="525780">
                <a:tc>
                  <a:txBody>
                    <a:bodyPr/>
                    <a:lstStyle/>
                    <a:p>
                      <a:r>
                        <a:rPr sz="1300">
                          <a:solidFill>
                            <a:srgbClr val="222222"/>
                          </a:solidFill>
                        </a:rPr>
                        <a:t>Fluid, fuel</a:t>
                      </a:r>
                    </a:p>
                  </a:txBody>
                  <a:tcPr marL="54864" marR="54864" marT="18288" marB="18288">
                    <a:solidFill>
                      <a:srgbClr val="FFFFFF"/>
                    </a:solidFill>
                  </a:tcPr>
                </a:tc>
                <a:tc>
                  <a:txBody>
                    <a:bodyPr/>
                    <a:lstStyle/>
                    <a:p>
                      <a:pPr algn="ctr"/>
                      <a:r>
                        <a:rPr sz="1300">
                          <a:solidFill>
                            <a:srgbClr val="222222"/>
                          </a:solidFill>
                        </a:rPr>
                        <a:t>7</a:t>
                      </a:r>
                    </a:p>
                  </a:txBody>
                  <a:tcPr marL="54864" marR="54864" marT="18288" marB="18288">
                    <a:solidFill>
                      <a:srgbClr val="FFFFFF"/>
                    </a:solidFill>
                  </a:tcPr>
                </a:tc>
                <a:tc>
                  <a:txBody>
                    <a:bodyPr/>
                    <a:lstStyle/>
                    <a:p>
                      <a:pPr algn="ctr"/>
                      <a:r>
                        <a:rPr sz="1300">
                          <a:solidFill>
                            <a:srgbClr val="222222"/>
                          </a:solidFill>
                        </a:rPr>
                        <a:t>0.0686</a:t>
                      </a:r>
                    </a:p>
                  </a:txBody>
                  <a:tcPr marL="54864" marR="54864" marT="18288" marB="18288">
                    <a:solidFill>
                      <a:srgbClr val="FFFFFF"/>
                    </a:solidFill>
                  </a:tcPr>
                </a:tc>
              </a:tr>
              <a:tr h="525780">
                <a:tc>
                  <a:txBody>
                    <a:bodyPr/>
                    <a:lstStyle/>
                    <a:p>
                      <a:r>
                        <a:rPr sz="1300">
                          <a:solidFill>
                            <a:srgbClr val="222222"/>
                          </a:solidFill>
                        </a:rPr>
                        <a:t>Auxiliary power unit (APU)</a:t>
                      </a:r>
                    </a:p>
                  </a:txBody>
                  <a:tcPr marL="54864" marR="54864" marT="18288" marB="18288">
                    <a:solidFill>
                      <a:srgbClr val="F4F7FA"/>
                    </a:solidFill>
                  </a:tcPr>
                </a:tc>
                <a:tc>
                  <a:txBody>
                    <a:bodyPr/>
                    <a:lstStyle/>
                    <a:p>
                      <a:pPr algn="ctr"/>
                      <a:r>
                        <a:rPr sz="1300">
                          <a:solidFill>
                            <a:srgbClr val="222222"/>
                          </a:solidFill>
                        </a:rPr>
                        <a:t>6</a:t>
                      </a:r>
                    </a:p>
                  </a:txBody>
                  <a:tcPr marL="54864" marR="54864" marT="18288" marB="18288">
                    <a:solidFill>
                      <a:srgbClr val="F4F7FA"/>
                    </a:solidFill>
                  </a:tcPr>
                </a:tc>
                <a:tc>
                  <a:txBody>
                    <a:bodyPr/>
                    <a:lstStyle/>
                    <a:p>
                      <a:pPr algn="ctr"/>
                      <a:r>
                        <a:rPr sz="1300">
                          <a:solidFill>
                            <a:srgbClr val="222222"/>
                          </a:solidFill>
                        </a:rPr>
                        <a:t>0.0588</a:t>
                      </a:r>
                    </a:p>
                  </a:txBody>
                  <a:tcPr marL="54864" marR="54864" marT="18288" marB="18288">
                    <a:solidFill>
                      <a:srgbClr val="F4F7FA"/>
                    </a:solidFill>
                  </a:tcPr>
                </a:tc>
              </a:tr>
              <a:tr h="525780">
                <a:tc>
                  <a:txBody>
                    <a:bodyPr/>
                    <a:lstStyle/>
                    <a:p>
                      <a:r>
                        <a:rPr sz="1300">
                          <a:solidFill>
                            <a:srgbClr val="222222"/>
                          </a:solidFill>
                        </a:rPr>
                        <a:t>Maintenance, installation</a:t>
                      </a:r>
                    </a:p>
                  </a:txBody>
                  <a:tcPr marL="54864" marR="54864" marT="18288" marB="18288">
                    <a:solidFill>
                      <a:srgbClr val="FFFFFF"/>
                    </a:solidFill>
                  </a:tcPr>
                </a:tc>
                <a:tc>
                  <a:txBody>
                    <a:bodyPr/>
                    <a:lstStyle/>
                    <a:p>
                      <a:pPr algn="ctr"/>
                      <a:r>
                        <a:rPr sz="1300">
                          <a:solidFill>
                            <a:srgbClr val="222222"/>
                          </a:solidFill>
                        </a:rPr>
                        <a:t>4</a:t>
                      </a:r>
                    </a:p>
                  </a:txBody>
                  <a:tcPr marL="54864" marR="54864" marT="18288" marB="18288">
                    <a:solidFill>
                      <a:srgbClr val="FFFFFF"/>
                    </a:solidFill>
                  </a:tcPr>
                </a:tc>
                <a:tc>
                  <a:txBody>
                    <a:bodyPr/>
                    <a:lstStyle/>
                    <a:p>
                      <a:pPr algn="ctr"/>
                      <a:r>
                        <a:rPr sz="1300">
                          <a:solidFill>
                            <a:srgbClr val="222222"/>
                          </a:solidFill>
                        </a:rPr>
                        <a:t>0.0392</a:t>
                      </a:r>
                    </a:p>
                  </a:txBody>
                  <a:tcPr marL="54864" marR="54864" marT="18288" marB="18288">
                    <a:solidFill>
                      <a:srgbClr val="FFFFFF"/>
                    </a:solidFill>
                  </a:tcPr>
                </a:tc>
              </a:tr>
              <a:tr h="525780">
                <a:tc>
                  <a:txBody>
                    <a:bodyPr/>
                    <a:lstStyle/>
                    <a:p>
                      <a:r>
                        <a:rPr sz="1300">
                          <a:solidFill>
                            <a:srgbClr val="222222"/>
                          </a:solidFill>
                        </a:rPr>
                        <a:t>Landing gear, tire</a:t>
                      </a:r>
                    </a:p>
                  </a:txBody>
                  <a:tcPr marL="54864" marR="54864" marT="18288" marB="18288">
                    <a:solidFill>
                      <a:srgbClr val="F4F7FA"/>
                    </a:solidFill>
                  </a:tcPr>
                </a:tc>
                <a:tc>
                  <a:txBody>
                    <a:bodyPr/>
                    <a:lstStyle/>
                    <a:p>
                      <a:pPr algn="ctr"/>
                      <a:r>
                        <a:rPr sz="1300">
                          <a:solidFill>
                            <a:srgbClr val="222222"/>
                          </a:solidFill>
                        </a:rPr>
                        <a:t>4</a:t>
                      </a:r>
                    </a:p>
                  </a:txBody>
                  <a:tcPr marL="54864" marR="54864" marT="18288" marB="18288">
                    <a:solidFill>
                      <a:srgbClr val="F4F7FA"/>
                    </a:solidFill>
                  </a:tcPr>
                </a:tc>
                <a:tc>
                  <a:txBody>
                    <a:bodyPr/>
                    <a:lstStyle/>
                    <a:p>
                      <a:pPr algn="ctr"/>
                      <a:r>
                        <a:rPr sz="1300">
                          <a:solidFill>
                            <a:srgbClr val="222222"/>
                          </a:solidFill>
                        </a:rPr>
                        <a:t>0.0392</a:t>
                      </a:r>
                    </a:p>
                  </a:txBody>
                  <a:tcPr marL="54864" marR="54864" marT="18288" marB="18288">
                    <a:solidFill>
                      <a:srgbClr val="F4F7FA"/>
                    </a:solidFill>
                  </a:tcPr>
                </a:tc>
              </a:tr>
            </a:tbl>
          </a:graphicData>
        </a:graphic>
      </p:graphicFrame>
      <p:sp>
        <p:nvSpPr>
          <p:cNvPr id="4" name="TextBox 3"/>
          <p:cNvSpPr txBox="1"/>
          <p:nvPr/>
        </p:nvSpPr>
        <p:spPr>
          <a:xfrm>
            <a:off x="8138160" y="1554480"/>
            <a:ext cx="3657600" cy="4297680"/>
          </a:xfrm>
          <a:prstGeom prst="rect">
            <a:avLst/>
          </a:prstGeom>
          <a:noFill/>
        </p:spPr>
        <p:txBody>
          <a:bodyPr wrap="square">
            <a:spAutoFit/>
          </a:bodyPr>
          <a:lstStyle/>
          <a:p>
            <a:pPr>
              <a:spcAft>
                <a:spcPts val="600"/>
              </a:spcAft>
            </a:pPr>
            <a:r>
              <a:rPr sz="1500">
                <a:solidFill>
                  <a:srgbClr val="1A1A1A"/>
                </a:solidFill>
              </a:rPr>
              <a:t>•  Dominant cell exact vs Zhang: Airframe 0.3137 = 0.31372.</a:t>
            </a:r>
          </a:p>
          <a:p>
            <a:pPr>
              <a:spcAft>
                <a:spcPts val="600"/>
              </a:spcAft>
            </a:pPr>
            <a:r>
              <a:rPr sz="1500">
                <a:solidFill>
                  <a:srgbClr val="1A1A1A"/>
                </a:solidFill>
              </a:rPr>
              <a:t>•  Secondary cells within ~1 accident.</a:t>
            </a:r>
          </a:p>
          <a:p>
            <a:pPr>
              <a:spcAft>
                <a:spcPts val="600"/>
              </a:spcAft>
            </a:pPr>
            <a:r>
              <a:rPr sz="1500">
                <a:solidFill>
                  <a:srgbClr val="1A1A1A"/>
                </a:solidFill>
              </a:rPr>
              <a:t>•  At full retrieval breadth, 113/113 causes match Zhang exactly.</a:t>
            </a:r>
          </a:p>
          <a:p>
            <a:pPr>
              <a:spcAft>
                <a:spcPts val="600"/>
              </a:spcAft>
            </a:pPr>
            <a:r>
              <a:rPr sz="1500">
                <a:solidFill>
                  <a:srgbClr val="1A1A1A"/>
                </a:solidFill>
              </a:rPr>
              <a:t>•  top-50 -&gt; 36 fires (0.222); top-200 -&gt; 84 (0.286); all -&gt; 102 (0.3137).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Zhang's Table 4 vs his actual method  (pedagogical 0.99 != output)</a:t>
            </a:r>
          </a:p>
          <a:p>
            <a:r>
              <a:rPr sz="1500">
                <a:solidFill>
                  <a:srgbClr val="CFDDEE"/>
                </a:solidFill>
              </a:rPr>
              <a:t>Zhang Table 4 (top) and Fig. 8 Beta-CDF estimator (bottom) — actual figures</a:t>
            </a:r>
          </a:p>
        </p:txBody>
      </p:sp>
      <p:pic>
        <p:nvPicPr>
          <p:cNvPr id="3" name="Picture 2" descr="zhang_table4.png"/>
          <p:cNvPicPr>
            <a:picLocks noChangeAspect="1"/>
          </p:cNvPicPr>
          <p:nvPr/>
        </p:nvPicPr>
        <p:blipFill>
          <a:blip r:embed="rId2"/>
          <a:stretch>
            <a:fillRect/>
          </a:stretch>
        </p:blipFill>
        <p:spPr>
          <a:xfrm>
            <a:off x="963740" y="1234440"/>
            <a:ext cx="10234039" cy="1691640"/>
          </a:xfrm>
          <a:prstGeom prst="rect">
            <a:avLst/>
          </a:prstGeom>
          <a:ln w="9525">
            <a:solidFill>
              <a:srgbClr val="BBC7D4"/>
            </a:solidFill>
          </a:ln>
        </p:spPr>
      </p:pic>
      <p:pic>
        <p:nvPicPr>
          <p:cNvPr id="4" name="Picture 3" descr="zhang_betacdf.png"/>
          <p:cNvPicPr>
            <a:picLocks noChangeAspect="1"/>
          </p:cNvPicPr>
          <p:nvPr/>
        </p:nvPicPr>
        <p:blipFill>
          <a:blip r:embed="rId3"/>
          <a:stretch>
            <a:fillRect/>
          </a:stretch>
        </p:blipFill>
        <p:spPr>
          <a:xfrm>
            <a:off x="509325" y="3154680"/>
            <a:ext cx="4833508" cy="3246120"/>
          </a:xfrm>
          <a:prstGeom prst="rect">
            <a:avLst/>
          </a:prstGeom>
          <a:ln w="9525">
            <a:solidFill>
              <a:srgbClr val="BBC7D4"/>
            </a:solidFill>
          </a:ln>
        </p:spPr>
      </p:pic>
      <p:sp>
        <p:nvSpPr>
          <p:cNvPr id="5" name="TextBox 4"/>
          <p:cNvSpPr txBox="1"/>
          <p:nvPr/>
        </p:nvSpPr>
        <p:spPr>
          <a:xfrm>
            <a:off x="5852160" y="3108960"/>
            <a:ext cx="5943600" cy="4297680"/>
          </a:xfrm>
          <a:prstGeom prst="rect">
            <a:avLst/>
          </a:prstGeom>
          <a:noFill/>
        </p:spPr>
        <p:txBody>
          <a:bodyPr wrap="square">
            <a:spAutoFit/>
          </a:bodyPr>
          <a:lstStyle/>
          <a:p>
            <a:pPr>
              <a:spcAft>
                <a:spcPts val="600"/>
              </a:spcAft>
            </a:pPr>
            <a:r>
              <a:rPr sz="1400">
                <a:solidFill>
                  <a:srgbClr val="1A1A1A"/>
                </a:solidFill>
              </a:rPr>
              <a:t>•  Top = Zhang's Table 4: the CPT that motivated this work —</a:t>
            </a:r>
          </a:p>
          <a:p>
            <a:pPr lvl="1">
              <a:spcAft>
                <a:spcPts val="600"/>
              </a:spcAft>
            </a:pPr>
            <a:r>
              <a:rPr sz="1200">
                <a:solidFill>
                  <a:srgbClr val="444444"/>
                </a:solidFill>
              </a:rPr>
              <a:t>–  'if brake worn AND wiring overheated -&gt; P(fire) = 0.99'.</a:t>
            </a:r>
          </a:p>
          <a:p>
            <a:pPr lvl="1">
              <a:spcAft>
                <a:spcPts val="600"/>
              </a:spcAft>
            </a:pPr>
            <a:r>
              <a:rPr sz="1200">
                <a:solidFill>
                  <a:srgbClr val="444444"/>
                </a:solidFill>
              </a:rPr>
              <a:t>–  It is a hand-set TEACHING example for the Fig. 2 toy net, NOT an estimator output.</a:t>
            </a:r>
          </a:p>
          <a:p>
            <a:pPr>
              <a:spcAft>
                <a:spcPts val="600"/>
              </a:spcAft>
            </a:pPr>
            <a:r>
              <a:rPr sz="1400">
                <a:solidFill>
                  <a:srgbClr val="1A1A1A"/>
                </a:solidFill>
              </a:rPr>
              <a:t>•  Bottom = Zhang's real method (Fig. 8 Beta-CDF, a*b ~ 1.05/2.03).</a:t>
            </a:r>
          </a:p>
          <a:p>
            <a:pPr lvl="1">
              <a:spcAft>
                <a:spcPts val="600"/>
              </a:spcAft>
            </a:pPr>
            <a:r>
              <a:rPr sz="1200">
                <a:solidFill>
                  <a:srgbClr val="444444"/>
                </a:solidFill>
              </a:rPr>
              <a:t>–  On the same inputs it yields ~0.09-0.11, nowhere near 0.99.</a:t>
            </a:r>
          </a:p>
          <a:p>
            <a:pPr>
              <a:spcAft>
                <a:spcPts val="600"/>
              </a:spcAft>
            </a:pPr>
            <a:r>
              <a:rPr sz="1400">
                <a:solidFill>
                  <a:srgbClr val="1A1A1A"/>
                </a:solidFill>
              </a:rPr>
              <a:t>•  So 'get Table 4 to 0.9' is unreachable by ANY method, including Zhang's own.</a:t>
            </a:r>
          </a:p>
          <a:p>
            <a:pPr>
              <a:spcAft>
                <a:spcPts val="600"/>
              </a:spcAft>
            </a:pPr>
            <a:r>
              <a:rPr sz="1400">
                <a:solidFill>
                  <a:srgbClr val="1A1A1A"/>
                </a:solidFill>
              </a:rPr>
              <a:t>•  We relate our conditional diagnosis to Table 4's idea — honestly — next 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Beyond Zhang: conditional diagnosis  (the honest Table-4 analogue)</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P(cause | outcome AND condition) — restrict the population, then diagnose.</a:t>
            </a:r>
          </a:p>
          <a:p>
            <a:pPr>
              <a:spcAft>
                <a:spcPts val="600"/>
              </a:spcAft>
            </a:pPr>
            <a:r>
              <a:rPr sz="1800">
                <a:solidFill>
                  <a:srgbClr val="1A1A1A"/>
                </a:solidFill>
              </a:rPr>
              <a:t>•  Example: P(cause | fire AND electrical wiring)</a:t>
            </a:r>
          </a:p>
          <a:p>
            <a:pPr lvl="1">
              <a:spcAft>
                <a:spcPts val="600"/>
              </a:spcAft>
            </a:pPr>
            <a:r>
              <a:rPr sz="1600">
                <a:solidFill>
                  <a:srgbClr val="444444"/>
                </a:solidFill>
              </a:rPr>
              <a:t>–  Population restricted to the 14 wiring-related fire incidents.</a:t>
            </a:r>
          </a:p>
          <a:p>
            <a:pPr lvl="1">
              <a:spcAft>
                <a:spcPts val="600"/>
              </a:spcAft>
            </a:pPr>
            <a:r>
              <a:rPr sz="1600">
                <a:solidFill>
                  <a:srgbClr val="444444"/>
                </a:solidFill>
              </a:rPr>
              <a:t>–  Wiring jumps to ~78.6% as the dominant cause.</a:t>
            </a:r>
          </a:p>
          <a:p>
            <a:pPr>
              <a:spcAft>
                <a:spcPts val="600"/>
              </a:spcAft>
            </a:pPr>
            <a:r>
              <a:rPr sz="1800">
                <a:solidFill>
                  <a:srgbClr val="1A1A1A"/>
                </a:solidFill>
              </a:rPr>
              <a:t>•  This is the honest version of Table 4's idea: instead of hand-setting 0.99, we sub-set to the matching incidents and report what the data says.</a:t>
            </a:r>
          </a:p>
          <a:p>
            <a:pPr>
              <a:spcAft>
                <a:spcPts val="600"/>
              </a:spcAft>
            </a:pPr>
            <a:r>
              <a:rPr sz="1800">
                <a:solidFill>
                  <a:srgbClr val="1A1A1A"/>
                </a:solidFill>
              </a:rPr>
              <a:t>•  Lets the advisor ask targeted 'what if we already know X' questions.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Part 2: A more robust estimator for sparse cells</a:t>
            </a:r>
          </a:p>
          <a:p>
            <a:r>
              <a:rPr sz="1500">
                <a:solidFill>
                  <a:srgbClr val="CFDDEE"/>
                </a:solidFill>
              </a:rPr>
              <a:t>The new, validated contribution since the last meeting</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Part 1 was about DENSE numbers — the fire prior and Table 7 — where we have 102 fires to count, so plain counting works.</a:t>
            </a:r>
          </a:p>
          <a:p>
            <a:pPr>
              <a:spcAft>
                <a:spcPts val="600"/>
              </a:spcAft>
            </a:pPr>
            <a:r>
              <a:rPr sz="1800">
                <a:solidFill>
                  <a:srgbClr val="1A1A1A"/>
                </a:solidFill>
              </a:rPr>
              <a:t>•  This part is the opposite situation: cells with almost no data (1-10 observations) — which is exactly where Zhang's famous 0.95 lives.</a:t>
            </a:r>
          </a:p>
          <a:p>
            <a:pPr>
              <a:spcAft>
                <a:spcPts val="600"/>
              </a:spcAft>
            </a:pPr>
            <a:r>
              <a:rPr sz="1800">
                <a:solidFill>
                  <a:srgbClr val="1A1A1A"/>
                </a:solidFill>
              </a:rPr>
              <a:t>•  Claim, stated honestly up front:</a:t>
            </a:r>
          </a:p>
          <a:p>
            <a:pPr lvl="1">
              <a:spcAft>
                <a:spcPts val="600"/>
              </a:spcAft>
            </a:pPr>
            <a:r>
              <a:rPr sz="1600">
                <a:solidFill>
                  <a:srgbClr val="444444"/>
                </a:solidFill>
              </a:rPr>
              <a:t>–  Our semantic-neighbour smoothing is more accurate AND far more stable than Zhang's smoother exactly where his estimates are most fragile.</a:t>
            </a:r>
          </a:p>
          <a:p>
            <a:pPr lvl="1">
              <a:spcAft>
                <a:spcPts val="600"/>
              </a:spcAft>
            </a:pPr>
            <a:r>
              <a:rPr sz="1600">
                <a:solidFill>
                  <a:srgbClr val="444444"/>
                </a:solidFill>
              </a:rPr>
              <a:t>–  It is also a strict, clean replacement for his Beta-CDF smoother.</a:t>
            </a:r>
          </a:p>
          <a:p>
            <a:pPr lvl="1">
              <a:spcAft>
                <a:spcPts val="600"/>
              </a:spcAft>
            </a:pPr>
            <a:r>
              <a:rPr sz="1600">
                <a:solidFill>
                  <a:srgbClr val="444444"/>
                </a:solidFill>
              </a:rPr>
              <a:t>–  NOT a blanket 'we beat everything' — the honest caveat travels with us all the way through.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Results: accuracy and stability vs sparsity</a:t>
            </a:r>
          </a:p>
          <a:p>
            <a:r>
              <a:rPr sz="1500">
                <a:solidFill>
                  <a:srgbClr val="CFDDEE"/>
                </a:solidFill>
              </a:rPr>
              <a:t>Left = accuracy (MAE) vs n; right = stability (across-draw STD) vs n</a:t>
            </a:r>
          </a:p>
        </p:txBody>
      </p:sp>
      <p:pic>
        <p:nvPicPr>
          <p:cNvPr id="3" name="Picture 2" descr="sparse_robustness.png"/>
          <p:cNvPicPr>
            <a:picLocks noChangeAspect="1"/>
          </p:cNvPicPr>
          <p:nvPr/>
        </p:nvPicPr>
        <p:blipFill>
          <a:blip r:embed="rId2"/>
          <a:stretch>
            <a:fillRect/>
          </a:stretch>
        </p:blipFill>
        <p:spPr>
          <a:xfrm>
            <a:off x="365760" y="2002536"/>
            <a:ext cx="7680960" cy="2944368"/>
          </a:xfrm>
          <a:prstGeom prst="rect">
            <a:avLst/>
          </a:prstGeom>
          <a:ln w="9525">
            <a:solidFill>
              <a:srgbClr val="BBC7D4"/>
            </a:solidFill>
          </a:ln>
        </p:spPr>
      </p:pic>
      <p:sp>
        <p:nvSpPr>
          <p:cNvPr id="4" name="TextBox 3"/>
          <p:cNvSpPr txBox="1"/>
          <p:nvPr/>
        </p:nvSpPr>
        <p:spPr>
          <a:xfrm>
            <a:off x="8138160" y="1371600"/>
            <a:ext cx="3749039" cy="4297680"/>
          </a:xfrm>
          <a:prstGeom prst="rect">
            <a:avLst/>
          </a:prstGeom>
          <a:noFill/>
        </p:spPr>
        <p:txBody>
          <a:bodyPr wrap="square">
            <a:spAutoFit/>
          </a:bodyPr>
          <a:lstStyle/>
          <a:p>
            <a:pPr>
              <a:spcAft>
                <a:spcPts val="600"/>
              </a:spcAft>
            </a:pPr>
            <a:r>
              <a:rPr sz="1300">
                <a:solidFill>
                  <a:srgbClr val="1A1A1A"/>
                </a:solidFill>
              </a:rPr>
              <a:t>•  Accuracy (left): semantic sits flat at MAE ~ 0.11 for every n; counting starts near 0.27-0.28 at n=1 and only catches it around n ~ 7.</a:t>
            </a:r>
          </a:p>
          <a:p>
            <a:pPr>
              <a:spcAft>
                <a:spcPts val="600"/>
              </a:spcAft>
            </a:pPr>
            <a:r>
              <a:rPr sz="1300">
                <a:solidFill>
                  <a:srgbClr val="1A1A1A"/>
                </a:solidFill>
              </a:rPr>
              <a:t>•  Stability (right): semantic spread ~ 0.000 (same answer every draw); counting / Beta-CDF wobble at STD 0.10-0.37.</a:t>
            </a:r>
          </a:p>
          <a:p>
            <a:pPr>
              <a:spcAft>
                <a:spcPts val="600"/>
              </a:spcAft>
            </a:pPr>
            <a:r>
              <a:rPr sz="1300">
                <a:solidFill>
                  <a:srgbClr val="1A1A1A"/>
                </a:solidFill>
              </a:rPr>
              <a:t>•  Beta-CDF (blue) is the WORST line at every n — the global curve distorts these cells.</a:t>
            </a:r>
          </a:p>
          <a:p>
            <a:pPr>
              <a:spcAft>
                <a:spcPts val="600"/>
              </a:spcAft>
            </a:pPr>
            <a:r>
              <a:rPr sz="1300">
                <a:solidFill>
                  <a:srgbClr val="1A1A1A"/>
                </a:solidFill>
              </a:rPr>
              <a:t>•  Significance: vs Beta-CDF, semantic wins at EVERY n (Wilcoxon p &lt; 1e-4, bootstrap CIs exclude 0); vs raw count, it wins big for n &lt;= 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So... is this better than Zhang?  (the honest answer)</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Yes — exactly where it matters most. In the ultra-sparse regime (n &lt;= 5, where Zhang's fragile 0.95-type cells live), semantic is significantly more accurate and far more stable than raw count, the 0.95-cap, and Beta-CDF.</a:t>
            </a:r>
          </a:p>
          <a:p>
            <a:pPr>
              <a:spcAft>
                <a:spcPts val="600"/>
              </a:spcAft>
            </a:pPr>
            <a:r>
              <a:rPr sz="1800">
                <a:solidFill>
                  <a:srgbClr val="1A1A1A"/>
                </a:solidFill>
              </a:rPr>
              <a:t>•  It is a strict, clean replacement for Zhang's Beta-CDF smoother — better on every metric, at every n, AND under the strict leave-one-out check.</a:t>
            </a:r>
          </a:p>
          <a:p>
            <a:pPr>
              <a:spcAft>
                <a:spcPts val="600"/>
              </a:spcAft>
            </a:pPr>
            <a:r>
              <a:rPr sz="1800">
                <a:solidFill>
                  <a:srgbClr val="1A1A1A"/>
                </a:solidFill>
              </a:rPr>
              <a:t>•  Honest caveat (must say this): semantic does NOT beat a plain raw count at ~10+ observations, and in strict held-out (LOO) prediction it LOSES to raw count:</a:t>
            </a:r>
          </a:p>
          <a:p>
            <a:pPr lvl="1">
              <a:spcAft>
                <a:spcPts val="600"/>
              </a:spcAft>
            </a:pPr>
            <a:r>
              <a:rPr sz="1600">
                <a:solidFill>
                  <a:srgbClr val="444444"/>
                </a:solidFill>
              </a:rPr>
              <a:t>–  LOO Brier (lower better): raw/cap 0.148 &lt; semantic 0.167 &lt; Beta-CDF 0.171.</a:t>
            </a:r>
          </a:p>
          <a:p>
            <a:pPr>
              <a:spcAft>
                <a:spcPts val="600"/>
              </a:spcAft>
            </a:pPr>
            <a:r>
              <a:rPr sz="1800">
                <a:solidFill>
                  <a:srgbClr val="1A1A1A"/>
                </a:solidFill>
              </a:rPr>
              <a:t>•  Scientifically honest framing -&gt; a HYBRID: semantic smoothing for sparse cells, plain counting for dense cells. The natural next step / future 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Part 3: Does the narrative method actually work?</a:t>
            </a:r>
          </a:p>
          <a:p>
            <a:r>
              <a:rPr sz="1500">
                <a:solidFill>
                  <a:srgbClr val="CFDDEE"/>
                </a:solidFill>
              </a:rPr>
              <a:t>The open item ('validate query-conditioning') is now closed</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Part 1 = reproduction (counting -&gt; the population numbers). Part 2 = a better estimator for sparse cells.</a:t>
            </a:r>
          </a:p>
          <a:p>
            <a:pPr>
              <a:spcAft>
                <a:spcPts val="600"/>
              </a:spcAft>
            </a:pPr>
            <a:r>
              <a:rPr sz="1800">
                <a:solidFill>
                  <a:srgbClr val="1A1A1A"/>
                </a:solidFill>
              </a:rPr>
              <a:t>•  Part 3 = the narrative engine's OWN unique value: per-incident query-conditioning.</a:t>
            </a:r>
          </a:p>
          <a:p>
            <a:pPr>
              <a:spcAft>
                <a:spcPts val="600"/>
              </a:spcAft>
            </a:pPr>
            <a:r>
              <a:rPr sz="1800">
                <a:solidFill>
                  <a:srgbClr val="1A1A1A"/>
                </a:solidFill>
              </a:rPr>
              <a:t>•  The whole question: does using THIS incident's story sharpen the cause estimate beyond just using overall frequencies?</a:t>
            </a:r>
          </a:p>
          <a:p>
            <a:pPr>
              <a:spcAft>
                <a:spcPts val="600"/>
              </a:spcAft>
            </a:pPr>
            <a:r>
              <a:rPr sz="1800">
                <a:solidFill>
                  <a:srgbClr val="1A1A1A"/>
                </a:solidFill>
              </a:rPr>
              <a:t>•  Four things we now validated, in order:</a:t>
            </a:r>
          </a:p>
          <a:p>
            <a:pPr lvl="1">
              <a:spcAft>
                <a:spcPts val="600"/>
              </a:spcAft>
            </a:pPr>
            <a:r>
              <a:rPr sz="1600">
                <a:solidFill>
                  <a:srgbClr val="444444"/>
                </a:solidFill>
              </a:rPr>
              <a:t>–  (1) conditioning works (the headline)  (2) the probabilities are calibrated  (3) a safety gate  (4) robustness to rough real queries.</a:t>
            </a:r>
          </a:p>
          <a:p>
            <a:pPr>
              <a:spcAft>
                <a:spcPts val="600"/>
              </a:spcAft>
            </a:pPr>
            <a:r>
              <a:rPr sz="1800">
                <a:solidFill>
                  <a:srgbClr val="1A1A1A"/>
                </a:solidFill>
              </a:rPr>
              <a:t>•  Honest framing up front: the win is in the LIFT over the baseline, NOT a high absolute accuracy. Absolute top-1 stays a modest ~47%.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Results: conditioning vs the prior vs a random pool</a:t>
            </a:r>
          </a:p>
          <a:p>
            <a:r>
              <a:rPr sz="1500">
                <a:solidFill>
                  <a:srgbClr val="CFDDEE"/>
                </a:solidFill>
              </a:rPr>
              <a:t>cond / unc / rand — specific-cause space; lifts are paired means</a:t>
            </a:r>
          </a:p>
        </p:txBody>
      </p:sp>
      <p:graphicFrame>
        <p:nvGraphicFramePr>
          <p:cNvPr id="3" name="Table 2"/>
          <p:cNvGraphicFramePr>
            <a:graphicFrameLocks noGrp="1"/>
          </p:cNvGraphicFramePr>
          <p:nvPr/>
        </p:nvGraphicFramePr>
        <p:xfrm>
          <a:off x="411480" y="1371600"/>
          <a:ext cx="11384280" cy="2377440"/>
        </p:xfrm>
        <a:graphic>
          <a:graphicData uri="http://schemas.openxmlformats.org/drawingml/2006/table">
            <a:tbl>
              <a:tblPr firstRow="1" bandRow="1">
                <a:tableStyleId>{5C22544A-7EE6-4342-B048-85BDC9FD1C3A}</a:tableStyleId>
              </a:tblPr>
              <a:tblGrid>
                <a:gridCol w="2468880"/>
                <a:gridCol w="731520"/>
                <a:gridCol w="2423160"/>
                <a:gridCol w="2651760"/>
                <a:gridCol w="1554480"/>
                <a:gridCol w="1554480"/>
              </a:tblGrid>
              <a:tr h="475488">
                <a:tc>
                  <a:txBody>
                    <a:bodyPr/>
                    <a:lstStyle/>
                    <a:p>
                      <a:r>
                        <a:rPr sz="1200" b="1">
                          <a:solidFill>
                            <a:srgbClr val="FFFFFF"/>
                          </a:solidFill>
                        </a:rPr>
                        <a:t>Stratum (specific)</a:t>
                      </a:r>
                    </a:p>
                  </a:txBody>
                  <a:tcPr marL="54864" marR="54864" marT="18288" marB="18288">
                    <a:solidFill>
                      <a:srgbClr val="1F6FB2"/>
                    </a:solidFill>
                  </a:tcPr>
                </a:tc>
                <a:tc>
                  <a:txBody>
                    <a:bodyPr/>
                    <a:lstStyle/>
                    <a:p>
                      <a:pPr algn="ctr"/>
                      <a:r>
                        <a:rPr sz="1200" b="1">
                          <a:solidFill>
                            <a:srgbClr val="FFFFFF"/>
                          </a:solidFill>
                        </a:rPr>
                        <a:t>n</a:t>
                      </a:r>
                    </a:p>
                  </a:txBody>
                  <a:tcPr marL="54864" marR="54864" marT="18288" marB="18288">
                    <a:solidFill>
                      <a:srgbClr val="1F6FB2"/>
                    </a:solidFill>
                  </a:tcPr>
                </a:tc>
                <a:tc>
                  <a:txBody>
                    <a:bodyPr/>
                    <a:lstStyle/>
                    <a:p>
                      <a:pPr algn="ctr"/>
                      <a:r>
                        <a:rPr sz="1200" b="1">
                          <a:solidFill>
                            <a:srgbClr val="FFFFFF"/>
                          </a:solidFill>
                        </a:rPr>
                        <a:t>top-1 (c/u/r)</a:t>
                      </a:r>
                    </a:p>
                  </a:txBody>
                  <a:tcPr marL="54864" marR="54864" marT="18288" marB="18288">
                    <a:solidFill>
                      <a:srgbClr val="1F6FB2"/>
                    </a:solidFill>
                  </a:tcPr>
                </a:tc>
                <a:tc>
                  <a:txBody>
                    <a:bodyPr/>
                    <a:lstStyle/>
                    <a:p>
                      <a:pPr algn="ctr"/>
                      <a:r>
                        <a:rPr sz="1200" b="1">
                          <a:solidFill>
                            <a:srgbClr val="FFFFFF"/>
                          </a:solidFill>
                        </a:rPr>
                        <a:t>MRR (c/u/r)</a:t>
                      </a:r>
                    </a:p>
                  </a:txBody>
                  <a:tcPr marL="54864" marR="54864" marT="18288" marB="18288">
                    <a:solidFill>
                      <a:srgbClr val="1F6FB2"/>
                    </a:solidFill>
                  </a:tcPr>
                </a:tc>
                <a:tc>
                  <a:txBody>
                    <a:bodyPr/>
                    <a:lstStyle/>
                    <a:p>
                      <a:pPr algn="ctr"/>
                      <a:r>
                        <a:rPr sz="1200" b="1">
                          <a:solidFill>
                            <a:srgbClr val="FFFFFF"/>
                          </a:solidFill>
                        </a:rPr>
                        <a:t>MRR lift
vs prior</a:t>
                      </a:r>
                    </a:p>
                  </a:txBody>
                  <a:tcPr marL="54864" marR="54864" marT="18288" marB="18288">
                    <a:solidFill>
                      <a:srgbClr val="1F6FB2"/>
                    </a:solidFill>
                  </a:tcPr>
                </a:tc>
                <a:tc>
                  <a:txBody>
                    <a:bodyPr/>
                    <a:lstStyle/>
                    <a:p>
                      <a:pPr algn="ctr"/>
                      <a:r>
                        <a:rPr sz="1200" b="1">
                          <a:solidFill>
                            <a:srgbClr val="FFFFFF"/>
                          </a:solidFill>
                        </a:rPr>
                        <a:t>MRR lift
vs random</a:t>
                      </a:r>
                    </a:p>
                  </a:txBody>
                  <a:tcPr marL="54864" marR="54864" marT="18288" marB="18288">
                    <a:solidFill>
                      <a:srgbClr val="1F6FB2"/>
                    </a:solidFill>
                  </a:tcPr>
                </a:tc>
              </a:tr>
              <a:tr h="475488">
                <a:tc>
                  <a:txBody>
                    <a:bodyPr/>
                    <a:lstStyle/>
                    <a:p>
                      <a:r>
                        <a:rPr sz="1200" b="1">
                          <a:solidFill>
                            <a:srgbClr val="222222"/>
                          </a:solidFill>
                        </a:rPr>
                        <a:t>A-clean (leakage-free)</a:t>
                      </a:r>
                    </a:p>
                  </a:txBody>
                  <a:tcPr marL="54864" marR="54864" marT="18288" marB="18288">
                    <a:solidFill>
                      <a:srgbClr val="E6F4EA"/>
                    </a:solidFill>
                  </a:tcPr>
                </a:tc>
                <a:tc>
                  <a:txBody>
                    <a:bodyPr/>
                    <a:lstStyle/>
                    <a:p>
                      <a:pPr algn="ctr"/>
                      <a:r>
                        <a:rPr sz="1200" b="1">
                          <a:solidFill>
                            <a:srgbClr val="222222"/>
                          </a:solidFill>
                        </a:rPr>
                        <a:t>1085</a:t>
                      </a:r>
                    </a:p>
                  </a:txBody>
                  <a:tcPr marL="54864" marR="54864" marT="18288" marB="18288">
                    <a:solidFill>
                      <a:srgbClr val="E6F4EA"/>
                    </a:solidFill>
                  </a:tcPr>
                </a:tc>
                <a:tc>
                  <a:txBody>
                    <a:bodyPr/>
                    <a:lstStyle/>
                    <a:p>
                      <a:pPr algn="ctr"/>
                      <a:r>
                        <a:rPr sz="1200" b="1">
                          <a:solidFill>
                            <a:srgbClr val="222222"/>
                          </a:solidFill>
                        </a:rPr>
                        <a:t>47.4/42.2/38.9</a:t>
                      </a:r>
                    </a:p>
                  </a:txBody>
                  <a:tcPr marL="54864" marR="54864" marT="18288" marB="18288">
                    <a:solidFill>
                      <a:srgbClr val="E6F4EA"/>
                    </a:solidFill>
                  </a:tcPr>
                </a:tc>
                <a:tc>
                  <a:txBody>
                    <a:bodyPr/>
                    <a:lstStyle/>
                    <a:p>
                      <a:pPr algn="ctr"/>
                      <a:r>
                        <a:rPr sz="1200" b="1">
                          <a:solidFill>
                            <a:srgbClr val="222222"/>
                          </a:solidFill>
                        </a:rPr>
                        <a:t>0.577/0.525/0.473</a:t>
                      </a:r>
                    </a:p>
                  </a:txBody>
                  <a:tcPr marL="54864" marR="54864" marT="18288" marB="18288">
                    <a:solidFill>
                      <a:srgbClr val="E6F4EA"/>
                    </a:solidFill>
                  </a:tcPr>
                </a:tc>
                <a:tc>
                  <a:txBody>
                    <a:bodyPr/>
                    <a:lstStyle/>
                    <a:p>
                      <a:pPr algn="ctr"/>
                      <a:r>
                        <a:rPr sz="1200" b="1">
                          <a:solidFill>
                            <a:srgbClr val="222222"/>
                          </a:solidFill>
                        </a:rPr>
                        <a:t>+0.052
(p~1e-11)</a:t>
                      </a:r>
                    </a:p>
                  </a:txBody>
                  <a:tcPr marL="54864" marR="54864" marT="18288" marB="18288">
                    <a:solidFill>
                      <a:srgbClr val="E6F4EA"/>
                    </a:solidFill>
                  </a:tcPr>
                </a:tc>
                <a:tc>
                  <a:txBody>
                    <a:bodyPr/>
                    <a:lstStyle/>
                    <a:p>
                      <a:pPr algn="ctr"/>
                      <a:r>
                        <a:rPr sz="1200" b="1">
                          <a:solidFill>
                            <a:srgbClr val="222222"/>
                          </a:solidFill>
                        </a:rPr>
                        <a:t>+0.103
(p~1e-29)</a:t>
                      </a:r>
                    </a:p>
                  </a:txBody>
                  <a:tcPr marL="54864" marR="54864" marT="18288" marB="18288">
                    <a:solidFill>
                      <a:srgbClr val="E6F4EA"/>
                    </a:solidFill>
                  </a:tcPr>
                </a:tc>
              </a:tr>
              <a:tr h="475488">
                <a:tc>
                  <a:txBody>
                    <a:bodyPr/>
                    <a:lstStyle/>
                    <a:p>
                      <a:r>
                        <a:rPr sz="1200">
                          <a:solidFill>
                            <a:srgbClr val="222222"/>
                          </a:solidFill>
                        </a:rPr>
                        <a:t>A-all (factual)</a:t>
                      </a:r>
                    </a:p>
                  </a:txBody>
                  <a:tcPr marL="54864" marR="54864" marT="18288" marB="18288">
                    <a:solidFill>
                      <a:srgbClr val="FFFFFF"/>
                    </a:solidFill>
                  </a:tcPr>
                </a:tc>
                <a:tc>
                  <a:txBody>
                    <a:bodyPr/>
                    <a:lstStyle/>
                    <a:p>
                      <a:pPr algn="ctr"/>
                      <a:r>
                        <a:rPr sz="1200">
                          <a:solidFill>
                            <a:srgbClr val="222222"/>
                          </a:solidFill>
                        </a:rPr>
                        <a:t>1254</a:t>
                      </a:r>
                    </a:p>
                  </a:txBody>
                  <a:tcPr marL="54864" marR="54864" marT="18288" marB="18288">
                    <a:solidFill>
                      <a:srgbClr val="FFFFFF"/>
                    </a:solidFill>
                  </a:tcPr>
                </a:tc>
                <a:tc>
                  <a:txBody>
                    <a:bodyPr/>
                    <a:lstStyle/>
                    <a:p>
                      <a:pPr algn="ctr"/>
                      <a:r>
                        <a:rPr sz="1200">
                          <a:solidFill>
                            <a:srgbClr val="222222"/>
                          </a:solidFill>
                        </a:rPr>
                        <a:t>46.9/40.9/38.0</a:t>
                      </a:r>
                    </a:p>
                  </a:txBody>
                  <a:tcPr marL="54864" marR="54864" marT="18288" marB="18288">
                    <a:solidFill>
                      <a:srgbClr val="FFFFFF"/>
                    </a:solidFill>
                  </a:tcPr>
                </a:tc>
                <a:tc>
                  <a:txBody>
                    <a:bodyPr/>
                    <a:lstStyle/>
                    <a:p>
                      <a:pPr algn="ctr"/>
                      <a:r>
                        <a:rPr sz="1200">
                          <a:solidFill>
                            <a:srgbClr val="222222"/>
                          </a:solidFill>
                        </a:rPr>
                        <a:t>0.570/0.511/0.463</a:t>
                      </a:r>
                    </a:p>
                  </a:txBody>
                  <a:tcPr marL="54864" marR="54864" marT="18288" marB="18288">
                    <a:solidFill>
                      <a:srgbClr val="FFFFFF"/>
                    </a:solidFill>
                  </a:tcPr>
                </a:tc>
                <a:tc>
                  <a:txBody>
                    <a:bodyPr/>
                    <a:lstStyle/>
                    <a:p>
                      <a:pPr algn="ctr"/>
                      <a:r>
                        <a:rPr sz="1200">
                          <a:solidFill>
                            <a:srgbClr val="222222"/>
                          </a:solidFill>
                        </a:rPr>
                        <a:t>+0.059</a:t>
                      </a:r>
                    </a:p>
                  </a:txBody>
                  <a:tcPr marL="54864" marR="54864" marT="18288" marB="18288">
                    <a:solidFill>
                      <a:srgbClr val="FFFFFF"/>
                    </a:solidFill>
                  </a:tcPr>
                </a:tc>
                <a:tc>
                  <a:txBody>
                    <a:bodyPr/>
                    <a:lstStyle/>
                    <a:p>
                      <a:pPr algn="ctr"/>
                      <a:r>
                        <a:rPr sz="1200">
                          <a:solidFill>
                            <a:srgbClr val="222222"/>
                          </a:solidFill>
                        </a:rPr>
                        <a:t>+0.108</a:t>
                      </a:r>
                    </a:p>
                  </a:txBody>
                  <a:tcPr marL="54864" marR="54864" marT="18288" marB="18288">
                    <a:solidFill>
                      <a:srgbClr val="FFFFFF"/>
                    </a:solidFill>
                  </a:tcPr>
                </a:tc>
              </a:tr>
              <a:tr h="475488">
                <a:tc>
                  <a:txBody>
                    <a:bodyPr/>
                    <a:lstStyle/>
                    <a:p>
                      <a:r>
                        <a:rPr sz="1200">
                          <a:solidFill>
                            <a:srgbClr val="222222"/>
                          </a:solidFill>
                        </a:rPr>
                        <a:t>A-leak (echoes cause)</a:t>
                      </a:r>
                    </a:p>
                  </a:txBody>
                  <a:tcPr marL="54864" marR="54864" marT="18288" marB="18288">
                    <a:solidFill>
                      <a:srgbClr val="F4F7FA"/>
                    </a:solidFill>
                  </a:tcPr>
                </a:tc>
                <a:tc>
                  <a:txBody>
                    <a:bodyPr/>
                    <a:lstStyle/>
                    <a:p>
                      <a:pPr algn="ctr"/>
                      <a:r>
                        <a:rPr sz="1200">
                          <a:solidFill>
                            <a:srgbClr val="222222"/>
                          </a:solidFill>
                        </a:rPr>
                        <a:t>169</a:t>
                      </a:r>
                    </a:p>
                  </a:txBody>
                  <a:tcPr marL="54864" marR="54864" marT="18288" marB="18288">
                    <a:solidFill>
                      <a:srgbClr val="F4F7FA"/>
                    </a:solidFill>
                  </a:tcPr>
                </a:tc>
                <a:tc>
                  <a:txBody>
                    <a:bodyPr/>
                    <a:lstStyle/>
                    <a:p>
                      <a:pPr algn="ctr"/>
                      <a:r>
                        <a:rPr sz="1200">
                          <a:solidFill>
                            <a:srgbClr val="222222"/>
                          </a:solidFill>
                        </a:rPr>
                        <a:t>43.8/32.5/32.5</a:t>
                      </a:r>
                    </a:p>
                  </a:txBody>
                  <a:tcPr marL="54864" marR="54864" marT="18288" marB="18288">
                    <a:solidFill>
                      <a:srgbClr val="F4F7FA"/>
                    </a:solidFill>
                  </a:tcPr>
                </a:tc>
                <a:tc>
                  <a:txBody>
                    <a:bodyPr/>
                    <a:lstStyle/>
                    <a:p>
                      <a:pPr algn="ctr"/>
                      <a:r>
                        <a:rPr sz="1200">
                          <a:solidFill>
                            <a:srgbClr val="222222"/>
                          </a:solidFill>
                        </a:rPr>
                        <a:t>0.529/0.423/0.394</a:t>
                      </a:r>
                    </a:p>
                  </a:txBody>
                  <a:tcPr marL="54864" marR="54864" marT="18288" marB="18288">
                    <a:solidFill>
                      <a:srgbClr val="F4F7FA"/>
                    </a:solidFill>
                  </a:tcPr>
                </a:tc>
                <a:tc>
                  <a:txBody>
                    <a:bodyPr/>
                    <a:lstStyle/>
                    <a:p>
                      <a:pPr algn="ctr"/>
                      <a:r>
                        <a:rPr sz="1200">
                          <a:solidFill>
                            <a:srgbClr val="222222"/>
                          </a:solidFill>
                        </a:rPr>
                        <a:t>+0.106</a:t>
                      </a:r>
                    </a:p>
                  </a:txBody>
                  <a:tcPr marL="54864" marR="54864" marT="18288" marB="18288">
                    <a:solidFill>
                      <a:srgbClr val="F4F7FA"/>
                    </a:solidFill>
                  </a:tcPr>
                </a:tc>
                <a:tc>
                  <a:txBody>
                    <a:bodyPr/>
                    <a:lstStyle/>
                    <a:p>
                      <a:pPr algn="ctr"/>
                      <a:r>
                        <a:rPr sz="1200">
                          <a:solidFill>
                            <a:srgbClr val="222222"/>
                          </a:solidFill>
                        </a:rPr>
                        <a:t>+0.135</a:t>
                      </a:r>
                    </a:p>
                  </a:txBody>
                  <a:tcPr marL="54864" marR="54864" marT="18288" marB="18288">
                    <a:solidFill>
                      <a:srgbClr val="F4F7FA"/>
                    </a:solidFill>
                  </a:tcPr>
                </a:tc>
              </a:tr>
              <a:tr h="475488">
                <a:tc>
                  <a:txBody>
                    <a:bodyPr/>
                    <a:lstStyle/>
                    <a:p>
                      <a:r>
                        <a:rPr sz="1200">
                          <a:solidFill>
                            <a:srgbClr val="222222"/>
                          </a:solidFill>
                        </a:rPr>
                        <a:t>B-cause-prose (leaky)</a:t>
                      </a:r>
                    </a:p>
                  </a:txBody>
                  <a:tcPr marL="54864" marR="54864" marT="18288" marB="18288">
                    <a:solidFill>
                      <a:srgbClr val="FFFFFF"/>
                    </a:solidFill>
                  </a:tcPr>
                </a:tc>
                <a:tc>
                  <a:txBody>
                    <a:bodyPr/>
                    <a:lstStyle/>
                    <a:p>
                      <a:pPr algn="ctr"/>
                      <a:r>
                        <a:rPr sz="1200">
                          <a:solidFill>
                            <a:srgbClr val="222222"/>
                          </a:solidFill>
                        </a:rPr>
                        <a:t>746</a:t>
                      </a:r>
                    </a:p>
                  </a:txBody>
                  <a:tcPr marL="54864" marR="54864" marT="18288" marB="18288">
                    <a:solidFill>
                      <a:srgbClr val="FFFFFF"/>
                    </a:solidFill>
                  </a:tcPr>
                </a:tc>
                <a:tc>
                  <a:txBody>
                    <a:bodyPr/>
                    <a:lstStyle/>
                    <a:p>
                      <a:pPr algn="ctr"/>
                      <a:r>
                        <a:rPr sz="1200">
                          <a:solidFill>
                            <a:srgbClr val="222222"/>
                          </a:solidFill>
                        </a:rPr>
                        <a:t>45.6/40.6/35.1</a:t>
                      </a:r>
                    </a:p>
                  </a:txBody>
                  <a:tcPr marL="54864" marR="54864" marT="18288" marB="18288">
                    <a:solidFill>
                      <a:srgbClr val="FFFFFF"/>
                    </a:solidFill>
                  </a:tcPr>
                </a:tc>
                <a:tc>
                  <a:txBody>
                    <a:bodyPr/>
                    <a:lstStyle/>
                    <a:p>
                      <a:pPr algn="ctr"/>
                      <a:r>
                        <a:rPr sz="1200">
                          <a:solidFill>
                            <a:srgbClr val="222222"/>
                          </a:solidFill>
                        </a:rPr>
                        <a:t>0.568/0.518/0.442</a:t>
                      </a:r>
                    </a:p>
                  </a:txBody>
                  <a:tcPr marL="54864" marR="54864" marT="18288" marB="18288">
                    <a:solidFill>
                      <a:srgbClr val="FFFFFF"/>
                    </a:solidFill>
                  </a:tcPr>
                </a:tc>
                <a:tc>
                  <a:txBody>
                    <a:bodyPr/>
                    <a:lstStyle/>
                    <a:p>
                      <a:pPr algn="ctr"/>
                      <a:r>
                        <a:rPr sz="1200">
                          <a:solidFill>
                            <a:srgbClr val="222222"/>
                          </a:solidFill>
                        </a:rPr>
                        <a:t>+0.050</a:t>
                      </a:r>
                    </a:p>
                  </a:txBody>
                  <a:tcPr marL="54864" marR="54864" marT="18288" marB="18288">
                    <a:solidFill>
                      <a:srgbClr val="FFFFFF"/>
                    </a:solidFill>
                  </a:tcPr>
                </a:tc>
                <a:tc>
                  <a:txBody>
                    <a:bodyPr/>
                    <a:lstStyle/>
                    <a:p>
                      <a:pPr algn="ctr"/>
                      <a:r>
                        <a:rPr sz="1200">
                          <a:solidFill>
                            <a:srgbClr val="222222"/>
                          </a:solidFill>
                        </a:rPr>
                        <a:t>+0.126</a:t>
                      </a:r>
                    </a:p>
                  </a:txBody>
                  <a:tcPr marL="54864" marR="54864" marT="18288" marB="18288">
                    <a:solidFill>
                      <a:srgbClr val="FFFFFF"/>
                    </a:solidFill>
                  </a:tcPr>
                </a:tc>
              </a:tr>
            </a:tbl>
          </a:graphicData>
        </a:graphic>
      </p:graphicFrame>
      <p:sp>
        <p:nvSpPr>
          <p:cNvPr id="4" name="TextBox 3"/>
          <p:cNvSpPr txBox="1"/>
          <p:nvPr/>
        </p:nvSpPr>
        <p:spPr>
          <a:xfrm>
            <a:off x="502920" y="4023360"/>
            <a:ext cx="11185855" cy="4297680"/>
          </a:xfrm>
          <a:prstGeom prst="rect">
            <a:avLst/>
          </a:prstGeom>
          <a:noFill/>
        </p:spPr>
        <p:txBody>
          <a:bodyPr wrap="square">
            <a:spAutoFit/>
          </a:bodyPr>
          <a:lstStyle/>
          <a:p>
            <a:pPr>
              <a:spcAft>
                <a:spcPts val="600"/>
              </a:spcAft>
            </a:pPr>
            <a:r>
              <a:rPr sz="1500">
                <a:solidFill>
                  <a:srgbClr val="1A1A1A"/>
                </a:solidFill>
              </a:rPr>
              <a:t>•  Headline (honest A-clean): conditioning beats the prior +5.2 pp top-1 / +0.052 MRR (p~1e-11), and beats a concentration-matched random pool +8.5 pp / +0.103 (p~1e-29).</a:t>
            </a:r>
          </a:p>
          <a:p>
            <a:pPr>
              <a:spcAft>
                <a:spcPts val="600"/>
              </a:spcAft>
            </a:pPr>
            <a:r>
              <a:rPr sz="1500">
                <a:solidFill>
                  <a:srgbClr val="1A1A1A"/>
                </a:solidFill>
              </a:rPr>
              <a:t>•  Every comparison is paired per incident with overwhelming significance — not a small-sample fluke.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Is it real, or is it leakage?  (the decisive check)</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The proof it's NOT leakage: the leaky ceiling B (+0.050 MRR) is NO bigger than the honest A-clean (+0.052 MRR).</a:t>
            </a:r>
          </a:p>
          <a:p>
            <a:pPr lvl="1">
              <a:spcAft>
                <a:spcPts val="600"/>
              </a:spcAft>
            </a:pPr>
            <a:r>
              <a:rPr sz="1600">
                <a:solidFill>
                  <a:srgbClr val="444444"/>
                </a:solidFill>
              </a:rPr>
              <a:t>–  If A were secretly leakage, B (which DOES contain the cause text) would dominate it. It doesn't -&gt; A is clean.</a:t>
            </a:r>
          </a:p>
          <a:p>
            <a:pPr>
              <a:spcAft>
                <a:spcPts val="600"/>
              </a:spcAft>
            </a:pPr>
            <a:r>
              <a:rPr sz="1800">
                <a:solidFill>
                  <a:srgbClr val="1A1A1A"/>
                </a:solidFill>
              </a:rPr>
              <a:t>•  A-leak confirms the detector works: factual narratives that DO echo the cause show the expected bigger lift (+0.106).</a:t>
            </a:r>
          </a:p>
          <a:p>
            <a:pPr>
              <a:spcAft>
                <a:spcPts val="600"/>
              </a:spcAft>
            </a:pPr>
            <a:r>
              <a:rPr sz="1800">
                <a:solidFill>
                  <a:srgbClr val="1A1A1A"/>
                </a:solidFill>
              </a:rPr>
              <a:t>•  Conditioning helps where it should, and only there: the win is on specific-mechanism causes.</a:t>
            </a:r>
          </a:p>
          <a:p>
            <a:pPr lvl="1">
              <a:spcAft>
                <a:spcPts val="600"/>
              </a:spcAft>
            </a:pPr>
            <a:r>
              <a:rPr sz="1600">
                <a:solidFill>
                  <a:srgbClr val="444444"/>
                </a:solidFill>
              </a:rPr>
              <a:t>–  On incidents whose only true cause is a generic catch-all (n=29), the frequency prior is already optimal, so conditioning LOSES (top-1 -20.7 pp) — the predicted pattern, not a bug.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800" b="1">
                <a:solidFill>
                  <a:srgbClr val="FFFFFF"/>
                </a:solidFill>
              </a:rPr>
              <a:t>Status &amp; next steps</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800">
                <a:solidFill>
                  <a:srgbClr val="1A1A1A"/>
                </a:solidFill>
              </a:rPr>
              <a:t>•  Diagnosis reproduction: done / solid.</a:t>
            </a:r>
          </a:p>
          <a:p>
            <a:pPr lvl="1">
              <a:spcAft>
                <a:spcPts val="600"/>
              </a:spcAft>
            </a:pPr>
            <a:r>
              <a:rPr sz="1600">
                <a:solidFill>
                  <a:srgbClr val="444444"/>
                </a:solidFill>
              </a:rPr>
              <a:t>–  Prior + Table 7 reproduced exactly; method generalized; conditional + confidence-aware modes added. The credibility result.</a:t>
            </a:r>
          </a:p>
          <a:p>
            <a:pPr>
              <a:spcAft>
                <a:spcPts val="600"/>
              </a:spcAft>
            </a:pPr>
            <a:r>
              <a:rPr sz="1800">
                <a:solidFill>
                  <a:srgbClr val="1A1A1A"/>
                </a:solidFill>
              </a:rPr>
              <a:t>•  TWO validated contributions:</a:t>
            </a:r>
          </a:p>
          <a:p>
            <a:pPr lvl="1">
              <a:spcAft>
                <a:spcPts val="600"/>
              </a:spcAft>
            </a:pPr>
            <a:r>
              <a:rPr sz="1600">
                <a:solidFill>
                  <a:srgbClr val="444444"/>
                </a:solidFill>
              </a:rPr>
              <a:t>–  Query-conditioning (Part 3): a narrative-specific win — beats the no-narrative baseline +5.2 pp top-1 / +0.052 MRR (p~1e-11), leakage-controlled, not a concentration artefact.</a:t>
            </a:r>
          </a:p>
          <a:p>
            <a:pPr lvl="1">
              <a:spcAft>
                <a:spcPts val="600"/>
              </a:spcAft>
            </a:pPr>
            <a:r>
              <a:rPr sz="1600">
                <a:solidFill>
                  <a:srgbClr val="444444"/>
                </a:solidFill>
              </a:rPr>
              <a:t>–  Sparse-cell robustness (Part 2): semantic smoothing fixes Zhang's fragility — strictly beats his Beta-CDF, most accurate/stable where he is weakest (n &lt;= 5).</a:t>
            </a:r>
          </a:p>
          <a:p>
            <a:pPr>
              <a:spcAft>
                <a:spcPts val="600"/>
              </a:spcAft>
            </a:pPr>
            <a:r>
              <a:rPr sz="1800">
                <a:solidFill>
                  <a:srgbClr val="1A1A1A"/>
                </a:solidFill>
              </a:rPr>
              <a:t>•  The conditioning method is now hardened: calibrated (ECE ~0.059 -&gt; 0.038 via a one-dial temperature fix), gated (a safety switch — never worse than the prior), and robust to rough real-world queries.</a:t>
            </a:r>
          </a:p>
          <a:p>
            <a:pPr>
              <a:spcAft>
                <a:spcPts val="600"/>
              </a:spcAft>
            </a:pPr>
            <a:r>
              <a:rPr sz="1800">
                <a:solidFill>
                  <a:srgbClr val="1A1A1A"/>
                </a:solidFill>
              </a:rPr>
              <a:t>•  Honest open caveats (each travels with its claim): absolute accuracy modest (~47%); gating is safety not accuracy (harm regime ~2.3%); ultra-terse one-liners lose most of the ranking lift; sparse win is not blanket (raw count wins at n &gt;~ 10) -&gt; a hybrid is next.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