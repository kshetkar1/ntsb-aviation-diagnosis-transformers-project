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6"/>
    <p:sldId id="257" r:id="rId17"/>
    <p:sldId id="258" r:id="rId15"/>
    <p:sldId id="259" r:id="rId14"/>
    <p:sldId id="260" r:id="rId13"/>
    <p:sldId id="261" r:id="rId12"/>
    <p:sldId id="262" r:id="rId11"/>
    <p:sldId id="263" r:id="rId10"/>
    <p:sldId id="264" r:id="rId9"/>
    <p:sldId id="265" r:id="rId8"/>
  </p:sldIdLst>
  <p:sldSz cy="6858000" cx="12192000"/>
  <p:notesSz cx="7315200" cy="9601200"/>
  <p:embeddedFontLst>
    <p:embeddedFont>
      <p:font typeface="Arial Narrow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26" roundtripDataSignature="AMtx7miYmLYUP/gi5GMFGGJ0fy9g1HDH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74504F-1B09-4FFA-8A9C-1B817F76BD0B}">
  <a:tblStyle styleId="{B174504F-1B09-4FFA-8A9C-1B817F76BD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5.xml"/><Relationship Id="rId14" Type="http://schemas.openxmlformats.org/officeDocument/2006/relationships/slide" Target="slides/slide4.xml"/><Relationship Id="rId15" Type="http://schemas.openxmlformats.org/officeDocument/2006/relationships/slide" Target="slides/slide3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font" Target="fonts/ArialNarrow-regular.fntdata"/><Relationship Id="rId19" Type="http://schemas.openxmlformats.org/officeDocument/2006/relationships/font" Target="fonts/ArialNarrow-bold.fntdata"/><Relationship Id="rId20" Type="http://schemas.openxmlformats.org/officeDocument/2006/relationships/font" Target="fonts/ArialNarrow-italic.fntdata"/><Relationship Id="rId21" Type="http://schemas.openxmlformats.org/officeDocument/2006/relationships/font" Target="fonts/ArialNarrow-boldItalic.fntdata"/><Relationship Id="rId22" Type="http://schemas.openxmlformats.org/officeDocument/2006/relationships/font" Target="fonts/HelveticaNeue-regular.fntdata"/><Relationship Id="rId23" Type="http://schemas.openxmlformats.org/officeDocument/2006/relationships/font" Target="fonts/HelveticaNeue-bold.fntdata"/><Relationship Id="rId24" Type="http://schemas.openxmlformats.org/officeDocument/2006/relationships/font" Target="fonts/HelveticaNeue-italic.fntdata"/><Relationship Id="rId25" Type="http://schemas.openxmlformats.org/officeDocument/2006/relationships/font" Target="fonts/HelveticaNeue-boldItalic.fntdata"/><Relationship Id="rId2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8788" y="720725"/>
            <a:ext cx="6397625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6313" y="4559300"/>
            <a:ext cx="536257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09600" y="17526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828800" y="33528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459C"/>
              </a:buClr>
              <a:buSzPts val="3520"/>
              <a:buFont typeface="Times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09601" y="274639"/>
            <a:ext cx="9682348" cy="699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600" y="1092531"/>
            <a:ext cx="10972800" cy="5033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4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4459C"/>
              </a:buClr>
              <a:buSzPts val="2200"/>
              <a:buFont typeface="Time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609601" y="274638"/>
            <a:ext cx="96823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4459C"/>
              </a:buClr>
              <a:buSzPts val="308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4459C"/>
              </a:buClr>
              <a:buSzPts val="308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609600" y="274638"/>
            <a:ext cx="95081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12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459C"/>
              </a:buClr>
              <a:buSzPts val="3520"/>
              <a:buFont typeface="Times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4459C"/>
              </a:buClr>
              <a:buSzPts val="154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4459C"/>
              </a:buClr>
              <a:buSzPts val="154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2445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4459C"/>
              </a:buClr>
              <a:buSzPts val="2640"/>
              <a:buFont typeface="Times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-1" y="6448426"/>
            <a:ext cx="5054601" cy="40957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VU.png"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239928" y="71898"/>
            <a:ext cx="877430" cy="1131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5054601" y="6448426"/>
            <a:ext cx="1945216" cy="40957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</a:t>
            </a:r>
            <a:fld id="{00000000-1234-1234-1234-123412341234}" type="slidenum">
              <a:rPr b="1" i="0" lang="en-US" sz="14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400" u="none" cap="none" strike="noStrike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999818" y="6448426"/>
            <a:ext cx="5192183" cy="409575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Vanderbilt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preview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43734" y="71898"/>
            <a:ext cx="1123178" cy="11318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NTSB Narrative Project - Results &amp; Paper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asked for Tuesday - and what changed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“Clean up the confusing table” → every method now has a plain-English name</a:t>
            </a:r>
          </a:p>
          <a:p>
            <a:pPr lvl="1"/>
            <a:r>
              <a:t>One table, one metric, metric defined on the same slide</a:t>
            </a:r>
          </a:p>
          <a:p>
            <a:pPr/>
            <a:r>
              <a:t>“Explain everything yourself” → every slide footer names the file behind its numbers</a:t>
            </a:r>
          </a:p>
          <a:p>
            <a:pPr/>
            <a:r>
              <a:t>All results re-run under the no-leakage protocol — these are the honest numbers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in one sentence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 narrative comes in; a reader turns it into facts the network knows;</a:t>
            </a:r>
          </a:p>
          <a:p>
            <a:pPr/>
            <a:r>
              <a:t>each fact gets a strength counted from the 100 most similar past accidents;</a:t>
            </a:r>
          </a:p>
          <a:p>
            <a:pPr/>
            <a:r>
              <a:t>the frozen network (Zhang's, rebuilt &amp; verified) combines them into probabilities.</a:t>
            </a:r>
          </a:p>
          <a:p>
            <a:pPr lvl="1"/>
            <a:r>
              <a:t>Reader = vocabulary match first; LLM only when the text describes without naming</a:t>
            </a:r>
          </a:p>
          <a:p>
            <a:pPr lvl="1"/>
            <a:r>
              <a:t>The LLM never supplies a number — every strength is a counted fraction from data</a:t>
            </a:r>
          </a:p>
          <a:p>
            <a:pPr lvl="1"/>
            <a:r>
              <a:t>Nothing in this chain is trained; the network is frozen after the 1982–2006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Narrative → named facts → counted strengths → frozen network → probabilities.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bar you set: match Zhang exactly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011680"/>
                <a:gridCol w="2194560"/>
                <a:gridCol w="146304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Quantity Zhang 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Zhang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Fire occurrences 1982–2006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exact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Prior P(fire)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5.53e-7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5.527942e-7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exact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Table 7 cause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113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113/113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exact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Everything Zhang published, we reproduce to the digit — the network we query is 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docs_FrozenBN/ZHANG_REPRODUCTION_REPORT.md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on 296 unseen accidents (2007–2019)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Metric: 4-way exact match — top choice among fatal/serious/minor/none (injury), destroyed/substantial/minor/none (damage) equals the NTSB code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Damage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Always guess the most common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42.6%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Facts parsed from the text →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50.7%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Similar-accidents readout → network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77.4%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Trained model on the same text (comparison)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91.6%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74.0%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Outcome sentences are stripped before prediction — the honest numbers (93/81 was pre-fix). Tie with the trained model on injury; stronger on severe damage.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outputs/heldout_significance.md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you'll ask what accuracy hides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Class balance: accuracy flatters “always none” → we also report Macro-F1</a:t>
            </a:r>
          </a:p>
          <a:p>
            <a:pPr lvl="1"/>
            <a:r>
              <a:t>Ours 0.470 injury / 0.697 damage  vs  baseline 0.184 / 0.149</a:t>
            </a:r>
          </a:p>
          <a:p>
            <a:pPr/>
            <a:r>
              <a:t>Triage view — “is this severe?”</a:t>
            </a:r>
          </a:p>
          <a:p>
            <a:pPr lvl="1"/>
            <a:r>
              <a:t>Injury: 93.5% of severe cases caught, 96.8% of non-severe correctly cleared</a:t>
            </a:r>
          </a:p>
          <a:p>
            <a:pPr lvl="1"/>
            <a:r>
              <a:t>Damage: 75.3% caught, 89.8% cleared</a:t>
            </a:r>
          </a:p>
          <a:p>
            <a:pPr/>
            <a:r>
              <a:t>Honest misses: fatal (3 cases) and minor injury (16) never ranked top-1 — stated in the paper</a:t>
            </a:r>
          </a:p>
          <a:p>
            <a:pPr/>
            <a:r>
              <a:t>Every comparison carries an exact McNemar test and a bootstrap confidence interval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NEW: diagnosis on unseen accidents (cause categories)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NTSB changed coding systems in 2008, so both eras roll up to the four official top-level cause categories; correct = top category is among the coded causes (n=253)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6596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64592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Rank quality (MRR)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Always guess the most common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45.8%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0.685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Facts parsed from the text →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0.759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Similar-accidents vote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0.912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Trained model on the same text (comparison)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88.1%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0.936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09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Balanced across Personnel/Aircraft/Environment (68/62/72% recall). Disclosed: trained model +4 pts (p=0.03); nobody catches the rare Organizational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5A5A"/>
                </a:solidFill>
              </a:rPr>
              <a:t>outputs/diagnosis_heldout_eval.md  -  outputs/diagnosis_emb_lr.md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network itself contributes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The predictive signal comes from the narratives (similar-accident evidence)</a:t>
            </a:r>
          </a:p>
          <a:p>
            <a:pPr/>
            <a:r>
              <a:t>The network preserves it exactly — verified by a built-in self-test — and adds:</a:t>
            </a:r>
          </a:p>
          <a:p>
            <a:pPr lvl="1"/>
            <a:r>
              <a:t>A verified causal structure (slide 4: Zhang match to the digit)</a:t>
            </a:r>
          </a:p>
          <a:p>
            <a:pPr lvl="1"/>
            <a:r>
              <a:t>Joint reasoning: several pieces of evidence combined in one coherent calculation</a:t>
            </a:r>
          </a:p>
          <a:p>
            <a:pPr lvl="1"/>
            <a:r>
              <a:t>What-if questions (“same accident but IMC at night?”) a counting table can't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Narratives give the signal; the network makes it explainable and interrogable.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Results section: written; every number regenerates from one command</a:t>
            </a:r>
          </a:p>
          <a:p>
            <a:pPr lvl="1"/>
            <a:r>
              <a:t>docs_FrozenBN/RESULTS_SECTION.md + REPRODUCE.md</a:t>
            </a:r>
          </a:p>
          <a:p>
            <a:pPr/>
            <a:r>
              <a:t>“What is trained?” inventory: frozen / measured / selected — nothing fitted in the chain</a:t>
            </a:r>
          </a:p>
          <a:p>
            <a:pPr/>
            <a:r>
              <a:t>Leakage protocol + two audits: written and committed</a:t>
            </a:r>
          </a:p>
          <a:p>
            <a:pPr/>
            <a:r>
              <a:t>Remaining: intro &amp; related-work polish, figures, your pass on the slide-8 framing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to submission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This week: full draft assembled from the verified sections</a:t>
            </a:r>
          </a:p>
          <a:p>
            <a:pPr/>
            <a:r>
              <a:t>You receive: draft + reproduction commands + one-page crib sheet</a:t>
            </a:r>
          </a:p>
          <a:p>
            <a:pPr/>
            <a:r>
              <a:t>Decision I need from you:</a:t>
            </a:r>
          </a:p>
          <a:p>
            <a:pPr lvl="1"/>
            <a:r>
              <a:t>Lead the paper with “prediction from narratives, reasoning from the network”?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Ask: confirm the framing Friday so the draft locks this weekend.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2004-05-06T18:09:09Z</dcterms:created>
  <dc:creator>Shankar Sankararaman</dc:creator>
</cp:coreProperties>
</file>