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16"/>
    <p:sldId id="257" r:id="rId17"/>
    <p:sldId id="258" r:id="rId15"/>
    <p:sldId id="259" r:id="rId14"/>
    <p:sldId id="260" r:id="rId13"/>
    <p:sldId id="261" r:id="rId12"/>
    <p:sldId id="262" r:id="rId11"/>
    <p:sldId id="263" r:id="rId10"/>
    <p:sldId id="264" r:id="rId9"/>
    <p:sldId id="265" r:id="rId8"/>
    <p:sldId id="266" r:id="rId7"/>
    <p:sldId id="267" r:id="rId27"/>
    <p:sldId id="268" r:id="rId28"/>
    <p:sldId id="269" r:id="rId29"/>
    <p:sldId id="270" r:id="rId30"/>
    <p:sldId id="271" r:id="rId31"/>
    <p:sldId id="272" r:id="rId32"/>
    <p:sldId id="273" r:id="rId33"/>
    <p:sldId id="274" r:id="rId34"/>
    <p:sldId id="275" r:id="rId35"/>
    <p:sldId id="276" r:id="rId36"/>
  </p:sldIdLst>
  <p:sldSz cy="6858000" cx="12192000"/>
  <p:notesSz cx="7315200" cy="9601200"/>
  <p:embeddedFontLst>
    <p:embeddedFont>
      <p:font typeface="Arial Narrow"/>
      <p:regular r:id="rId18"/>
      <p:bold r:id="rId19"/>
      <p:italic r:id="rId20"/>
      <p:boldItalic r:id="rId21"/>
    </p:embeddedFont>
    <p:embeddedFont>
      <p:font typeface="Helvetica Neue"/>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
          <p15:clr>
            <a:srgbClr val="A4A3A4"/>
          </p15:clr>
        </p15:guide>
      </p15:sldGuideLst>
    </p:ext>
    <p:ext uri="{2D200454-40CA-4A62-9FC3-DE9A4176ACB9}">
      <p15:notesGuideLst>
        <p15:guide id="1" orient="horz" pos="3024">
          <p15:clr>
            <a:srgbClr val="A4A3A4"/>
          </p15:clr>
        </p15:guide>
        <p15:guide id="2" pos="2304">
          <p15:clr>
            <a:srgbClr val="A4A3A4"/>
          </p15:clr>
        </p15:guide>
      </p15:notesGuideLst>
    </p:ext>
    <p:ext uri="GoogleSlidesCustomDataVersion2">
      <go:slidesCustomData xmlns:go="http://customooxmlschemas.google.com/" r:id="rId26" roundtripDataSignature="AMtx7miYmLYUP/gi5GMFGGJ0fy9g1HDH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74504F-1B09-4FFA-8A9C-1B817F76BD0B}">
  <a:tblStyle styleId="{B174504F-1B09-4FFA-8A9C-1B817F76BD0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
      </p:guideLst>
    </p:cSldViewPr>
  </p:slideViewPr>
  <p:notesViewPr>
    <p:cSldViewPr snapToGrid="0">
      <p:cViewPr varScale="1">
        <p:scale>
          <a:sx n="100" d="100"/>
          <a:sy n="100" d="100"/>
        </p:scale>
        <p:origin x="0" y="0"/>
      </p:cViewPr>
      <p:guideLst>
        <p:guide pos="3024" orient="horz"/>
        <p:guide pos="2304"/>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1.xml"/><Relationship Id="rId8" Type="http://schemas.openxmlformats.org/officeDocument/2006/relationships/slide" Target="slides/slide10.xml"/><Relationship Id="rId9" Type="http://schemas.openxmlformats.org/officeDocument/2006/relationships/slide" Target="slides/slide9.xml"/><Relationship Id="rId10" Type="http://schemas.openxmlformats.org/officeDocument/2006/relationships/slide" Target="slides/slide8.xml"/><Relationship Id="rId11" Type="http://schemas.openxmlformats.org/officeDocument/2006/relationships/slide" Target="slides/slide7.xml"/><Relationship Id="rId12" Type="http://schemas.openxmlformats.org/officeDocument/2006/relationships/slide" Target="slides/slide6.xml"/><Relationship Id="rId13" Type="http://schemas.openxmlformats.org/officeDocument/2006/relationships/slide" Target="slides/slide5.xml"/><Relationship Id="rId14" Type="http://schemas.openxmlformats.org/officeDocument/2006/relationships/slide" Target="slides/slide4.xml"/><Relationship Id="rId15" Type="http://schemas.openxmlformats.org/officeDocument/2006/relationships/slide" Target="slides/slide3.xml"/><Relationship Id="rId16" Type="http://schemas.openxmlformats.org/officeDocument/2006/relationships/slide" Target="slides/slide1.xml"/><Relationship Id="rId17" Type="http://schemas.openxmlformats.org/officeDocument/2006/relationships/slide" Target="slides/slide2.xml"/><Relationship Id="rId18" Type="http://schemas.openxmlformats.org/officeDocument/2006/relationships/font" Target="fonts/ArialNarrow-regular.fntdata"/><Relationship Id="rId19" Type="http://schemas.openxmlformats.org/officeDocument/2006/relationships/font" Target="fonts/ArialNarrow-bold.fntdata"/><Relationship Id="rId20" Type="http://schemas.openxmlformats.org/officeDocument/2006/relationships/font" Target="fonts/ArialNarrow-italic.fntdata"/><Relationship Id="rId21" Type="http://schemas.openxmlformats.org/officeDocument/2006/relationships/font" Target="fonts/ArialNarrow-boldItalic.fntdata"/><Relationship Id="rId22" Type="http://schemas.openxmlformats.org/officeDocument/2006/relationships/font" Target="fonts/HelveticaNeue-regular.fntdata"/><Relationship Id="rId23" Type="http://schemas.openxmlformats.org/officeDocument/2006/relationships/font" Target="fonts/HelveticaNeue-bold.fntdata"/><Relationship Id="rId24" Type="http://schemas.openxmlformats.org/officeDocument/2006/relationships/font" Target="fonts/HelveticaNeue-italic.fntdata"/><Relationship Id="rId25" Type="http://schemas.openxmlformats.org/officeDocument/2006/relationships/font" Target="fonts/HelveticaNeue-boldItalic.fntdata"/><Relationship Id="rId26" Type="http://customschemas.google.com/relationships/presentationmetadata" Target="metadata"/><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9525" lIns="99050" spcFirstLastPara="1" rIns="99050" wrap="square" tIns="495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Times"/>
                <a:ea typeface="Times"/>
                <a:cs typeface="Times"/>
                <a:sym typeface="Times"/>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9pPr>
          </a:lstStyle>
          <a:p/>
        </p:txBody>
      </p:sp>
      <p:sp>
        <p:nvSpPr>
          <p:cNvPr id="4" name="Google Shape;4;n"/>
          <p:cNvSpPr txBox="1"/>
          <p:nvPr>
            <p:ph idx="10" type="dt"/>
          </p:nvPr>
        </p:nvSpPr>
        <p:spPr>
          <a:xfrm>
            <a:off x="4144963" y="0"/>
            <a:ext cx="3170237" cy="479425"/>
          </a:xfrm>
          <a:prstGeom prst="rect">
            <a:avLst/>
          </a:prstGeom>
          <a:noFill/>
          <a:ln>
            <a:noFill/>
          </a:ln>
        </p:spPr>
        <p:txBody>
          <a:bodyPr anchorCtr="0" anchor="t" bIns="49525" lIns="99050" spcFirstLastPara="1" rIns="99050" wrap="square" tIns="495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Times"/>
                <a:ea typeface="Times"/>
                <a:cs typeface="Times"/>
                <a:sym typeface="Times"/>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9pPr>
          </a:lstStyle>
          <a:p/>
        </p:txBody>
      </p:sp>
      <p:sp>
        <p:nvSpPr>
          <p:cNvPr id="5" name="Google Shape;5;n"/>
          <p:cNvSpPr/>
          <p:nvPr>
            <p:ph idx="3" type="sldImg"/>
          </p:nvPr>
        </p:nvSpPr>
        <p:spPr>
          <a:xfrm>
            <a:off x="458788" y="720725"/>
            <a:ext cx="6397625" cy="35988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0"/>
            <a:headEnd len="sm" w="sm" type="none"/>
            <a:tailEnd len="sm" w="sm" type="none"/>
          </a:ln>
        </p:spPr>
      </p:sp>
      <p:sp>
        <p:nvSpPr>
          <p:cNvPr id="6" name="Google Shape;6;n"/>
          <p:cNvSpPr txBox="1"/>
          <p:nvPr>
            <p:ph idx="1" type="body"/>
          </p:nvPr>
        </p:nvSpPr>
        <p:spPr>
          <a:xfrm>
            <a:off x="976313" y="4559300"/>
            <a:ext cx="5362575" cy="4321175"/>
          </a:xfrm>
          <a:prstGeom prst="rect">
            <a:avLst/>
          </a:prstGeom>
          <a:noFill/>
          <a:ln>
            <a:noFill/>
          </a:ln>
        </p:spPr>
        <p:txBody>
          <a:bodyPr anchorCtr="0" anchor="t" bIns="49525" lIns="99050" spcFirstLastPara="1" rIns="99050" wrap="square" tIns="49525">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Times"/>
                <a:ea typeface="Times"/>
                <a:cs typeface="Times"/>
                <a:sym typeface="Times"/>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1775"/>
            <a:ext cx="3170238" cy="479425"/>
          </a:xfrm>
          <a:prstGeom prst="rect">
            <a:avLst/>
          </a:prstGeom>
          <a:noFill/>
          <a:ln>
            <a:noFill/>
          </a:ln>
        </p:spPr>
        <p:txBody>
          <a:bodyPr anchorCtr="0" anchor="b" bIns="49525" lIns="99050" spcFirstLastPara="1" rIns="99050" wrap="square" tIns="495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Times"/>
                <a:ea typeface="Times"/>
                <a:cs typeface="Times"/>
                <a:sym typeface="Times"/>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a:ea typeface="Times"/>
                <a:cs typeface="Times"/>
                <a:sym typeface="Times"/>
              </a:defRPr>
            </a:lvl9pPr>
          </a:lstStyle>
          <a:p/>
        </p:txBody>
      </p:sp>
      <p:sp>
        <p:nvSpPr>
          <p:cNvPr id="8" name="Google Shape;8;n"/>
          <p:cNvSpPr txBox="1"/>
          <p:nvPr>
            <p:ph idx="12" type="sldNum"/>
          </p:nvPr>
        </p:nvSpPr>
        <p:spPr>
          <a:xfrm>
            <a:off x="4144963" y="9121775"/>
            <a:ext cx="3170237" cy="479425"/>
          </a:xfrm>
          <a:prstGeom prst="rect">
            <a:avLst/>
          </a:prstGeom>
          <a:noFill/>
          <a:ln>
            <a:noFill/>
          </a:ln>
        </p:spPr>
        <p:txBody>
          <a:bodyPr anchorCtr="0" anchor="b" bIns="49525" lIns="99050" spcFirstLastPara="1" rIns="99050" wrap="square" tIns="495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Times"/>
                <a:ea typeface="Times"/>
                <a:cs typeface="Times"/>
                <a:sym typeface="Times"/>
              </a:rPr>
              <a:t>‹#›</a:t>
            </a:fld>
            <a:endParaRPr b="0" i="0" sz="1300" u="none" cap="none" strike="noStrike">
              <a:solidFill>
                <a:schemeClr val="dk1"/>
              </a:solidFill>
              <a:latin typeface="Times"/>
              <a:ea typeface="Times"/>
              <a:cs typeface="Times"/>
              <a:sym typeface="Time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TIME: 1 min.</a:t>
            </a:r>
          </a:p>
          <a:p/>
          <a:p>
            <a:r>
              <a:t>SAY: 'Last time you asked one question, and today is built entirely around it: when someone types a narrative or a query, how does that text actually connect to the numbers. Where do the embeddings, the clusters, and the law of total probability come in, and how does the network get involved. So today: one picture of the whole system, the journey of one typed sentence step by step, who actually reads the text including where the LLM now sits, then one real accident through the whole thing, and proof on unseen accidents.'</a:t>
            </a:r>
          </a:p>
          <a:p/>
          <a:p>
            <a:r>
              <a:t>Do NOT recap last week's tables; comparisons live in the appendix if he asks. No trees, no demo today. Twenty minutes total; the middle slides answer HIS question, spend the time there.</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 'Before any detail, here is the whole system in one picture. Two moments in time. BUILD TIME, top lane, happens once and has two rows: the coded NTSB records, the structured entries investigators filed, go through Zhang's Section 4 recipe and become the Bayesian network, which is then FROZEN -- that is the thing we validated against his 93 published numbers. And alongside it, the accident narratives are converted once into an embedding index and grouped into clusters. QUERY TIME, bottom, runs every time someone types, and the same sentence can go down two paths. The COUNTING path: similarity scores every accident, the clusters get weights, and the law of total probability mixes their counts -- one conditional at a time. The NETWORK path: two readers turn the text into facts, every fact gets a strength measured from the data, and the facts land as evidence on the frozen network, which propagates them jointly. The one sentence to remember: the narrative never touches the network's construction. It enters only as evidence, at query time.'</a:t>
            </a:r>
          </a:p>
          <a:p/>
          <a:p>
            <a:r>
              <a:t>IF HE ASKS where embeddings/clusters come from: point at the second build row -- 'made once at build time, reused at query time in both paths: the counting path uses them directly, and the network path uses them to measure soft-fact strengths' (the dotted blue arrows).</a:t>
            </a:r>
          </a:p>
          <a:p/>
          <a:p>
            <a:r>
              <a:t>This slide IS the answer to his question; the next slides just zoom in. Point at the lanes while talking.</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 'Step one, the query. You type a plain sentence. The computer converts it into an embedding, which is just a long list of numbers that captures what the sentence means, not which words it uses. Every accident narrative in our database went through the same conversion once, ahead of time. Sentences that mean similar things end up with nearby numbers. So when your query arrives, we score every single accident by similarity to your sentence. The win over keyword search: someone who writes flames from the cowling still finds the fire accidents, because the meaning is close even though the words are different.'</a:t>
            </a:r>
          </a:p>
          <a:p/>
          <a:p>
            <a:r>
              <a:t>Keep it this simple. If he wants the model name: OpenAI embeddings, same model for queries and narratives.</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 'Step two. The accidents are grouped into clusters, families of accidents that resemble each other. Inside each cluster we count exactly the way Zhang counts: the probability of each cause within that family. That part is his method, untouched. What the query adds is the weights. The similarity scores from the last slide tell us how much of the query points at each cluster. Then the law of total probability stitches it together: the probability of a cause given your query is the sum over clusters of the cause probability inside the cluster times the weight your query gave that cluster. In plain words: each family of accidents votes, and your query decides how loud each vote is.'</a:t>
            </a:r>
          </a:p>
          <a:p/>
          <a:p>
            <a:r>
              <a:t>Write the formula on the board if it helps. The counting INSIDE clusters is Zhang's rule; only the weights come from the query.</a:t>
            </a:r>
          </a:p>
          <a:p/>
          <a:p>
            <a:r>
              <a:t>IF HE ASKS how the clusters are formed: 'the accidents are partitioned by their category label in the data, fixed once, before any query exists. The query never redraws the clusters; it only re-weights them.' That fixed partition is what makes the law of total probability legal here.</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 'Why should anyone trust that formula. Because of this check. If you make the weights neutral, meaning each cluster counts by its size and the query adds no information, the formula collapses back to plain counting over everything, and it returns Zhang's Table 7 EXACTLY. All 85 causes, same 102-fire denominator, cell for cell. Wiring 9 of 102, airframe 32 of 102. So the query machinery does not invent anything: with no query you get his published table, and with a query you get a tilted version of it, tilted by a measured amount. Zhang is the special case of our formula.'</a:t>
            </a:r>
          </a:p>
          <a:p/>
          <a:p>
            <a:r>
              <a:t>This is the exact-recovery punchline. Do not skip it: it is the reason the whole counting path is trustworthy.</a:t>
            </a:r>
          </a:p>
          <a:p>
            <a:r>
              <a:t>Source: docs/table7_full_reproduction.csv, 85 of 85.</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 'Step three, the network path. The counting path answers one conditional at a time. Real investigations know several things at once, and that is what the network is for. So the same typed sentence is parsed into structured facts, in tiers. Hard facts: when the sentence names something in NTSB vocabulary, like loss of engine power, that node is set to present, one hundred percent -- deterministic, no language model involved. When the sentence only describes a fact instead of naming it, an LLM does the reading: it maps the description onto the vocabulary, the gauges were giving bad readings becomes the engine instrument node. But we do not trust its confidence: every fact it proposes enters at the strength measured among the hundred most similar accidents, so the LLM picks WHICH facts and the data decides HOW STRONGLY. And stated severity: if the sentence says the aircraft sustained substantial damage, that statement enters weighted by how often that exact phrasing matched the coded record historically. Then all the facts are placed as evidence on the network and it propagates them jointly.'</a:t>
            </a:r>
          </a:p>
          <a:p/>
          <a:p>
            <a:r>
              <a:t>IF HE ASKS how a frequency becomes evidence: 'Pearl's virtual evidence, also called Jeffrey conditioning. If the fact appears in 40 percent of the similar accidents, we set a likelihood ratio against the node's own prior so the network's updated belief in the fact lands at about 40 percent. Suggestion at measured strength, not assertion.'</a:t>
            </a:r>
          </a:p>
          <a:p/>
          <a:p>
            <a:r>
              <a:t>IF HE ASKS why the LLM does not set the strengths: 'We tested it. Across 1,078 narratives the LLM picks facts well but its confidence numbers are badly miscalibrated -- when it says 86 percent the fact is real about 9 percent of the time -- so the data sets the strengths.' Calibration figure is in the appendix.</a:t>
            </a:r>
          </a:p>
          <a:p/>
          <a:p>
            <a:r>
              <a:t>IF HE ASKS how often the LLM is needed: 'on 296 held-out narratives, 176 were fully handled by the deterministic pass and 120 needed the LLM; with the LLM tier, injury accuracy on vague narratives rises from 64 to 68 percent and damage from 45 to 52.' Details in the appendix LLM slide.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TIME: 2 min. This is the answer to 'are you using an LLM'.</a:t>
            </a:r>
          </a:p>
          <a:p/>
          <a:p>
            <a:r>
              <a:t>SAY: 'So who actually does the parsing. Two readers behind one front door. Reader one is a deterministic parser: if the sentence names a fact in NTSB vocabulary, like loss of engine power, it is caught here -- exact, reproducible, no language model involved. Reader two is the LLM, and it fires only when the wording describes instead of names: a real narrative said the first officer's windshield was cracking, and the LLM maps that to the window node. On 296 real held-out narratives the split was 176 to 120, so the LLM is doing real work on about forty percent of real text. And the one rule that keeps it honest: the LLM picks which facts, but every fact enters at a strength measured from the hundred most similar accidents, never at the LLM's own confidence, and the network does all the reasoning.'</a:t>
            </a:r>
          </a:p>
          <a:p/>
          <a:p>
            <a:r>
              <a:t>IF HE ASKS why not let the LLM do everything: 'we measured that too -- LLM as the only front door on all 296: accuracy is comparable, but its probabilities are less calibrated (worse log-loss), it loses exactness on one of the table scenarios, and it costs an API call on every query. So we keep the deterministic pass first.' Numbers in the appendix LLM slide.</a:t>
            </a:r>
          </a:p>
          <a:p/>
          <a:p>
            <a:r>
              <a:t>IF HE ASKS what the LLM tier buys: 'injury accuracy on the held-out narratives rises from 64 to 68 percent, damage from 45 to 52, entirely from the vague narratives the deterministic parser cannot ground.'</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 'Same trust question for the bridge: how do I know parsing a sentence gives the right answer. Because when a sentence names the same facts you could click by hand, the parser lands on the IDENTICAL evidence nodes, and identical evidence gives identical numbers, to the last digit. Here is Table 9 with the evidence typed as a sentence: trouble with an engine instrument during the flight. The direct column is me clicking the node; the narrative column is the typed sentence. Same numbers. So the sentence is a faithful front door to the network, not a second model.'</a:t>
            </a:r>
          </a:p>
          <a:p/>
          <a:p>
            <a:r>
              <a:t>Source: docs/ALL_TABLES_EXACT_COMPARISON.md, engine instruments block. If he asks when they DIVERGE: 'when the wording is vague, by design: then soft evidence enters at measured strength instead of 100%.'</a:t>
            </a:r>
          </a:p>
          <a:p/>
          <a:p>
            <a:r>
              <a:t>IF HE FIXATES on no injury 0.9431 vs 0.8890: 'that is a close-category cell, within 6 percent; the point of THIS slide is the two right columns being identical. The Zhang gaps are the scoreboard slide at the end.'</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 'A fair question here is: if typing and clicking always agree, is the sentence actually doing anything? So we ran a negative control. Same eleven scenarios, three kinds of input. Feed the correct sentence: identical numbers, eleven of eleven. Feed each scenario a sentence that belongs to a DIFFERENT scenario: the numbers diverge, eleven of eleven. Feed a nonsense sentence with no aviation content: the parser finds nothing and the network falls back to its baseline, eleven of eleven. If the text were being ignored, all three rows would look the same. So the sentence determines the evidence, and the evidence determines the numbers. The agreement is earned.'</a:t>
            </a:r>
          </a:p>
          <a:p/>
          <a:p>
            <a:r>
              <a:t>IF ASKED about negation or vague wording: 'we also probed those adversarially -- negated facts like no fire on board and hypotheticals like worried about losing power are detected and excluded, and vague wording drops to calibrated soft evidence instead of a hard claim.'</a:t>
            </a:r>
          </a:p>
          <a:p/>
          <a:p>
            <a:r>
              <a:t>Source: outputs/narrative_negative_control.md and outputs/parser_flaws_and_paraphrases.md.</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TIME: 3 min. This is the synthesis slide: everything from the last six slides happening at once, on a real case the system never saw.</a:t>
            </a:r>
          </a:p>
          <a:p/>
          <a:p>
            <a:r>
              <a:t>SAY: 'Let me put the whole picture on one real accident, from 2007, so nothing about it was used to build anything. A passenger jet just after takeoff; the narrative says the first officer's windshield was cracking and beginning to arc, the crew turned back and landed. Nothing in that text names an NTSB vocabulary node, so the deterministic reader finds nothing and the LLM reads it: windshield cracking becomes the window node, and the impact-debris sentence becomes the object node. Watch the strengths: window enters strong because the narrative asserts it; object enters at 0.14, because among the hundred most similar accidents that fact appears at that rate. Measured, not guessed. The network propagates and the probability mass moves from the do-nothing prior toward what actually happened: no injury correct, and minor damage, a state the prior put near zero, rises to a quarter of the mass. That is the honest picture: the text was read, grounded in data, reasoned over jointly, and pushed the answer toward the truth.'</a:t>
            </a:r>
          </a:p>
          <a:p/>
          <a:p>
            <a:r>
              <a:t>BE HONEST if he pushes on damage: the top damage pick was no damage; the point is the mass moving toward the truth on a rare class, and the aggregate numbers are the next slide.</a:t>
            </a:r>
          </a:p>
          <a:p/>
          <a:p>
            <a:r>
              <a:t>Source: outputs/real_narrative_walkthrough.md (second case; the first case is a tier-1 fan disk separation if he wants a NAMED-facts example).</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 'You just saw one accident. This slide is the same test at scale: does the whole thing actually predict, on data the system never touched. Setup: everything is built on 1982 to 2006. Then we took 296 accidents from 2007 to 2019, fed ONLY the narrative text in, and predicted the injury level and the damage level, four classes each. Row one, the network alone, knowing nothing: 58 and 43 percent. Row two, parse the narrative into evidence and propagate it through the network: 81 and 60. Row three, the narrative severity readout: what the similar accidents and the stated severity say directly, no network in this row: 93 and 81. And row four, a supervised baseline trained on the same narratives: 83 and 67. Two things to take away. The narrative carries most of the signal, and our extraction beats a trained model. And the two layers have different jobs: the readout answers how bad was it, the network answers the questions the readout never can: what caused it, what happens with several facts at once, and the what-if dials.'</a:t>
            </a:r>
          </a:p>
          <a:p/>
          <a:p>
            <a:r>
              <a:t>BE PRECISE: the 93/81 row does NOT go through the network. If you present it as the network's number he will catch it. The network's narrative-evidence number is 81/60.</a:t>
            </a:r>
          </a:p>
          <a:p/>
          <a:p>
            <a:r>
              <a:t>Source: outputs/heldout_narrative_bn_eval.json (n=296, clean temporal split). IF HE ASKS about narratives that state the outcome: 'about a third state the damage level; the statement is weighted by its historical reliability, not trusted blindly, and the retrieval part alone still gets 77 percent on damage.'</a:t>
            </a:r>
          </a:p>
          <a:p/>
          <a:p>
            <a:r>
              <a:t>The single-case version of this slide was the windshield walkthrough you just showed; if he wants a SECOND real case, outputs/real_narrative_walkthrough.md also has a tier-1 fan disk separation with NAMED facts. Have it open as a backup tab.</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 'My read: the analysis phase is complete. Every published number is matched, close, or explained with evidence, and the narrative path is validated end to end including on unseen accidents. Next is writing. The outline maps every result to a section, and the methodology and validation sections can come straight from what you saw today. Which section do you want on your desk first?' Then stop talking and let him direct.</a:t>
            </a:r>
          </a:p>
          <a:p/>
          <a:p>
            <a:r>
              <a:t>Have a real date ready for the first section. DO NOT say the draft is nearly done.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Nothing past this slide is presented. If he asks to see the app, it still runs (streamlit_tree_app.py); warm it before the meeting just in case, but there is no demo slide on purpose.</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Backup: the multi-evidence staircase, if he wants a Zhang comparison beyond the walkthrough.</a:t>
            </a:r>
          </a:p>
          <a:p/>
          <a:p>
            <a:r>
              <a:t>SAY: 'His Section 5.2 demonstration: keep adding landing gear evidence and watch gear collapse climb. We drive it with sentences. Strut problem: 0.25, exactly his number. Add the emergency extension: he 0.68, we 0.60. Add gear locking: 0.78 vs 0.71. Add the attachment: 0.89 vs 0.85. Same staircase, step for step, each step from typing one more fact into the same sentence. Counting cannot do this: four facts at once match almost no accidents; the network propagates them jointly.'</a:t>
            </a:r>
          </a:p>
          <a:p/>
          <a:p>
            <a:r>
              <a:t>Source: ALL_TABLES_EXACT_COMPARISON.md Section 5.2 block.</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Backup, only if he asks for the overall standing.</a:t>
            </a:r>
          </a:p>
          <a:p/>
          <a:p>
            <a:r>
              <a:t>SAY: 'Every number in his paper that depends on the network, 93 of them: 48 exact, 29 close, 77 of 93. The remaining 12 are explained with evidence: 30 rebuilds under his own randomized construction never produce his published values, and his own released network file cannot reproduce those cells either; on every such cell ours is as close or closer.'</a:t>
            </a:r>
          </a:p>
          <a:p/>
          <a:p>
            <a:r>
              <a:t>Sources: outputs/bn_upgraded_full.json, outputs/BN_UPGRADED_ENVELOPE.md.</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Backup, only if he wants more tables than the Section 5.2 ladder.</a:t>
            </a:r>
          </a:p>
          <a:p/>
          <a:p>
            <a:r>
              <a:t>SAY: 'The sentence is: the aircraft experienced a loss of engine power. Forward cells match to the third digit. Big outcome rows agree: no injury 0.99 his, 0.95 ours. The small rows move more, and small probabilities move easily: a handful of accidents swings them; the per-cell evidence is on the gaps slide.'</a:t>
            </a:r>
          </a:p>
          <a:p/>
          <a:p>
            <a:r>
              <a:t>Source: ALL_TABLES_EXACT_COMPARISON.md, LOEP block (typed = clicked, identical).</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Backup. SAY: 'Figure 12 conditions on the pilot in command being a factor. Two meetings ago these cells were not runnable; the person findings were in the data all along and the graph now uses them. All four cells close: no injury 0.97 his, 0.94 ours.' DO NOT say we added data: the graph now uses fields it was ignoring.</a:t>
            </a:r>
          </a:p>
          <a:p/>
          <a:p>
            <a:r>
              <a:t>Source: ALL_TABLES_EXACT_COMPARISON.md Fig 12 stage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Backup. SAY: 'Table 8 is a what-if experiment: he EDITS a prior, imagine strut failures were more common, and watches gear collapse respond. A narrative describes what happened; it cannot describe an imaginary world where failure rates differ. So this one is driven by turning the dial on the network directly, and it comes out essentially exact. Narratives carry evidence; dials carry hypotheticals; the network handles both.'</a:t>
            </a:r>
          </a:p>
          <a:p/>
          <a:p>
            <a:r>
              <a:t>Source: ALL_TABLES_EXACT_COMPARISON.md Table 8 sweep.</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ONLY if he asks about the LLM. Figure: docs/figures/confidence_calibration.png. ECE numbers: LLM 0.74 strict, 0.60 lenient; retrieval 0.16 strict, 0.25 lenient (and the lenient shift is UNDERconfidence, the safe direction). Also tested: LLM direct probability estimates are off by an order of magnitude; rebuilding the dataset from narratives alone inverts causal attribution. All three experiments justify the architecture.</a:t>
            </a:r>
          </a:p>
          <a:p/>
          <a:p>
            <a:r>
              <a:t>IF HE ASKS 'would a stronger LLM fix it': tested EIGHT models across TWO providers (GPT 4o-mini..5.5; Claude haiku..opus) on adversarial probes + paraphrases. Identical pattern on both providers: small models cautious, big models read better but over-generalize out-of-vocabulary facts; raw recovery capped at 3/7 everywhere. Then two fixes raised it WITHOUT giving the LLM authority over strengths: (1) a prompt rule that paraphrase mapping is expected, (2) rare-but-over-represented facts survive the data filter on LIFT (odds vs base rate) instead of raw frequency -- e.g. 'the gauges were giving bad readings' -&gt; engine instrument, seen in 1% of similar accidents but 18x over-represented. Recovery now 4-5/7, remaining misses are parent/sibling nodes, safety intact. Strengths still come from the data. Sources: outputs/llm_model_ladder.md, outputs/llm_paraphrase_upgrade.md.</a:t>
            </a:r>
          </a:p>
          <a:p/>
          <a:p>
            <a:r>
              <a:t>IF HE ASKS 'so is the LLM in the pipeline now': yes, as a TIERED front door. Tier 1 is the deterministic parser (fires when the wording names facts -- 176 of 296 held-out narratives, and all 11 faithfulness scenarios stay bit-identical). Tier 2 calls the LLM only when tier 1 finds nothing, and its facts still get data-measured strengths. On the 296 held-out accidents the tiered parser beats the deterministic parser alone (injury accuracy 68 vs 64 percent, damage 52 vs 45), but the retrieval severity readout is still the best severity predictor (93/81), so the LLM improves the QUERY front door, not the severity engine. Source: outputs/heldout_eval_llm_tier.txt and outputs/combined_parser_validation.md.</a:t>
            </a:r>
          </a:p>
          <a:p/>
          <a:p>
            <a:r>
              <a:t>IF HE ASKS 'can the LLM do the WHOLE process alone': yes, and we measured it -- LLM as the ONLY front door on all 296 held-out accidents. Top-1 accuracy is comparable (injury 70 vs 69 percent, damage 59 vs 51), but its probability quality is worse (log-loss 1.27 vs 1.00 injury) -- more confident errors -- and on the 11 table scenarios it hits 30 of 33 runs instead of always: it gives pilot-in-command 0.53 instead of hard evidence, so Zhang's Figure 12 comparison stops being exact. Plus an API call on every query. So the LLM CAN do the process; the tiered design keeps its coverage and removes those costs. Sources: outputs/heldout_eval_llm_first.txt, outputs/llm_only_identity.md.</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ONLY if he wants to walk the 12. The xdsl cross-check table (4 cells, ours closer on 3, tie on 1) is in outputs/BN_UPGRADED_ENVELOPE.md.</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
          <p:cNvSpPr txBox="1"/>
          <p:nvPr>
            <p:ph type="ctrTitle"/>
          </p:nvPr>
        </p:nvSpPr>
        <p:spPr>
          <a:xfrm>
            <a:off x="609600" y="1752600"/>
            <a:ext cx="109728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9pPr>
          </a:lstStyle>
          <a:p/>
        </p:txBody>
      </p:sp>
      <p:sp>
        <p:nvSpPr>
          <p:cNvPr id="17" name="Google Shape;17;p4"/>
          <p:cNvSpPr txBox="1"/>
          <p:nvPr>
            <p:ph idx="1" type="subTitle"/>
          </p:nvPr>
        </p:nvSpPr>
        <p:spPr>
          <a:xfrm>
            <a:off x="1828800" y="3352800"/>
            <a:ext cx="8534400" cy="17526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1600"/>
              </a:spcBef>
              <a:spcAft>
                <a:spcPts val="0"/>
              </a:spcAft>
              <a:buClr>
                <a:srgbClr val="24459C"/>
              </a:buClr>
              <a:buSzPts val="3520"/>
              <a:buFont typeface="Times"/>
              <a:buNone/>
              <a:defRPr b="0" i="0" sz="3200" u="none" cap="none" strike="noStrike">
                <a:solidFill>
                  <a:schemeClr val="dk1"/>
                </a:solidFill>
                <a:latin typeface="Arial"/>
                <a:ea typeface="Arial"/>
                <a:cs typeface="Arial"/>
                <a:sym typeface="Arial"/>
              </a:defRPr>
            </a:lvl1pPr>
            <a:lvl2pPr lvl="1" marR="0" rtl="0" algn="l">
              <a:lnSpc>
                <a:spcPct val="100000"/>
              </a:lnSpc>
              <a:spcBef>
                <a:spcPts val="200"/>
              </a:spcBef>
              <a:spcAft>
                <a:spcPts val="0"/>
              </a:spcAft>
              <a:buClr>
                <a:schemeClr val="dk1"/>
              </a:buClr>
              <a:buSzPts val="2000"/>
              <a:buFont typeface="Times"/>
              <a:buChar char="–"/>
              <a:defRPr b="0" i="0" sz="2000" u="none" cap="none" strike="noStrike">
                <a:solidFill>
                  <a:schemeClr val="dk1"/>
                </a:solidFill>
                <a:latin typeface="Arial"/>
                <a:ea typeface="Arial"/>
                <a:cs typeface="Arial"/>
                <a:sym typeface="Arial"/>
              </a:defRPr>
            </a:lvl2pPr>
            <a:lvl3pPr lvl="2" marR="0" rtl="0" algn="l">
              <a:lnSpc>
                <a:spcPct val="100000"/>
              </a:lnSpc>
              <a:spcBef>
                <a:spcPts val="240"/>
              </a:spcBef>
              <a:spcAft>
                <a:spcPts val="0"/>
              </a:spcAft>
              <a:buClr>
                <a:schemeClr val="dk1"/>
              </a:buClr>
              <a:buSzPts val="2400"/>
              <a:buFont typeface="Times"/>
              <a:buChar char="–"/>
              <a:defRPr b="0" i="0" sz="2400" u="none" cap="none" strike="noStrike">
                <a:solidFill>
                  <a:schemeClr val="dk1"/>
                </a:solidFill>
                <a:latin typeface="Arial"/>
                <a:ea typeface="Arial"/>
                <a:cs typeface="Arial"/>
                <a:sym typeface="Arial"/>
              </a:defRPr>
            </a:lvl3pPr>
            <a:lvl4pPr lvl="3"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Arial"/>
                <a:ea typeface="Arial"/>
                <a:cs typeface="Arial"/>
                <a:sym typeface="Arial"/>
              </a:defRPr>
            </a:lvl4pPr>
            <a:lvl5pPr lvl="4"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Arial"/>
                <a:ea typeface="Arial"/>
                <a:cs typeface="Arial"/>
                <a:sym typeface="Arial"/>
              </a:defRPr>
            </a:lvl5pPr>
            <a:lvl6pPr lvl="5"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6pPr>
            <a:lvl7pPr lvl="6"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7pPr>
            <a:lvl8pPr lvl="7"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8pPr>
            <a:lvl9pPr lvl="8"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5"/>
          <p:cNvSpPr txBox="1"/>
          <p:nvPr>
            <p:ph type="title"/>
          </p:nvPr>
        </p:nvSpPr>
        <p:spPr>
          <a:xfrm>
            <a:off x="609601" y="274639"/>
            <a:ext cx="9682348" cy="699139"/>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9pPr>
          </a:lstStyle>
          <a:p/>
        </p:txBody>
      </p:sp>
      <p:sp>
        <p:nvSpPr>
          <p:cNvPr id="20" name="Google Shape;20;p5"/>
          <p:cNvSpPr txBox="1"/>
          <p:nvPr>
            <p:ph idx="1" type="body"/>
          </p:nvPr>
        </p:nvSpPr>
        <p:spPr>
          <a:xfrm>
            <a:off x="609600" y="1092531"/>
            <a:ext cx="10972800" cy="5033633"/>
          </a:xfrm>
          <a:prstGeom prst="rect">
            <a:avLst/>
          </a:prstGeom>
          <a:noFill/>
          <a:ln>
            <a:noFill/>
          </a:ln>
        </p:spPr>
        <p:txBody>
          <a:bodyPr anchorCtr="0" anchor="t" bIns="45700" lIns="91425" spcFirstLastPara="1" rIns="91425" wrap="square" tIns="45700">
            <a:noAutofit/>
          </a:bodyPr>
          <a:lstStyle>
            <a:lvl1pPr indent="-396240" lvl="0" marL="457200" marR="0" rtl="0" algn="l">
              <a:lnSpc>
                <a:spcPct val="100000"/>
              </a:lnSpc>
              <a:spcBef>
                <a:spcPts val="1200"/>
              </a:spcBef>
              <a:spcAft>
                <a:spcPts val="0"/>
              </a:spcAft>
              <a:buClr>
                <a:schemeClr val="dk1"/>
              </a:buClr>
              <a:buSzPts val="2640"/>
              <a:buFont typeface="Arial"/>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200"/>
              </a:spcBef>
              <a:spcAft>
                <a:spcPts val="0"/>
              </a:spcAft>
              <a:buClr>
                <a:schemeClr val="dk1"/>
              </a:buClr>
              <a:buSzPts val="2000"/>
              <a:buFont typeface="Times"/>
              <a:buChar char="–"/>
              <a:defRPr b="0" i="0" sz="2000" u="none" cap="none" strike="noStrike">
                <a:solidFill>
                  <a:schemeClr val="dk1"/>
                </a:solidFill>
                <a:latin typeface="Arial"/>
                <a:ea typeface="Arial"/>
                <a:cs typeface="Arial"/>
                <a:sym typeface="Arial"/>
              </a:defRPr>
            </a:lvl2pPr>
            <a:lvl3pPr indent="-355600" lvl="2" marL="1371600" marR="0" rtl="0" algn="l">
              <a:lnSpc>
                <a:spcPct val="100000"/>
              </a:lnSpc>
              <a:spcBef>
                <a:spcPts val="200"/>
              </a:spcBef>
              <a:spcAft>
                <a:spcPts val="0"/>
              </a:spcAft>
              <a:buClr>
                <a:schemeClr val="dk1"/>
              </a:buClr>
              <a:buSzPts val="2000"/>
              <a:buFont typeface="Times"/>
              <a:buChar char="–"/>
              <a:defRPr b="0" i="0" sz="2000" u="none" cap="none" strike="noStrike">
                <a:solidFill>
                  <a:schemeClr val="dk1"/>
                </a:solidFill>
                <a:latin typeface="Arial Narrow"/>
                <a:ea typeface="Arial Narrow"/>
                <a:cs typeface="Arial Narrow"/>
                <a:sym typeface="Arial Narrow"/>
              </a:defRPr>
            </a:lvl3pPr>
            <a:lvl4pPr indent="-330200" lvl="3" marL="1828800"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Arial"/>
                <a:ea typeface="Arial"/>
                <a:cs typeface="Arial"/>
                <a:sym typeface="Arial"/>
              </a:defRPr>
            </a:lvl4pPr>
            <a:lvl5pPr indent="-330200" lvl="4" marL="2286000"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Arial"/>
                <a:ea typeface="Arial"/>
                <a:cs typeface="Arial"/>
                <a:sym typeface="Arial"/>
              </a:defRPr>
            </a:lvl5pPr>
            <a:lvl6pPr indent="-228600" lvl="5" marL="27432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6pPr>
            <a:lvl7pPr indent="-228600" lvl="6" marL="32004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7pPr>
            <a:lvl8pPr indent="-228600" lvl="7" marL="36576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8pPr>
            <a:lvl9pPr indent="-228600" lvl="8" marL="41148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6"/>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4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9pPr>
          </a:lstStyle>
          <a:p/>
        </p:txBody>
      </p:sp>
      <p:sp>
        <p:nvSpPr>
          <p:cNvPr id="23" name="Google Shape;23;p6"/>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1000"/>
              </a:spcBef>
              <a:spcAft>
                <a:spcPts val="0"/>
              </a:spcAft>
              <a:buClr>
                <a:srgbClr val="24459C"/>
              </a:buClr>
              <a:buSzPts val="2200"/>
              <a:buFont typeface="Times"/>
              <a:buNone/>
              <a:defRPr b="0" i="0" sz="2000" u="none" cap="none" strike="noStrike">
                <a:solidFill>
                  <a:schemeClr val="dk1"/>
                </a:solidFill>
                <a:latin typeface="Arial"/>
                <a:ea typeface="Arial"/>
                <a:cs typeface="Arial"/>
                <a:sym typeface="Arial"/>
              </a:defRPr>
            </a:lvl1pPr>
            <a:lvl2pPr indent="-228600" lvl="1" marL="914400" marR="0" rtl="0" algn="l">
              <a:lnSpc>
                <a:spcPct val="100000"/>
              </a:lnSpc>
              <a:spcBef>
                <a:spcPts val="180"/>
              </a:spcBef>
              <a:spcAft>
                <a:spcPts val="0"/>
              </a:spcAft>
              <a:buClr>
                <a:schemeClr val="dk1"/>
              </a:buClr>
              <a:buSzPts val="1800"/>
              <a:buFont typeface="Times"/>
              <a:buNone/>
              <a:defRPr b="0" i="0" sz="1800" u="none" cap="none" strike="noStrike">
                <a:solidFill>
                  <a:schemeClr val="dk1"/>
                </a:solidFill>
                <a:latin typeface="Arial"/>
                <a:ea typeface="Arial"/>
                <a:cs typeface="Arial"/>
                <a:sym typeface="Arial"/>
              </a:defRPr>
            </a:lvl2pPr>
            <a:lvl3pPr indent="-228600" lvl="2" marL="1371600" marR="0" rtl="0" algn="l">
              <a:lnSpc>
                <a:spcPct val="100000"/>
              </a:lnSpc>
              <a:spcBef>
                <a:spcPts val="160"/>
              </a:spcBef>
              <a:spcAft>
                <a:spcPts val="0"/>
              </a:spcAft>
              <a:buClr>
                <a:schemeClr val="dk1"/>
              </a:buClr>
              <a:buSzPts val="1600"/>
              <a:buFont typeface="Times"/>
              <a:buNone/>
              <a:defRPr b="0" i="0" sz="1600" u="none" cap="none" strike="noStrike">
                <a:solidFill>
                  <a:schemeClr val="dk1"/>
                </a:solidFill>
                <a:latin typeface="Arial"/>
                <a:ea typeface="Arial"/>
                <a:cs typeface="Arial"/>
                <a:sym typeface="Arial"/>
              </a:defRPr>
            </a:lvl3pPr>
            <a:lvl4pPr indent="-228600" lvl="3" marL="1828800" marR="0" rtl="0" algn="l">
              <a:lnSpc>
                <a:spcPct val="100000"/>
              </a:lnSpc>
              <a:spcBef>
                <a:spcPts val="140"/>
              </a:spcBef>
              <a:spcAft>
                <a:spcPts val="0"/>
              </a:spcAft>
              <a:buClr>
                <a:schemeClr val="dk1"/>
              </a:buClr>
              <a:buSzPts val="1400"/>
              <a:buFont typeface="Times"/>
              <a:buNone/>
              <a:defRPr b="0" i="0" sz="1400" u="none" cap="none" strike="noStrike">
                <a:solidFill>
                  <a:schemeClr val="dk1"/>
                </a:solidFill>
                <a:latin typeface="Arial"/>
                <a:ea typeface="Arial"/>
                <a:cs typeface="Arial"/>
                <a:sym typeface="Arial"/>
              </a:defRPr>
            </a:lvl4pPr>
            <a:lvl5pPr indent="-228600" lvl="4" marL="2286000" marR="0" rtl="0" algn="l">
              <a:lnSpc>
                <a:spcPct val="100000"/>
              </a:lnSpc>
              <a:spcBef>
                <a:spcPts val="140"/>
              </a:spcBef>
              <a:spcAft>
                <a:spcPts val="0"/>
              </a:spcAft>
              <a:buClr>
                <a:schemeClr val="dk1"/>
              </a:buClr>
              <a:buSzPts val="1400"/>
              <a:buFont typeface="Times"/>
              <a:buNone/>
              <a:defRPr b="0" i="0" sz="1400" u="none" cap="none" strike="noStrike">
                <a:solidFill>
                  <a:schemeClr val="dk1"/>
                </a:solidFill>
                <a:latin typeface="Arial"/>
                <a:ea typeface="Arial"/>
                <a:cs typeface="Arial"/>
                <a:sym typeface="Arial"/>
              </a:defRPr>
            </a:lvl5pPr>
            <a:lvl6pPr indent="-228600" lvl="5" marL="2743200" marR="0" rtl="0" algn="l">
              <a:lnSpc>
                <a:spcPct val="100000"/>
              </a:lnSpc>
              <a:spcBef>
                <a:spcPts val="140"/>
              </a:spcBef>
              <a:spcAft>
                <a:spcPts val="0"/>
              </a:spcAft>
              <a:buClr>
                <a:schemeClr val="dk1"/>
              </a:buClr>
              <a:buSzPts val="1400"/>
              <a:buFont typeface="Times"/>
              <a:buNone/>
              <a:defRPr b="0" i="0" sz="1400" u="none" cap="none" strike="noStrike">
                <a:solidFill>
                  <a:schemeClr val="dk1"/>
                </a:solidFill>
                <a:latin typeface="Arial"/>
                <a:ea typeface="Arial"/>
                <a:cs typeface="Arial"/>
                <a:sym typeface="Arial"/>
              </a:defRPr>
            </a:lvl6pPr>
            <a:lvl7pPr indent="-228600" lvl="6" marL="3200400" marR="0" rtl="0" algn="l">
              <a:lnSpc>
                <a:spcPct val="100000"/>
              </a:lnSpc>
              <a:spcBef>
                <a:spcPts val="140"/>
              </a:spcBef>
              <a:spcAft>
                <a:spcPts val="0"/>
              </a:spcAft>
              <a:buClr>
                <a:schemeClr val="dk1"/>
              </a:buClr>
              <a:buSzPts val="1400"/>
              <a:buFont typeface="Times"/>
              <a:buNone/>
              <a:defRPr b="0" i="0" sz="1400" u="none" cap="none" strike="noStrike">
                <a:solidFill>
                  <a:schemeClr val="dk1"/>
                </a:solidFill>
                <a:latin typeface="Arial"/>
                <a:ea typeface="Arial"/>
                <a:cs typeface="Arial"/>
                <a:sym typeface="Arial"/>
              </a:defRPr>
            </a:lvl7pPr>
            <a:lvl8pPr indent="-228600" lvl="7" marL="3657600" marR="0" rtl="0" algn="l">
              <a:lnSpc>
                <a:spcPct val="100000"/>
              </a:lnSpc>
              <a:spcBef>
                <a:spcPts val="140"/>
              </a:spcBef>
              <a:spcAft>
                <a:spcPts val="0"/>
              </a:spcAft>
              <a:buClr>
                <a:schemeClr val="dk1"/>
              </a:buClr>
              <a:buSzPts val="1400"/>
              <a:buFont typeface="Times"/>
              <a:buNone/>
              <a:defRPr b="0" i="0" sz="1400" u="none" cap="none" strike="noStrike">
                <a:solidFill>
                  <a:schemeClr val="dk1"/>
                </a:solidFill>
                <a:latin typeface="Arial"/>
                <a:ea typeface="Arial"/>
                <a:cs typeface="Arial"/>
                <a:sym typeface="Arial"/>
              </a:defRPr>
            </a:lvl8pPr>
            <a:lvl9pPr indent="-228600" lvl="8" marL="4114800" marR="0" rtl="0" algn="l">
              <a:lnSpc>
                <a:spcPct val="100000"/>
              </a:lnSpc>
              <a:spcBef>
                <a:spcPts val="140"/>
              </a:spcBef>
              <a:spcAft>
                <a:spcPts val="0"/>
              </a:spcAft>
              <a:buClr>
                <a:schemeClr val="dk1"/>
              </a:buClr>
              <a:buSzPts val="1400"/>
              <a:buFont typeface="Times"/>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4" name="Shape 24"/>
        <p:cNvGrpSpPr/>
        <p:nvPr/>
      </p:nvGrpSpPr>
      <p:grpSpPr>
        <a:xfrm>
          <a:off x="0" y="0"/>
          <a:ext cx="0" cy="0"/>
          <a:chOff x="0" y="0"/>
          <a:chExt cx="0" cy="0"/>
        </a:xfrm>
      </p:grpSpPr>
      <p:sp>
        <p:nvSpPr>
          <p:cNvPr id="25" name="Google Shape;25;p7"/>
          <p:cNvSpPr txBox="1"/>
          <p:nvPr>
            <p:ph type="title"/>
          </p:nvPr>
        </p:nvSpPr>
        <p:spPr>
          <a:xfrm>
            <a:off x="609601" y="274638"/>
            <a:ext cx="9682348" cy="1143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9pPr>
          </a:lstStyle>
          <a:p/>
        </p:txBody>
      </p:sp>
      <p:sp>
        <p:nvSpPr>
          <p:cNvPr id="26" name="Google Shape;26;p7"/>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Autofit/>
          </a:bodyPr>
          <a:lstStyle>
            <a:lvl1pPr indent="-424180" lvl="0" marL="457200" marR="0" rtl="0" algn="l">
              <a:lnSpc>
                <a:spcPct val="100000"/>
              </a:lnSpc>
              <a:spcBef>
                <a:spcPts val="1400"/>
              </a:spcBef>
              <a:spcAft>
                <a:spcPts val="0"/>
              </a:spcAft>
              <a:buClr>
                <a:srgbClr val="24459C"/>
              </a:buClr>
              <a:buSzPts val="3080"/>
              <a:buFont typeface="Times"/>
              <a:buChar char="•"/>
              <a:defRPr b="0" i="0" sz="2800" u="none" cap="none" strike="noStrike">
                <a:solidFill>
                  <a:schemeClr val="dk1"/>
                </a:solidFill>
                <a:latin typeface="Arial"/>
                <a:ea typeface="Arial"/>
                <a:cs typeface="Arial"/>
                <a:sym typeface="Arial"/>
              </a:defRPr>
            </a:lvl1pPr>
            <a:lvl2pPr indent="-381000" lvl="1" marL="914400" marR="0" rtl="0" algn="l">
              <a:lnSpc>
                <a:spcPct val="100000"/>
              </a:lnSpc>
              <a:spcBef>
                <a:spcPts val="240"/>
              </a:spcBef>
              <a:spcAft>
                <a:spcPts val="0"/>
              </a:spcAft>
              <a:buClr>
                <a:schemeClr val="dk1"/>
              </a:buClr>
              <a:buSzPts val="2400"/>
              <a:buFont typeface="Times"/>
              <a:buChar char="–"/>
              <a:defRPr b="0" i="0" sz="2400" u="none" cap="none" strike="noStrike">
                <a:solidFill>
                  <a:schemeClr val="dk1"/>
                </a:solidFill>
                <a:latin typeface="Arial"/>
                <a:ea typeface="Arial"/>
                <a:cs typeface="Arial"/>
                <a:sym typeface="Arial"/>
              </a:defRPr>
            </a:lvl2pPr>
            <a:lvl3pPr indent="-355600" lvl="2" marL="1371600" marR="0" rtl="0" algn="l">
              <a:lnSpc>
                <a:spcPct val="100000"/>
              </a:lnSpc>
              <a:spcBef>
                <a:spcPts val="200"/>
              </a:spcBef>
              <a:spcAft>
                <a:spcPts val="0"/>
              </a:spcAft>
              <a:buClr>
                <a:schemeClr val="dk1"/>
              </a:buClr>
              <a:buSzPts val="2000"/>
              <a:buFont typeface="Times"/>
              <a:buChar char="–"/>
              <a:defRPr b="0" i="0" sz="2000" u="none" cap="none" strike="noStrike">
                <a:solidFill>
                  <a:schemeClr val="dk1"/>
                </a:solidFill>
                <a:latin typeface="Arial"/>
                <a:ea typeface="Arial"/>
                <a:cs typeface="Arial"/>
                <a:sym typeface="Arial"/>
              </a:defRPr>
            </a:lvl3pPr>
            <a:lvl4pPr indent="-342900" lvl="3" marL="1828800" marR="0" rtl="0" algn="l">
              <a:lnSpc>
                <a:spcPct val="100000"/>
              </a:lnSpc>
              <a:spcBef>
                <a:spcPts val="180"/>
              </a:spcBef>
              <a:spcAft>
                <a:spcPts val="0"/>
              </a:spcAft>
              <a:buClr>
                <a:schemeClr val="dk1"/>
              </a:buClr>
              <a:buSzPts val="1800"/>
              <a:buFont typeface="Times"/>
              <a:buChar char="–"/>
              <a:defRPr b="0" i="0" sz="1800" u="none" cap="none" strike="noStrike">
                <a:solidFill>
                  <a:schemeClr val="dk1"/>
                </a:solidFill>
                <a:latin typeface="Arial"/>
                <a:ea typeface="Arial"/>
                <a:cs typeface="Arial"/>
                <a:sym typeface="Arial"/>
              </a:defRPr>
            </a:lvl4pPr>
            <a:lvl5pPr indent="-342900" lvl="4" marL="2286000" marR="0" rtl="0" algn="l">
              <a:lnSpc>
                <a:spcPct val="100000"/>
              </a:lnSpc>
              <a:spcBef>
                <a:spcPts val="180"/>
              </a:spcBef>
              <a:spcAft>
                <a:spcPts val="0"/>
              </a:spcAft>
              <a:buClr>
                <a:schemeClr val="dk1"/>
              </a:buClr>
              <a:buSzPts val="1800"/>
              <a:buFont typeface="Times"/>
              <a:buChar char="»"/>
              <a:defRPr b="0" i="0" sz="1800" u="none" cap="none" strike="noStrike">
                <a:solidFill>
                  <a:schemeClr val="dk1"/>
                </a:solidFill>
                <a:latin typeface="Arial"/>
                <a:ea typeface="Arial"/>
                <a:cs typeface="Arial"/>
                <a:sym typeface="Arial"/>
              </a:defRPr>
            </a:lvl5pPr>
            <a:lvl6pPr indent="-228600" lvl="5" marL="2743200" marR="0" rtl="0" algn="l">
              <a:lnSpc>
                <a:spcPct val="100000"/>
              </a:lnSpc>
              <a:spcBef>
                <a:spcPts val="18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indent="-228600" lvl="6" marL="3200400" marR="0" rtl="0" algn="l">
              <a:lnSpc>
                <a:spcPct val="100000"/>
              </a:lnSpc>
              <a:spcBef>
                <a:spcPts val="18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indent="-228600" lvl="7" marL="3657600" marR="0" rtl="0" algn="l">
              <a:lnSpc>
                <a:spcPct val="100000"/>
              </a:lnSpc>
              <a:spcBef>
                <a:spcPts val="18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indent="-228600" lvl="8" marL="4114800" marR="0" rtl="0" algn="l">
              <a:lnSpc>
                <a:spcPct val="100000"/>
              </a:lnSpc>
              <a:spcBef>
                <a:spcPts val="18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7" name="Google Shape;27;p7"/>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Autofit/>
          </a:bodyPr>
          <a:lstStyle>
            <a:lvl1pPr indent="-424180" lvl="0" marL="457200" marR="0" rtl="0" algn="l">
              <a:lnSpc>
                <a:spcPct val="100000"/>
              </a:lnSpc>
              <a:spcBef>
                <a:spcPts val="1400"/>
              </a:spcBef>
              <a:spcAft>
                <a:spcPts val="0"/>
              </a:spcAft>
              <a:buClr>
                <a:srgbClr val="24459C"/>
              </a:buClr>
              <a:buSzPts val="3080"/>
              <a:buFont typeface="Times"/>
              <a:buChar char="•"/>
              <a:defRPr b="0" i="0" sz="2800" u="none" cap="none" strike="noStrike">
                <a:solidFill>
                  <a:schemeClr val="dk1"/>
                </a:solidFill>
                <a:latin typeface="Arial"/>
                <a:ea typeface="Arial"/>
                <a:cs typeface="Arial"/>
                <a:sym typeface="Arial"/>
              </a:defRPr>
            </a:lvl1pPr>
            <a:lvl2pPr indent="-381000" lvl="1" marL="914400" marR="0" rtl="0" algn="l">
              <a:lnSpc>
                <a:spcPct val="100000"/>
              </a:lnSpc>
              <a:spcBef>
                <a:spcPts val="240"/>
              </a:spcBef>
              <a:spcAft>
                <a:spcPts val="0"/>
              </a:spcAft>
              <a:buClr>
                <a:schemeClr val="dk1"/>
              </a:buClr>
              <a:buSzPts val="2400"/>
              <a:buFont typeface="Times"/>
              <a:buChar char="–"/>
              <a:defRPr b="0" i="0" sz="2400" u="none" cap="none" strike="noStrike">
                <a:solidFill>
                  <a:schemeClr val="dk1"/>
                </a:solidFill>
                <a:latin typeface="Arial"/>
                <a:ea typeface="Arial"/>
                <a:cs typeface="Arial"/>
                <a:sym typeface="Arial"/>
              </a:defRPr>
            </a:lvl2pPr>
            <a:lvl3pPr indent="-355600" lvl="2" marL="1371600" marR="0" rtl="0" algn="l">
              <a:lnSpc>
                <a:spcPct val="100000"/>
              </a:lnSpc>
              <a:spcBef>
                <a:spcPts val="200"/>
              </a:spcBef>
              <a:spcAft>
                <a:spcPts val="0"/>
              </a:spcAft>
              <a:buClr>
                <a:schemeClr val="dk1"/>
              </a:buClr>
              <a:buSzPts val="2000"/>
              <a:buFont typeface="Times"/>
              <a:buChar char="–"/>
              <a:defRPr b="0" i="0" sz="2000" u="none" cap="none" strike="noStrike">
                <a:solidFill>
                  <a:schemeClr val="dk1"/>
                </a:solidFill>
                <a:latin typeface="Arial"/>
                <a:ea typeface="Arial"/>
                <a:cs typeface="Arial"/>
                <a:sym typeface="Arial"/>
              </a:defRPr>
            </a:lvl3pPr>
            <a:lvl4pPr indent="-342900" lvl="3" marL="1828800" marR="0" rtl="0" algn="l">
              <a:lnSpc>
                <a:spcPct val="100000"/>
              </a:lnSpc>
              <a:spcBef>
                <a:spcPts val="180"/>
              </a:spcBef>
              <a:spcAft>
                <a:spcPts val="0"/>
              </a:spcAft>
              <a:buClr>
                <a:schemeClr val="dk1"/>
              </a:buClr>
              <a:buSzPts val="1800"/>
              <a:buFont typeface="Times"/>
              <a:buChar char="–"/>
              <a:defRPr b="0" i="0" sz="1800" u="none" cap="none" strike="noStrike">
                <a:solidFill>
                  <a:schemeClr val="dk1"/>
                </a:solidFill>
                <a:latin typeface="Arial"/>
                <a:ea typeface="Arial"/>
                <a:cs typeface="Arial"/>
                <a:sym typeface="Arial"/>
              </a:defRPr>
            </a:lvl4pPr>
            <a:lvl5pPr indent="-342900" lvl="4" marL="2286000" marR="0" rtl="0" algn="l">
              <a:lnSpc>
                <a:spcPct val="100000"/>
              </a:lnSpc>
              <a:spcBef>
                <a:spcPts val="180"/>
              </a:spcBef>
              <a:spcAft>
                <a:spcPts val="0"/>
              </a:spcAft>
              <a:buClr>
                <a:schemeClr val="dk1"/>
              </a:buClr>
              <a:buSzPts val="1800"/>
              <a:buFont typeface="Times"/>
              <a:buChar char="»"/>
              <a:defRPr b="0" i="0" sz="1800" u="none" cap="none" strike="noStrike">
                <a:solidFill>
                  <a:schemeClr val="dk1"/>
                </a:solidFill>
                <a:latin typeface="Arial"/>
                <a:ea typeface="Arial"/>
                <a:cs typeface="Arial"/>
                <a:sym typeface="Arial"/>
              </a:defRPr>
            </a:lvl5pPr>
            <a:lvl6pPr indent="-228600" lvl="5" marL="2743200" marR="0" rtl="0" algn="l">
              <a:lnSpc>
                <a:spcPct val="100000"/>
              </a:lnSpc>
              <a:spcBef>
                <a:spcPts val="18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indent="-228600" lvl="6" marL="3200400" marR="0" rtl="0" algn="l">
              <a:lnSpc>
                <a:spcPct val="100000"/>
              </a:lnSpc>
              <a:spcBef>
                <a:spcPts val="18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indent="-228600" lvl="7" marL="3657600" marR="0" rtl="0" algn="l">
              <a:lnSpc>
                <a:spcPct val="100000"/>
              </a:lnSpc>
              <a:spcBef>
                <a:spcPts val="18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indent="-228600" lvl="8" marL="4114800" marR="0" rtl="0" algn="l">
              <a:lnSpc>
                <a:spcPct val="100000"/>
              </a:lnSpc>
              <a:spcBef>
                <a:spcPts val="18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8" name="Shape 28"/>
        <p:cNvGrpSpPr/>
        <p:nvPr/>
      </p:nvGrpSpPr>
      <p:grpSpPr>
        <a:xfrm>
          <a:off x="0" y="0"/>
          <a:ext cx="0" cy="0"/>
          <a:chOff x="0" y="0"/>
          <a:chExt cx="0" cy="0"/>
        </a:xfrm>
      </p:grpSpPr>
      <p:sp>
        <p:nvSpPr>
          <p:cNvPr id="29" name="Google Shape;29;p8"/>
          <p:cNvSpPr txBox="1"/>
          <p:nvPr>
            <p:ph type="title"/>
          </p:nvPr>
        </p:nvSpPr>
        <p:spPr>
          <a:xfrm>
            <a:off x="609600" y="274638"/>
            <a:ext cx="10972800" cy="1143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9pPr>
          </a:lstStyle>
          <a:p/>
        </p:txBody>
      </p:sp>
      <p:sp>
        <p:nvSpPr>
          <p:cNvPr id="30" name="Google Shape;30;p8"/>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1200"/>
              </a:spcBef>
              <a:spcAft>
                <a:spcPts val="0"/>
              </a:spcAft>
              <a:buClr>
                <a:srgbClr val="24459C"/>
              </a:buClr>
              <a:buSzPts val="2640"/>
              <a:buFont typeface="Times"/>
              <a:buNone/>
              <a:defRPr b="1" i="0" sz="2400" u="none" cap="none" strike="noStrike">
                <a:solidFill>
                  <a:schemeClr val="dk1"/>
                </a:solidFill>
                <a:latin typeface="Arial"/>
                <a:ea typeface="Arial"/>
                <a:cs typeface="Arial"/>
                <a:sym typeface="Arial"/>
              </a:defRPr>
            </a:lvl1pPr>
            <a:lvl2pPr indent="-228600" lvl="1" marL="914400" marR="0" rtl="0" algn="l">
              <a:lnSpc>
                <a:spcPct val="100000"/>
              </a:lnSpc>
              <a:spcBef>
                <a:spcPts val="200"/>
              </a:spcBef>
              <a:spcAft>
                <a:spcPts val="0"/>
              </a:spcAft>
              <a:buClr>
                <a:schemeClr val="dk1"/>
              </a:buClr>
              <a:buSzPts val="2000"/>
              <a:buFont typeface="Times"/>
              <a:buNone/>
              <a:defRPr b="1" i="0" sz="2000" u="none" cap="none" strike="noStrike">
                <a:solidFill>
                  <a:schemeClr val="dk1"/>
                </a:solidFill>
                <a:latin typeface="Arial"/>
                <a:ea typeface="Arial"/>
                <a:cs typeface="Arial"/>
                <a:sym typeface="Arial"/>
              </a:defRPr>
            </a:lvl2pPr>
            <a:lvl3pPr indent="-228600" lvl="2" marL="1371600" marR="0" rtl="0" algn="l">
              <a:lnSpc>
                <a:spcPct val="100000"/>
              </a:lnSpc>
              <a:spcBef>
                <a:spcPts val="180"/>
              </a:spcBef>
              <a:spcAft>
                <a:spcPts val="0"/>
              </a:spcAft>
              <a:buClr>
                <a:schemeClr val="dk1"/>
              </a:buClr>
              <a:buSzPts val="1800"/>
              <a:buFont typeface="Times"/>
              <a:buNone/>
              <a:defRPr b="1" i="0" sz="1800" u="none" cap="none" strike="noStrike">
                <a:solidFill>
                  <a:schemeClr val="dk1"/>
                </a:solidFill>
                <a:latin typeface="Arial"/>
                <a:ea typeface="Arial"/>
                <a:cs typeface="Arial"/>
                <a:sym typeface="Arial"/>
              </a:defRPr>
            </a:lvl3pPr>
            <a:lvl4pPr indent="-228600" lvl="3" marL="1828800" marR="0" rtl="0" algn="l">
              <a:lnSpc>
                <a:spcPct val="100000"/>
              </a:lnSpc>
              <a:spcBef>
                <a:spcPts val="160"/>
              </a:spcBef>
              <a:spcAft>
                <a:spcPts val="0"/>
              </a:spcAft>
              <a:buClr>
                <a:schemeClr val="dk1"/>
              </a:buClr>
              <a:buSzPts val="1600"/>
              <a:buFont typeface="Times"/>
              <a:buNone/>
              <a:defRPr b="1" i="0" sz="1600" u="none" cap="none" strike="noStrike">
                <a:solidFill>
                  <a:schemeClr val="dk1"/>
                </a:solidFill>
                <a:latin typeface="Arial"/>
                <a:ea typeface="Arial"/>
                <a:cs typeface="Arial"/>
                <a:sym typeface="Arial"/>
              </a:defRPr>
            </a:lvl4pPr>
            <a:lvl5pPr indent="-228600" lvl="4" marL="2286000" marR="0" rtl="0" algn="l">
              <a:lnSpc>
                <a:spcPct val="100000"/>
              </a:lnSpc>
              <a:spcBef>
                <a:spcPts val="160"/>
              </a:spcBef>
              <a:spcAft>
                <a:spcPts val="0"/>
              </a:spcAft>
              <a:buClr>
                <a:schemeClr val="dk1"/>
              </a:buClr>
              <a:buSzPts val="1600"/>
              <a:buFont typeface="Times"/>
              <a:buNone/>
              <a:defRPr b="1" i="0" sz="1600" u="none" cap="none" strike="noStrike">
                <a:solidFill>
                  <a:schemeClr val="dk1"/>
                </a:solidFill>
                <a:latin typeface="Arial"/>
                <a:ea typeface="Arial"/>
                <a:cs typeface="Arial"/>
                <a:sym typeface="Arial"/>
              </a:defRPr>
            </a:lvl5pPr>
            <a:lvl6pPr indent="-228600" lvl="5" marL="2743200" marR="0" rtl="0" algn="l">
              <a:lnSpc>
                <a:spcPct val="100000"/>
              </a:lnSpc>
              <a:spcBef>
                <a:spcPts val="160"/>
              </a:spcBef>
              <a:spcAft>
                <a:spcPts val="0"/>
              </a:spcAft>
              <a:buClr>
                <a:schemeClr val="dk1"/>
              </a:buClr>
              <a:buSzPts val="1600"/>
              <a:buFont typeface="Times"/>
              <a:buNone/>
              <a:defRPr b="1" i="0" sz="1600" u="none" cap="none" strike="noStrike">
                <a:solidFill>
                  <a:schemeClr val="dk1"/>
                </a:solidFill>
                <a:latin typeface="Arial"/>
                <a:ea typeface="Arial"/>
                <a:cs typeface="Arial"/>
                <a:sym typeface="Arial"/>
              </a:defRPr>
            </a:lvl6pPr>
            <a:lvl7pPr indent="-228600" lvl="6" marL="3200400" marR="0" rtl="0" algn="l">
              <a:lnSpc>
                <a:spcPct val="100000"/>
              </a:lnSpc>
              <a:spcBef>
                <a:spcPts val="160"/>
              </a:spcBef>
              <a:spcAft>
                <a:spcPts val="0"/>
              </a:spcAft>
              <a:buClr>
                <a:schemeClr val="dk1"/>
              </a:buClr>
              <a:buSzPts val="1600"/>
              <a:buFont typeface="Times"/>
              <a:buNone/>
              <a:defRPr b="1" i="0" sz="1600" u="none" cap="none" strike="noStrike">
                <a:solidFill>
                  <a:schemeClr val="dk1"/>
                </a:solidFill>
                <a:latin typeface="Arial"/>
                <a:ea typeface="Arial"/>
                <a:cs typeface="Arial"/>
                <a:sym typeface="Arial"/>
              </a:defRPr>
            </a:lvl7pPr>
            <a:lvl8pPr indent="-228600" lvl="7" marL="3657600" marR="0" rtl="0" algn="l">
              <a:lnSpc>
                <a:spcPct val="100000"/>
              </a:lnSpc>
              <a:spcBef>
                <a:spcPts val="160"/>
              </a:spcBef>
              <a:spcAft>
                <a:spcPts val="0"/>
              </a:spcAft>
              <a:buClr>
                <a:schemeClr val="dk1"/>
              </a:buClr>
              <a:buSzPts val="1600"/>
              <a:buFont typeface="Times"/>
              <a:buNone/>
              <a:defRPr b="1" i="0" sz="1600" u="none" cap="none" strike="noStrike">
                <a:solidFill>
                  <a:schemeClr val="dk1"/>
                </a:solidFill>
                <a:latin typeface="Arial"/>
                <a:ea typeface="Arial"/>
                <a:cs typeface="Arial"/>
                <a:sym typeface="Arial"/>
              </a:defRPr>
            </a:lvl8pPr>
            <a:lvl9pPr indent="-228600" lvl="8" marL="4114800" marR="0" rtl="0" algn="l">
              <a:lnSpc>
                <a:spcPct val="100000"/>
              </a:lnSpc>
              <a:spcBef>
                <a:spcPts val="160"/>
              </a:spcBef>
              <a:spcAft>
                <a:spcPts val="0"/>
              </a:spcAft>
              <a:buClr>
                <a:schemeClr val="dk1"/>
              </a:buClr>
              <a:buSzPts val="1600"/>
              <a:buFont typeface="Times"/>
              <a:buNone/>
              <a:defRPr b="1" i="0" sz="1600" u="none" cap="none" strike="noStrike">
                <a:solidFill>
                  <a:schemeClr val="dk1"/>
                </a:solidFill>
                <a:latin typeface="Arial"/>
                <a:ea typeface="Arial"/>
                <a:cs typeface="Arial"/>
                <a:sym typeface="Arial"/>
              </a:defRPr>
            </a:lvl9pPr>
          </a:lstStyle>
          <a:p/>
        </p:txBody>
      </p:sp>
      <p:sp>
        <p:nvSpPr>
          <p:cNvPr id="31" name="Google Shape;31;p8"/>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96240" lvl="0" marL="457200" marR="0" rtl="0" algn="l">
              <a:lnSpc>
                <a:spcPct val="100000"/>
              </a:lnSpc>
              <a:spcBef>
                <a:spcPts val="1200"/>
              </a:spcBef>
              <a:spcAft>
                <a:spcPts val="0"/>
              </a:spcAft>
              <a:buClr>
                <a:srgbClr val="24459C"/>
              </a:buClr>
              <a:buSzPts val="2640"/>
              <a:buFont typeface="Time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200"/>
              </a:spcBef>
              <a:spcAft>
                <a:spcPts val="0"/>
              </a:spcAft>
              <a:buClr>
                <a:schemeClr val="dk1"/>
              </a:buClr>
              <a:buSzPts val="2000"/>
              <a:buFont typeface="Times"/>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180"/>
              </a:spcBef>
              <a:spcAft>
                <a:spcPts val="0"/>
              </a:spcAft>
              <a:buClr>
                <a:schemeClr val="dk1"/>
              </a:buClr>
              <a:buSzPts val="1800"/>
              <a:buFont typeface="Times"/>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Arial"/>
                <a:ea typeface="Arial"/>
                <a:cs typeface="Arial"/>
                <a:sym typeface="Arial"/>
              </a:defRPr>
            </a:lvl4pPr>
            <a:lvl5pPr indent="-330200" lvl="4" marL="2286000"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Arial"/>
                <a:ea typeface="Arial"/>
                <a:cs typeface="Arial"/>
                <a:sym typeface="Arial"/>
              </a:defRPr>
            </a:lvl5pPr>
            <a:lvl6pPr indent="-228600" lvl="5" marL="27432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6pPr>
            <a:lvl7pPr indent="-228600" lvl="6" marL="32004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7pPr>
            <a:lvl8pPr indent="-228600" lvl="7" marL="36576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8pPr>
            <a:lvl9pPr indent="-228600" lvl="8" marL="41148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9pPr>
          </a:lstStyle>
          <a:p/>
        </p:txBody>
      </p:sp>
      <p:sp>
        <p:nvSpPr>
          <p:cNvPr id="32" name="Google Shape;32;p8"/>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1200"/>
              </a:spcBef>
              <a:spcAft>
                <a:spcPts val="0"/>
              </a:spcAft>
              <a:buClr>
                <a:srgbClr val="24459C"/>
              </a:buClr>
              <a:buSzPts val="2640"/>
              <a:buFont typeface="Times"/>
              <a:buNone/>
              <a:defRPr b="1" i="0" sz="2400" u="none" cap="none" strike="noStrike">
                <a:solidFill>
                  <a:schemeClr val="dk1"/>
                </a:solidFill>
                <a:latin typeface="Arial"/>
                <a:ea typeface="Arial"/>
                <a:cs typeface="Arial"/>
                <a:sym typeface="Arial"/>
              </a:defRPr>
            </a:lvl1pPr>
            <a:lvl2pPr indent="-228600" lvl="1" marL="914400" marR="0" rtl="0" algn="l">
              <a:lnSpc>
                <a:spcPct val="100000"/>
              </a:lnSpc>
              <a:spcBef>
                <a:spcPts val="200"/>
              </a:spcBef>
              <a:spcAft>
                <a:spcPts val="0"/>
              </a:spcAft>
              <a:buClr>
                <a:schemeClr val="dk1"/>
              </a:buClr>
              <a:buSzPts val="2000"/>
              <a:buFont typeface="Times"/>
              <a:buNone/>
              <a:defRPr b="1" i="0" sz="2000" u="none" cap="none" strike="noStrike">
                <a:solidFill>
                  <a:schemeClr val="dk1"/>
                </a:solidFill>
                <a:latin typeface="Arial"/>
                <a:ea typeface="Arial"/>
                <a:cs typeface="Arial"/>
                <a:sym typeface="Arial"/>
              </a:defRPr>
            </a:lvl2pPr>
            <a:lvl3pPr indent="-228600" lvl="2" marL="1371600" marR="0" rtl="0" algn="l">
              <a:lnSpc>
                <a:spcPct val="100000"/>
              </a:lnSpc>
              <a:spcBef>
                <a:spcPts val="180"/>
              </a:spcBef>
              <a:spcAft>
                <a:spcPts val="0"/>
              </a:spcAft>
              <a:buClr>
                <a:schemeClr val="dk1"/>
              </a:buClr>
              <a:buSzPts val="1800"/>
              <a:buFont typeface="Times"/>
              <a:buNone/>
              <a:defRPr b="1" i="0" sz="1800" u="none" cap="none" strike="noStrike">
                <a:solidFill>
                  <a:schemeClr val="dk1"/>
                </a:solidFill>
                <a:latin typeface="Arial"/>
                <a:ea typeface="Arial"/>
                <a:cs typeface="Arial"/>
                <a:sym typeface="Arial"/>
              </a:defRPr>
            </a:lvl3pPr>
            <a:lvl4pPr indent="-228600" lvl="3" marL="1828800" marR="0" rtl="0" algn="l">
              <a:lnSpc>
                <a:spcPct val="100000"/>
              </a:lnSpc>
              <a:spcBef>
                <a:spcPts val="160"/>
              </a:spcBef>
              <a:spcAft>
                <a:spcPts val="0"/>
              </a:spcAft>
              <a:buClr>
                <a:schemeClr val="dk1"/>
              </a:buClr>
              <a:buSzPts val="1600"/>
              <a:buFont typeface="Times"/>
              <a:buNone/>
              <a:defRPr b="1" i="0" sz="1600" u="none" cap="none" strike="noStrike">
                <a:solidFill>
                  <a:schemeClr val="dk1"/>
                </a:solidFill>
                <a:latin typeface="Arial"/>
                <a:ea typeface="Arial"/>
                <a:cs typeface="Arial"/>
                <a:sym typeface="Arial"/>
              </a:defRPr>
            </a:lvl4pPr>
            <a:lvl5pPr indent="-228600" lvl="4" marL="2286000" marR="0" rtl="0" algn="l">
              <a:lnSpc>
                <a:spcPct val="100000"/>
              </a:lnSpc>
              <a:spcBef>
                <a:spcPts val="160"/>
              </a:spcBef>
              <a:spcAft>
                <a:spcPts val="0"/>
              </a:spcAft>
              <a:buClr>
                <a:schemeClr val="dk1"/>
              </a:buClr>
              <a:buSzPts val="1600"/>
              <a:buFont typeface="Times"/>
              <a:buNone/>
              <a:defRPr b="1" i="0" sz="1600" u="none" cap="none" strike="noStrike">
                <a:solidFill>
                  <a:schemeClr val="dk1"/>
                </a:solidFill>
                <a:latin typeface="Arial"/>
                <a:ea typeface="Arial"/>
                <a:cs typeface="Arial"/>
                <a:sym typeface="Arial"/>
              </a:defRPr>
            </a:lvl5pPr>
            <a:lvl6pPr indent="-228600" lvl="5" marL="2743200" marR="0" rtl="0" algn="l">
              <a:lnSpc>
                <a:spcPct val="100000"/>
              </a:lnSpc>
              <a:spcBef>
                <a:spcPts val="160"/>
              </a:spcBef>
              <a:spcAft>
                <a:spcPts val="0"/>
              </a:spcAft>
              <a:buClr>
                <a:schemeClr val="dk1"/>
              </a:buClr>
              <a:buSzPts val="1600"/>
              <a:buFont typeface="Times"/>
              <a:buNone/>
              <a:defRPr b="1" i="0" sz="1600" u="none" cap="none" strike="noStrike">
                <a:solidFill>
                  <a:schemeClr val="dk1"/>
                </a:solidFill>
                <a:latin typeface="Arial"/>
                <a:ea typeface="Arial"/>
                <a:cs typeface="Arial"/>
                <a:sym typeface="Arial"/>
              </a:defRPr>
            </a:lvl6pPr>
            <a:lvl7pPr indent="-228600" lvl="6" marL="3200400" marR="0" rtl="0" algn="l">
              <a:lnSpc>
                <a:spcPct val="100000"/>
              </a:lnSpc>
              <a:spcBef>
                <a:spcPts val="160"/>
              </a:spcBef>
              <a:spcAft>
                <a:spcPts val="0"/>
              </a:spcAft>
              <a:buClr>
                <a:schemeClr val="dk1"/>
              </a:buClr>
              <a:buSzPts val="1600"/>
              <a:buFont typeface="Times"/>
              <a:buNone/>
              <a:defRPr b="1" i="0" sz="1600" u="none" cap="none" strike="noStrike">
                <a:solidFill>
                  <a:schemeClr val="dk1"/>
                </a:solidFill>
                <a:latin typeface="Arial"/>
                <a:ea typeface="Arial"/>
                <a:cs typeface="Arial"/>
                <a:sym typeface="Arial"/>
              </a:defRPr>
            </a:lvl7pPr>
            <a:lvl8pPr indent="-228600" lvl="7" marL="3657600" marR="0" rtl="0" algn="l">
              <a:lnSpc>
                <a:spcPct val="100000"/>
              </a:lnSpc>
              <a:spcBef>
                <a:spcPts val="160"/>
              </a:spcBef>
              <a:spcAft>
                <a:spcPts val="0"/>
              </a:spcAft>
              <a:buClr>
                <a:schemeClr val="dk1"/>
              </a:buClr>
              <a:buSzPts val="1600"/>
              <a:buFont typeface="Times"/>
              <a:buNone/>
              <a:defRPr b="1" i="0" sz="1600" u="none" cap="none" strike="noStrike">
                <a:solidFill>
                  <a:schemeClr val="dk1"/>
                </a:solidFill>
                <a:latin typeface="Arial"/>
                <a:ea typeface="Arial"/>
                <a:cs typeface="Arial"/>
                <a:sym typeface="Arial"/>
              </a:defRPr>
            </a:lvl8pPr>
            <a:lvl9pPr indent="-228600" lvl="8" marL="4114800" marR="0" rtl="0" algn="l">
              <a:lnSpc>
                <a:spcPct val="100000"/>
              </a:lnSpc>
              <a:spcBef>
                <a:spcPts val="160"/>
              </a:spcBef>
              <a:spcAft>
                <a:spcPts val="0"/>
              </a:spcAft>
              <a:buClr>
                <a:schemeClr val="dk1"/>
              </a:buClr>
              <a:buSzPts val="1600"/>
              <a:buFont typeface="Times"/>
              <a:buNone/>
              <a:defRPr b="1" i="0" sz="1600" u="none" cap="none" strike="noStrike">
                <a:solidFill>
                  <a:schemeClr val="dk1"/>
                </a:solidFill>
                <a:latin typeface="Arial"/>
                <a:ea typeface="Arial"/>
                <a:cs typeface="Arial"/>
                <a:sym typeface="Arial"/>
              </a:defRPr>
            </a:lvl9pPr>
          </a:lstStyle>
          <a:p/>
        </p:txBody>
      </p:sp>
      <p:sp>
        <p:nvSpPr>
          <p:cNvPr id="33" name="Google Shape;33;p8"/>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96240" lvl="0" marL="457200" marR="0" rtl="0" algn="l">
              <a:lnSpc>
                <a:spcPct val="100000"/>
              </a:lnSpc>
              <a:spcBef>
                <a:spcPts val="1200"/>
              </a:spcBef>
              <a:spcAft>
                <a:spcPts val="0"/>
              </a:spcAft>
              <a:buClr>
                <a:srgbClr val="24459C"/>
              </a:buClr>
              <a:buSzPts val="2640"/>
              <a:buFont typeface="Time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200"/>
              </a:spcBef>
              <a:spcAft>
                <a:spcPts val="0"/>
              </a:spcAft>
              <a:buClr>
                <a:schemeClr val="dk1"/>
              </a:buClr>
              <a:buSzPts val="2000"/>
              <a:buFont typeface="Times"/>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180"/>
              </a:spcBef>
              <a:spcAft>
                <a:spcPts val="0"/>
              </a:spcAft>
              <a:buClr>
                <a:schemeClr val="dk1"/>
              </a:buClr>
              <a:buSzPts val="1800"/>
              <a:buFont typeface="Times"/>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Arial"/>
                <a:ea typeface="Arial"/>
                <a:cs typeface="Arial"/>
                <a:sym typeface="Arial"/>
              </a:defRPr>
            </a:lvl4pPr>
            <a:lvl5pPr indent="-330200" lvl="4" marL="2286000"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Arial"/>
                <a:ea typeface="Arial"/>
                <a:cs typeface="Arial"/>
                <a:sym typeface="Arial"/>
              </a:defRPr>
            </a:lvl5pPr>
            <a:lvl6pPr indent="-228600" lvl="5" marL="27432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6pPr>
            <a:lvl7pPr indent="-228600" lvl="6" marL="32004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7pPr>
            <a:lvl8pPr indent="-228600" lvl="7" marL="36576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8pPr>
            <a:lvl9pPr indent="-228600" lvl="8" marL="41148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9"/>
          <p:cNvSpPr txBox="1"/>
          <p:nvPr>
            <p:ph type="title"/>
          </p:nvPr>
        </p:nvSpPr>
        <p:spPr>
          <a:xfrm>
            <a:off x="609600" y="274638"/>
            <a:ext cx="9508176" cy="1143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 name="Shape 36"/>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7" name="Shape 37"/>
        <p:cNvGrpSpPr/>
        <p:nvPr/>
      </p:nvGrpSpPr>
      <p:grpSpPr>
        <a:xfrm>
          <a:off x="0" y="0"/>
          <a:ext cx="0" cy="0"/>
          <a:chOff x="0" y="0"/>
          <a:chExt cx="0" cy="0"/>
        </a:xfrm>
      </p:grpSpPr>
      <p:sp>
        <p:nvSpPr>
          <p:cNvPr id="38" name="Google Shape;38;p11"/>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9pPr>
          </a:lstStyle>
          <a:p/>
        </p:txBody>
      </p:sp>
      <p:sp>
        <p:nvSpPr>
          <p:cNvPr id="39" name="Google Shape;39;p11"/>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Autofit/>
          </a:bodyPr>
          <a:lstStyle>
            <a:lvl1pPr indent="-452120" lvl="0" marL="457200" marR="0" rtl="0" algn="l">
              <a:lnSpc>
                <a:spcPct val="100000"/>
              </a:lnSpc>
              <a:spcBef>
                <a:spcPts val="1600"/>
              </a:spcBef>
              <a:spcAft>
                <a:spcPts val="0"/>
              </a:spcAft>
              <a:buClr>
                <a:srgbClr val="24459C"/>
              </a:buClr>
              <a:buSzPts val="3520"/>
              <a:buFont typeface="Times"/>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280"/>
              </a:spcBef>
              <a:spcAft>
                <a:spcPts val="0"/>
              </a:spcAft>
              <a:buClr>
                <a:schemeClr val="dk1"/>
              </a:buClr>
              <a:buSzPts val="2800"/>
              <a:buFont typeface="Times"/>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240"/>
              </a:spcBef>
              <a:spcAft>
                <a:spcPts val="0"/>
              </a:spcAft>
              <a:buClr>
                <a:schemeClr val="dk1"/>
              </a:buClr>
              <a:buSzPts val="2400"/>
              <a:buFont typeface="Times"/>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200"/>
              </a:spcBef>
              <a:spcAft>
                <a:spcPts val="0"/>
              </a:spcAft>
              <a:buClr>
                <a:schemeClr val="dk1"/>
              </a:buClr>
              <a:buSzPts val="2000"/>
              <a:buFont typeface="Times"/>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200"/>
              </a:spcBef>
              <a:spcAft>
                <a:spcPts val="0"/>
              </a:spcAft>
              <a:buClr>
                <a:schemeClr val="dk1"/>
              </a:buClr>
              <a:buSzPts val="2000"/>
              <a:buFont typeface="Times"/>
              <a:buChar char="»"/>
              <a:defRPr b="0" i="0" sz="2000" u="none" cap="none" strike="noStrike">
                <a:solidFill>
                  <a:schemeClr val="dk1"/>
                </a:solidFill>
                <a:latin typeface="Arial"/>
                <a:ea typeface="Arial"/>
                <a:cs typeface="Arial"/>
                <a:sym typeface="Arial"/>
              </a:defRPr>
            </a:lvl5pPr>
            <a:lvl6pPr indent="-228600" lvl="5" marL="2743200" marR="0" rtl="0" algn="l">
              <a:lnSpc>
                <a:spcPct val="100000"/>
              </a:lnSpc>
              <a:spcBef>
                <a:spcPts val="2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6pPr>
            <a:lvl7pPr indent="-228600" lvl="6" marL="3200400" marR="0" rtl="0" algn="l">
              <a:lnSpc>
                <a:spcPct val="100000"/>
              </a:lnSpc>
              <a:spcBef>
                <a:spcPts val="2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7pPr>
            <a:lvl8pPr indent="-228600" lvl="7" marL="3657600" marR="0" rtl="0" algn="l">
              <a:lnSpc>
                <a:spcPct val="100000"/>
              </a:lnSpc>
              <a:spcBef>
                <a:spcPts val="2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8pPr>
            <a:lvl9pPr indent="-228600" lvl="8" marL="4114800" marR="0" rtl="0" algn="l">
              <a:lnSpc>
                <a:spcPct val="100000"/>
              </a:lnSpc>
              <a:spcBef>
                <a:spcPts val="200"/>
              </a:spcBef>
              <a:spcAft>
                <a:spcPts val="0"/>
              </a:spcAft>
              <a:buClr>
                <a:srgbClr val="000000"/>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40" name="Google Shape;40;p11"/>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700"/>
              </a:spcBef>
              <a:spcAft>
                <a:spcPts val="0"/>
              </a:spcAft>
              <a:buClr>
                <a:srgbClr val="24459C"/>
              </a:buClr>
              <a:buSzPts val="1540"/>
              <a:buFont typeface="Times"/>
              <a:buNone/>
              <a:defRPr b="0" i="0" sz="1400" u="none" cap="none" strike="noStrike">
                <a:solidFill>
                  <a:schemeClr val="dk1"/>
                </a:solidFill>
                <a:latin typeface="Arial"/>
                <a:ea typeface="Arial"/>
                <a:cs typeface="Arial"/>
                <a:sym typeface="Arial"/>
              </a:defRPr>
            </a:lvl1pPr>
            <a:lvl2pPr indent="-228600" lvl="1" marL="914400" marR="0" rtl="0" algn="l">
              <a:lnSpc>
                <a:spcPct val="100000"/>
              </a:lnSpc>
              <a:spcBef>
                <a:spcPts val="120"/>
              </a:spcBef>
              <a:spcAft>
                <a:spcPts val="0"/>
              </a:spcAft>
              <a:buClr>
                <a:schemeClr val="dk1"/>
              </a:buClr>
              <a:buSzPts val="1200"/>
              <a:buFont typeface="Times"/>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100"/>
              </a:spcBef>
              <a:spcAft>
                <a:spcPts val="0"/>
              </a:spcAft>
              <a:buClr>
                <a:schemeClr val="dk1"/>
              </a:buClr>
              <a:buSzPts val="1000"/>
              <a:buFont typeface="Times"/>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90"/>
              </a:spcBef>
              <a:spcAft>
                <a:spcPts val="0"/>
              </a:spcAft>
              <a:buClr>
                <a:schemeClr val="dk1"/>
              </a:buClr>
              <a:buSzPts val="900"/>
              <a:buFont typeface="Times"/>
              <a:buNone/>
              <a:defRPr b="0" i="0" sz="900" u="none" cap="none" strike="noStrike">
                <a:solidFill>
                  <a:schemeClr val="dk1"/>
                </a:solidFill>
                <a:latin typeface="Arial"/>
                <a:ea typeface="Arial"/>
                <a:cs typeface="Arial"/>
                <a:sym typeface="Arial"/>
              </a:defRPr>
            </a:lvl4pPr>
            <a:lvl5pPr indent="-228600" lvl="4" marL="2286000" marR="0" rtl="0" algn="l">
              <a:lnSpc>
                <a:spcPct val="100000"/>
              </a:lnSpc>
              <a:spcBef>
                <a:spcPts val="90"/>
              </a:spcBef>
              <a:spcAft>
                <a:spcPts val="0"/>
              </a:spcAft>
              <a:buClr>
                <a:schemeClr val="dk1"/>
              </a:buClr>
              <a:buSzPts val="900"/>
              <a:buFont typeface="Times"/>
              <a:buNone/>
              <a:defRPr b="0" i="0" sz="900" u="none" cap="none" strike="noStrike">
                <a:solidFill>
                  <a:schemeClr val="dk1"/>
                </a:solidFill>
                <a:latin typeface="Arial"/>
                <a:ea typeface="Arial"/>
                <a:cs typeface="Arial"/>
                <a:sym typeface="Arial"/>
              </a:defRPr>
            </a:lvl5pPr>
            <a:lvl6pPr indent="-228600" lvl="5" marL="2743200" marR="0" rtl="0" algn="l">
              <a:lnSpc>
                <a:spcPct val="100000"/>
              </a:lnSpc>
              <a:spcBef>
                <a:spcPts val="90"/>
              </a:spcBef>
              <a:spcAft>
                <a:spcPts val="0"/>
              </a:spcAft>
              <a:buClr>
                <a:schemeClr val="dk1"/>
              </a:buClr>
              <a:buSzPts val="900"/>
              <a:buFont typeface="Times"/>
              <a:buNone/>
              <a:defRPr b="0" i="0" sz="900" u="none" cap="none" strike="noStrike">
                <a:solidFill>
                  <a:schemeClr val="dk1"/>
                </a:solidFill>
                <a:latin typeface="Arial"/>
                <a:ea typeface="Arial"/>
                <a:cs typeface="Arial"/>
                <a:sym typeface="Arial"/>
              </a:defRPr>
            </a:lvl6pPr>
            <a:lvl7pPr indent="-228600" lvl="6" marL="3200400" marR="0" rtl="0" algn="l">
              <a:lnSpc>
                <a:spcPct val="100000"/>
              </a:lnSpc>
              <a:spcBef>
                <a:spcPts val="90"/>
              </a:spcBef>
              <a:spcAft>
                <a:spcPts val="0"/>
              </a:spcAft>
              <a:buClr>
                <a:schemeClr val="dk1"/>
              </a:buClr>
              <a:buSzPts val="900"/>
              <a:buFont typeface="Times"/>
              <a:buNone/>
              <a:defRPr b="0" i="0" sz="900" u="none" cap="none" strike="noStrike">
                <a:solidFill>
                  <a:schemeClr val="dk1"/>
                </a:solidFill>
                <a:latin typeface="Arial"/>
                <a:ea typeface="Arial"/>
                <a:cs typeface="Arial"/>
                <a:sym typeface="Arial"/>
              </a:defRPr>
            </a:lvl7pPr>
            <a:lvl8pPr indent="-228600" lvl="7" marL="3657600" marR="0" rtl="0" algn="l">
              <a:lnSpc>
                <a:spcPct val="100000"/>
              </a:lnSpc>
              <a:spcBef>
                <a:spcPts val="90"/>
              </a:spcBef>
              <a:spcAft>
                <a:spcPts val="0"/>
              </a:spcAft>
              <a:buClr>
                <a:schemeClr val="dk1"/>
              </a:buClr>
              <a:buSzPts val="900"/>
              <a:buFont typeface="Times"/>
              <a:buNone/>
              <a:defRPr b="0" i="0" sz="900" u="none" cap="none" strike="noStrike">
                <a:solidFill>
                  <a:schemeClr val="dk1"/>
                </a:solidFill>
                <a:latin typeface="Arial"/>
                <a:ea typeface="Arial"/>
                <a:cs typeface="Arial"/>
                <a:sym typeface="Arial"/>
              </a:defRPr>
            </a:lvl8pPr>
            <a:lvl9pPr indent="-228600" lvl="8" marL="4114800" marR="0" rtl="0" algn="l">
              <a:lnSpc>
                <a:spcPct val="100000"/>
              </a:lnSpc>
              <a:spcBef>
                <a:spcPts val="90"/>
              </a:spcBef>
              <a:spcAft>
                <a:spcPts val="0"/>
              </a:spcAft>
              <a:buClr>
                <a:schemeClr val="dk1"/>
              </a:buClr>
              <a:buSzPts val="900"/>
              <a:buFont typeface="Times"/>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1" name="Shape 41"/>
        <p:cNvGrpSpPr/>
        <p:nvPr/>
      </p:nvGrpSpPr>
      <p:grpSpPr>
        <a:xfrm>
          <a:off x="0" y="0"/>
          <a:ext cx="0" cy="0"/>
          <a:chOff x="0" y="0"/>
          <a:chExt cx="0" cy="0"/>
        </a:xfrm>
      </p:grpSpPr>
      <p:sp>
        <p:nvSpPr>
          <p:cNvPr id="42" name="Google Shape;42;p12"/>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000" u="none" cap="none" strike="noStrike">
                <a:solidFill>
                  <a:srgbClr val="24459C"/>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9pPr>
          </a:lstStyle>
          <a:p/>
        </p:txBody>
      </p:sp>
      <p:sp>
        <p:nvSpPr>
          <p:cNvPr id="43" name="Google Shape;43;p12"/>
          <p:cNvSpPr/>
          <p:nvPr>
            <p:ph idx="2" type="pic"/>
          </p:nvPr>
        </p:nvSpPr>
        <p:spPr>
          <a:xfrm>
            <a:off x="2389717" y="612775"/>
            <a:ext cx="7315200" cy="4114800"/>
          </a:xfrm>
          <a:prstGeom prst="rect">
            <a:avLst/>
          </a:prstGeom>
          <a:noFill/>
          <a:ln>
            <a:noFill/>
          </a:ln>
        </p:spPr>
      </p:sp>
      <p:sp>
        <p:nvSpPr>
          <p:cNvPr id="44" name="Google Shape;44;p12"/>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700"/>
              </a:spcBef>
              <a:spcAft>
                <a:spcPts val="0"/>
              </a:spcAft>
              <a:buClr>
                <a:srgbClr val="24459C"/>
              </a:buClr>
              <a:buSzPts val="1540"/>
              <a:buFont typeface="Times"/>
              <a:buNone/>
              <a:defRPr b="0" i="0" sz="1400" u="none" cap="none" strike="noStrike">
                <a:solidFill>
                  <a:schemeClr val="dk1"/>
                </a:solidFill>
                <a:latin typeface="Arial"/>
                <a:ea typeface="Arial"/>
                <a:cs typeface="Arial"/>
                <a:sym typeface="Arial"/>
              </a:defRPr>
            </a:lvl1pPr>
            <a:lvl2pPr indent="-228600" lvl="1" marL="914400" marR="0" rtl="0" algn="l">
              <a:lnSpc>
                <a:spcPct val="100000"/>
              </a:lnSpc>
              <a:spcBef>
                <a:spcPts val="120"/>
              </a:spcBef>
              <a:spcAft>
                <a:spcPts val="0"/>
              </a:spcAft>
              <a:buClr>
                <a:schemeClr val="dk1"/>
              </a:buClr>
              <a:buSzPts val="1200"/>
              <a:buFont typeface="Times"/>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100"/>
              </a:spcBef>
              <a:spcAft>
                <a:spcPts val="0"/>
              </a:spcAft>
              <a:buClr>
                <a:schemeClr val="dk1"/>
              </a:buClr>
              <a:buSzPts val="1000"/>
              <a:buFont typeface="Times"/>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90"/>
              </a:spcBef>
              <a:spcAft>
                <a:spcPts val="0"/>
              </a:spcAft>
              <a:buClr>
                <a:schemeClr val="dk1"/>
              </a:buClr>
              <a:buSzPts val="900"/>
              <a:buFont typeface="Times"/>
              <a:buNone/>
              <a:defRPr b="0" i="0" sz="900" u="none" cap="none" strike="noStrike">
                <a:solidFill>
                  <a:schemeClr val="dk1"/>
                </a:solidFill>
                <a:latin typeface="Arial"/>
                <a:ea typeface="Arial"/>
                <a:cs typeface="Arial"/>
                <a:sym typeface="Arial"/>
              </a:defRPr>
            </a:lvl4pPr>
            <a:lvl5pPr indent="-228600" lvl="4" marL="2286000" marR="0" rtl="0" algn="l">
              <a:lnSpc>
                <a:spcPct val="100000"/>
              </a:lnSpc>
              <a:spcBef>
                <a:spcPts val="90"/>
              </a:spcBef>
              <a:spcAft>
                <a:spcPts val="0"/>
              </a:spcAft>
              <a:buClr>
                <a:schemeClr val="dk1"/>
              </a:buClr>
              <a:buSzPts val="900"/>
              <a:buFont typeface="Times"/>
              <a:buNone/>
              <a:defRPr b="0" i="0" sz="900" u="none" cap="none" strike="noStrike">
                <a:solidFill>
                  <a:schemeClr val="dk1"/>
                </a:solidFill>
                <a:latin typeface="Arial"/>
                <a:ea typeface="Arial"/>
                <a:cs typeface="Arial"/>
                <a:sym typeface="Arial"/>
              </a:defRPr>
            </a:lvl5pPr>
            <a:lvl6pPr indent="-228600" lvl="5" marL="2743200" marR="0" rtl="0" algn="l">
              <a:lnSpc>
                <a:spcPct val="100000"/>
              </a:lnSpc>
              <a:spcBef>
                <a:spcPts val="90"/>
              </a:spcBef>
              <a:spcAft>
                <a:spcPts val="0"/>
              </a:spcAft>
              <a:buClr>
                <a:schemeClr val="dk1"/>
              </a:buClr>
              <a:buSzPts val="900"/>
              <a:buFont typeface="Times"/>
              <a:buNone/>
              <a:defRPr b="0" i="0" sz="900" u="none" cap="none" strike="noStrike">
                <a:solidFill>
                  <a:schemeClr val="dk1"/>
                </a:solidFill>
                <a:latin typeface="Arial"/>
                <a:ea typeface="Arial"/>
                <a:cs typeface="Arial"/>
                <a:sym typeface="Arial"/>
              </a:defRPr>
            </a:lvl6pPr>
            <a:lvl7pPr indent="-228600" lvl="6" marL="3200400" marR="0" rtl="0" algn="l">
              <a:lnSpc>
                <a:spcPct val="100000"/>
              </a:lnSpc>
              <a:spcBef>
                <a:spcPts val="90"/>
              </a:spcBef>
              <a:spcAft>
                <a:spcPts val="0"/>
              </a:spcAft>
              <a:buClr>
                <a:schemeClr val="dk1"/>
              </a:buClr>
              <a:buSzPts val="900"/>
              <a:buFont typeface="Times"/>
              <a:buNone/>
              <a:defRPr b="0" i="0" sz="900" u="none" cap="none" strike="noStrike">
                <a:solidFill>
                  <a:schemeClr val="dk1"/>
                </a:solidFill>
                <a:latin typeface="Arial"/>
                <a:ea typeface="Arial"/>
                <a:cs typeface="Arial"/>
                <a:sym typeface="Arial"/>
              </a:defRPr>
            </a:lvl7pPr>
            <a:lvl8pPr indent="-228600" lvl="7" marL="3657600" marR="0" rtl="0" algn="l">
              <a:lnSpc>
                <a:spcPct val="100000"/>
              </a:lnSpc>
              <a:spcBef>
                <a:spcPts val="90"/>
              </a:spcBef>
              <a:spcAft>
                <a:spcPts val="0"/>
              </a:spcAft>
              <a:buClr>
                <a:schemeClr val="dk1"/>
              </a:buClr>
              <a:buSzPts val="900"/>
              <a:buFont typeface="Times"/>
              <a:buNone/>
              <a:defRPr b="0" i="0" sz="900" u="none" cap="none" strike="noStrike">
                <a:solidFill>
                  <a:schemeClr val="dk1"/>
                </a:solidFill>
                <a:latin typeface="Arial"/>
                <a:ea typeface="Arial"/>
                <a:cs typeface="Arial"/>
                <a:sym typeface="Arial"/>
              </a:defRPr>
            </a:lvl8pPr>
            <a:lvl9pPr indent="-228600" lvl="8" marL="4114800" marR="0" rtl="0" algn="l">
              <a:lnSpc>
                <a:spcPct val="100000"/>
              </a:lnSpc>
              <a:spcBef>
                <a:spcPts val="90"/>
              </a:spcBef>
              <a:spcAft>
                <a:spcPts val="0"/>
              </a:spcAft>
              <a:buClr>
                <a:schemeClr val="dk1"/>
              </a:buClr>
              <a:buSzPts val="900"/>
              <a:buFont typeface="Times"/>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5" name="Shape 45"/>
        <p:cNvGrpSpPr/>
        <p:nvPr/>
      </p:nvGrpSpPr>
      <p:grpSpPr>
        <a:xfrm>
          <a:off x="0" y="0"/>
          <a:ext cx="0" cy="0"/>
          <a:chOff x="0" y="0"/>
          <a:chExt cx="0" cy="0"/>
        </a:xfrm>
      </p:grpSpPr>
      <p:sp>
        <p:nvSpPr>
          <p:cNvPr id="46" name="Google Shape;46;p13"/>
          <p:cNvSpPr txBox="1"/>
          <p:nvPr>
            <p:ph type="title"/>
          </p:nvPr>
        </p:nvSpPr>
        <p:spPr>
          <a:xfrm>
            <a:off x="609600" y="274638"/>
            <a:ext cx="10972800" cy="1143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9pPr>
          </a:lstStyle>
          <a:p/>
        </p:txBody>
      </p:sp>
      <p:sp>
        <p:nvSpPr>
          <p:cNvPr id="47" name="Google Shape;47;p13"/>
          <p:cNvSpPr txBox="1"/>
          <p:nvPr>
            <p:ph idx="1" type="body"/>
          </p:nvPr>
        </p:nvSpPr>
        <p:spPr>
          <a:xfrm rot="5400000">
            <a:off x="3833019" y="-1623218"/>
            <a:ext cx="4525963" cy="10972800"/>
          </a:xfrm>
          <a:prstGeom prst="rect">
            <a:avLst/>
          </a:prstGeom>
          <a:noFill/>
          <a:ln>
            <a:noFill/>
          </a:ln>
        </p:spPr>
        <p:txBody>
          <a:bodyPr anchorCtr="0" anchor="t" bIns="45700" lIns="91425" spcFirstLastPara="1" rIns="91425" wrap="square" tIns="45700">
            <a:noAutofit/>
          </a:bodyPr>
          <a:lstStyle>
            <a:lvl1pPr indent="-396240" lvl="0" marL="457200" marR="0" rtl="0" algn="l">
              <a:lnSpc>
                <a:spcPct val="100000"/>
              </a:lnSpc>
              <a:spcBef>
                <a:spcPts val="1200"/>
              </a:spcBef>
              <a:spcAft>
                <a:spcPts val="0"/>
              </a:spcAft>
              <a:buClr>
                <a:srgbClr val="24459C"/>
              </a:buClr>
              <a:buSzPts val="2640"/>
              <a:buFont typeface="Time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200"/>
              </a:spcBef>
              <a:spcAft>
                <a:spcPts val="0"/>
              </a:spcAft>
              <a:buClr>
                <a:schemeClr val="dk1"/>
              </a:buClr>
              <a:buSzPts val="2000"/>
              <a:buFont typeface="Times"/>
              <a:buChar char="–"/>
              <a:defRPr b="0" i="0" sz="2000" u="none" cap="none" strike="noStrike">
                <a:solidFill>
                  <a:schemeClr val="dk1"/>
                </a:solidFill>
                <a:latin typeface="Arial"/>
                <a:ea typeface="Arial"/>
                <a:cs typeface="Arial"/>
                <a:sym typeface="Arial"/>
              </a:defRPr>
            </a:lvl2pPr>
            <a:lvl3pPr indent="-381000" lvl="2" marL="1371600" marR="0" rtl="0" algn="l">
              <a:lnSpc>
                <a:spcPct val="100000"/>
              </a:lnSpc>
              <a:spcBef>
                <a:spcPts val="240"/>
              </a:spcBef>
              <a:spcAft>
                <a:spcPts val="0"/>
              </a:spcAft>
              <a:buClr>
                <a:schemeClr val="dk1"/>
              </a:buClr>
              <a:buSzPts val="2400"/>
              <a:buFont typeface="Times"/>
              <a:buChar char="–"/>
              <a:defRPr b="0" i="0" sz="2400" u="none" cap="none" strike="noStrike">
                <a:solidFill>
                  <a:schemeClr val="dk1"/>
                </a:solidFill>
                <a:latin typeface="Arial"/>
                <a:ea typeface="Arial"/>
                <a:cs typeface="Arial"/>
                <a:sym typeface="Arial"/>
              </a:defRPr>
            </a:lvl3pPr>
            <a:lvl4pPr indent="-330200" lvl="3" marL="1828800"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Arial"/>
                <a:ea typeface="Arial"/>
                <a:cs typeface="Arial"/>
                <a:sym typeface="Arial"/>
              </a:defRPr>
            </a:lvl4pPr>
            <a:lvl5pPr indent="-330200" lvl="4" marL="2286000"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Arial"/>
                <a:ea typeface="Arial"/>
                <a:cs typeface="Arial"/>
                <a:sym typeface="Arial"/>
              </a:defRPr>
            </a:lvl5pPr>
            <a:lvl6pPr indent="-228600" lvl="5" marL="27432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6pPr>
            <a:lvl7pPr indent="-228600" lvl="6" marL="32004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7pPr>
            <a:lvl8pPr indent="-228600" lvl="7" marL="36576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8pPr>
            <a:lvl9pPr indent="-228600" lvl="8" marL="41148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8" name="Shape 48"/>
        <p:cNvGrpSpPr/>
        <p:nvPr/>
      </p:nvGrpSpPr>
      <p:grpSpPr>
        <a:xfrm>
          <a:off x="0" y="0"/>
          <a:ext cx="0" cy="0"/>
          <a:chOff x="0" y="0"/>
          <a:chExt cx="0" cy="0"/>
        </a:xfrm>
      </p:grpSpPr>
      <p:sp>
        <p:nvSpPr>
          <p:cNvPr id="49" name="Google Shape;49;p14"/>
          <p:cNvSpPr txBox="1"/>
          <p:nvPr>
            <p:ph type="title"/>
          </p:nvPr>
        </p:nvSpPr>
        <p:spPr>
          <a:xfrm rot="5400000">
            <a:off x="7285038" y="1828802"/>
            <a:ext cx="5851525" cy="2743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9pPr>
          </a:lstStyle>
          <a:p/>
        </p:txBody>
      </p:sp>
      <p:sp>
        <p:nvSpPr>
          <p:cNvPr id="50" name="Google Shape;50;p14"/>
          <p:cNvSpPr txBox="1"/>
          <p:nvPr>
            <p:ph idx="1" type="body"/>
          </p:nvPr>
        </p:nvSpPr>
        <p:spPr>
          <a:xfrm rot="5400000">
            <a:off x="1697038" y="-812799"/>
            <a:ext cx="5851525" cy="8026400"/>
          </a:xfrm>
          <a:prstGeom prst="rect">
            <a:avLst/>
          </a:prstGeom>
          <a:noFill/>
          <a:ln>
            <a:noFill/>
          </a:ln>
        </p:spPr>
        <p:txBody>
          <a:bodyPr anchorCtr="0" anchor="t" bIns="45700" lIns="91425" spcFirstLastPara="1" rIns="91425" wrap="square" tIns="45700">
            <a:noAutofit/>
          </a:bodyPr>
          <a:lstStyle>
            <a:lvl1pPr indent="-396240" lvl="0" marL="457200" marR="0" rtl="0" algn="l">
              <a:lnSpc>
                <a:spcPct val="100000"/>
              </a:lnSpc>
              <a:spcBef>
                <a:spcPts val="1200"/>
              </a:spcBef>
              <a:spcAft>
                <a:spcPts val="0"/>
              </a:spcAft>
              <a:buClr>
                <a:srgbClr val="24459C"/>
              </a:buClr>
              <a:buSzPts val="2640"/>
              <a:buFont typeface="Time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200"/>
              </a:spcBef>
              <a:spcAft>
                <a:spcPts val="0"/>
              </a:spcAft>
              <a:buClr>
                <a:schemeClr val="dk1"/>
              </a:buClr>
              <a:buSzPts val="2000"/>
              <a:buFont typeface="Times"/>
              <a:buChar char="–"/>
              <a:defRPr b="0" i="0" sz="2000" u="none" cap="none" strike="noStrike">
                <a:solidFill>
                  <a:schemeClr val="dk1"/>
                </a:solidFill>
                <a:latin typeface="Arial"/>
                <a:ea typeface="Arial"/>
                <a:cs typeface="Arial"/>
                <a:sym typeface="Arial"/>
              </a:defRPr>
            </a:lvl2pPr>
            <a:lvl3pPr indent="-381000" lvl="2" marL="1371600" marR="0" rtl="0" algn="l">
              <a:lnSpc>
                <a:spcPct val="100000"/>
              </a:lnSpc>
              <a:spcBef>
                <a:spcPts val="240"/>
              </a:spcBef>
              <a:spcAft>
                <a:spcPts val="0"/>
              </a:spcAft>
              <a:buClr>
                <a:schemeClr val="dk1"/>
              </a:buClr>
              <a:buSzPts val="2400"/>
              <a:buFont typeface="Times"/>
              <a:buChar char="–"/>
              <a:defRPr b="0" i="0" sz="2400" u="none" cap="none" strike="noStrike">
                <a:solidFill>
                  <a:schemeClr val="dk1"/>
                </a:solidFill>
                <a:latin typeface="Arial"/>
                <a:ea typeface="Arial"/>
                <a:cs typeface="Arial"/>
                <a:sym typeface="Arial"/>
              </a:defRPr>
            </a:lvl3pPr>
            <a:lvl4pPr indent="-330200" lvl="3" marL="1828800"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Arial"/>
                <a:ea typeface="Arial"/>
                <a:cs typeface="Arial"/>
                <a:sym typeface="Arial"/>
              </a:defRPr>
            </a:lvl4pPr>
            <a:lvl5pPr indent="-330200" lvl="4" marL="2286000"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Arial"/>
                <a:ea typeface="Arial"/>
                <a:cs typeface="Arial"/>
                <a:sym typeface="Arial"/>
              </a:defRPr>
            </a:lvl5pPr>
            <a:lvl6pPr indent="-228600" lvl="5" marL="27432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6pPr>
            <a:lvl7pPr indent="-228600" lvl="6" marL="32004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7pPr>
            <a:lvl8pPr indent="-228600" lvl="7" marL="36576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8pPr>
            <a:lvl9pPr indent="-228600" lvl="8" marL="41148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51" name="Shape 51"/>
        <p:cNvGrpSpPr/>
        <p:nvPr/>
      </p:nvGrpSpPr>
      <p:grpSpPr>
        <a:xfrm>
          <a:off x="0" y="0"/>
          <a:ext cx="0" cy="0"/>
          <a:chOff x="0" y="0"/>
          <a:chExt cx="0" cy="0"/>
        </a:xfrm>
      </p:grpSpPr>
      <p:sp>
        <p:nvSpPr>
          <p:cNvPr id="52" name="Google Shape;52;p15"/>
          <p:cNvSpPr txBox="1"/>
          <p:nvPr>
            <p:ph type="title"/>
          </p:nvPr>
        </p:nvSpPr>
        <p:spPr>
          <a:xfrm>
            <a:off x="609600" y="274638"/>
            <a:ext cx="10972800" cy="1143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2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800" u="none" cap="none" strike="noStrike">
                <a:solidFill>
                  <a:srgbClr val="24459C"/>
                </a:solidFill>
                <a:latin typeface="Arial"/>
                <a:ea typeface="Arial"/>
                <a:cs typeface="Arial"/>
                <a:sym typeface="Arial"/>
              </a:defRPr>
            </a:lvl9pPr>
          </a:lstStyle>
          <a:p/>
        </p:txBody>
      </p:sp>
      <p:sp>
        <p:nvSpPr>
          <p:cNvPr id="53" name="Google Shape;53;p15"/>
          <p:cNvSpPr txBox="1"/>
          <p:nvPr>
            <p:ph idx="1" type="body"/>
          </p:nvPr>
        </p:nvSpPr>
        <p:spPr>
          <a:xfrm>
            <a:off x="609600" y="1600201"/>
            <a:ext cx="5384800" cy="4525963"/>
          </a:xfrm>
          <a:prstGeom prst="rect">
            <a:avLst/>
          </a:prstGeom>
          <a:noFill/>
          <a:ln>
            <a:noFill/>
          </a:ln>
        </p:spPr>
        <p:txBody>
          <a:bodyPr anchorCtr="0" anchor="t" bIns="45700" lIns="91425" spcFirstLastPara="1" rIns="91425" wrap="square" tIns="45700">
            <a:noAutofit/>
          </a:bodyPr>
          <a:lstStyle>
            <a:lvl1pPr indent="-396240" lvl="0" marL="457200" marR="0" rtl="0" algn="l">
              <a:lnSpc>
                <a:spcPct val="100000"/>
              </a:lnSpc>
              <a:spcBef>
                <a:spcPts val="1200"/>
              </a:spcBef>
              <a:spcAft>
                <a:spcPts val="0"/>
              </a:spcAft>
              <a:buClr>
                <a:srgbClr val="24459C"/>
              </a:buClr>
              <a:buSzPts val="2640"/>
              <a:buFont typeface="Times"/>
              <a:buChar char="•"/>
              <a:defRPr b="0" i="0" sz="2400" u="none" cap="none" strike="noStrike">
                <a:solidFill>
                  <a:schemeClr val="dk1"/>
                </a:solidFill>
                <a:latin typeface="Calibri"/>
                <a:ea typeface="Calibri"/>
                <a:cs typeface="Calibri"/>
                <a:sym typeface="Calibri"/>
              </a:defRPr>
            </a:lvl1pPr>
            <a:lvl2pPr indent="-355600" lvl="1" marL="914400" marR="0" rtl="0" algn="l">
              <a:lnSpc>
                <a:spcPct val="100000"/>
              </a:lnSpc>
              <a:spcBef>
                <a:spcPts val="200"/>
              </a:spcBef>
              <a:spcAft>
                <a:spcPts val="0"/>
              </a:spcAft>
              <a:buClr>
                <a:schemeClr val="dk1"/>
              </a:buClr>
              <a:buSzPts val="2000"/>
              <a:buFont typeface="Times"/>
              <a:buChar char="–"/>
              <a:defRPr b="0" i="0" sz="20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240"/>
              </a:spcBef>
              <a:spcAft>
                <a:spcPts val="0"/>
              </a:spcAft>
              <a:buClr>
                <a:schemeClr val="dk1"/>
              </a:buClr>
              <a:buSzPts val="2400"/>
              <a:buFont typeface="Times"/>
              <a:buChar char="–"/>
              <a:defRPr b="0" i="0" sz="24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6pPr>
            <a:lvl7pPr indent="-228600" lvl="6" marL="32004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7pPr>
            <a:lvl8pPr indent="-228600" lvl="7" marL="36576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8pPr>
            <a:lvl9pPr indent="-228600" lvl="8" marL="41148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9pPr>
          </a:lstStyle>
          <a:p/>
        </p:txBody>
      </p:sp>
      <p:sp>
        <p:nvSpPr>
          <p:cNvPr id="54" name="Google Shape;54;p15"/>
          <p:cNvSpPr txBox="1"/>
          <p:nvPr>
            <p:ph idx="2" type="body"/>
          </p:nvPr>
        </p:nvSpPr>
        <p:spPr>
          <a:xfrm>
            <a:off x="6197600" y="1600201"/>
            <a:ext cx="5384800" cy="4525963"/>
          </a:xfrm>
          <a:prstGeom prst="rect">
            <a:avLst/>
          </a:prstGeom>
          <a:noFill/>
          <a:ln>
            <a:noFill/>
          </a:ln>
        </p:spPr>
        <p:txBody>
          <a:bodyPr anchorCtr="0" anchor="t" bIns="45700" lIns="91425" spcFirstLastPara="1" rIns="91425" wrap="square" tIns="45700">
            <a:noAutofit/>
          </a:bodyPr>
          <a:lstStyle>
            <a:lvl1pPr indent="-396240" lvl="0" marL="457200" marR="0" rtl="0" algn="l">
              <a:lnSpc>
                <a:spcPct val="100000"/>
              </a:lnSpc>
              <a:spcBef>
                <a:spcPts val="1200"/>
              </a:spcBef>
              <a:spcAft>
                <a:spcPts val="0"/>
              </a:spcAft>
              <a:buClr>
                <a:srgbClr val="24459C"/>
              </a:buClr>
              <a:buSzPts val="2640"/>
              <a:buFont typeface="Times"/>
              <a:buChar char="•"/>
              <a:defRPr b="0" i="0" sz="2400" u="none" cap="none" strike="noStrike">
                <a:solidFill>
                  <a:schemeClr val="dk1"/>
                </a:solidFill>
                <a:latin typeface="Calibri"/>
                <a:ea typeface="Calibri"/>
                <a:cs typeface="Calibri"/>
                <a:sym typeface="Calibri"/>
              </a:defRPr>
            </a:lvl1pPr>
            <a:lvl2pPr indent="-355600" lvl="1" marL="914400" marR="0" rtl="0" algn="l">
              <a:lnSpc>
                <a:spcPct val="100000"/>
              </a:lnSpc>
              <a:spcBef>
                <a:spcPts val="200"/>
              </a:spcBef>
              <a:spcAft>
                <a:spcPts val="0"/>
              </a:spcAft>
              <a:buClr>
                <a:schemeClr val="dk1"/>
              </a:buClr>
              <a:buSzPts val="2000"/>
              <a:buFont typeface="Times"/>
              <a:buChar char="–"/>
              <a:defRPr b="0" i="0" sz="20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240"/>
              </a:spcBef>
              <a:spcAft>
                <a:spcPts val="0"/>
              </a:spcAft>
              <a:buClr>
                <a:schemeClr val="dk1"/>
              </a:buClr>
              <a:buSzPts val="2400"/>
              <a:buFont typeface="Times"/>
              <a:buChar char="–"/>
              <a:defRPr b="0" i="0" sz="24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160"/>
              </a:spcBef>
              <a:spcAft>
                <a:spcPts val="0"/>
              </a:spcAft>
              <a:buClr>
                <a:schemeClr val="dk1"/>
              </a:buClr>
              <a:buSzPts val="1600"/>
              <a:buFont typeface="Times"/>
              <a:buChar char="»"/>
              <a:defRPr b="0" i="0" sz="16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6pPr>
            <a:lvl7pPr indent="-228600" lvl="6" marL="32004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7pPr>
            <a:lvl8pPr indent="-228600" lvl="7" marL="36576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8pPr>
            <a:lvl9pPr indent="-228600" lvl="8" marL="4114800" marR="0" rtl="0" algn="l">
              <a:lnSpc>
                <a:spcPct val="100000"/>
              </a:lnSpc>
              <a:spcBef>
                <a:spcPts val="160"/>
              </a:spcBef>
              <a:spcAft>
                <a:spcPts val="0"/>
              </a:spcAft>
              <a:buClr>
                <a:srgbClr val="000000"/>
              </a:buClr>
              <a:buSzPts val="1400"/>
              <a:buFont typeface="Arial"/>
              <a:buNone/>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
          <p:cNvSpPr/>
          <p:nvPr/>
        </p:nvSpPr>
        <p:spPr>
          <a:xfrm>
            <a:off x="-1" y="6448426"/>
            <a:ext cx="5054601" cy="409575"/>
          </a:xfrm>
          <a:prstGeom prst="rect">
            <a:avLst/>
          </a:prstGeom>
          <a:solidFill>
            <a:srgbClr val="FFC000"/>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Helvetica Neue"/>
              <a:ea typeface="Helvetica Neue"/>
              <a:cs typeface="Helvetica Neue"/>
              <a:sym typeface="Helvetica Neue"/>
            </a:endParaRPr>
          </a:p>
        </p:txBody>
      </p:sp>
      <p:pic>
        <p:nvPicPr>
          <p:cNvPr descr="VU.png" id="11" name="Google Shape;11;p3"/>
          <p:cNvPicPr preferRelativeResize="0"/>
          <p:nvPr/>
        </p:nvPicPr>
        <p:blipFill rotWithShape="1">
          <a:blip r:embed="rId1">
            <a:alphaModFix/>
          </a:blip>
          <a:srcRect b="0" l="0" r="0" t="0"/>
          <a:stretch/>
        </p:blipFill>
        <p:spPr>
          <a:xfrm>
            <a:off x="11239928" y="71898"/>
            <a:ext cx="877430" cy="1131885"/>
          </a:xfrm>
          <a:prstGeom prst="rect">
            <a:avLst/>
          </a:prstGeom>
          <a:noFill/>
          <a:ln>
            <a:noFill/>
          </a:ln>
        </p:spPr>
      </p:pic>
      <p:sp>
        <p:nvSpPr>
          <p:cNvPr id="12" name="Google Shape;12;p3"/>
          <p:cNvSpPr/>
          <p:nvPr/>
        </p:nvSpPr>
        <p:spPr>
          <a:xfrm>
            <a:off x="5054601" y="6448426"/>
            <a:ext cx="1945216" cy="409575"/>
          </a:xfrm>
          <a:prstGeom prst="rect">
            <a:avLst/>
          </a:prstGeom>
          <a:solidFill>
            <a:schemeClr val="dk1"/>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accent1"/>
                </a:solidFill>
                <a:latin typeface="Helvetica Neue"/>
                <a:ea typeface="Helvetica Neue"/>
                <a:cs typeface="Helvetica Neue"/>
                <a:sym typeface="Helvetica Neue"/>
              </a:rPr>
              <a:t>Slide </a:t>
            </a:r>
            <a:fld id="{00000000-1234-1234-1234-123412341234}" type="slidenum">
              <a:rPr b="1" i="0" lang="en-US" sz="1400" u="none" cap="none" strike="noStrike">
                <a:solidFill>
                  <a:schemeClr val="accent1"/>
                </a:solidFill>
                <a:latin typeface="Helvetica Neue"/>
                <a:ea typeface="Helvetica Neue"/>
                <a:cs typeface="Helvetica Neue"/>
                <a:sym typeface="Helvetica Neue"/>
              </a:rPr>
              <a:t>‹#›</a:t>
            </a:fld>
            <a:endParaRPr b="1" i="0" sz="1400" u="none" cap="none" strike="noStrike">
              <a:solidFill>
                <a:schemeClr val="accent1"/>
              </a:solidFill>
              <a:latin typeface="Helvetica Neue"/>
              <a:ea typeface="Helvetica Neue"/>
              <a:cs typeface="Helvetica Neue"/>
              <a:sym typeface="Helvetica Neue"/>
            </a:endParaRPr>
          </a:p>
        </p:txBody>
      </p:sp>
      <p:sp>
        <p:nvSpPr>
          <p:cNvPr id="13" name="Google Shape;13;p3"/>
          <p:cNvSpPr/>
          <p:nvPr/>
        </p:nvSpPr>
        <p:spPr>
          <a:xfrm>
            <a:off x="6999818" y="6448426"/>
            <a:ext cx="5192183" cy="409575"/>
          </a:xfrm>
          <a:prstGeom prst="rect">
            <a:avLst/>
          </a:prstGeom>
          <a:solidFill>
            <a:srgbClr val="FFC000"/>
          </a:solidFill>
          <a:ln cap="flat" cmpd="sng" w="9525">
            <a:solidFill>
              <a:schemeClr val="dk1"/>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Helvetica Neue"/>
                <a:ea typeface="Helvetica Neue"/>
                <a:cs typeface="Helvetica Neue"/>
                <a:sym typeface="Helvetica Neue"/>
              </a:rPr>
              <a:t>Vanderbilt University</a:t>
            </a:r>
            <a:endParaRPr b="0" i="0" sz="1400" u="none" cap="none" strike="noStrike">
              <a:solidFill>
                <a:srgbClr val="000000"/>
              </a:solidFill>
              <a:latin typeface="Arial"/>
              <a:ea typeface="Arial"/>
              <a:cs typeface="Arial"/>
              <a:sym typeface="Arial"/>
            </a:endParaRPr>
          </a:p>
        </p:txBody>
      </p:sp>
      <p:pic>
        <p:nvPicPr>
          <p:cNvPr descr="Image preview" id="14" name="Google Shape;14;p3"/>
          <p:cNvPicPr preferRelativeResize="0"/>
          <p:nvPr/>
        </p:nvPicPr>
        <p:blipFill rotWithShape="1">
          <a:blip r:embed="rId2">
            <a:alphaModFix/>
          </a:blip>
          <a:srcRect b="0" l="0" r="0" t="0"/>
          <a:stretch/>
        </p:blipFill>
        <p:spPr>
          <a:xfrm>
            <a:off x="9943734" y="71898"/>
            <a:ext cx="1123178" cy="113188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NTSB Project Update July 21st, 2026</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Today's Meeting</a:t>
            </a:r>
          </a:p>
        </p:txBody>
      </p:sp>
      <p:sp>
        <p:nvSpPr>
          <p:cNvPr id="3" name="Text Placeholder 2"/>
          <p:cNvSpPr>
            <a:spLocks noGrp="1"/>
          </p:cNvSpPr>
          <p:nvPr>
            <p:ph type="body" idx="1"/>
          </p:nvPr>
        </p:nvSpPr>
        <p:spPr/>
        <p:txBody>
          <a:bodyPr/>
          <a:lstStyle/>
          <a:p>
            <a:pPr/>
            <a:r>
              <a:rPr b="1"/>
              <a:t>Your question last time: how do the narratives and the query actually connect to all of this?</a:t>
            </a:r>
          </a:p>
          <a:p>
            <a:pPr/>
            <a:r>
              <a:t/>
            </a:r>
          </a:p>
          <a:p>
            <a:pPr/>
            <a:r>
              <a:t>Today is that answer, end to end:</a:t>
            </a:r>
          </a:p>
          <a:p>
            <a:pPr/>
            <a:r>
              <a:t>One picture of the whole system</a:t>
            </a:r>
          </a:p>
          <a:p>
            <a:pPr/>
            <a:r>
              <a:t>The journey of one typed sentence: embedding, clusters, weights, law of total probability</a:t>
            </a:r>
          </a:p>
          <a:p>
            <a:pPr/>
            <a:r>
              <a:t>The same sentence driving the network: parsed facts, evidence, propagation</a:t>
            </a:r>
          </a:p>
          <a:p>
            <a:pPr/>
            <a:r>
              <a:t>Who reads the text: a deterministic parser, and an LLM when the wording only describes</a:t>
            </a:r>
          </a:p>
          <a:p>
            <a:pPr/>
            <a:r>
              <a:t>One real accident walked through the whole pipeline</a:t>
            </a:r>
          </a:p>
          <a:p>
            <a:pPr/>
            <a:r>
              <a:t>Proof on 296 accidents the system never saw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one picture: two moments in time</a:t>
            </a:r>
          </a:p>
        </p:txBody>
      </p:sp>
      <p:sp>
        <p:nvSpPr>
          <p:cNvPr id="3" name="Text Placeholder 2"/>
          <p:cNvSpPr>
            <a:spLocks noGrp="1"/>
          </p:cNvSpPr>
          <p:nvPr>
            <p:ph type="body" idx="1"/>
          </p:nvPr>
        </p:nvSpPr>
        <p:spPr/>
        <p:txBody>
          <a:bodyPr/>
          <a:lstStyle/>
          <a:p/>
        </p:txBody>
      </p:sp>
      <p:pic>
        <p:nvPicPr>
          <p:cNvPr id="4" name="Picture 3" descr="narrative_to_bn_architecture.png"/>
          <p:cNvPicPr>
            <a:picLocks noChangeAspect="1"/>
          </p:cNvPicPr>
          <p:nvPr/>
        </p:nvPicPr>
        <p:blipFill>
          <a:blip r:embed="rId3"/>
          <a:stretch>
            <a:fillRect/>
          </a:stretch>
        </p:blipFill>
        <p:spPr>
          <a:xfrm>
            <a:off x="2148840" y="1325880"/>
            <a:ext cx="7801023" cy="5303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1: from a sentence to similar accidents</a:t>
            </a:r>
          </a:p>
        </p:txBody>
      </p:sp>
      <p:sp>
        <p:nvSpPr>
          <p:cNvPr id="3" name="Text Placeholder 2"/>
          <p:cNvSpPr>
            <a:spLocks noGrp="1"/>
          </p:cNvSpPr>
          <p:nvPr>
            <p:ph type="body" idx="1"/>
          </p:nvPr>
        </p:nvSpPr>
        <p:spPr/>
        <p:txBody>
          <a:bodyPr/>
          <a:lstStyle/>
          <a:p>
            <a:pPr/>
            <a:r>
              <a:t>You type: 'engine caught fire during takeoff'</a:t>
            </a:r>
          </a:p>
          <a:p>
            <a:pPr/>
            <a:r>
              <a:t>The sentence becomes an embedding: a list of numbers that captures its meaning</a:t>
            </a:r>
          </a:p>
          <a:p>
            <a:pPr/>
            <a:r>
              <a:t>Every accident narrative in our database was turned into the same kind of numbers, once, ahead of time</a:t>
            </a:r>
          </a:p>
          <a:p>
            <a:pPr/>
            <a:r>
              <a:t>Similar meaning gives nearby numbers</a:t>
            </a:r>
          </a:p>
          <a:p>
            <a:pPr/>
            <a:r>
              <a:rPr b="1"/>
              <a:t>So we can score EVERY accident by how similar it is to your sentence</a:t>
            </a:r>
          </a:p>
          <a:p>
            <a:pPr/>
            <a:r>
              <a:t>No keywords, no exact matching: 'flames from the cowling' still finds the fire accidents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2: clusters, weights, and the law of total probability</a:t>
            </a:r>
          </a:p>
        </p:txBody>
      </p:sp>
      <p:sp>
        <p:nvSpPr>
          <p:cNvPr id="3" name="Text Placeholder 2"/>
          <p:cNvSpPr>
            <a:spLocks noGrp="1"/>
          </p:cNvSpPr>
          <p:nvPr>
            <p:ph type="body" idx="1"/>
          </p:nvPr>
        </p:nvSpPr>
        <p:spPr/>
        <p:txBody>
          <a:bodyPr/>
          <a:lstStyle/>
          <a:p>
            <a:pPr/>
            <a:r>
              <a:t>The accidents are grouped into clusters: families of accidents that resemble each other</a:t>
            </a:r>
          </a:p>
          <a:p>
            <a:pPr/>
            <a:r>
              <a:t>Inside each cluster we COUNT, exactly Zhang's way: P(cause | cluster)</a:t>
            </a:r>
          </a:p>
          <a:p>
            <a:pPr/>
            <a:r>
              <a:t>Your query hands each cluster a weight: how much of the similarity points there</a:t>
            </a:r>
          </a:p>
          <a:p>
            <a:pPr/>
            <a:r>
              <a:t>Law of total probability stitches it together:</a:t>
            </a:r>
          </a:p>
          <a:p>
            <a:pPr lvl="1"/>
            <a:r>
              <a:rPr b="1"/>
              <a:t>P(cause | query) = sum over clusters of P(cause | cluster) x weight(cluster)</a:t>
            </a:r>
          </a:p>
          <a:p>
            <a:pPr/>
            <a:r>
              <a:t>Plain words: each family of accidents votes, and your query decides how loud each vote 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trust check: turn the query off, get his table back</a:t>
            </a:r>
          </a:p>
        </p:txBody>
      </p:sp>
      <p:sp>
        <p:nvSpPr>
          <p:cNvPr id="3" name="Text Placeholder 2"/>
          <p:cNvSpPr>
            <a:spLocks noGrp="1"/>
          </p:cNvSpPr>
          <p:nvPr>
            <p:ph type="body" idx="1"/>
          </p:nvPr>
        </p:nvSpPr>
        <p:spPr/>
        <p:txBody>
          <a:bodyPr/>
          <a:lstStyle/>
          <a:p/>
        </p:txBody>
      </p:sp>
      <p:graphicFrame>
        <p:nvGraphicFramePr>
          <p:cNvPr id="4" name="Table 3"/>
          <p:cNvGraphicFramePr>
            <a:graphicFrameLocks noGrp="1"/>
          </p:cNvGraphicFramePr>
          <p:nvPr/>
        </p:nvGraphicFramePr>
        <p:xfrm>
          <a:off x="822960" y="1554480"/>
          <a:ext cx="10424160" cy="2560320"/>
        </p:xfrm>
        <a:graphic>
          <a:graphicData uri="http://schemas.openxmlformats.org/drawingml/2006/table">
            <a:tbl>
              <a:tblPr firstRow="1" bandRow="1">
                <a:tableStyleId>{5C22544A-7EE6-4342-B048-85BDC9FD1C3A}</a:tableStyleId>
              </a:tblPr>
              <a:tblGrid>
                <a:gridCol w="4754880"/>
                <a:gridCol w="2743200"/>
                <a:gridCol w="2926080"/>
              </a:tblGrid>
              <a:tr h="512064">
                <a:tc>
                  <a:txBody>
                    <a:bodyPr/>
                    <a:lstStyle/>
                    <a:p>
                      <a:r>
                        <a:rPr sz="1400" b="1">
                          <a:solidFill>
                            <a:srgbClr val="000000"/>
                          </a:solidFill>
                        </a:rPr>
                        <a:t>P(cause | fire), sample rows</a:t>
                      </a:r>
                    </a:p>
                  </a:txBody>
                  <a:tcPr/>
                </a:tc>
                <a:tc>
                  <a:txBody>
                    <a:bodyPr/>
                    <a:lstStyle/>
                    <a:p>
                      <a:r>
                        <a:rPr sz="1400" b="1">
                          <a:solidFill>
                            <a:srgbClr val="000000"/>
                          </a:solidFill>
                        </a:rPr>
                        <a:t>Zhang Table 7</a:t>
                      </a:r>
                    </a:p>
                  </a:txBody>
                  <a:tcPr/>
                </a:tc>
                <a:tc>
                  <a:txBody>
                    <a:bodyPr/>
                    <a:lstStyle/>
                    <a:p>
                      <a:r>
                        <a:rPr sz="1400" b="1">
                          <a:solidFill>
                            <a:srgbClr val="000000"/>
                          </a:solidFill>
                        </a:rPr>
                        <a:t>Our formula, neutral weights</a:t>
                      </a:r>
                    </a:p>
                  </a:txBody>
                  <a:tcPr/>
                </a:tc>
              </a:tr>
              <a:tr h="512064">
                <a:tc>
                  <a:txBody>
                    <a:bodyPr/>
                    <a:lstStyle/>
                    <a:p>
                      <a:r>
                        <a:rPr sz="1400">
                          <a:solidFill>
                            <a:srgbClr val="000000"/>
                          </a:solidFill>
                        </a:rPr>
                        <a:t>airframe/component/system failure</a:t>
                      </a:r>
                    </a:p>
                  </a:txBody>
                  <a:tcPr/>
                </a:tc>
                <a:tc>
                  <a:txBody>
                    <a:bodyPr/>
                    <a:lstStyle/>
                    <a:p>
                      <a:r>
                        <a:rPr sz="1400">
                          <a:solidFill>
                            <a:srgbClr val="000000"/>
                          </a:solidFill>
                        </a:rPr>
                        <a:t>0.3137  (32/102)</a:t>
                      </a:r>
                    </a:p>
                  </a:txBody>
                  <a:tcPr/>
                </a:tc>
                <a:tc>
                  <a:txBody>
                    <a:bodyPr/>
                    <a:lstStyle/>
                    <a:p>
                      <a:r>
                        <a:rPr sz="1400">
                          <a:solidFill>
                            <a:srgbClr val="000000"/>
                          </a:solidFill>
                        </a:rPr>
                        <a:t>0.3137  (32/102)</a:t>
                      </a:r>
                    </a:p>
                  </a:txBody>
                  <a:tcPr/>
                </a:tc>
              </a:tr>
              <a:tr h="512064">
                <a:tc>
                  <a:txBody>
                    <a:bodyPr/>
                    <a:lstStyle/>
                    <a:p>
                      <a:r>
                        <a:rPr sz="1400">
                          <a:solidFill>
                            <a:srgbClr val="000000"/>
                          </a:solidFill>
                        </a:rPr>
                        <a:t>electrical system, electric wiring</a:t>
                      </a:r>
                    </a:p>
                  </a:txBody>
                  <a:tcPr/>
                </a:tc>
                <a:tc>
                  <a:txBody>
                    <a:bodyPr/>
                    <a:lstStyle/>
                    <a:p>
                      <a:r>
                        <a:rPr sz="1400">
                          <a:solidFill>
                            <a:srgbClr val="000000"/>
                          </a:solidFill>
                        </a:rPr>
                        <a:t>0.0882  (9/102)</a:t>
                      </a:r>
                    </a:p>
                  </a:txBody>
                  <a:tcPr/>
                </a:tc>
                <a:tc>
                  <a:txBody>
                    <a:bodyPr/>
                    <a:lstStyle/>
                    <a:p>
                      <a:r>
                        <a:rPr sz="1400">
                          <a:solidFill>
                            <a:srgbClr val="000000"/>
                          </a:solidFill>
                        </a:rPr>
                        <a:t>0.0882  (9/102)</a:t>
                      </a:r>
                    </a:p>
                  </a:txBody>
                  <a:tcPr/>
                </a:tc>
              </a:tr>
              <a:tr h="512064">
                <a:tc>
                  <a:txBody>
                    <a:bodyPr/>
                    <a:lstStyle/>
                    <a:p>
                      <a:r>
                        <a:rPr sz="1400">
                          <a:solidFill>
                            <a:srgbClr val="000000"/>
                          </a:solidFill>
                        </a:rPr>
                        <a:t>loss of engine power (total)</a:t>
                      </a:r>
                    </a:p>
                  </a:txBody>
                  <a:tcPr/>
                </a:tc>
                <a:tc>
                  <a:txBody>
                    <a:bodyPr/>
                    <a:lstStyle/>
                    <a:p>
                      <a:r>
                        <a:rPr sz="1400">
                          <a:solidFill>
                            <a:srgbClr val="000000"/>
                          </a:solidFill>
                        </a:rPr>
                        <a:t>0.0882  (9/102)</a:t>
                      </a:r>
                    </a:p>
                  </a:txBody>
                  <a:tcPr/>
                </a:tc>
                <a:tc>
                  <a:txBody>
                    <a:bodyPr/>
                    <a:lstStyle/>
                    <a:p>
                      <a:r>
                        <a:rPr sz="1400">
                          <a:solidFill>
                            <a:srgbClr val="000000"/>
                          </a:solidFill>
                        </a:rPr>
                        <a:t>0.0882  (9/102)</a:t>
                      </a:r>
                    </a:p>
                  </a:txBody>
                  <a:tcPr/>
                </a:tc>
              </a:tr>
              <a:tr h="512064">
                <a:tc>
                  <a:txBody>
                    <a:bodyPr/>
                    <a:lstStyle/>
                    <a:p>
                      <a:r>
                        <a:rPr sz="1400">
                          <a:solidFill>
                            <a:srgbClr val="000000"/>
                          </a:solidFill>
                        </a:rPr>
                        <a:t>fluid, fuel</a:t>
                      </a:r>
                    </a:p>
                  </a:txBody>
                  <a:tcPr/>
                </a:tc>
                <a:tc>
                  <a:txBody>
                    <a:bodyPr/>
                    <a:lstStyle/>
                    <a:p>
                      <a:r>
                        <a:rPr sz="1400">
                          <a:solidFill>
                            <a:srgbClr val="000000"/>
                          </a:solidFill>
                        </a:rPr>
                        <a:t>0.0588  (6/102)</a:t>
                      </a:r>
                    </a:p>
                  </a:txBody>
                  <a:tcPr/>
                </a:tc>
                <a:tc>
                  <a:txBody>
                    <a:bodyPr/>
                    <a:lstStyle/>
                    <a:p>
                      <a:r>
                        <a:rPr sz="1400">
                          <a:solidFill>
                            <a:srgbClr val="000000"/>
                          </a:solidFill>
                        </a:rPr>
                        <a:t>0.0588  (6/102)</a:t>
                      </a:r>
                    </a:p>
                  </a:txBody>
                  <a:tcPr/>
                </a:tc>
              </a:tr>
            </a:tbl>
          </a:graphicData>
        </a:graphic>
      </p:graphicFrame>
      <p:sp>
        <p:nvSpPr>
          <p:cNvPr id="5" name="TextBox 4"/>
          <p:cNvSpPr txBox="1"/>
          <p:nvPr/>
        </p:nvSpPr>
        <p:spPr>
          <a:xfrm>
            <a:off x="822960" y="4480560"/>
            <a:ext cx="10515600" cy="822960"/>
          </a:xfrm>
          <a:prstGeom prst="rect">
            <a:avLst/>
          </a:prstGeom>
          <a:noFill/>
        </p:spPr>
        <p:txBody>
          <a:bodyPr wrap="square">
            <a:spAutoFit/>
          </a:bodyPr>
          <a:lstStyle/>
          <a:p>
            <a:r>
              <a:rPr sz="1700" b="1"/>
              <a:t>Neutral weights return Table 7 exactly, all 85 cells. Zhang is the special case of our formula.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3: the same sentence can also drive the network</a:t>
            </a:r>
          </a:p>
        </p:txBody>
      </p:sp>
      <p:sp>
        <p:nvSpPr>
          <p:cNvPr id="3" name="Text Placeholder 2"/>
          <p:cNvSpPr>
            <a:spLocks noGrp="1"/>
          </p:cNvSpPr>
          <p:nvPr>
            <p:ph type="body" idx="1"/>
          </p:nvPr>
        </p:nvSpPr>
        <p:spPr/>
        <p:txBody>
          <a:bodyPr/>
          <a:lstStyle/>
          <a:p>
            <a:pPr/>
            <a:r>
              <a:t>Counting answers one conditional at a time; the network handles several facts at once</a:t>
            </a:r>
          </a:p>
          <a:p>
            <a:pPr/>
            <a:r>
              <a:t>So the sentence is parsed into structured facts, three kinds:</a:t>
            </a:r>
          </a:p>
          <a:p>
            <a:pPr lvl="1"/>
            <a:r>
              <a:t>HARD: facts named in NTSB vocabulary ('loss of engine power') are set to present, 100%. Deterministic, reproducible</a:t>
            </a:r>
          </a:p>
          <a:p>
            <a:pPr lvl="1"/>
            <a:r>
              <a:t>SOFT: when the wording only DESCRIBES a fact, an LLM maps the description to the vocabulary ('the gauges were giving bad readings' is the engine instrument node)</a:t>
            </a:r>
          </a:p>
          <a:p>
            <a:pPr lvl="1"/>
            <a:r>
              <a:t>Every LLM-proposed fact enters at a strength MEASURED from the 100 most-similar accidents, never at the LLM's own confidence</a:t>
            </a:r>
          </a:p>
          <a:p>
            <a:pPr lvl="1"/>
            <a:r>
              <a:t>STATED severity: 'sustained substantial damage' enters weighted by how reliable that phrasing historically is</a:t>
            </a:r>
          </a:p>
          <a:p>
            <a:pPr/>
            <a:r>
              <a:rPr b="1"/>
              <a:t>The facts are placed as evidence and the network propagates them all at once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 reads the text: two readers, one rule</a:t>
            </a:r>
          </a:p>
        </p:txBody>
      </p:sp>
      <p:sp>
        <p:nvSpPr>
          <p:cNvPr id="3" name="Text Placeholder 2"/>
          <p:cNvSpPr>
            <a:spLocks noGrp="1"/>
          </p:cNvSpPr>
          <p:nvPr>
            <p:ph type="body" idx="1"/>
          </p:nvPr>
        </p:nvSpPr>
        <p:spPr/>
        <p:txBody>
          <a:bodyPr/>
          <a:lstStyle/>
          <a:p>
            <a:pPr/>
            <a:r>
              <a:t>Reader 1, the deterministic parser: fires when the text NAMES a fact from the vocabulary. Exact, reproducible, free</a:t>
            </a:r>
          </a:p>
          <a:p>
            <a:pPr/>
            <a:r>
              <a:t>Reader 2, the LLM: fires only when the text DESCRIBES a fact without naming it</a:t>
            </a:r>
          </a:p>
          <a:p>
            <a:pPr lvl="1"/>
            <a:r>
              <a:t>'the first officer's windshield cracking' becomes the window node</a:t>
            </a:r>
          </a:p>
          <a:p>
            <a:pPr/>
            <a:r>
              <a:t>On 296 real narratives: 176 resolved by reader 1, 120 needed the LLM</a:t>
            </a:r>
          </a:p>
          <a:p>
            <a:pPr/>
            <a:r>
              <a:rPr b="1"/>
              <a:t>The one rule: the LLM picks WHICH facts, the data decides HOW STRONGLY, the network does the reasoning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faithfulness check: typed sentence = clicked evidence</a:t>
            </a:r>
          </a:p>
        </p:txBody>
      </p:sp>
      <p:sp>
        <p:nvSpPr>
          <p:cNvPr id="3" name="Text Placeholder 2"/>
          <p:cNvSpPr>
            <a:spLocks noGrp="1"/>
          </p:cNvSpPr>
          <p:nvPr>
            <p:ph type="body" idx="1"/>
          </p:nvPr>
        </p:nvSpPr>
        <p:spPr/>
        <p:txBody>
          <a:bodyPr/>
          <a:lstStyle/>
          <a:p/>
        </p:txBody>
      </p:sp>
      <p:graphicFrame>
        <p:nvGraphicFramePr>
          <p:cNvPr id="4" name="Table 3"/>
          <p:cNvGraphicFramePr>
            <a:graphicFrameLocks noGrp="1"/>
          </p:cNvGraphicFramePr>
          <p:nvPr/>
        </p:nvGraphicFramePr>
        <p:xfrm>
          <a:off x="822960" y="1508760"/>
          <a:ext cx="10424160" cy="2651760"/>
        </p:xfrm>
        <a:graphic>
          <a:graphicData uri="http://schemas.openxmlformats.org/drawingml/2006/table">
            <a:tbl>
              <a:tblPr firstRow="1" bandRow="1">
                <a:tableStyleId>{5C22544A-7EE6-4342-B048-85BDC9FD1C3A}</a:tableStyleId>
              </a:tblPr>
              <a:tblGrid>
                <a:gridCol w="5120640"/>
                <a:gridCol w="1737360"/>
                <a:gridCol w="1737360"/>
                <a:gridCol w="1828800"/>
              </a:tblGrid>
              <a:tr h="530352">
                <a:tc>
                  <a:txBody>
                    <a:bodyPr/>
                    <a:lstStyle/>
                    <a:p>
                      <a:r>
                        <a:rPr sz="1400" b="1">
                          <a:solidFill>
                            <a:srgbClr val="000000"/>
                          </a:solidFill>
                        </a:rPr>
                        <a:t>Sentence: 'trouble with an engine instrument'</a:t>
                      </a:r>
                    </a:p>
                  </a:txBody>
                  <a:tcPr/>
                </a:tc>
                <a:tc>
                  <a:txBody>
                    <a:bodyPr/>
                    <a:lstStyle/>
                    <a:p>
                      <a:r>
                        <a:rPr sz="1400" b="1">
                          <a:solidFill>
                            <a:srgbClr val="000000"/>
                          </a:solidFill>
                        </a:rPr>
                        <a:t>Zhang</a:t>
                      </a:r>
                    </a:p>
                  </a:txBody>
                  <a:tcPr/>
                </a:tc>
                <a:tc>
                  <a:txBody>
                    <a:bodyPr/>
                    <a:lstStyle/>
                    <a:p>
                      <a:r>
                        <a:rPr sz="1400" b="1">
                          <a:solidFill>
                            <a:srgbClr val="000000"/>
                          </a:solidFill>
                        </a:rPr>
                        <a:t>Clicked</a:t>
                      </a:r>
                    </a:p>
                  </a:txBody>
                  <a:tcPr/>
                </a:tc>
                <a:tc>
                  <a:txBody>
                    <a:bodyPr/>
                    <a:lstStyle/>
                    <a:p>
                      <a:r>
                        <a:rPr sz="1400" b="1">
                          <a:solidFill>
                            <a:srgbClr val="000000"/>
                          </a:solidFill>
                        </a:rPr>
                        <a:t>Typed</a:t>
                      </a:r>
                    </a:p>
                  </a:txBody>
                  <a:tcPr/>
                </a:tc>
              </a:tr>
              <a:tr h="530352">
                <a:tc>
                  <a:txBody>
                    <a:bodyPr/>
                    <a:lstStyle/>
                    <a:p>
                      <a:r>
                        <a:rPr sz="1400">
                          <a:solidFill>
                            <a:srgbClr val="000000"/>
                          </a:solidFill>
                        </a:rPr>
                        <a:t>P(loss of engine power)</a:t>
                      </a:r>
                    </a:p>
                  </a:txBody>
                  <a:tcPr/>
                </a:tc>
                <a:tc>
                  <a:txBody>
                    <a:bodyPr/>
                    <a:lstStyle/>
                    <a:p>
                      <a:r>
                        <a:rPr sz="1400">
                          <a:solidFill>
                            <a:srgbClr val="000000"/>
                          </a:solidFill>
                        </a:rPr>
                        <a:t>0.95</a:t>
                      </a:r>
                    </a:p>
                  </a:txBody>
                  <a:tcPr/>
                </a:tc>
                <a:tc>
                  <a:txBody>
                    <a:bodyPr/>
                    <a:lstStyle/>
                    <a:p>
                      <a:r>
                        <a:rPr sz="1400">
                          <a:solidFill>
                            <a:srgbClr val="000000"/>
                          </a:solidFill>
                        </a:rPr>
                        <a:t>0.9502</a:t>
                      </a:r>
                    </a:p>
                  </a:txBody>
                  <a:tcPr/>
                </a:tc>
                <a:tc>
                  <a:txBody>
                    <a:bodyPr/>
                    <a:lstStyle/>
                    <a:p>
                      <a:r>
                        <a:rPr sz="1400">
                          <a:solidFill>
                            <a:srgbClr val="000000"/>
                          </a:solidFill>
                        </a:rPr>
                        <a:t>0.9502</a:t>
                      </a:r>
                    </a:p>
                  </a:txBody>
                  <a:tcPr/>
                </a:tc>
              </a:tr>
              <a:tr h="530352">
                <a:tc>
                  <a:txBody>
                    <a:bodyPr/>
                    <a:lstStyle/>
                    <a:p>
                      <a:r>
                        <a:rPr sz="1400">
                          <a:solidFill>
                            <a:srgbClr val="000000"/>
                          </a:solidFill>
                        </a:rPr>
                        <a:t>P(forced landing)</a:t>
                      </a:r>
                    </a:p>
                  </a:txBody>
                  <a:tcPr/>
                </a:tc>
                <a:tc>
                  <a:txBody>
                    <a:bodyPr/>
                    <a:lstStyle/>
                    <a:p>
                      <a:r>
                        <a:rPr sz="1400">
                          <a:solidFill>
                            <a:srgbClr val="000000"/>
                          </a:solidFill>
                        </a:rPr>
                        <a:t>0.1357</a:t>
                      </a:r>
                    </a:p>
                  </a:txBody>
                  <a:tcPr/>
                </a:tc>
                <a:tc>
                  <a:txBody>
                    <a:bodyPr/>
                    <a:lstStyle/>
                    <a:p>
                      <a:r>
                        <a:rPr sz="1400">
                          <a:solidFill>
                            <a:srgbClr val="000000"/>
                          </a:solidFill>
                        </a:rPr>
                        <a:t>0.1357</a:t>
                      </a:r>
                    </a:p>
                  </a:txBody>
                  <a:tcPr/>
                </a:tc>
                <a:tc>
                  <a:txBody>
                    <a:bodyPr/>
                    <a:lstStyle/>
                    <a:p>
                      <a:r>
                        <a:rPr sz="1400">
                          <a:solidFill>
                            <a:srgbClr val="000000"/>
                          </a:solidFill>
                        </a:rPr>
                        <a:t>0.1357</a:t>
                      </a:r>
                    </a:p>
                  </a:txBody>
                  <a:tcPr/>
                </a:tc>
              </a:tr>
              <a:tr h="530352">
                <a:tc>
                  <a:txBody>
                    <a:bodyPr/>
                    <a:lstStyle/>
                    <a:p>
                      <a:r>
                        <a:rPr sz="1400">
                          <a:solidFill>
                            <a:srgbClr val="000000"/>
                          </a:solidFill>
                        </a:rPr>
                        <a:t>P(gear collapsed)</a:t>
                      </a:r>
                    </a:p>
                  </a:txBody>
                  <a:tcPr/>
                </a:tc>
                <a:tc>
                  <a:txBody>
                    <a:bodyPr/>
                    <a:lstStyle/>
                    <a:p>
                      <a:r>
                        <a:rPr sz="1400">
                          <a:solidFill>
                            <a:srgbClr val="000000"/>
                          </a:solidFill>
                        </a:rPr>
                        <a:t>0.0096</a:t>
                      </a:r>
                    </a:p>
                  </a:txBody>
                  <a:tcPr/>
                </a:tc>
                <a:tc>
                  <a:txBody>
                    <a:bodyPr/>
                    <a:lstStyle/>
                    <a:p>
                      <a:r>
                        <a:rPr sz="1400">
                          <a:solidFill>
                            <a:srgbClr val="000000"/>
                          </a:solidFill>
                        </a:rPr>
                        <a:t>0.0082</a:t>
                      </a:r>
                    </a:p>
                  </a:txBody>
                  <a:tcPr/>
                </a:tc>
                <a:tc>
                  <a:txBody>
                    <a:bodyPr/>
                    <a:lstStyle/>
                    <a:p>
                      <a:r>
                        <a:rPr sz="1400">
                          <a:solidFill>
                            <a:srgbClr val="000000"/>
                          </a:solidFill>
                        </a:rPr>
                        <a:t>0.0082</a:t>
                      </a:r>
                    </a:p>
                  </a:txBody>
                  <a:tcPr/>
                </a:tc>
              </a:tr>
              <a:tr h="530352">
                <a:tc>
                  <a:txBody>
                    <a:bodyPr/>
                    <a:lstStyle/>
                    <a:p>
                      <a:r>
                        <a:rPr sz="1400">
                          <a:solidFill>
                            <a:srgbClr val="000000"/>
                          </a:solidFill>
                        </a:rPr>
                        <a:t>P(no injury)</a:t>
                      </a:r>
                    </a:p>
                  </a:txBody>
                  <a:tcPr/>
                </a:tc>
                <a:tc>
                  <a:txBody>
                    <a:bodyPr/>
                    <a:lstStyle/>
                    <a:p>
                      <a:r>
                        <a:rPr sz="1400">
                          <a:solidFill>
                            <a:srgbClr val="000000"/>
                          </a:solidFill>
                        </a:rPr>
                        <a:t>0.9431</a:t>
                      </a:r>
                    </a:p>
                  </a:txBody>
                  <a:tcPr/>
                </a:tc>
                <a:tc>
                  <a:txBody>
                    <a:bodyPr/>
                    <a:lstStyle/>
                    <a:p>
                      <a:r>
                        <a:rPr sz="1400">
                          <a:solidFill>
                            <a:srgbClr val="000000"/>
                          </a:solidFill>
                        </a:rPr>
                        <a:t>0.8890</a:t>
                      </a:r>
                    </a:p>
                  </a:txBody>
                  <a:tcPr/>
                </a:tc>
                <a:tc>
                  <a:txBody>
                    <a:bodyPr/>
                    <a:lstStyle/>
                    <a:p>
                      <a:r>
                        <a:rPr sz="1400">
                          <a:solidFill>
                            <a:srgbClr val="000000"/>
                          </a:solidFill>
                        </a:rPr>
                        <a:t>0.8890</a:t>
                      </a:r>
                    </a:p>
                  </a:txBody>
                  <a:tcPr/>
                </a:tc>
              </a:tr>
            </a:tbl>
          </a:graphicData>
        </a:graphic>
      </p:graphicFrame>
      <p:sp>
        <p:nvSpPr>
          <p:cNvPr id="5" name="TextBox 4"/>
          <p:cNvSpPr txBox="1"/>
          <p:nvPr/>
        </p:nvSpPr>
        <p:spPr>
          <a:xfrm>
            <a:off x="822960" y="4572000"/>
            <a:ext cx="10515600" cy="822960"/>
          </a:xfrm>
          <a:prstGeom prst="rect">
            <a:avLst/>
          </a:prstGeom>
          <a:noFill/>
        </p:spPr>
        <p:txBody>
          <a:bodyPr wrap="square">
            <a:spAutoFit/>
          </a:bodyPr>
          <a:lstStyle/>
          <a:p>
            <a:r>
              <a:rPr sz="1700" b="1"/>
              <a:t>Typed sentence and clicked evidence produce identical numbers. The narrative is a faithful front door.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do we know the match is earned? We tried to break it</a:t>
            </a:r>
          </a:p>
        </p:txBody>
      </p:sp>
      <p:sp>
        <p:nvSpPr>
          <p:cNvPr id="3" name="Text Placeholder 2"/>
          <p:cNvSpPr>
            <a:spLocks noGrp="1"/>
          </p:cNvSpPr>
          <p:nvPr>
            <p:ph type="body" idx="1"/>
          </p:nvPr>
        </p:nvSpPr>
        <p:spPr/>
        <p:txBody>
          <a:bodyPr/>
          <a:lstStyle/>
          <a:p/>
        </p:txBody>
      </p:sp>
      <p:graphicFrame>
        <p:nvGraphicFramePr>
          <p:cNvPr id="4" name="Table 3"/>
          <p:cNvGraphicFramePr>
            <a:graphicFrameLocks noGrp="1"/>
          </p:cNvGraphicFramePr>
          <p:nvPr/>
        </p:nvGraphicFramePr>
        <p:xfrm>
          <a:off x="822960" y="1600200"/>
          <a:ext cx="10424160" cy="2194560"/>
        </p:xfrm>
        <a:graphic>
          <a:graphicData uri="http://schemas.openxmlformats.org/drawingml/2006/table">
            <a:tbl>
              <a:tblPr firstRow="1" bandRow="1">
                <a:tableStyleId>{5C22544A-7EE6-4342-B048-85BDC9FD1C3A}</a:tableStyleId>
              </a:tblPr>
              <a:tblGrid>
                <a:gridCol w="5120640"/>
                <a:gridCol w="3566160"/>
                <a:gridCol w="1737360"/>
              </a:tblGrid>
              <a:tr h="548640">
                <a:tc>
                  <a:txBody>
                    <a:bodyPr/>
                    <a:lstStyle/>
                    <a:p>
                      <a:r>
                        <a:rPr sz="1500" b="1">
                          <a:solidFill>
                            <a:srgbClr val="000000"/>
                          </a:solidFill>
                        </a:rPr>
                        <a:t>What we fed the parser</a:t>
                      </a:r>
                    </a:p>
                  </a:txBody>
                  <a:tcPr/>
                </a:tc>
                <a:tc>
                  <a:txBody>
                    <a:bodyPr/>
                    <a:lstStyle/>
                    <a:p>
                      <a:r>
                        <a:rPr sz="1500" b="1">
                          <a:solidFill>
                            <a:srgbClr val="000000"/>
                          </a:solidFill>
                        </a:rPr>
                        <a:t>What came out</a:t>
                      </a:r>
                    </a:p>
                  </a:txBody>
                  <a:tcPr/>
                </a:tc>
                <a:tc>
                  <a:txBody>
                    <a:bodyPr/>
                    <a:lstStyle/>
                    <a:p>
                      <a:r>
                        <a:rPr sz="1500" b="1">
                          <a:solidFill>
                            <a:srgbClr val="000000"/>
                          </a:solidFill>
                        </a:rPr>
                        <a:t>Scenarios</a:t>
                      </a:r>
                    </a:p>
                  </a:txBody>
                  <a:tcPr/>
                </a:tc>
              </a:tr>
              <a:tr h="548640">
                <a:tc>
                  <a:txBody>
                    <a:bodyPr/>
                    <a:lstStyle/>
                    <a:p>
                      <a:r>
                        <a:rPr sz="1500">
                          <a:solidFill>
                            <a:srgbClr val="000000"/>
                          </a:solidFill>
                        </a:rPr>
                        <a:t>The correct sentence</a:t>
                      </a:r>
                    </a:p>
                  </a:txBody>
                  <a:tcPr/>
                </a:tc>
                <a:tc>
                  <a:txBody>
                    <a:bodyPr/>
                    <a:lstStyle/>
                    <a:p>
                      <a:r>
                        <a:rPr sz="1500">
                          <a:solidFill>
                            <a:srgbClr val="000000"/>
                          </a:solidFill>
                        </a:rPr>
                        <a:t>identical to clicked evidence</a:t>
                      </a:r>
                    </a:p>
                  </a:txBody>
                  <a:tcPr/>
                </a:tc>
                <a:tc>
                  <a:txBody>
                    <a:bodyPr/>
                    <a:lstStyle/>
                    <a:p>
                      <a:r>
                        <a:rPr sz="1500">
                          <a:solidFill>
                            <a:srgbClr val="000000"/>
                          </a:solidFill>
                        </a:rPr>
                        <a:t>11 of 11</a:t>
                      </a:r>
                    </a:p>
                  </a:txBody>
                  <a:tcPr/>
                </a:tc>
              </a:tr>
              <a:tr h="548640">
                <a:tc>
                  <a:txBody>
                    <a:bodyPr/>
                    <a:lstStyle/>
                    <a:p>
                      <a:r>
                        <a:rPr sz="1500">
                          <a:solidFill>
                            <a:srgbClr val="000000"/>
                          </a:solidFill>
                        </a:rPr>
                        <a:t>A sentence from a different scenario</a:t>
                      </a:r>
                    </a:p>
                  </a:txBody>
                  <a:tcPr/>
                </a:tc>
                <a:tc>
                  <a:txBody>
                    <a:bodyPr/>
                    <a:lstStyle/>
                    <a:p>
                      <a:r>
                        <a:rPr sz="1500">
                          <a:solidFill>
                            <a:srgbClr val="000000"/>
                          </a:solidFill>
                        </a:rPr>
                        <a:t>different numbers</a:t>
                      </a:r>
                    </a:p>
                  </a:txBody>
                  <a:tcPr/>
                </a:tc>
                <a:tc>
                  <a:txBody>
                    <a:bodyPr/>
                    <a:lstStyle/>
                    <a:p>
                      <a:r>
                        <a:rPr sz="1500">
                          <a:solidFill>
                            <a:srgbClr val="000000"/>
                          </a:solidFill>
                        </a:rPr>
                        <a:t>11 of 11</a:t>
                      </a:r>
                    </a:p>
                  </a:txBody>
                  <a:tcPr/>
                </a:tc>
              </a:tr>
              <a:tr h="548640">
                <a:tc>
                  <a:txBody>
                    <a:bodyPr/>
                    <a:lstStyle/>
                    <a:p>
                      <a:r>
                        <a:rPr sz="1500">
                          <a:solidFill>
                            <a:srgbClr val="000000"/>
                          </a:solidFill>
                        </a:rPr>
                        <a:t>A nonsense sentence (no aviation content)</a:t>
                      </a:r>
                    </a:p>
                  </a:txBody>
                  <a:tcPr/>
                </a:tc>
                <a:tc>
                  <a:txBody>
                    <a:bodyPr/>
                    <a:lstStyle/>
                    <a:p>
                      <a:r>
                        <a:rPr sz="1500">
                          <a:solidFill>
                            <a:srgbClr val="000000"/>
                          </a:solidFill>
                        </a:rPr>
                        <a:t>falls back to baseline</a:t>
                      </a:r>
                    </a:p>
                  </a:txBody>
                  <a:tcPr/>
                </a:tc>
                <a:tc>
                  <a:txBody>
                    <a:bodyPr/>
                    <a:lstStyle/>
                    <a:p>
                      <a:r>
                        <a:rPr sz="1500">
                          <a:solidFill>
                            <a:srgbClr val="000000"/>
                          </a:solidFill>
                        </a:rPr>
                        <a:t>11 of 11</a:t>
                      </a:r>
                    </a:p>
                  </a:txBody>
                  <a:tcPr/>
                </a:tc>
              </a:tr>
            </a:tbl>
          </a:graphicData>
        </a:graphic>
      </p:graphicFrame>
      <p:sp>
        <p:nvSpPr>
          <p:cNvPr id="5" name="TextBox 4"/>
          <p:cNvSpPr txBox="1"/>
          <p:nvPr/>
        </p:nvSpPr>
        <p:spPr>
          <a:xfrm>
            <a:off x="822960" y="4297680"/>
            <a:ext cx="10515600" cy="822960"/>
          </a:xfrm>
          <a:prstGeom prst="rect">
            <a:avLst/>
          </a:prstGeom>
          <a:noFill/>
        </p:spPr>
        <p:txBody>
          <a:bodyPr wrap="square">
            <a:spAutoFit/>
          </a:bodyPr>
          <a:lstStyle/>
          <a:p>
            <a:r>
              <a:rPr sz="1700" b="1"/>
              <a:t>Right sentence, right numbers. Wrong sentence, wrong numbers. Nonsense, baseline. The text drives the result.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big picture on one real accident (2007, held out)</a:t>
            </a:r>
          </a:p>
        </p:txBody>
      </p:sp>
      <p:sp>
        <p:nvSpPr>
          <p:cNvPr id="3" name="Text Placeholder 2"/>
          <p:cNvSpPr>
            <a:spLocks noGrp="1"/>
          </p:cNvSpPr>
          <p:nvPr>
            <p:ph type="body" idx="1"/>
          </p:nvPr>
        </p:nvSpPr>
        <p:spPr/>
        <p:txBody>
          <a:bodyPr/>
          <a:lstStyle/>
          <a:p/>
        </p:txBody>
      </p:sp>
      <p:graphicFrame>
        <p:nvGraphicFramePr>
          <p:cNvPr id="4" name="Table 3"/>
          <p:cNvGraphicFramePr>
            <a:graphicFrameLocks noGrp="1"/>
          </p:cNvGraphicFramePr>
          <p:nvPr/>
        </p:nvGraphicFramePr>
        <p:xfrm>
          <a:off x="731520" y="1463040"/>
          <a:ext cx="10607040" cy="2743200"/>
        </p:xfrm>
        <a:graphic>
          <a:graphicData uri="http://schemas.openxmlformats.org/drawingml/2006/table">
            <a:tbl>
              <a:tblPr firstRow="1" bandRow="1">
                <a:tableStyleId>{5C22544A-7EE6-4342-B048-85BDC9FD1C3A}</a:tableStyleId>
              </a:tblPr>
              <a:tblGrid>
                <a:gridCol w="3566160"/>
                <a:gridCol w="7040880"/>
              </a:tblGrid>
              <a:tr h="548640">
                <a:tc>
                  <a:txBody>
                    <a:bodyPr/>
                    <a:lstStyle/>
                    <a:p>
                      <a:r>
                        <a:rPr sz="1400" b="1">
                          <a:solidFill>
                            <a:srgbClr val="000000"/>
                          </a:solidFill>
                        </a:rPr>
                        <a:t>Pipeline step</a:t>
                      </a:r>
                    </a:p>
                  </a:txBody>
                  <a:tcPr/>
                </a:tc>
                <a:tc>
                  <a:txBody>
                    <a:bodyPr/>
                    <a:lstStyle/>
                    <a:p>
                      <a:r>
                        <a:rPr sz="1400" b="1">
                          <a:solidFill>
                            <a:srgbClr val="000000"/>
                          </a:solidFill>
                        </a:rPr>
                        <a:t>What happened on this accident</a:t>
                      </a:r>
                    </a:p>
                  </a:txBody>
                  <a:tcPr/>
                </a:tc>
              </a:tr>
              <a:tr h="548640">
                <a:tc>
                  <a:txBody>
                    <a:bodyPr/>
                    <a:lstStyle/>
                    <a:p>
                      <a:r>
                        <a:rPr sz="1400">
                          <a:solidFill>
                            <a:srgbClr val="000000"/>
                          </a:solidFill>
                        </a:rPr>
                        <a:t>Narrative (real, held out)</a:t>
                      </a:r>
                    </a:p>
                  </a:txBody>
                  <a:tcPr/>
                </a:tc>
                <a:tc>
                  <a:txBody>
                    <a:bodyPr/>
                    <a:lstStyle/>
                    <a:p>
                      <a:r>
                        <a:rPr sz="1400">
                          <a:solidFill>
                            <a:srgbClr val="000000"/>
                          </a:solidFill>
                        </a:rPr>
                        <a:t>'first officer's windshield cracking and beginning to arc...'</a:t>
                      </a:r>
                    </a:p>
                  </a:txBody>
                  <a:tcPr/>
                </a:tc>
              </a:tr>
              <a:tr h="548640">
                <a:tc>
                  <a:txBody>
                    <a:bodyPr/>
                    <a:lstStyle/>
                    <a:p>
                      <a:r>
                        <a:rPr sz="1400">
                          <a:solidFill>
                            <a:srgbClr val="000000"/>
                          </a:solidFill>
                        </a:rPr>
                        <a:t>Who read it</a:t>
                      </a:r>
                    </a:p>
                  </a:txBody>
                  <a:tcPr/>
                </a:tc>
                <a:tc>
                  <a:txBody>
                    <a:bodyPr/>
                    <a:lstStyle/>
                    <a:p>
                      <a:r>
                        <a:rPr sz="1400">
                          <a:solidFill>
                            <a:srgbClr val="000000"/>
                          </a:solidFill>
                        </a:rPr>
                        <a:t>LLM tier (nothing is named in vocabulary)</a:t>
                      </a:r>
                    </a:p>
                  </a:txBody>
                  <a:tcPr/>
                </a:tc>
              </a:tr>
              <a:tr h="548640">
                <a:tc>
                  <a:txBody>
                    <a:bodyPr/>
                    <a:lstStyle/>
                    <a:p>
                      <a:r>
                        <a:rPr sz="1400">
                          <a:solidFill>
                            <a:srgbClr val="000000"/>
                          </a:solidFill>
                        </a:rPr>
                        <a:t>Evidence, strength measured</a:t>
                      </a:r>
                    </a:p>
                  </a:txBody>
                  <a:tcPr/>
                </a:tc>
                <a:tc>
                  <a:txBody>
                    <a:bodyPr/>
                    <a:lstStyle/>
                    <a:p>
                      <a:r>
                        <a:rPr sz="1400">
                          <a:solidFill>
                            <a:srgbClr val="000000"/>
                          </a:solidFill>
                        </a:rPr>
                        <a:t>window (asserted); object 0.14; crew person nodes</a:t>
                      </a:r>
                    </a:p>
                  </a:txBody>
                  <a:tcPr/>
                </a:tc>
              </a:tr>
              <a:tr h="548640">
                <a:tc>
                  <a:txBody>
                    <a:bodyPr/>
                    <a:lstStyle/>
                    <a:p>
                      <a:r>
                        <a:rPr sz="1400">
                          <a:solidFill>
                            <a:srgbClr val="000000"/>
                          </a:solidFill>
                        </a:rPr>
                        <a:t>Network posteriors</a:t>
                      </a:r>
                    </a:p>
                  </a:txBody>
                  <a:tcPr/>
                </a:tc>
                <a:tc>
                  <a:txBody>
                    <a:bodyPr/>
                    <a:lstStyle/>
                    <a:p>
                      <a:r>
                        <a:rPr sz="1400">
                          <a:solidFill>
                            <a:srgbClr val="000000"/>
                          </a:solidFill>
                        </a:rPr>
                        <a:t>no injury 0.55 (top; CORRECT), minor damage rises ~0 to 0.25</a:t>
                      </a:r>
                    </a:p>
                  </a:txBody>
                  <a:tcPr/>
                </a:tc>
              </a:tr>
            </a:tbl>
          </a:graphicData>
        </a:graphic>
      </p:graphicFrame>
      <p:sp>
        <p:nvSpPr>
          <p:cNvPr id="5" name="TextBox 4"/>
          <p:cNvSpPr txBox="1"/>
          <p:nvPr/>
        </p:nvSpPr>
        <p:spPr>
          <a:xfrm>
            <a:off x="822960" y="4572000"/>
            <a:ext cx="10515600" cy="822960"/>
          </a:xfrm>
          <a:prstGeom prst="rect">
            <a:avLst/>
          </a:prstGeom>
          <a:noFill/>
        </p:spPr>
        <p:txBody>
          <a:bodyPr wrap="square">
            <a:spAutoFit/>
          </a:bodyPr>
          <a:lstStyle/>
          <a:p>
            <a:r>
              <a:rPr sz="1500" b="1"/>
              <a:t>Read by the LLM, grounded by the data, reasoned by the network: the mass moves toward what actually happened.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Proof on accidents the system never saw</a:t>
            </a:r>
          </a:p>
        </p:txBody>
      </p:sp>
      <p:sp>
        <p:nvSpPr>
          <p:cNvPr id="3" name="Text Placeholder 2"/>
          <p:cNvSpPr>
            <a:spLocks noGrp="1"/>
          </p:cNvSpPr>
          <p:nvPr>
            <p:ph type="body" idx="1"/>
          </p:nvPr>
        </p:nvSpPr>
        <p:spPr/>
        <p:txBody>
          <a:bodyPr/>
          <a:lstStyle/>
          <a:p/>
        </p:txBody>
      </p:sp>
      <p:graphicFrame>
        <p:nvGraphicFramePr>
          <p:cNvPr id="4" name="Table 3"/>
          <p:cNvGraphicFramePr>
            <a:graphicFrameLocks noGrp="1"/>
          </p:cNvGraphicFramePr>
          <p:nvPr/>
        </p:nvGraphicFramePr>
        <p:xfrm>
          <a:off x="731520" y="1554480"/>
          <a:ext cx="10424160" cy="2651760"/>
        </p:xfrm>
        <a:graphic>
          <a:graphicData uri="http://schemas.openxmlformats.org/drawingml/2006/table">
            <a:tbl>
              <a:tblPr firstRow="1" bandRow="1">
                <a:tableStyleId>{5C22544A-7EE6-4342-B048-85BDC9FD1C3A}</a:tableStyleId>
              </a:tblPr>
              <a:tblGrid>
                <a:gridCol w="6583680"/>
                <a:gridCol w="1920240"/>
                <a:gridCol w="1920240"/>
              </a:tblGrid>
              <a:tr h="530352">
                <a:tc>
                  <a:txBody>
                    <a:bodyPr/>
                    <a:lstStyle/>
                    <a:p>
                      <a:r>
                        <a:rPr sz="1400" b="1">
                          <a:solidFill>
                            <a:srgbClr val="000000"/>
                          </a:solidFill>
                        </a:rPr>
                        <a:t>Predictor (296 unseen accidents)</a:t>
                      </a:r>
                    </a:p>
                  </a:txBody>
                  <a:tcPr/>
                </a:tc>
                <a:tc>
                  <a:txBody>
                    <a:bodyPr/>
                    <a:lstStyle/>
                    <a:p>
                      <a:r>
                        <a:rPr sz="1400" b="1">
                          <a:solidFill>
                            <a:srgbClr val="000000"/>
                          </a:solidFill>
                        </a:rPr>
                        <a:t>Injury acc</a:t>
                      </a:r>
                    </a:p>
                  </a:txBody>
                  <a:tcPr/>
                </a:tc>
                <a:tc>
                  <a:txBody>
                    <a:bodyPr/>
                    <a:lstStyle/>
                    <a:p>
                      <a:r>
                        <a:rPr sz="1400" b="1">
                          <a:solidFill>
                            <a:srgbClr val="000000"/>
                          </a:solidFill>
                        </a:rPr>
                        <a:t>Damage acc</a:t>
                      </a:r>
                    </a:p>
                  </a:txBody>
                  <a:tcPr/>
                </a:tc>
              </a:tr>
              <a:tr h="530352">
                <a:tc>
                  <a:txBody>
                    <a:bodyPr/>
                    <a:lstStyle/>
                    <a:p>
                      <a:r>
                        <a:rPr sz="1400">
                          <a:solidFill>
                            <a:srgbClr val="000000"/>
                          </a:solidFill>
                        </a:rPr>
                        <a:t>Network alone (no narrative)</a:t>
                      </a:r>
                    </a:p>
                  </a:txBody>
                  <a:tcPr/>
                </a:tc>
                <a:tc>
                  <a:txBody>
                    <a:bodyPr/>
                    <a:lstStyle/>
                    <a:p>
                      <a:r>
                        <a:rPr sz="1400">
                          <a:solidFill>
                            <a:srgbClr val="000000"/>
                          </a:solidFill>
                        </a:rPr>
                        <a:t>58%</a:t>
                      </a:r>
                    </a:p>
                  </a:txBody>
                  <a:tcPr/>
                </a:tc>
                <a:tc>
                  <a:txBody>
                    <a:bodyPr/>
                    <a:lstStyle/>
                    <a:p>
                      <a:r>
                        <a:rPr sz="1400">
                          <a:solidFill>
                            <a:srgbClr val="000000"/>
                          </a:solidFill>
                        </a:rPr>
                        <a:t>43%</a:t>
                      </a:r>
                    </a:p>
                  </a:txBody>
                  <a:tcPr/>
                </a:tc>
              </a:tr>
              <a:tr h="530352">
                <a:tc>
                  <a:txBody>
                    <a:bodyPr/>
                    <a:lstStyle/>
                    <a:p>
                      <a:r>
                        <a:rPr sz="1400">
                          <a:solidFill>
                            <a:srgbClr val="000000"/>
                          </a:solidFill>
                        </a:rPr>
                        <a:t>Narrative parsed to evidence, through the network</a:t>
                      </a:r>
                    </a:p>
                  </a:txBody>
                  <a:tcPr/>
                </a:tc>
                <a:tc>
                  <a:txBody>
                    <a:bodyPr/>
                    <a:lstStyle/>
                    <a:p>
                      <a:r>
                        <a:rPr sz="1400">
                          <a:solidFill>
                            <a:srgbClr val="000000"/>
                          </a:solidFill>
                        </a:rPr>
                        <a:t>81%</a:t>
                      </a:r>
                    </a:p>
                  </a:txBody>
                  <a:tcPr/>
                </a:tc>
                <a:tc>
                  <a:txBody>
                    <a:bodyPr/>
                    <a:lstStyle/>
                    <a:p>
                      <a:r>
                        <a:rPr sz="1400">
                          <a:solidFill>
                            <a:srgbClr val="000000"/>
                          </a:solidFill>
                        </a:rPr>
                        <a:t>60%</a:t>
                      </a:r>
                    </a:p>
                  </a:txBody>
                  <a:tcPr/>
                </a:tc>
              </a:tr>
              <a:tr h="530352">
                <a:tc>
                  <a:txBody>
                    <a:bodyPr/>
                    <a:lstStyle/>
                    <a:p>
                      <a:r>
                        <a:rPr sz="1400">
                          <a:solidFill>
                            <a:srgbClr val="000000"/>
                          </a:solidFill>
                        </a:rPr>
                        <a:t>Narrative severity readout (similar accidents + stated)</a:t>
                      </a:r>
                    </a:p>
                  </a:txBody>
                  <a:tcPr/>
                </a:tc>
                <a:tc>
                  <a:txBody>
                    <a:bodyPr/>
                    <a:lstStyle/>
                    <a:p>
                      <a:r>
                        <a:rPr sz="1400">
                          <a:solidFill>
                            <a:srgbClr val="000000"/>
                          </a:solidFill>
                        </a:rPr>
                        <a:t>93%</a:t>
                      </a:r>
                    </a:p>
                  </a:txBody>
                  <a:tcPr/>
                </a:tc>
                <a:tc>
                  <a:txBody>
                    <a:bodyPr/>
                    <a:lstStyle/>
                    <a:p>
                      <a:r>
                        <a:rPr sz="1400">
                          <a:solidFill>
                            <a:srgbClr val="000000"/>
                          </a:solidFill>
                        </a:rPr>
                        <a:t>81%</a:t>
                      </a:r>
                    </a:p>
                  </a:txBody>
                  <a:tcPr/>
                </a:tc>
              </a:tr>
              <a:tr h="530352">
                <a:tc>
                  <a:txBody>
                    <a:bodyPr/>
                    <a:lstStyle/>
                    <a:p>
                      <a:r>
                        <a:rPr sz="1400">
                          <a:solidFill>
                            <a:srgbClr val="000000"/>
                          </a:solidFill>
                        </a:rPr>
                        <a:t>Supervised baseline (logistic regression)</a:t>
                      </a:r>
                    </a:p>
                  </a:txBody>
                  <a:tcPr/>
                </a:tc>
                <a:tc>
                  <a:txBody>
                    <a:bodyPr/>
                    <a:lstStyle/>
                    <a:p>
                      <a:r>
                        <a:rPr sz="1400">
                          <a:solidFill>
                            <a:srgbClr val="000000"/>
                          </a:solidFill>
                        </a:rPr>
                        <a:t>83%</a:t>
                      </a:r>
                    </a:p>
                  </a:txBody>
                  <a:tcPr/>
                </a:tc>
                <a:tc>
                  <a:txBody>
                    <a:bodyPr/>
                    <a:lstStyle/>
                    <a:p>
                      <a:r>
                        <a:rPr sz="1400">
                          <a:solidFill>
                            <a:srgbClr val="000000"/>
                          </a:solidFill>
                        </a:rPr>
                        <a:t>67%</a:t>
                      </a:r>
                    </a:p>
                  </a:txBody>
                  <a:tcPr/>
                </a:tc>
              </a:tr>
            </a:tbl>
          </a:graphicData>
        </a:graphic>
      </p:graphicFrame>
      <p:sp>
        <p:nvSpPr>
          <p:cNvPr id="5" name="TextBox 4"/>
          <p:cNvSpPr txBox="1"/>
          <p:nvPr/>
        </p:nvSpPr>
        <p:spPr>
          <a:xfrm>
            <a:off x="822960" y="4709160"/>
            <a:ext cx="10515600" cy="822960"/>
          </a:xfrm>
          <a:prstGeom prst="rect">
            <a:avLst/>
          </a:prstGeom>
          <a:noFill/>
        </p:spPr>
        <p:txBody>
          <a:bodyPr wrap="square">
            <a:spAutoFit/>
          </a:bodyPr>
          <a:lstStyle/>
          <a:p>
            <a:r>
              <a:rPr sz="1500" b="1"/>
              <a:t>The narrative carries the signal: 93% injury, 81% damage, beating a trained baseline. The network answers what the readout cannot: causes, multi-evidence, what-ifs.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a:t>
            </a:r>
          </a:p>
        </p:txBody>
      </p:sp>
      <p:sp>
        <p:nvSpPr>
          <p:cNvPr id="3" name="Text Placeholder 2"/>
          <p:cNvSpPr>
            <a:spLocks noGrp="1"/>
          </p:cNvSpPr>
          <p:nvPr>
            <p:ph type="body" idx="1"/>
          </p:nvPr>
        </p:nvSpPr>
        <p:spPr/>
        <p:txBody>
          <a:bodyPr/>
          <a:lstStyle/>
          <a:p>
            <a:pPr/>
            <a:r>
              <a:t>The analysis phase is complete: every published number matched, close, or explained with evidence</a:t>
            </a:r>
          </a:p>
          <a:p>
            <a:pPr/>
            <a:r>
              <a:t>The narrative path is validated end to end, including on unseen accidents</a:t>
            </a:r>
          </a:p>
          <a:p>
            <a:pPr/>
            <a:r>
              <a:t>Next is the paper: methodology and validation sections first, from the artifacts you saw today</a:t>
            </a:r>
          </a:p>
          <a:p>
            <a:pPr/>
            <a:r>
              <a:t/>
            </a:r>
          </a:p>
          <a:p>
            <a:pPr/>
            <a:r>
              <a:rPr b="1"/>
              <a:t>Which section do you want on your desk first?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a:t>
            </a:r>
          </a:p>
        </p:txBody>
      </p:sp>
      <p:sp>
        <p:nvSpPr>
          <p:cNvPr id="3" name="Text Placeholder 2"/>
          <p:cNvSpPr>
            <a:spLocks noGrp="1"/>
          </p:cNvSpPr>
          <p:nvPr>
            <p:ph type="body" idx="1"/>
          </p:nvPr>
        </p:nvSpPr>
        <p:spPr/>
        <p:txBody>
          <a:bodyPr/>
          <a:lstStyle/>
          <a:p>
            <a:pPr/>
            <a:r>
              <a:t>Backup only: Section 5.2 staircase, the 93-value scoreboard, every network table sentence-driven, the LLM evidence, the 12 remaining gaps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stacking evidence, one sentence at a time (his Section 5.2)</a:t>
            </a:r>
          </a:p>
        </p:txBody>
      </p:sp>
      <p:sp>
        <p:nvSpPr>
          <p:cNvPr id="3" name="Text Placeholder 2"/>
          <p:cNvSpPr>
            <a:spLocks noGrp="1"/>
          </p:cNvSpPr>
          <p:nvPr>
            <p:ph type="body" idx="1"/>
          </p:nvPr>
        </p:nvSpPr>
        <p:spPr/>
        <p:txBody>
          <a:bodyPr/>
          <a:lstStyle/>
          <a:p/>
        </p:txBody>
      </p:sp>
      <p:graphicFrame>
        <p:nvGraphicFramePr>
          <p:cNvPr id="4" name="Table 3"/>
          <p:cNvGraphicFramePr>
            <a:graphicFrameLocks noGrp="1"/>
          </p:cNvGraphicFramePr>
          <p:nvPr/>
        </p:nvGraphicFramePr>
        <p:xfrm>
          <a:off x="914400" y="1508760"/>
          <a:ext cx="10241280" cy="2651760"/>
        </p:xfrm>
        <a:graphic>
          <a:graphicData uri="http://schemas.openxmlformats.org/drawingml/2006/table">
            <a:tbl>
              <a:tblPr firstRow="1" bandRow="1">
                <a:tableStyleId>{5C22544A-7EE6-4342-B048-85BDC9FD1C3A}</a:tableStyleId>
              </a:tblPr>
              <a:tblGrid>
                <a:gridCol w="5486400"/>
                <a:gridCol w="2194560"/>
                <a:gridCol w="2560320"/>
              </a:tblGrid>
              <a:tr h="530352">
                <a:tc>
                  <a:txBody>
                    <a:bodyPr/>
                    <a:lstStyle/>
                    <a:p>
                      <a:r>
                        <a:rPr sz="1500" b="1">
                          <a:solidFill>
                            <a:srgbClr val="000000"/>
                          </a:solidFill>
                        </a:rPr>
                        <a:t>Facts in the sentence (cumulative)</a:t>
                      </a:r>
                    </a:p>
                  </a:txBody>
                  <a:tcPr/>
                </a:tc>
                <a:tc>
                  <a:txBody>
                    <a:bodyPr/>
                    <a:lstStyle/>
                    <a:p>
                      <a:r>
                        <a:rPr sz="1500" b="1">
                          <a:solidFill>
                            <a:srgbClr val="000000"/>
                          </a:solidFill>
                        </a:rPr>
                        <a:t>Zhang</a:t>
                      </a:r>
                    </a:p>
                  </a:txBody>
                  <a:tcPr/>
                </a:tc>
                <a:tc>
                  <a:txBody>
                    <a:bodyPr/>
                    <a:lstStyle/>
                    <a:p>
                      <a:r>
                        <a:rPr sz="1500" b="1">
                          <a:solidFill>
                            <a:srgbClr val="000000"/>
                          </a:solidFill>
                        </a:rPr>
                        <a:t>Ours (typed)</a:t>
                      </a:r>
                    </a:p>
                  </a:txBody>
                  <a:tcPr/>
                </a:tc>
              </a:tr>
              <a:tr h="530352">
                <a:tc>
                  <a:txBody>
                    <a:bodyPr/>
                    <a:lstStyle/>
                    <a:p>
                      <a:r>
                        <a:rPr sz="1500">
                          <a:solidFill>
                            <a:srgbClr val="000000"/>
                          </a:solidFill>
                        </a:rPr>
                        <a:t>strut problem</a:t>
                      </a:r>
                    </a:p>
                  </a:txBody>
                  <a:tcPr/>
                </a:tc>
                <a:tc>
                  <a:txBody>
                    <a:bodyPr/>
                    <a:lstStyle/>
                    <a:p>
                      <a:r>
                        <a:rPr sz="1500">
                          <a:solidFill>
                            <a:srgbClr val="000000"/>
                          </a:solidFill>
                        </a:rPr>
                        <a:t>0.25</a:t>
                      </a:r>
                    </a:p>
                  </a:txBody>
                  <a:tcPr/>
                </a:tc>
                <a:tc>
                  <a:txBody>
                    <a:bodyPr/>
                    <a:lstStyle/>
                    <a:p>
                      <a:r>
                        <a:rPr sz="1500">
                          <a:solidFill>
                            <a:srgbClr val="000000"/>
                          </a:solidFill>
                        </a:rPr>
                        <a:t>0.25  exact</a:t>
                      </a:r>
                    </a:p>
                  </a:txBody>
                  <a:tcPr/>
                </a:tc>
              </a:tr>
              <a:tr h="530352">
                <a:tc>
                  <a:txBody>
                    <a:bodyPr/>
                    <a:lstStyle/>
                    <a:p>
                      <a:r>
                        <a:rPr sz="1500">
                          <a:solidFill>
                            <a:srgbClr val="000000"/>
                          </a:solidFill>
                        </a:rPr>
                        <a:t>+ emergency extension failed</a:t>
                      </a:r>
                    </a:p>
                  </a:txBody>
                  <a:tcPr/>
                </a:tc>
                <a:tc>
                  <a:txBody>
                    <a:bodyPr/>
                    <a:lstStyle/>
                    <a:p>
                      <a:r>
                        <a:rPr sz="1500">
                          <a:solidFill>
                            <a:srgbClr val="000000"/>
                          </a:solidFill>
                        </a:rPr>
                        <a:t>0.682</a:t>
                      </a:r>
                    </a:p>
                  </a:txBody>
                  <a:tcPr/>
                </a:tc>
                <a:tc>
                  <a:txBody>
                    <a:bodyPr/>
                    <a:lstStyle/>
                    <a:p>
                      <a:r>
                        <a:rPr sz="1500">
                          <a:solidFill>
                            <a:srgbClr val="000000"/>
                          </a:solidFill>
                        </a:rPr>
                        <a:t>0.600</a:t>
                      </a:r>
                    </a:p>
                  </a:txBody>
                  <a:tcPr/>
                </a:tc>
              </a:tr>
              <a:tr h="530352">
                <a:tc>
                  <a:txBody>
                    <a:bodyPr/>
                    <a:lstStyle/>
                    <a:p>
                      <a:r>
                        <a:rPr sz="1500">
                          <a:solidFill>
                            <a:srgbClr val="000000"/>
                          </a:solidFill>
                        </a:rPr>
                        <a:t>+ gear locking mechanism</a:t>
                      </a:r>
                    </a:p>
                  </a:txBody>
                  <a:tcPr/>
                </a:tc>
                <a:tc>
                  <a:txBody>
                    <a:bodyPr/>
                    <a:lstStyle/>
                    <a:p>
                      <a:r>
                        <a:rPr sz="1500">
                          <a:solidFill>
                            <a:srgbClr val="000000"/>
                          </a:solidFill>
                        </a:rPr>
                        <a:t>0.777</a:t>
                      </a:r>
                    </a:p>
                  </a:txBody>
                  <a:tcPr/>
                </a:tc>
                <a:tc>
                  <a:txBody>
                    <a:bodyPr/>
                    <a:lstStyle/>
                    <a:p>
                      <a:r>
                        <a:rPr sz="1500">
                          <a:solidFill>
                            <a:srgbClr val="000000"/>
                          </a:solidFill>
                        </a:rPr>
                        <a:t>0.705</a:t>
                      </a:r>
                    </a:p>
                  </a:txBody>
                  <a:tcPr/>
                </a:tc>
              </a:tr>
              <a:tr h="530352">
                <a:tc>
                  <a:txBody>
                    <a:bodyPr/>
                    <a:lstStyle/>
                    <a:p>
                      <a:r>
                        <a:rPr sz="1500">
                          <a:solidFill>
                            <a:srgbClr val="000000"/>
                          </a:solidFill>
                        </a:rPr>
                        <a:t>+ gear attachment</a:t>
                      </a:r>
                    </a:p>
                  </a:txBody>
                  <a:tcPr/>
                </a:tc>
                <a:tc>
                  <a:txBody>
                    <a:bodyPr/>
                    <a:lstStyle/>
                    <a:p>
                      <a:r>
                        <a:rPr sz="1500">
                          <a:solidFill>
                            <a:srgbClr val="000000"/>
                          </a:solidFill>
                        </a:rPr>
                        <a:t>0.894</a:t>
                      </a:r>
                    </a:p>
                  </a:txBody>
                  <a:tcPr/>
                </a:tc>
                <a:tc>
                  <a:txBody>
                    <a:bodyPr/>
                    <a:lstStyle/>
                    <a:p>
                      <a:r>
                        <a:rPr sz="1500">
                          <a:solidFill>
                            <a:srgbClr val="000000"/>
                          </a:solidFill>
                        </a:rPr>
                        <a:t>0.855</a:t>
                      </a:r>
                    </a:p>
                  </a:txBody>
                  <a:tcPr/>
                </a:tc>
              </a:tr>
            </a:tbl>
          </a:graphicData>
        </a:graphic>
      </p:graphicFrame>
      <p:sp>
        <p:nvSpPr>
          <p:cNvPr id="5" name="TextBox 4"/>
          <p:cNvSpPr txBox="1"/>
          <p:nvPr/>
        </p:nvSpPr>
        <p:spPr>
          <a:xfrm>
            <a:off x="822960" y="4526280"/>
            <a:ext cx="10515600" cy="822960"/>
          </a:xfrm>
          <a:prstGeom prst="rect">
            <a:avLst/>
          </a:prstGeom>
          <a:noFill/>
        </p:spPr>
        <p:txBody>
          <a:bodyPr wrap="square">
            <a:spAutoFit/>
          </a:bodyPr>
          <a:lstStyle/>
          <a:p>
            <a:r>
              <a:rPr sz="1700" b="1"/>
              <a:t>Each extra fact typed into the sentence climbs the same staircase as his figure. Counting cannot do this.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where it all stands, 93 published numbers scored</a:t>
            </a:r>
          </a:p>
        </p:txBody>
      </p:sp>
      <p:sp>
        <p:nvSpPr>
          <p:cNvPr id="3" name="Text Placeholder 2"/>
          <p:cNvSpPr>
            <a:spLocks noGrp="1"/>
          </p:cNvSpPr>
          <p:nvPr>
            <p:ph type="body" idx="1"/>
          </p:nvPr>
        </p:nvSpPr>
        <p:spPr/>
        <p:txBody>
          <a:bodyPr/>
          <a:lstStyle/>
          <a:p/>
        </p:txBody>
      </p:sp>
      <p:graphicFrame>
        <p:nvGraphicFramePr>
          <p:cNvPr id="4" name="Table 3"/>
          <p:cNvGraphicFramePr>
            <a:graphicFrameLocks noGrp="1"/>
          </p:cNvGraphicFramePr>
          <p:nvPr/>
        </p:nvGraphicFramePr>
        <p:xfrm>
          <a:off x="1097280" y="1463040"/>
          <a:ext cx="9875520" cy="2651760"/>
        </p:xfrm>
        <a:graphic>
          <a:graphicData uri="http://schemas.openxmlformats.org/drawingml/2006/table">
            <a:tbl>
              <a:tblPr firstRow="1" bandRow="1">
                <a:tableStyleId>{5C22544A-7EE6-4342-B048-85BDC9FD1C3A}</a:tableStyleId>
              </a:tblPr>
              <a:tblGrid>
                <a:gridCol w="2194560"/>
                <a:gridCol w="1463040"/>
                <a:gridCol w="6217920"/>
              </a:tblGrid>
              <a:tr h="530352">
                <a:tc>
                  <a:txBody>
                    <a:bodyPr/>
                    <a:lstStyle/>
                    <a:p>
                      <a:r>
                        <a:rPr sz="1500" b="1">
                          <a:solidFill>
                            <a:srgbClr val="000000"/>
                          </a:solidFill>
                        </a:rPr>
                        <a:t/>
                      </a:r>
                    </a:p>
                  </a:txBody>
                  <a:tcPr/>
                </a:tc>
                <a:tc>
                  <a:txBody>
                    <a:bodyPr/>
                    <a:lstStyle/>
                    <a:p>
                      <a:r>
                        <a:rPr sz="1500" b="1">
                          <a:solidFill>
                            <a:srgbClr val="000000"/>
                          </a:solidFill>
                        </a:rPr>
                        <a:t>Count</a:t>
                      </a:r>
                    </a:p>
                  </a:txBody>
                  <a:tcPr/>
                </a:tc>
                <a:tc>
                  <a:txBody>
                    <a:bodyPr/>
                    <a:lstStyle/>
                    <a:p>
                      <a:r>
                        <a:rPr sz="1500" b="1">
                          <a:solidFill>
                            <a:srgbClr val="000000"/>
                          </a:solidFill>
                        </a:rPr>
                        <a:t>Meaning</a:t>
                      </a:r>
                    </a:p>
                  </a:txBody>
                  <a:tcPr/>
                </a:tc>
              </a:tr>
              <a:tr h="530352">
                <a:tc>
                  <a:txBody>
                    <a:bodyPr/>
                    <a:lstStyle/>
                    <a:p>
                      <a:r>
                        <a:rPr sz="1500">
                          <a:solidFill>
                            <a:srgbClr val="000000"/>
                          </a:solidFill>
                        </a:rPr>
                        <a:t>Exact</a:t>
                      </a:r>
                    </a:p>
                  </a:txBody>
                  <a:tcPr/>
                </a:tc>
                <a:tc>
                  <a:txBody>
                    <a:bodyPr/>
                    <a:lstStyle/>
                    <a:p>
                      <a:r>
                        <a:rPr sz="1500">
                          <a:solidFill>
                            <a:srgbClr val="000000"/>
                          </a:solidFill>
                        </a:rPr>
                        <a:t>48</a:t>
                      </a:r>
                    </a:p>
                  </a:txBody>
                  <a:tcPr/>
                </a:tc>
                <a:tc>
                  <a:txBody>
                    <a:bodyPr/>
                    <a:lstStyle/>
                    <a:p>
                      <a:r>
                        <a:rPr sz="1500">
                          <a:solidFill>
                            <a:srgbClr val="000000"/>
                          </a:solidFill>
                        </a:rPr>
                        <a:t>matches to publication precision</a:t>
                      </a:r>
                    </a:p>
                  </a:txBody>
                  <a:tcPr/>
                </a:tc>
              </a:tr>
              <a:tr h="530352">
                <a:tc>
                  <a:txBody>
                    <a:bodyPr/>
                    <a:lstStyle/>
                    <a:p>
                      <a:r>
                        <a:rPr sz="1500">
                          <a:solidFill>
                            <a:srgbClr val="000000"/>
                          </a:solidFill>
                        </a:rPr>
                        <a:t>Close</a:t>
                      </a:r>
                    </a:p>
                  </a:txBody>
                  <a:tcPr/>
                </a:tc>
                <a:tc>
                  <a:txBody>
                    <a:bodyPr/>
                    <a:lstStyle/>
                    <a:p>
                      <a:r>
                        <a:rPr sz="1500">
                          <a:solidFill>
                            <a:srgbClr val="000000"/>
                          </a:solidFill>
                        </a:rPr>
                        <a:t>29</a:t>
                      </a:r>
                    </a:p>
                  </a:txBody>
                  <a:tcPr/>
                </a:tc>
                <a:tc>
                  <a:txBody>
                    <a:bodyPr/>
                    <a:lstStyle/>
                    <a:p>
                      <a:r>
                        <a:rPr sz="1500">
                          <a:solidFill>
                            <a:srgbClr val="000000"/>
                          </a:solidFill>
                        </a:rPr>
                        <a:t>within 25 percent</a:t>
                      </a:r>
                    </a:p>
                  </a:txBody>
                  <a:tcPr/>
                </a:tc>
              </a:tr>
              <a:tr h="530352">
                <a:tc>
                  <a:txBody>
                    <a:bodyPr/>
                    <a:lstStyle/>
                    <a:p>
                      <a:r>
                        <a:rPr sz="1500">
                          <a:solidFill>
                            <a:srgbClr val="000000"/>
                          </a:solidFill>
                        </a:rPr>
                        <a:t>Different</a:t>
                      </a:r>
                    </a:p>
                  </a:txBody>
                  <a:tcPr/>
                </a:tc>
                <a:tc>
                  <a:txBody>
                    <a:bodyPr/>
                    <a:lstStyle/>
                    <a:p>
                      <a:r>
                        <a:rPr sz="1500">
                          <a:solidFill>
                            <a:srgbClr val="000000"/>
                          </a:solidFill>
                        </a:rPr>
                        <a:t>12</a:t>
                      </a:r>
                    </a:p>
                  </a:txBody>
                  <a:tcPr/>
                </a:tc>
                <a:tc>
                  <a:txBody>
                    <a:bodyPr/>
                    <a:lstStyle/>
                    <a:p>
                      <a:r>
                        <a:rPr sz="1500">
                          <a:solidFill>
                            <a:srgbClr val="000000"/>
                          </a:solidFill>
                        </a:rPr>
                        <a:t>explained: his own released file misses them too</a:t>
                      </a:r>
                    </a:p>
                  </a:txBody>
                  <a:tcPr/>
                </a:tc>
              </a:tr>
              <a:tr h="530352">
                <a:tc>
                  <a:txBody>
                    <a:bodyPr/>
                    <a:lstStyle/>
                    <a:p>
                      <a:r>
                        <a:rPr sz="1500">
                          <a:solidFill>
                            <a:srgbClr val="000000"/>
                          </a:solidFill>
                        </a:rPr>
                        <a:t>Qualitative</a:t>
                      </a:r>
                    </a:p>
                  </a:txBody>
                  <a:tcPr/>
                </a:tc>
                <a:tc>
                  <a:txBody>
                    <a:bodyPr/>
                    <a:lstStyle/>
                    <a:p>
                      <a:r>
                        <a:rPr sz="1500">
                          <a:solidFill>
                            <a:srgbClr val="000000"/>
                          </a:solidFill>
                        </a:rPr>
                        <a:t>4</a:t>
                      </a:r>
                    </a:p>
                  </a:txBody>
                  <a:tcPr/>
                </a:tc>
                <a:tc>
                  <a:txBody>
                    <a:bodyPr/>
                    <a:lstStyle/>
                    <a:p>
                      <a:r>
                        <a:rPr sz="1500">
                          <a:solidFill>
                            <a:srgbClr val="000000"/>
                          </a:solidFill>
                        </a:rPr>
                        <a:t>direction verified (no numbers printed)</a:t>
                      </a:r>
                    </a:p>
                  </a:txBody>
                  <a:tcPr/>
                </a:tc>
              </a:tr>
            </a:tbl>
          </a:graphicData>
        </a:graphic>
      </p:graphicFrame>
      <p:sp>
        <p:nvSpPr>
          <p:cNvPr id="5" name="TextBox 4"/>
          <p:cNvSpPr txBox="1"/>
          <p:nvPr/>
        </p:nvSpPr>
        <p:spPr>
          <a:xfrm>
            <a:off x="822960" y="4480560"/>
            <a:ext cx="10515600" cy="822960"/>
          </a:xfrm>
          <a:prstGeom prst="rect">
            <a:avLst/>
          </a:prstGeom>
          <a:noFill/>
        </p:spPr>
        <p:txBody>
          <a:bodyPr wrap="square">
            <a:spAutoFit/>
          </a:bodyPr>
          <a:lstStyle/>
          <a:p>
            <a:r>
              <a:rPr sz="1700" b="1"/>
              <a:t>77 of 93 exact or close. On the rest, our network is closer to his published values than his own released file.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Table 9 vs ours, sentence-driven</a:t>
            </a:r>
          </a:p>
        </p:txBody>
      </p:sp>
      <p:sp>
        <p:nvSpPr>
          <p:cNvPr id="3" name="Text Placeholder 2"/>
          <p:cNvSpPr>
            <a:spLocks noGrp="1"/>
          </p:cNvSpPr>
          <p:nvPr>
            <p:ph type="body" idx="1"/>
          </p:nvPr>
        </p:nvSpPr>
        <p:spPr/>
        <p:txBody>
          <a:bodyPr/>
          <a:lstStyle/>
          <a:p/>
        </p:txBody>
      </p:sp>
      <p:graphicFrame>
        <p:nvGraphicFramePr>
          <p:cNvPr id="4" name="Table 3"/>
          <p:cNvGraphicFramePr>
            <a:graphicFrameLocks noGrp="1"/>
          </p:cNvGraphicFramePr>
          <p:nvPr/>
        </p:nvGraphicFramePr>
        <p:xfrm>
          <a:off x="822960" y="1417320"/>
          <a:ext cx="10424160" cy="3200400"/>
        </p:xfrm>
        <a:graphic>
          <a:graphicData uri="http://schemas.openxmlformats.org/drawingml/2006/table">
            <a:tbl>
              <a:tblPr firstRow="1" bandRow="1">
                <a:tableStyleId>{5C22544A-7EE6-4342-B048-85BDC9FD1C3A}</a:tableStyleId>
              </a:tblPr>
              <a:tblGrid>
                <a:gridCol w="5852160"/>
                <a:gridCol w="2194560"/>
                <a:gridCol w="2377440"/>
              </a:tblGrid>
              <a:tr h="457200">
                <a:tc>
                  <a:txBody>
                    <a:bodyPr/>
                    <a:lstStyle/>
                    <a:p>
                      <a:r>
                        <a:rPr sz="1400" b="1">
                          <a:solidFill>
                            <a:srgbClr val="000000"/>
                          </a:solidFill>
                        </a:rPr>
                        <a:t>Sentence: 'the aircraft experienced a loss of engine power'</a:t>
                      </a:r>
                    </a:p>
                  </a:txBody>
                  <a:tcPr/>
                </a:tc>
                <a:tc>
                  <a:txBody>
                    <a:bodyPr/>
                    <a:lstStyle/>
                    <a:p>
                      <a:r>
                        <a:rPr sz="1400" b="1">
                          <a:solidFill>
                            <a:srgbClr val="000000"/>
                          </a:solidFill>
                        </a:rPr>
                        <a:t>Zhang</a:t>
                      </a:r>
                    </a:p>
                  </a:txBody>
                  <a:tcPr/>
                </a:tc>
                <a:tc>
                  <a:txBody>
                    <a:bodyPr/>
                    <a:lstStyle/>
                    <a:p>
                      <a:r>
                        <a:rPr sz="1400" b="1">
                          <a:solidFill>
                            <a:srgbClr val="000000"/>
                          </a:solidFill>
                        </a:rPr>
                        <a:t>Ours (typed)</a:t>
                      </a:r>
                    </a:p>
                  </a:txBody>
                  <a:tcPr/>
                </a:tc>
              </a:tr>
              <a:tr h="457200">
                <a:tc>
                  <a:txBody>
                    <a:bodyPr/>
                    <a:lstStyle/>
                    <a:p>
                      <a:r>
                        <a:rPr sz="1400">
                          <a:solidFill>
                            <a:srgbClr val="000000"/>
                          </a:solidFill>
                        </a:rPr>
                        <a:t>P(forced landing)</a:t>
                      </a:r>
                    </a:p>
                  </a:txBody>
                  <a:tcPr/>
                </a:tc>
                <a:tc>
                  <a:txBody>
                    <a:bodyPr/>
                    <a:lstStyle/>
                    <a:p>
                      <a:r>
                        <a:rPr sz="1400">
                          <a:solidFill>
                            <a:srgbClr val="000000"/>
                          </a:solidFill>
                        </a:rPr>
                        <a:t>0.1429</a:t>
                      </a:r>
                    </a:p>
                  </a:txBody>
                  <a:tcPr/>
                </a:tc>
                <a:tc>
                  <a:txBody>
                    <a:bodyPr/>
                    <a:lstStyle/>
                    <a:p>
                      <a:r>
                        <a:rPr sz="1400">
                          <a:solidFill>
                            <a:srgbClr val="000000"/>
                          </a:solidFill>
                        </a:rPr>
                        <a:t>0.1449</a:t>
                      </a:r>
                    </a:p>
                  </a:txBody>
                  <a:tcPr/>
                </a:tc>
              </a:tr>
              <a:tr h="457200">
                <a:tc>
                  <a:txBody>
                    <a:bodyPr/>
                    <a:lstStyle/>
                    <a:p>
                      <a:r>
                        <a:rPr sz="1400">
                          <a:solidFill>
                            <a:srgbClr val="000000"/>
                          </a:solidFill>
                        </a:rPr>
                        <a:t>P(ditching)</a:t>
                      </a:r>
                    </a:p>
                  </a:txBody>
                  <a:tcPr/>
                </a:tc>
                <a:tc>
                  <a:txBody>
                    <a:bodyPr/>
                    <a:lstStyle/>
                    <a:p>
                      <a:r>
                        <a:rPr sz="1400">
                          <a:solidFill>
                            <a:srgbClr val="000000"/>
                          </a:solidFill>
                        </a:rPr>
                        <a:t>0.00461</a:t>
                      </a:r>
                    </a:p>
                  </a:txBody>
                  <a:tcPr/>
                </a:tc>
                <a:tc>
                  <a:txBody>
                    <a:bodyPr/>
                    <a:lstStyle/>
                    <a:p>
                      <a:r>
                        <a:rPr sz="1400">
                          <a:solidFill>
                            <a:srgbClr val="000000"/>
                          </a:solidFill>
                        </a:rPr>
                        <a:t>0.00468</a:t>
                      </a:r>
                    </a:p>
                  </a:txBody>
                  <a:tcPr/>
                </a:tc>
              </a:tr>
              <a:tr h="457200">
                <a:tc>
                  <a:txBody>
                    <a:bodyPr/>
                    <a:lstStyle/>
                    <a:p>
                      <a:r>
                        <a:rPr sz="1400">
                          <a:solidFill>
                            <a:srgbClr val="000000"/>
                          </a:solidFill>
                        </a:rPr>
                        <a:t>P(no injury)</a:t>
                      </a:r>
                    </a:p>
                  </a:txBody>
                  <a:tcPr/>
                </a:tc>
                <a:tc>
                  <a:txBody>
                    <a:bodyPr/>
                    <a:lstStyle/>
                    <a:p>
                      <a:r>
                        <a:rPr sz="1400">
                          <a:solidFill>
                            <a:srgbClr val="000000"/>
                          </a:solidFill>
                        </a:rPr>
                        <a:t>0.9899</a:t>
                      </a:r>
                    </a:p>
                  </a:txBody>
                  <a:tcPr/>
                </a:tc>
                <a:tc>
                  <a:txBody>
                    <a:bodyPr/>
                    <a:lstStyle/>
                    <a:p>
                      <a:r>
                        <a:rPr sz="1400">
                          <a:solidFill>
                            <a:srgbClr val="000000"/>
                          </a:solidFill>
                        </a:rPr>
                        <a:t>0.9496</a:t>
                      </a:r>
                    </a:p>
                  </a:txBody>
                  <a:tcPr/>
                </a:tc>
              </a:tr>
              <a:tr h="457200">
                <a:tc>
                  <a:txBody>
                    <a:bodyPr/>
                    <a:lstStyle/>
                    <a:p>
                      <a:r>
                        <a:rPr sz="1400">
                          <a:solidFill>
                            <a:srgbClr val="000000"/>
                          </a:solidFill>
                        </a:rPr>
                        <a:t>P(substantial damage)</a:t>
                      </a:r>
                    </a:p>
                  </a:txBody>
                  <a:tcPr/>
                </a:tc>
                <a:tc>
                  <a:txBody>
                    <a:bodyPr/>
                    <a:lstStyle/>
                    <a:p>
                      <a:r>
                        <a:rPr sz="1400">
                          <a:solidFill>
                            <a:srgbClr val="000000"/>
                          </a:solidFill>
                        </a:rPr>
                        <a:t>0.0166</a:t>
                      </a:r>
                    </a:p>
                  </a:txBody>
                  <a:tcPr/>
                </a:tc>
                <a:tc>
                  <a:txBody>
                    <a:bodyPr/>
                    <a:lstStyle/>
                    <a:p>
                      <a:r>
                        <a:rPr sz="1400">
                          <a:solidFill>
                            <a:srgbClr val="000000"/>
                          </a:solidFill>
                        </a:rPr>
                        <a:t>0.0215</a:t>
                      </a:r>
                    </a:p>
                  </a:txBody>
                  <a:tcPr/>
                </a:tc>
              </a:tr>
              <a:tr h="457200">
                <a:tc>
                  <a:txBody>
                    <a:bodyPr/>
                    <a:lstStyle/>
                    <a:p>
                      <a:r>
                        <a:rPr sz="1400">
                          <a:solidFill>
                            <a:srgbClr val="000000"/>
                          </a:solidFill>
                        </a:rPr>
                        <a:t>P(serious injury)</a:t>
                      </a:r>
                    </a:p>
                  </a:txBody>
                  <a:tcPr/>
                </a:tc>
                <a:tc>
                  <a:txBody>
                    <a:bodyPr/>
                    <a:lstStyle/>
                    <a:p>
                      <a:r>
                        <a:rPr sz="1400">
                          <a:solidFill>
                            <a:srgbClr val="000000"/>
                          </a:solidFill>
                        </a:rPr>
                        <a:t>0.00822</a:t>
                      </a:r>
                    </a:p>
                  </a:txBody>
                  <a:tcPr/>
                </a:tc>
                <a:tc>
                  <a:txBody>
                    <a:bodyPr/>
                    <a:lstStyle/>
                    <a:p>
                      <a:r>
                        <a:rPr sz="1400">
                          <a:solidFill>
                            <a:srgbClr val="000000"/>
                          </a:solidFill>
                        </a:rPr>
                        <a:t>0.0160</a:t>
                      </a:r>
                    </a:p>
                  </a:txBody>
                  <a:tcPr/>
                </a:tc>
              </a:tr>
              <a:tr h="457200">
                <a:tc>
                  <a:txBody>
                    <a:bodyPr/>
                    <a:lstStyle/>
                    <a:p>
                      <a:r>
                        <a:rPr sz="1400">
                          <a:solidFill>
                            <a:srgbClr val="000000"/>
                          </a:solidFill>
                        </a:rPr>
                        <a:t>P(destroyed aircraft)</a:t>
                      </a:r>
                    </a:p>
                  </a:txBody>
                  <a:tcPr/>
                </a:tc>
                <a:tc>
                  <a:txBody>
                    <a:bodyPr/>
                    <a:lstStyle/>
                    <a:p>
                      <a:r>
                        <a:rPr sz="1400">
                          <a:solidFill>
                            <a:srgbClr val="000000"/>
                          </a:solidFill>
                        </a:rPr>
                        <a:t>0.00559</a:t>
                      </a:r>
                    </a:p>
                  </a:txBody>
                  <a:tcPr/>
                </a:tc>
                <a:tc>
                  <a:txBody>
                    <a:bodyPr/>
                    <a:lstStyle/>
                    <a:p>
                      <a:r>
                        <a:rPr sz="1400">
                          <a:solidFill>
                            <a:srgbClr val="000000"/>
                          </a:solidFill>
                        </a:rPr>
                        <a:t>0.0292</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Figure 12 vs ours, the pilot queries</a:t>
            </a:r>
          </a:p>
        </p:txBody>
      </p:sp>
      <p:sp>
        <p:nvSpPr>
          <p:cNvPr id="3" name="Text Placeholder 2"/>
          <p:cNvSpPr>
            <a:spLocks noGrp="1"/>
          </p:cNvSpPr>
          <p:nvPr>
            <p:ph type="body" idx="1"/>
          </p:nvPr>
        </p:nvSpPr>
        <p:spPr/>
        <p:txBody>
          <a:bodyPr/>
          <a:lstStyle/>
          <a:p/>
        </p:txBody>
      </p:sp>
      <p:graphicFrame>
        <p:nvGraphicFramePr>
          <p:cNvPr id="4" name="Table 3"/>
          <p:cNvGraphicFramePr>
            <a:graphicFrameLocks noGrp="1"/>
          </p:cNvGraphicFramePr>
          <p:nvPr/>
        </p:nvGraphicFramePr>
        <p:xfrm>
          <a:off x="914400" y="1508760"/>
          <a:ext cx="10241280" cy="2651760"/>
        </p:xfrm>
        <a:graphic>
          <a:graphicData uri="http://schemas.openxmlformats.org/drawingml/2006/table">
            <a:tbl>
              <a:tblPr firstRow="1" bandRow="1">
                <a:tableStyleId>{5C22544A-7EE6-4342-B048-85BDC9FD1C3A}</a:tableStyleId>
              </a:tblPr>
              <a:tblGrid>
                <a:gridCol w="5303520"/>
                <a:gridCol w="2286000"/>
                <a:gridCol w="2651760"/>
              </a:tblGrid>
              <a:tr h="530352">
                <a:tc>
                  <a:txBody>
                    <a:bodyPr/>
                    <a:lstStyle/>
                    <a:p>
                      <a:r>
                        <a:rPr sz="1400" b="1">
                          <a:solidFill>
                            <a:srgbClr val="000000"/>
                          </a:solidFill>
                        </a:rPr>
                        <a:t>Sentence: 'the pilot in command was a factor'</a:t>
                      </a:r>
                    </a:p>
                  </a:txBody>
                  <a:tcPr/>
                </a:tc>
                <a:tc>
                  <a:txBody>
                    <a:bodyPr/>
                    <a:lstStyle/>
                    <a:p>
                      <a:r>
                        <a:rPr sz="1400" b="1">
                          <a:solidFill>
                            <a:srgbClr val="000000"/>
                          </a:solidFill>
                        </a:rPr>
                        <a:t>Zhang</a:t>
                      </a:r>
                    </a:p>
                  </a:txBody>
                  <a:tcPr/>
                </a:tc>
                <a:tc>
                  <a:txBody>
                    <a:bodyPr/>
                    <a:lstStyle/>
                    <a:p>
                      <a:r>
                        <a:rPr sz="1400" b="1">
                          <a:solidFill>
                            <a:srgbClr val="000000"/>
                          </a:solidFill>
                        </a:rPr>
                        <a:t>Ours (typed)</a:t>
                      </a:r>
                    </a:p>
                  </a:txBody>
                  <a:tcPr/>
                </a:tc>
              </a:tr>
              <a:tr h="530352">
                <a:tc>
                  <a:txBody>
                    <a:bodyPr/>
                    <a:lstStyle/>
                    <a:p>
                      <a:r>
                        <a:rPr sz="1400">
                          <a:solidFill>
                            <a:srgbClr val="000000"/>
                          </a:solidFill>
                        </a:rPr>
                        <a:t>P(unstabilized approach)</a:t>
                      </a:r>
                    </a:p>
                  </a:txBody>
                  <a:tcPr/>
                </a:tc>
                <a:tc>
                  <a:txBody>
                    <a:bodyPr/>
                    <a:lstStyle/>
                    <a:p>
                      <a:r>
                        <a:rPr sz="1400">
                          <a:solidFill>
                            <a:srgbClr val="000000"/>
                          </a:solidFill>
                        </a:rPr>
                        <a:t>0.00484</a:t>
                      </a:r>
                    </a:p>
                  </a:txBody>
                  <a:tcPr/>
                </a:tc>
                <a:tc>
                  <a:txBody>
                    <a:bodyPr/>
                    <a:lstStyle/>
                    <a:p>
                      <a:r>
                        <a:rPr sz="1400">
                          <a:solidFill>
                            <a:srgbClr val="000000"/>
                          </a:solidFill>
                        </a:rPr>
                        <a:t>0.0037</a:t>
                      </a:r>
                    </a:p>
                  </a:txBody>
                  <a:tcPr/>
                </a:tc>
              </a:tr>
              <a:tr h="530352">
                <a:tc>
                  <a:txBody>
                    <a:bodyPr/>
                    <a:lstStyle/>
                    <a:p>
                      <a:r>
                        <a:rPr sz="1400">
                          <a:solidFill>
                            <a:srgbClr val="000000"/>
                          </a:solidFill>
                        </a:rPr>
                        <a:t>P(dragged wing / rotor / pod)</a:t>
                      </a:r>
                    </a:p>
                  </a:txBody>
                  <a:tcPr/>
                </a:tc>
                <a:tc>
                  <a:txBody>
                    <a:bodyPr/>
                    <a:lstStyle/>
                    <a:p>
                      <a:r>
                        <a:rPr sz="1400">
                          <a:solidFill>
                            <a:srgbClr val="000000"/>
                          </a:solidFill>
                        </a:rPr>
                        <a:t>0.023</a:t>
                      </a:r>
                    </a:p>
                  </a:txBody>
                  <a:tcPr/>
                </a:tc>
                <a:tc>
                  <a:txBody>
                    <a:bodyPr/>
                    <a:lstStyle/>
                    <a:p>
                      <a:r>
                        <a:rPr sz="1400">
                          <a:solidFill>
                            <a:srgbClr val="000000"/>
                          </a:solidFill>
                        </a:rPr>
                        <a:t>0.0211</a:t>
                      </a:r>
                    </a:p>
                  </a:txBody>
                  <a:tcPr/>
                </a:tc>
              </a:tr>
              <a:tr h="530352">
                <a:tc>
                  <a:txBody>
                    <a:bodyPr/>
                    <a:lstStyle/>
                    <a:p>
                      <a:r>
                        <a:rPr sz="1400">
                          <a:solidFill>
                            <a:srgbClr val="000000"/>
                          </a:solidFill>
                        </a:rPr>
                        <a:t>P(substantial damage)</a:t>
                      </a:r>
                    </a:p>
                  </a:txBody>
                  <a:tcPr/>
                </a:tc>
                <a:tc>
                  <a:txBody>
                    <a:bodyPr/>
                    <a:lstStyle/>
                    <a:p>
                      <a:r>
                        <a:rPr sz="1400">
                          <a:solidFill>
                            <a:srgbClr val="000000"/>
                          </a:solidFill>
                        </a:rPr>
                        <a:t>0.0458</a:t>
                      </a:r>
                    </a:p>
                  </a:txBody>
                  <a:tcPr/>
                </a:tc>
                <a:tc>
                  <a:txBody>
                    <a:bodyPr/>
                    <a:lstStyle/>
                    <a:p>
                      <a:r>
                        <a:rPr sz="1400">
                          <a:solidFill>
                            <a:srgbClr val="000000"/>
                          </a:solidFill>
                        </a:rPr>
                        <a:t>0.0510</a:t>
                      </a:r>
                    </a:p>
                  </a:txBody>
                  <a:tcPr/>
                </a:tc>
              </a:tr>
              <a:tr h="530352">
                <a:tc>
                  <a:txBody>
                    <a:bodyPr/>
                    <a:lstStyle/>
                    <a:p>
                      <a:r>
                        <a:rPr sz="1400">
                          <a:solidFill>
                            <a:srgbClr val="000000"/>
                          </a:solidFill>
                        </a:rPr>
                        <a:t>P(no injury)</a:t>
                      </a:r>
                    </a:p>
                  </a:txBody>
                  <a:tcPr/>
                </a:tc>
                <a:tc>
                  <a:txBody>
                    <a:bodyPr/>
                    <a:lstStyle/>
                    <a:p>
                      <a:r>
                        <a:rPr sz="1400">
                          <a:solidFill>
                            <a:srgbClr val="000000"/>
                          </a:solidFill>
                        </a:rPr>
                        <a:t>0.97</a:t>
                      </a:r>
                    </a:p>
                  </a:txBody>
                  <a:tcPr/>
                </a:tc>
                <a:tc>
                  <a:txBody>
                    <a:bodyPr/>
                    <a:lstStyle/>
                    <a:p>
                      <a:r>
                        <a:rPr sz="1400">
                          <a:solidFill>
                            <a:srgbClr val="000000"/>
                          </a:solidFill>
                        </a:rPr>
                        <a:t>0.9405</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Table 8, the one table a sentence cannot drive</a:t>
            </a:r>
          </a:p>
        </p:txBody>
      </p:sp>
      <p:sp>
        <p:nvSpPr>
          <p:cNvPr id="3" name="Text Placeholder 2"/>
          <p:cNvSpPr>
            <a:spLocks noGrp="1"/>
          </p:cNvSpPr>
          <p:nvPr>
            <p:ph type="body" idx="1"/>
          </p:nvPr>
        </p:nvSpPr>
        <p:spPr/>
        <p:txBody>
          <a:bodyPr/>
          <a:lstStyle/>
          <a:p/>
        </p:txBody>
      </p:sp>
      <p:graphicFrame>
        <p:nvGraphicFramePr>
          <p:cNvPr id="4" name="Table 3"/>
          <p:cNvGraphicFramePr>
            <a:graphicFrameLocks noGrp="1"/>
          </p:cNvGraphicFramePr>
          <p:nvPr/>
        </p:nvGraphicFramePr>
        <p:xfrm>
          <a:off x="1097280" y="1508760"/>
          <a:ext cx="9875520" cy="2651760"/>
        </p:xfrm>
        <a:graphic>
          <a:graphicData uri="http://schemas.openxmlformats.org/drawingml/2006/table">
            <a:tbl>
              <a:tblPr firstRow="1" bandRow="1">
                <a:tableStyleId>{5C22544A-7EE6-4342-B048-85BDC9FD1C3A}</a:tableStyleId>
              </a:tblPr>
              <a:tblGrid>
                <a:gridCol w="3108960"/>
                <a:gridCol w="3566160"/>
                <a:gridCol w="3200400"/>
              </a:tblGrid>
              <a:tr h="530352">
                <a:tc>
                  <a:txBody>
                    <a:bodyPr/>
                    <a:lstStyle/>
                    <a:p>
                      <a:r>
                        <a:rPr sz="1500" b="1">
                          <a:solidFill>
                            <a:srgbClr val="000000"/>
                          </a:solidFill>
                        </a:rPr>
                        <a:t>Strut prior (the dial)</a:t>
                      </a:r>
                    </a:p>
                  </a:txBody>
                  <a:tcPr/>
                </a:tc>
                <a:tc>
                  <a:txBody>
                    <a:bodyPr/>
                    <a:lstStyle/>
                    <a:p>
                      <a:r>
                        <a:rPr sz="1500" b="1">
                          <a:solidFill>
                            <a:srgbClr val="000000"/>
                          </a:solidFill>
                        </a:rPr>
                        <a:t>Zhang: P(gear collapsed)</a:t>
                      </a:r>
                    </a:p>
                  </a:txBody>
                  <a:tcPr/>
                </a:tc>
                <a:tc>
                  <a:txBody>
                    <a:bodyPr/>
                    <a:lstStyle/>
                    <a:p>
                      <a:r>
                        <a:rPr sz="1500" b="1">
                          <a:solidFill>
                            <a:srgbClr val="000000"/>
                          </a:solidFill>
                        </a:rPr>
                        <a:t>Ours</a:t>
                      </a:r>
                    </a:p>
                  </a:txBody>
                  <a:tcPr/>
                </a:tc>
              </a:tr>
              <a:tr h="530352">
                <a:tc>
                  <a:txBody>
                    <a:bodyPr/>
                    <a:lstStyle/>
                    <a:p>
                      <a:r>
                        <a:rPr sz="1500">
                          <a:solidFill>
                            <a:srgbClr val="000000"/>
                          </a:solidFill>
                        </a:rPr>
                        <a:t>0.00065</a:t>
                      </a:r>
                    </a:p>
                  </a:txBody>
                  <a:tcPr/>
                </a:tc>
                <a:tc>
                  <a:txBody>
                    <a:bodyPr/>
                    <a:lstStyle/>
                    <a:p>
                      <a:r>
                        <a:rPr sz="1500">
                          <a:solidFill>
                            <a:srgbClr val="000000"/>
                          </a:solidFill>
                        </a:rPr>
                        <a:t>0.000163</a:t>
                      </a:r>
                    </a:p>
                  </a:txBody>
                  <a:tcPr/>
                </a:tc>
                <a:tc>
                  <a:txBody>
                    <a:bodyPr/>
                    <a:lstStyle/>
                    <a:p>
                      <a:r>
                        <a:rPr sz="1500">
                          <a:solidFill>
                            <a:srgbClr val="000000"/>
                          </a:solidFill>
                        </a:rPr>
                        <a:t>0.000163  exact</a:t>
                      </a:r>
                    </a:p>
                  </a:txBody>
                  <a:tcPr/>
                </a:tc>
              </a:tr>
              <a:tr h="530352">
                <a:tc>
                  <a:txBody>
                    <a:bodyPr/>
                    <a:lstStyle/>
                    <a:p>
                      <a:r>
                        <a:rPr sz="1500">
                          <a:solidFill>
                            <a:srgbClr val="000000"/>
                          </a:solidFill>
                        </a:rPr>
                        <a:t>0.065</a:t>
                      </a:r>
                    </a:p>
                  </a:txBody>
                  <a:tcPr/>
                </a:tc>
                <a:tc>
                  <a:txBody>
                    <a:bodyPr/>
                    <a:lstStyle/>
                    <a:p>
                      <a:r>
                        <a:rPr sz="1500">
                          <a:solidFill>
                            <a:srgbClr val="000000"/>
                          </a:solidFill>
                        </a:rPr>
                        <a:t>0.0162</a:t>
                      </a:r>
                    </a:p>
                  </a:txBody>
                  <a:tcPr/>
                </a:tc>
                <a:tc>
                  <a:txBody>
                    <a:bodyPr/>
                    <a:lstStyle/>
                    <a:p>
                      <a:r>
                        <a:rPr sz="1500">
                          <a:solidFill>
                            <a:srgbClr val="000000"/>
                          </a:solidFill>
                        </a:rPr>
                        <a:t>0.0163</a:t>
                      </a:r>
                    </a:p>
                  </a:txBody>
                  <a:tcPr/>
                </a:tc>
              </a:tr>
              <a:tr h="530352">
                <a:tc>
                  <a:txBody>
                    <a:bodyPr/>
                    <a:lstStyle/>
                    <a:p>
                      <a:r>
                        <a:rPr sz="1500">
                          <a:solidFill>
                            <a:srgbClr val="000000"/>
                          </a:solidFill>
                        </a:rPr>
                        <a:t>0.1</a:t>
                      </a:r>
                    </a:p>
                  </a:txBody>
                  <a:tcPr/>
                </a:tc>
                <a:tc>
                  <a:txBody>
                    <a:bodyPr/>
                    <a:lstStyle/>
                    <a:p>
                      <a:r>
                        <a:rPr sz="1500">
                          <a:solidFill>
                            <a:srgbClr val="000000"/>
                          </a:solidFill>
                        </a:rPr>
                        <a:t>0.025</a:t>
                      </a:r>
                    </a:p>
                  </a:txBody>
                  <a:tcPr/>
                </a:tc>
                <a:tc>
                  <a:txBody>
                    <a:bodyPr/>
                    <a:lstStyle/>
                    <a:p>
                      <a:r>
                        <a:rPr sz="1500">
                          <a:solidFill>
                            <a:srgbClr val="000000"/>
                          </a:solidFill>
                        </a:rPr>
                        <a:t>0.025  exact</a:t>
                      </a:r>
                    </a:p>
                  </a:txBody>
                  <a:tcPr/>
                </a:tc>
              </a:tr>
              <a:tr h="530352">
                <a:tc>
                  <a:txBody>
                    <a:bodyPr/>
                    <a:lstStyle/>
                    <a:p>
                      <a:r>
                        <a:rPr sz="1500">
                          <a:solidFill>
                            <a:srgbClr val="000000"/>
                          </a:solidFill>
                        </a:rPr>
                        <a:t>0.5</a:t>
                      </a:r>
                    </a:p>
                  </a:txBody>
                  <a:tcPr/>
                </a:tc>
                <a:tc>
                  <a:txBody>
                    <a:bodyPr/>
                    <a:lstStyle/>
                    <a:p>
                      <a:r>
                        <a:rPr sz="1500">
                          <a:solidFill>
                            <a:srgbClr val="000000"/>
                          </a:solidFill>
                        </a:rPr>
                        <a:t>0.125</a:t>
                      </a:r>
                    </a:p>
                  </a:txBody>
                  <a:tcPr/>
                </a:tc>
                <a:tc>
                  <a:txBody>
                    <a:bodyPr/>
                    <a:lstStyle/>
                    <a:p>
                      <a:r>
                        <a:rPr sz="1500">
                          <a:solidFill>
                            <a:srgbClr val="000000"/>
                          </a:solidFill>
                        </a:rPr>
                        <a:t>0.125  exact</a:t>
                      </a:r>
                    </a:p>
                  </a:txBody>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why the data sets the soft-fact strengths, not the LLM</a:t>
            </a:r>
          </a:p>
        </p:txBody>
      </p:sp>
      <p:sp>
        <p:nvSpPr>
          <p:cNvPr id="3" name="Text Placeholder 2"/>
          <p:cNvSpPr>
            <a:spLocks noGrp="1"/>
          </p:cNvSpPr>
          <p:nvPr>
            <p:ph type="body" idx="1"/>
          </p:nvPr>
        </p:nvSpPr>
        <p:spPr/>
        <p:txBody>
          <a:bodyPr/>
          <a:lstStyle/>
          <a:p>
            <a:pPr/>
            <a:r>
              <a:t>We tested letting an LLM assign confidence to extracted facts</a:t>
            </a:r>
          </a:p>
          <a:p>
            <a:pPr/>
            <a:r>
              <a:t>Across 1,078 narratives: when the LLM says 86 percent, the fact is in the coded record about 9 percent of the time</a:t>
            </a:r>
          </a:p>
          <a:p>
            <a:pPr/>
            <a:r>
              <a:t>The retrieval-measured strength tracks reality across every confidence bin</a:t>
            </a:r>
          </a:p>
          <a:p>
            <a:pPr/>
            <a:r>
              <a:t>Checked under two truth signals (coded record; coded or spoken verbatim): the LLM stays miscalibrated under both</a:t>
            </a:r>
          </a:p>
          <a:p>
            <a:pPr/>
            <a:r>
              <a:rPr b="1"/>
              <a:t>Design rule: the LLM may pick WHICH facts; the data decides HOW STRONGLY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the 12 remaining gaps, the evidence</a:t>
            </a:r>
          </a:p>
        </p:txBody>
      </p:sp>
      <p:sp>
        <p:nvSpPr>
          <p:cNvPr id="3" name="Text Placeholder 2"/>
          <p:cNvSpPr>
            <a:spLocks noGrp="1"/>
          </p:cNvSpPr>
          <p:nvPr>
            <p:ph type="body" idx="1"/>
          </p:nvPr>
        </p:nvSpPr>
        <p:spPr/>
        <p:txBody>
          <a:bodyPr/>
          <a:lstStyle/>
          <a:p>
            <a:pPr/>
            <a:r>
              <a:t>30 rebuilds with his own randomized construction: his published values never appear; the envelope is tight around our build</a:t>
            </a:r>
          </a:p>
          <a:p>
            <a:pPr/>
            <a:r>
              <a:t>His own released network file misses those cells too</a:t>
            </a:r>
          </a:p>
          <a:p>
            <a:pPr/>
            <a:r>
              <a:rPr b="1"/>
              <a:t>On every cell his file can answer, ours is as close or closer to his published value</a:t>
            </a:r>
          </a:p>
          <a:p>
            <a:pPr/>
            <a:r>
              <a:t>Conclusion: the published table reflects an unreleased build and dataset state, not an error in our reproduction</a:t>
            </a:r>
          </a:p>
          <a:p>
            <a:pPr/>
            <a:r>
              <a:t>Per-cell notes: outputs/BN_UPGRADED_ENVELOPE.md</a:t>
            </a:r>
          </a:p>
        </p:txBody>
      </p:sp>
    </p:spTree>
  </p:cSld>
  <p:clrMapOvr>
    <a:masterClrMapping/>
  </p:clrMapOvr>
</p:sld>
</file>

<file path=ppt/theme/theme1.xml><?xml version="1.0" encoding="utf-8"?>
<a:theme xmlns:a="http://schemas.openxmlformats.org/drawingml/2006/main" xmlns:r="http://schemas.openxmlformats.org/officeDocument/2006/relationships"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2004-05-06T18:09:09Z</dcterms:created>
  <dc:creator>Shankar Sankararaman</dc:creator>
</cp:coreProperties>
</file>