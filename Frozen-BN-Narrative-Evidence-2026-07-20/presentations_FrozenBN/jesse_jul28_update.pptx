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5"/>
  </p:sldMasterIdLst>
  <p:notesMasterIdLst>
    <p:notesMasterId r:id="rId6"/>
  </p:notesMasterIdLst>
  <p:sldIdLst>
    <p:sldId id="256" r:id="rId16"/>
    <p:sldId id="257" r:id="rId17"/>
    <p:sldId id="258" r:id="rId15"/>
    <p:sldId id="259" r:id="rId14"/>
    <p:sldId id="260" r:id="rId13"/>
    <p:sldId id="261" r:id="rId12"/>
    <p:sldId id="262" r:id="rId11"/>
    <p:sldId id="263" r:id="rId10"/>
    <p:sldId id="264" r:id="rId9"/>
    <p:sldId id="265" r:id="rId8"/>
    <p:sldId id="266" r:id="rId7"/>
    <p:sldId id="267" r:id="rId27"/>
  </p:sldIdLst>
  <p:sldSz cy="6858000" cx="12192000"/>
  <p:notesSz cx="7315200" cy="9601200"/>
  <p:embeddedFontLst>
    <p:embeddedFont>
      <p:font typeface="Arial Narrow"/>
      <p:regular r:id="rId18"/>
      <p:bold r:id="rId19"/>
      <p:italic r:id="rId20"/>
      <p:boldItalic r:id="rId21"/>
    </p:embeddedFont>
    <p:embeddedFont>
      <p:font typeface="Helvetica Neue"/>
      <p:regular r:id="rId22"/>
      <p:bold r:id="rId23"/>
      <p:italic r:id="rId24"/>
      <p:boldItalic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A4A3A4"/>
          </p15:clr>
        </p15:guide>
        <p15:guide id="2" pos="384">
          <p15:clr>
            <a:srgbClr val="A4A3A4"/>
          </p15:clr>
        </p15:guide>
      </p15:sldGuideLst>
    </p:ext>
    <p:ext uri="{2D200454-40CA-4A62-9FC3-DE9A4176ACB9}">
      <p15:notesGuideLst>
        <p15:guide id="1" orient="horz" pos="3024">
          <p15:clr>
            <a:srgbClr val="A4A3A4"/>
          </p15:clr>
        </p15:guide>
        <p15:guide id="2" pos="2304">
          <p15:clr>
            <a:srgbClr val="A4A3A4"/>
          </p15:clr>
        </p15:guide>
      </p15:notesGuideLst>
    </p:ext>
    <p:ext uri="GoogleSlidesCustomDataVersion2">
      <go:slidesCustomData xmlns:go="http://customooxmlschemas.google.com/" r:id="rId26" roundtripDataSignature="AMtx7miYmLYUP/gi5GMFGGJ0fy9g1HDHp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B174504F-1B09-4FFA-8A9C-1B817F76BD0B}">
  <a:tblStyle styleId="{B174504F-1B09-4FFA-8A9C-1B817F76BD0B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384"/>
      </p:guideLst>
    </p:cSldViewPr>
  </p:slideViewPr>
  <p:notesViewPr>
    <p:cSldViewPr snapToGrid="0">
      <p:cViewPr varScale="1">
        <p:scale>
          <a:sx n="100" d="100"/>
          <a:sy n="100" d="100"/>
        </p:scale>
        <p:origin x="0" y="0"/>
      </p:cViewPr>
      <p:guideLst>
        <p:guide pos="3024" orient="horz"/>
        <p:guide pos="2304"/>
      </p:guideLst>
    </p:cSldViewPr>
  </p:notes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1.xml"/><Relationship Id="rId8" Type="http://schemas.openxmlformats.org/officeDocument/2006/relationships/slide" Target="slides/slide10.xml"/><Relationship Id="rId9" Type="http://schemas.openxmlformats.org/officeDocument/2006/relationships/slide" Target="slides/slide9.xml"/><Relationship Id="rId10" Type="http://schemas.openxmlformats.org/officeDocument/2006/relationships/slide" Target="slides/slide8.xml"/><Relationship Id="rId11" Type="http://schemas.openxmlformats.org/officeDocument/2006/relationships/slide" Target="slides/slide7.xml"/><Relationship Id="rId12" Type="http://schemas.openxmlformats.org/officeDocument/2006/relationships/slide" Target="slides/slide6.xml"/><Relationship Id="rId13" Type="http://schemas.openxmlformats.org/officeDocument/2006/relationships/slide" Target="slides/slide5.xml"/><Relationship Id="rId14" Type="http://schemas.openxmlformats.org/officeDocument/2006/relationships/slide" Target="slides/slide4.xml"/><Relationship Id="rId15" Type="http://schemas.openxmlformats.org/officeDocument/2006/relationships/slide" Target="slides/slide3.xml"/><Relationship Id="rId16" Type="http://schemas.openxmlformats.org/officeDocument/2006/relationships/slide" Target="slides/slide1.xml"/><Relationship Id="rId17" Type="http://schemas.openxmlformats.org/officeDocument/2006/relationships/slide" Target="slides/slide2.xml"/><Relationship Id="rId18" Type="http://schemas.openxmlformats.org/officeDocument/2006/relationships/font" Target="fonts/ArialNarrow-regular.fntdata"/><Relationship Id="rId19" Type="http://schemas.openxmlformats.org/officeDocument/2006/relationships/font" Target="fonts/ArialNarrow-bold.fntdata"/><Relationship Id="rId20" Type="http://schemas.openxmlformats.org/officeDocument/2006/relationships/font" Target="fonts/ArialNarrow-italic.fntdata"/><Relationship Id="rId21" Type="http://schemas.openxmlformats.org/officeDocument/2006/relationships/font" Target="fonts/ArialNarrow-boldItalic.fntdata"/><Relationship Id="rId22" Type="http://schemas.openxmlformats.org/officeDocument/2006/relationships/font" Target="fonts/HelveticaNeue-regular.fntdata"/><Relationship Id="rId23" Type="http://schemas.openxmlformats.org/officeDocument/2006/relationships/font" Target="fonts/HelveticaNeue-bold.fntdata"/><Relationship Id="rId24" Type="http://schemas.openxmlformats.org/officeDocument/2006/relationships/font" Target="fonts/HelveticaNeue-italic.fntdata"/><Relationship Id="rId25" Type="http://schemas.openxmlformats.org/officeDocument/2006/relationships/font" Target="fonts/HelveticaNeue-boldItalic.fntdata"/><Relationship Id="rId26" Type="http://customschemas.google.com/relationships/presentationmetadata" Target="metadata"/><Relationship Id="rId27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3170238" cy="479425"/>
          </a:xfrm>
          <a:prstGeom prst="rect">
            <a:avLst/>
          </a:prstGeom>
          <a:noFill/>
          <a:ln>
            <a:noFill/>
          </a:ln>
        </p:spPr>
        <p:txBody>
          <a:bodyPr anchorCtr="0" anchor="t" bIns="49525" lIns="99050" spcFirstLastPara="1" rIns="99050" wrap="square" tIns="495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400" u="none" cap="none" strike="noStrik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400" u="none" cap="none" strike="noStrik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400" u="none" cap="none" strike="noStrik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400" u="none" cap="none" strike="noStrik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400" u="none" cap="none" strike="noStrik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400" u="none" cap="none" strike="noStrik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400" u="none" cap="none" strike="noStrik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400" u="none" cap="none" strike="noStrik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4144963" y="0"/>
            <a:ext cx="3170237" cy="479425"/>
          </a:xfrm>
          <a:prstGeom prst="rect">
            <a:avLst/>
          </a:prstGeom>
          <a:noFill/>
          <a:ln>
            <a:noFill/>
          </a:ln>
        </p:spPr>
        <p:txBody>
          <a:bodyPr anchorCtr="0" anchor="t" bIns="49525" lIns="99050" spcFirstLastPara="1" rIns="99050" wrap="square" tIns="49525">
            <a:noAutofit/>
          </a:bodyPr>
          <a:lstStyle>
            <a:lvl1pPr lv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400" u="none" cap="none" strike="noStrik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400" u="none" cap="none" strike="noStrik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400" u="none" cap="none" strike="noStrik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400" u="none" cap="none" strike="noStrik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400" u="none" cap="none" strike="noStrik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400" u="none" cap="none" strike="noStrik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400" u="none" cap="none" strike="noStrik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400" u="none" cap="none" strike="noStrik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458788" y="720725"/>
            <a:ext cx="6397625" cy="3598863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0"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976313" y="4559300"/>
            <a:ext cx="5362575" cy="4321175"/>
          </a:xfrm>
          <a:prstGeom prst="rect">
            <a:avLst/>
          </a:prstGeom>
          <a:noFill/>
          <a:ln>
            <a:noFill/>
          </a:ln>
        </p:spPr>
        <p:txBody>
          <a:bodyPr anchorCtr="0" anchor="t" bIns="49525" lIns="99050" spcFirstLastPara="1" rIns="99050" wrap="square" tIns="49525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9121775"/>
            <a:ext cx="3170238" cy="479425"/>
          </a:xfrm>
          <a:prstGeom prst="rect">
            <a:avLst/>
          </a:prstGeom>
          <a:noFill/>
          <a:ln>
            <a:noFill/>
          </a:ln>
        </p:spPr>
        <p:txBody>
          <a:bodyPr anchorCtr="0" anchor="b" bIns="49525" lIns="99050" spcFirstLastPara="1" rIns="99050" wrap="square" tIns="495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400" u="none" cap="none" strike="noStrik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400" u="none" cap="none" strike="noStrik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400" u="none" cap="none" strike="noStrik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400" u="none" cap="none" strike="noStrik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400" u="none" cap="none" strike="noStrik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400" u="none" cap="none" strike="noStrik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400" u="none" cap="none" strike="noStrik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400" u="none" cap="none" strike="noStrik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4144963" y="9121775"/>
            <a:ext cx="3170237" cy="479425"/>
          </a:xfrm>
          <a:prstGeom prst="rect">
            <a:avLst/>
          </a:prstGeom>
          <a:noFill/>
          <a:ln>
            <a:noFill/>
          </a:ln>
        </p:spPr>
        <p:txBody>
          <a:bodyPr anchorCtr="0" anchor="b" bIns="49525" lIns="99050" spcFirstLastPara="1" rIns="99050" wrap="square" tIns="49525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fld id="{00000000-1234-1234-1234-123412341234}" type="slidenum">
              <a:rPr b="0" i="0" lang="en-US" sz="1300" u="none" cap="none" strike="noStrike">
                <a:solidFill>
                  <a:schemeClr val="dk1"/>
                </a:solidFill>
                <a:latin typeface="Times"/>
                <a:ea typeface="Times"/>
                <a:cs typeface="Times"/>
                <a:sym typeface="Times"/>
              </a:rPr>
              <a:t>‹#›</a:t>
            </a:fld>
            <a:endParaRPr b="0" i="0" sz="1300" u="none" cap="none" strike="noStrike">
              <a:solidFill>
                <a:schemeClr val="dk1"/>
              </a:solidFill>
              <a:latin typeface="Times"/>
              <a:ea typeface="Times"/>
              <a:cs typeface="Times"/>
              <a:sym typeface="Times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One arc: reproduce calculator, narrative bridge, fair test of struct mapping.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Undergrad analogy: calculator trained on old accidents, frozen; new stories only fill in the form.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This motivates Section 3.5 / tiered parser design.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Table 7 85/85; scoreboard 77/93 after upgrades.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outputs/combined_parser_validation.md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Never used in network construction.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Frame as reasonable hypothesis we tested to falsify properly.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outputs/structmap_final_verdict/REPORT.md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Never beat baseline; struct-first hurts severity.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Honest to Jesse: idea testable; this extraction stack is information-poor.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Stop and let Jesse direct.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"/>
          <p:cNvSpPr txBox="1"/>
          <p:nvPr>
            <p:ph type="ctrTitle"/>
          </p:nvPr>
        </p:nvSpPr>
        <p:spPr>
          <a:xfrm>
            <a:off x="609600" y="1752600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4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" name="Google Shape;17;p4"/>
          <p:cNvSpPr txBox="1"/>
          <p:nvPr>
            <p:ph idx="1" type="subTitle"/>
          </p:nvPr>
        </p:nvSpPr>
        <p:spPr>
          <a:xfrm>
            <a:off x="1828800" y="3352800"/>
            <a:ext cx="85344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24459C"/>
              </a:buClr>
              <a:buSzPts val="3520"/>
              <a:buFont typeface="Times"/>
              <a:buNone/>
              <a:defRPr b="0" i="0" sz="3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imes"/>
              <a:buChar char="–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"/>
              <a:buChar char="–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16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Times"/>
              <a:buChar char="–"/>
              <a:defRPr b="0" i="0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16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Times"/>
              <a:buChar char="»"/>
              <a:defRPr b="0" i="0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1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1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1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1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5"/>
          <p:cNvSpPr txBox="1"/>
          <p:nvPr>
            <p:ph type="title"/>
          </p:nvPr>
        </p:nvSpPr>
        <p:spPr>
          <a:xfrm>
            <a:off x="609601" y="274639"/>
            <a:ext cx="9682348" cy="69913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0" name="Google Shape;20;p5"/>
          <p:cNvSpPr txBox="1"/>
          <p:nvPr>
            <p:ph idx="1" type="body"/>
          </p:nvPr>
        </p:nvSpPr>
        <p:spPr>
          <a:xfrm>
            <a:off x="609600" y="1092531"/>
            <a:ext cx="10972800" cy="503363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96240" lvl="0" marL="45720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64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55600" lvl="1" marL="9144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imes"/>
              <a:buChar char="–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imes"/>
              <a:buChar char="–"/>
              <a:defRPr b="0" i="0" sz="2000" u="none" cap="none" strike="noStrike">
                <a:solidFill>
                  <a:schemeClr val="dk1"/>
                </a:solidFill>
                <a:latin typeface="Arial Narrow"/>
                <a:ea typeface="Arial Narrow"/>
                <a:cs typeface="Arial Narrow"/>
                <a:sym typeface="Arial Narrow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16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Times"/>
              <a:buChar char="–"/>
              <a:defRPr b="0" i="0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16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Times"/>
              <a:buChar char="»"/>
              <a:defRPr b="0" i="0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1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1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1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1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6"/>
          <p:cNvSpPr txBox="1"/>
          <p:nvPr>
            <p:ph type="title"/>
          </p:nvPr>
        </p:nvSpPr>
        <p:spPr>
          <a:xfrm>
            <a:off x="963084" y="4406901"/>
            <a:ext cx="103632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4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3" name="Google Shape;23;p6"/>
          <p:cNvSpPr txBox="1"/>
          <p:nvPr>
            <p:ph idx="1" type="body"/>
          </p:nvPr>
        </p:nvSpPr>
        <p:spPr>
          <a:xfrm>
            <a:off x="963084" y="2906713"/>
            <a:ext cx="103632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24459C"/>
              </a:buClr>
              <a:buSzPts val="2200"/>
              <a:buFont typeface="Times"/>
              <a:buNone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Times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16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Times"/>
              <a:buNone/>
              <a:defRPr b="0" i="0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14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imes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14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imes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14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imes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14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imes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14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imes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14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imes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7"/>
          <p:cNvSpPr txBox="1"/>
          <p:nvPr>
            <p:ph type="title"/>
          </p:nvPr>
        </p:nvSpPr>
        <p:spPr>
          <a:xfrm>
            <a:off x="609601" y="274638"/>
            <a:ext cx="9682348" cy="11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6" name="Google Shape;26;p7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424180" lvl="0" marL="457200" marR="0" rtl="0" algn="l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Clr>
                <a:srgbClr val="24459C"/>
              </a:buClr>
              <a:buSzPts val="3080"/>
              <a:buFont typeface="Times"/>
              <a:buChar char="•"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marR="0" rtl="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"/>
              <a:buChar char="–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imes"/>
              <a:buChar char="–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marR="0" rtl="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Times"/>
              <a:buChar char="–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Times"/>
              <a:buChar char="»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7" name="Google Shape;27;p7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424180" lvl="0" marL="457200" marR="0" rtl="0" algn="l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Clr>
                <a:srgbClr val="24459C"/>
              </a:buClr>
              <a:buSzPts val="3080"/>
              <a:buFont typeface="Times"/>
              <a:buChar char="•"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marR="0" rtl="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"/>
              <a:buChar char="–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imes"/>
              <a:buChar char="–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marR="0" rtl="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Times"/>
              <a:buChar char="–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Times"/>
              <a:buChar char="»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8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0" name="Google Shape;30;p8"/>
          <p:cNvSpPr txBox="1"/>
          <p:nvPr>
            <p:ph idx="1" type="body"/>
          </p:nvPr>
        </p:nvSpPr>
        <p:spPr>
          <a:xfrm>
            <a:off x="609600" y="1535113"/>
            <a:ext cx="5386917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24459C"/>
              </a:buClr>
              <a:buSzPts val="2640"/>
              <a:buFont typeface="Times"/>
              <a:buNone/>
              <a:defRPr b="1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imes"/>
              <a:buNone/>
              <a:defRPr b="1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Times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16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Times"/>
              <a:buNone/>
              <a:defRPr b="1" i="0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16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Times"/>
              <a:buNone/>
              <a:defRPr b="1" i="0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16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Times"/>
              <a:buNone/>
              <a:defRPr b="1" i="0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16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Times"/>
              <a:buNone/>
              <a:defRPr b="1" i="0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16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Times"/>
              <a:buNone/>
              <a:defRPr b="1" i="0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16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Times"/>
              <a:buNone/>
              <a:defRPr b="1" i="0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1" name="Google Shape;31;p8"/>
          <p:cNvSpPr txBox="1"/>
          <p:nvPr>
            <p:ph idx="2" type="body"/>
          </p:nvPr>
        </p:nvSpPr>
        <p:spPr>
          <a:xfrm>
            <a:off x="609600" y="2174875"/>
            <a:ext cx="5386917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96240" lvl="0" marL="45720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24459C"/>
              </a:buClr>
              <a:buSzPts val="2640"/>
              <a:buFont typeface="Times"/>
              <a:buChar char="•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55600" lvl="1" marL="9144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imes"/>
              <a:buChar char="–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42900" lvl="2" marL="1371600" marR="0" rtl="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Times"/>
              <a:buChar char="–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16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Times"/>
              <a:buChar char="–"/>
              <a:defRPr b="0" i="0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16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Times"/>
              <a:buChar char="»"/>
              <a:defRPr b="0" i="0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1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1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1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1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2" name="Google Shape;32;p8"/>
          <p:cNvSpPr txBox="1"/>
          <p:nvPr>
            <p:ph idx="3" type="body"/>
          </p:nvPr>
        </p:nvSpPr>
        <p:spPr>
          <a:xfrm>
            <a:off x="6193368" y="1535113"/>
            <a:ext cx="5389033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24459C"/>
              </a:buClr>
              <a:buSzPts val="2640"/>
              <a:buFont typeface="Times"/>
              <a:buNone/>
              <a:defRPr b="1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imes"/>
              <a:buNone/>
              <a:defRPr b="1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Times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16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Times"/>
              <a:buNone/>
              <a:defRPr b="1" i="0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16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Times"/>
              <a:buNone/>
              <a:defRPr b="1" i="0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16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Times"/>
              <a:buNone/>
              <a:defRPr b="1" i="0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16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Times"/>
              <a:buNone/>
              <a:defRPr b="1" i="0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16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Times"/>
              <a:buNone/>
              <a:defRPr b="1" i="0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16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Times"/>
              <a:buNone/>
              <a:defRPr b="1" i="0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3" name="Google Shape;33;p8"/>
          <p:cNvSpPr txBox="1"/>
          <p:nvPr>
            <p:ph idx="4" type="body"/>
          </p:nvPr>
        </p:nvSpPr>
        <p:spPr>
          <a:xfrm>
            <a:off x="6193368" y="2174875"/>
            <a:ext cx="5389033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96240" lvl="0" marL="45720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24459C"/>
              </a:buClr>
              <a:buSzPts val="2640"/>
              <a:buFont typeface="Times"/>
              <a:buChar char="•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55600" lvl="1" marL="9144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imes"/>
              <a:buChar char="–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42900" lvl="2" marL="1371600" marR="0" rtl="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Times"/>
              <a:buChar char="–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16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Times"/>
              <a:buChar char="–"/>
              <a:defRPr b="0" i="0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16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Times"/>
              <a:buChar char="»"/>
              <a:defRPr b="0" i="0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1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1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1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1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9"/>
          <p:cNvSpPr txBox="1"/>
          <p:nvPr>
            <p:ph type="title"/>
          </p:nvPr>
        </p:nvSpPr>
        <p:spPr>
          <a:xfrm>
            <a:off x="609600" y="274638"/>
            <a:ext cx="9508176" cy="11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11"/>
          <p:cNvSpPr txBox="1"/>
          <p:nvPr>
            <p:ph type="title"/>
          </p:nvPr>
        </p:nvSpPr>
        <p:spPr>
          <a:xfrm>
            <a:off x="609601" y="273050"/>
            <a:ext cx="4011084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9" name="Google Shape;39;p11"/>
          <p:cNvSpPr txBox="1"/>
          <p:nvPr>
            <p:ph idx="1" type="body"/>
          </p:nvPr>
        </p:nvSpPr>
        <p:spPr>
          <a:xfrm>
            <a:off x="4766733" y="273051"/>
            <a:ext cx="6815667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452120" lvl="0" marL="457200" marR="0" rtl="0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24459C"/>
              </a:buClr>
              <a:buSzPts val="3520"/>
              <a:buFont typeface="Times"/>
              <a:buChar char="•"/>
              <a:defRPr b="0" i="0" sz="3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406400" lvl="1" marL="914400" marR="0" rtl="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imes"/>
              <a:buChar char="–"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81000" lvl="2" marL="1371600" marR="0" rtl="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"/>
              <a:buChar char="–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imes"/>
              <a:buChar char="–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imes"/>
              <a:buChar char="»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0" name="Google Shape;40;p11"/>
          <p:cNvSpPr txBox="1"/>
          <p:nvPr>
            <p:ph idx="2" type="body"/>
          </p:nvPr>
        </p:nvSpPr>
        <p:spPr>
          <a:xfrm>
            <a:off x="609601" y="1435101"/>
            <a:ext cx="4011084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24459C"/>
              </a:buClr>
              <a:buSzPts val="1540"/>
              <a:buFont typeface="Times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12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Times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Times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90"/>
              </a:spcBef>
              <a:spcAft>
                <a:spcPts val="0"/>
              </a:spcAft>
              <a:buClr>
                <a:schemeClr val="dk1"/>
              </a:buClr>
              <a:buSzPts val="900"/>
              <a:buFont typeface="Times"/>
              <a:buNone/>
              <a:defRPr b="0" i="0" sz="9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90"/>
              </a:spcBef>
              <a:spcAft>
                <a:spcPts val="0"/>
              </a:spcAft>
              <a:buClr>
                <a:schemeClr val="dk1"/>
              </a:buClr>
              <a:buSzPts val="900"/>
              <a:buFont typeface="Times"/>
              <a:buNone/>
              <a:defRPr b="0" i="0" sz="9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90"/>
              </a:spcBef>
              <a:spcAft>
                <a:spcPts val="0"/>
              </a:spcAft>
              <a:buClr>
                <a:schemeClr val="dk1"/>
              </a:buClr>
              <a:buSzPts val="900"/>
              <a:buFont typeface="Times"/>
              <a:buNone/>
              <a:defRPr b="0" i="0" sz="9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90"/>
              </a:spcBef>
              <a:spcAft>
                <a:spcPts val="0"/>
              </a:spcAft>
              <a:buClr>
                <a:schemeClr val="dk1"/>
              </a:buClr>
              <a:buSzPts val="900"/>
              <a:buFont typeface="Times"/>
              <a:buNone/>
              <a:defRPr b="0" i="0" sz="9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90"/>
              </a:spcBef>
              <a:spcAft>
                <a:spcPts val="0"/>
              </a:spcAft>
              <a:buClr>
                <a:schemeClr val="dk1"/>
              </a:buClr>
              <a:buSzPts val="900"/>
              <a:buFont typeface="Times"/>
              <a:buNone/>
              <a:defRPr b="0" i="0" sz="9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90"/>
              </a:spcBef>
              <a:spcAft>
                <a:spcPts val="0"/>
              </a:spcAft>
              <a:buClr>
                <a:schemeClr val="dk1"/>
              </a:buClr>
              <a:buSzPts val="900"/>
              <a:buFont typeface="Times"/>
              <a:buNone/>
              <a:defRPr b="0" i="0" sz="9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2"/>
          <p:cNvSpPr txBox="1"/>
          <p:nvPr>
            <p:ph type="title"/>
          </p:nvPr>
        </p:nvSpPr>
        <p:spPr>
          <a:xfrm>
            <a:off x="2389717" y="4800600"/>
            <a:ext cx="73152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0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3" name="Google Shape;43;p12"/>
          <p:cNvSpPr/>
          <p:nvPr>
            <p:ph idx="2" type="pic"/>
          </p:nvPr>
        </p:nvSpPr>
        <p:spPr>
          <a:xfrm>
            <a:off x="2389717" y="612775"/>
            <a:ext cx="73152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44" name="Google Shape;44;p12"/>
          <p:cNvSpPr txBox="1"/>
          <p:nvPr>
            <p:ph idx="1" type="body"/>
          </p:nvPr>
        </p:nvSpPr>
        <p:spPr>
          <a:xfrm>
            <a:off x="2389717" y="5367338"/>
            <a:ext cx="73152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24459C"/>
              </a:buClr>
              <a:buSzPts val="1540"/>
              <a:buFont typeface="Times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12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Times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Times"/>
              <a:buNone/>
              <a:defRPr b="0" i="0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90"/>
              </a:spcBef>
              <a:spcAft>
                <a:spcPts val="0"/>
              </a:spcAft>
              <a:buClr>
                <a:schemeClr val="dk1"/>
              </a:buClr>
              <a:buSzPts val="900"/>
              <a:buFont typeface="Times"/>
              <a:buNone/>
              <a:defRPr b="0" i="0" sz="9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90"/>
              </a:spcBef>
              <a:spcAft>
                <a:spcPts val="0"/>
              </a:spcAft>
              <a:buClr>
                <a:schemeClr val="dk1"/>
              </a:buClr>
              <a:buSzPts val="900"/>
              <a:buFont typeface="Times"/>
              <a:buNone/>
              <a:defRPr b="0" i="0" sz="9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90"/>
              </a:spcBef>
              <a:spcAft>
                <a:spcPts val="0"/>
              </a:spcAft>
              <a:buClr>
                <a:schemeClr val="dk1"/>
              </a:buClr>
              <a:buSzPts val="900"/>
              <a:buFont typeface="Times"/>
              <a:buNone/>
              <a:defRPr b="0" i="0" sz="9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90"/>
              </a:spcBef>
              <a:spcAft>
                <a:spcPts val="0"/>
              </a:spcAft>
              <a:buClr>
                <a:schemeClr val="dk1"/>
              </a:buClr>
              <a:buSzPts val="900"/>
              <a:buFont typeface="Times"/>
              <a:buNone/>
              <a:defRPr b="0" i="0" sz="9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90"/>
              </a:spcBef>
              <a:spcAft>
                <a:spcPts val="0"/>
              </a:spcAft>
              <a:buClr>
                <a:schemeClr val="dk1"/>
              </a:buClr>
              <a:buSzPts val="900"/>
              <a:buFont typeface="Times"/>
              <a:buNone/>
              <a:defRPr b="0" i="0" sz="9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90"/>
              </a:spcBef>
              <a:spcAft>
                <a:spcPts val="0"/>
              </a:spcAft>
              <a:buClr>
                <a:schemeClr val="dk1"/>
              </a:buClr>
              <a:buSzPts val="900"/>
              <a:buFont typeface="Times"/>
              <a:buNone/>
              <a:defRPr b="0" i="0" sz="9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7" name="Google Shape;47;p13"/>
          <p:cNvSpPr txBox="1"/>
          <p:nvPr>
            <p:ph idx="1" type="body"/>
          </p:nvPr>
        </p:nvSpPr>
        <p:spPr>
          <a:xfrm rot="5400000">
            <a:off x="3833019" y="-1623218"/>
            <a:ext cx="4525963" cy="10972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96240" lvl="0" marL="45720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24459C"/>
              </a:buClr>
              <a:buSzPts val="2640"/>
              <a:buFont typeface="Times"/>
              <a:buChar char="•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55600" lvl="1" marL="9144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imes"/>
              <a:buChar char="–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81000" lvl="2" marL="1371600" marR="0" rtl="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"/>
              <a:buChar char="–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16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Times"/>
              <a:buChar char="–"/>
              <a:defRPr b="0" i="0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16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Times"/>
              <a:buChar char="»"/>
              <a:defRPr b="0" i="0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1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1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1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1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4"/>
          <p:cNvSpPr txBox="1"/>
          <p:nvPr>
            <p:ph type="title"/>
          </p:nvPr>
        </p:nvSpPr>
        <p:spPr>
          <a:xfrm rot="5400000">
            <a:off x="7285038" y="1828802"/>
            <a:ext cx="5851525" cy="274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0" name="Google Shape;50;p14"/>
          <p:cNvSpPr txBox="1"/>
          <p:nvPr>
            <p:ph idx="1" type="body"/>
          </p:nvPr>
        </p:nvSpPr>
        <p:spPr>
          <a:xfrm rot="5400000">
            <a:off x="1697038" y="-812799"/>
            <a:ext cx="5851525" cy="8026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96240" lvl="0" marL="45720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24459C"/>
              </a:buClr>
              <a:buSzPts val="2640"/>
              <a:buFont typeface="Times"/>
              <a:buChar char="•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55600" lvl="1" marL="9144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imes"/>
              <a:buChar char="–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81000" lvl="2" marL="1371600" marR="0" rtl="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"/>
              <a:buChar char="–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16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Times"/>
              <a:buChar char="–"/>
              <a:defRPr b="0" i="0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16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Times"/>
              <a:buChar char="»"/>
              <a:defRPr b="0" i="0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1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1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1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1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15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2800" u="none" cap="none" strike="noStrike">
                <a:solidFill>
                  <a:srgbClr val="24459C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3" name="Google Shape;53;p15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96240" lvl="0" marL="45720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24459C"/>
              </a:buClr>
              <a:buSzPts val="2640"/>
              <a:buFont typeface="Times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55600" lvl="1" marL="9144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imes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"/>
              <a:buChar char="–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16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Times"/>
              <a:buChar char="–"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16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Times"/>
              <a:buChar char="»"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1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1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1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1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4" name="Google Shape;54;p15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96240" lvl="0" marL="45720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24459C"/>
              </a:buClr>
              <a:buSzPts val="2640"/>
              <a:buFont typeface="Times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55600" lvl="1" marL="9144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imes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"/>
              <a:buChar char="–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16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Times"/>
              <a:buChar char="–"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16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Times"/>
              <a:buChar char="»"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1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1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1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1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1.jpg"/><Relationship Id="rId3" Type="http://schemas.openxmlformats.org/officeDocument/2006/relationships/slideLayout" Target="../slideLayouts/slideLayout1.xml"/><Relationship Id="rId4" Type="http://schemas.openxmlformats.org/officeDocument/2006/relationships/slideLayout" Target="../slideLayouts/slideLayout2.xml"/><Relationship Id="rId5" Type="http://schemas.openxmlformats.org/officeDocument/2006/relationships/slideLayout" Target="../slideLayouts/slideLayout3.xml"/><Relationship Id="rId6" Type="http://schemas.openxmlformats.org/officeDocument/2006/relationships/slideLayout" Target="../slideLayouts/slideLayout4.xml"/><Relationship Id="rId7" Type="http://schemas.openxmlformats.org/officeDocument/2006/relationships/slideLayout" Target="../slideLayouts/slideLayout5.xml"/><Relationship Id="rId8" Type="http://schemas.openxmlformats.org/officeDocument/2006/relationships/slideLayout" Target="../slideLayouts/slideLayout6.xml"/><Relationship Id="rId9" Type="http://schemas.openxmlformats.org/officeDocument/2006/relationships/slideLayout" Target="../slideLayouts/slideLayout7.xml"/><Relationship Id="rId10" Type="http://schemas.openxmlformats.org/officeDocument/2006/relationships/slideLayout" Target="../slideLayouts/slideLayout8.xml"/><Relationship Id="rId11" Type="http://schemas.openxmlformats.org/officeDocument/2006/relationships/slideLayout" Target="../slideLayouts/slideLayout9.xml"/><Relationship Id="rId12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1.xml"/><Relationship Id="rId14" Type="http://schemas.openxmlformats.org/officeDocument/2006/relationships/slideLayout" Target="../slideLayouts/slideLayout12.xml"/><Relationship Id="rId1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3"/>
          <p:cNvSpPr/>
          <p:nvPr/>
        </p:nvSpPr>
        <p:spPr>
          <a:xfrm>
            <a:off x="-1" y="6448426"/>
            <a:ext cx="5054601" cy="409575"/>
          </a:xfrm>
          <a:prstGeom prst="rect">
            <a:avLst/>
          </a:prstGeom>
          <a:solidFill>
            <a:srgbClr val="FFC000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1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t/>
            </a:r>
            <a:endParaRPr b="1" i="0" sz="1200" u="none" cap="none" strike="noStrik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pic>
        <p:nvPicPr>
          <p:cNvPr descr="VU.png" id="11" name="Google Shape;11;p3"/>
          <p:cNvPicPr preferRelativeResize="0"/>
          <p:nvPr/>
        </p:nvPicPr>
        <p:blipFill rotWithShape="1">
          <a:blip r:embed="rId1">
            <a:alphaModFix/>
          </a:blip>
          <a:srcRect b="0" l="0" r="0" t="0"/>
          <a:stretch/>
        </p:blipFill>
        <p:spPr>
          <a:xfrm>
            <a:off x="11239928" y="71898"/>
            <a:ext cx="877430" cy="1131885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Google Shape;12;p3"/>
          <p:cNvSpPr/>
          <p:nvPr/>
        </p:nvSpPr>
        <p:spPr>
          <a:xfrm>
            <a:off x="5054601" y="6448426"/>
            <a:ext cx="1945216" cy="409575"/>
          </a:xfrm>
          <a:prstGeom prst="rect">
            <a:avLst/>
          </a:prstGeom>
          <a:solidFill>
            <a:schemeClr val="dk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1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chemeClr val="accen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Slide </a:t>
            </a:r>
            <a:fld id="{00000000-1234-1234-1234-123412341234}" type="slidenum">
              <a:rPr b="1" i="0" lang="en-US" sz="1400" u="none" cap="none" strike="noStrike">
                <a:solidFill>
                  <a:schemeClr val="accen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‹#›</a:t>
            </a:fld>
            <a:endParaRPr b="1" i="0" sz="1400" u="none" cap="none" strike="noStrike">
              <a:solidFill>
                <a:schemeClr val="accen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3" name="Google Shape;13;p3"/>
          <p:cNvSpPr/>
          <p:nvPr/>
        </p:nvSpPr>
        <p:spPr>
          <a:xfrm>
            <a:off x="6999818" y="6448426"/>
            <a:ext cx="5192183" cy="409575"/>
          </a:xfrm>
          <a:prstGeom prst="rect">
            <a:avLst/>
          </a:prstGeom>
          <a:solidFill>
            <a:srgbClr val="FFC000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1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Vanderbilt University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 preview" id="14" name="Google Shape;14;p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9943734" y="71898"/>
            <a:ext cx="1123178" cy="1131885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  <p:sldLayoutId id="2147483660" r:id="rId14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NTSB Narrative Project — Full Story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Today's map (15 min)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t>Where we started: Zhang's network + your structural-mapping idea</a:t>
            </a:r>
          </a:p>
          <a:p>
            <a:pPr/>
            <a:r>
              <a:t>Dead end #1: LLM computes probabilities directly</a:t>
            </a:r>
          </a:p>
          <a:p>
            <a:pPr/>
            <a:r>
              <a:t>What we built: LLM reads → frozen network calculates</a:t>
            </a:r>
          </a:p>
          <a:p>
            <a:pPr/>
            <a:r>
              <a:t>Proof: reproduce Zhang + 296 held-out accidents (~93% injury)</a:t>
            </a:r>
          </a:p>
          <a:p>
            <a:pPr/>
            <a:r>
              <a:t>Your idea tested exhaustively → appendix negative result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one picture: build time vs query time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t>BUILD (once): coded data → frozen BN; narratives → embedding index</a:t>
            </a:r>
          </a:p>
          <a:p>
            <a:pPr/>
            <a:r>
              <a:t>QUERY: counting path (one condition) OR network path (many facts)</a:t>
            </a:r>
          </a:p>
          <a:p>
            <a:pPr/>
            <a:r>
              <a:t>Rule: narrative never retrains the network</a:t>
            </a:r>
          </a:p>
        </p:txBody>
      </p:sp>
      <p:pic>
        <p:nvPicPr>
          <p:cNvPr id="4" name="Picture 3" descr="narrative_to_bn_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417320"/>
            <a:ext cx="4842014" cy="32918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4892040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/>
              <a:t>The LLM is the reader. The network is the calculator.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Dead end #1: LLM-only probabilities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t>Asked GPT for probabilities directly → ~10x wrong vs Zhang</a:t>
            </a:r>
          </a:p>
          <a:p>
            <a:pPr/>
            <a:r>
              <a:t>One word change → different answer (not reproducible)</a:t>
            </a:r>
          </a:p>
          <a:p>
            <a:pPr/>
            <a:r>
              <a:t>Lesson: LLM = translator; network = calculator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Reproduction: what we fixed before trusting narratives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371600"/>
          <a:ext cx="1078992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3657600"/>
                <a:gridCol w="4206240"/>
              </a:tblGrid>
              <a:tr h="585216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</a:rPr>
                        <a:t>Issue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</a:rPr>
                        <a:t>Fix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</a:rPr>
                        <a:t>Result</a:t>
                      </a:r>
                    </a:p>
                  </a:txBody>
                  <a:tcPr/>
                </a:tc>
              </a:tr>
              <a:tr h="585216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Fire count 38→102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Merge occurrence files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Denom 102 ✓</a:t>
                      </a:r>
                    </a:p>
                  </a:txBody>
                  <a:tcPr/>
                </a:tc>
              </a:tr>
              <a:tr h="585216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Table 7 partial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Cause/Factor filter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85/85 exact</a:t>
                      </a:r>
                    </a:p>
                  </a:txBody>
                  <a:tcPr/>
                </a:tc>
              </a:tr>
              <a:tr h="585216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No pilot nodes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Person findings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Fig 12 runs</a:t>
                      </a:r>
                    </a:p>
                  </a:txBody>
                  <a:tcPr/>
                </a:tc>
              </a:tr>
              <a:tr h="585216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Boolean injury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4-level severity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Held-out eval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22960" y="4572000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/>
              <a:t>Trust the calculator first, then test narratives.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Final pipeline: tiered parser → evidence → frozen BN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t>Tier 1: NTSB vocabulary match (11/11 scenarios; 10/11 no LLM)</a:t>
            </a:r>
          </a:p>
          <a:p>
            <a:pPr/>
            <a:r>
              <a:t>Tier 2: LLM only when Tier 1 empty; strengths from data</a:t>
            </a:r>
          </a:p>
          <a:p>
            <a:pPr/>
            <a:r>
              <a:t>Hard + soft + stated evidence → propagation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Does it work? 296 held-out accidents (2007–2019)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914400" y="1417320"/>
          <a:ext cx="91440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0"/>
                <a:gridCol w="2286000"/>
                <a:gridCol w="2286000"/>
              </a:tblGrid>
              <a:tr h="45720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</a:rPr>
                        <a:t>Method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</a:rPr>
                        <a:t>Injury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</a:rPr>
                        <a:t>Damage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000000"/>
                          </a:solidFill>
                        </a:rPr>
                        <a:t>Prior (no narrative)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000000"/>
                          </a:solidFill>
                        </a:rPr>
                        <a:t>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000000"/>
                          </a:solidFill>
                        </a:rPr>
                        <a:t>43%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000000"/>
                          </a:solidFill>
                        </a:rPr>
                        <a:t>Full narrative → BN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000000"/>
                          </a:solidFill>
                        </a:rPr>
                        <a:t>89%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000000"/>
                          </a:solidFill>
                        </a:rPr>
                        <a:t>64%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000000"/>
                          </a:solidFill>
                        </a:rPr>
                        <a:t>Best readout (narr-sev)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000000"/>
                          </a:solidFill>
                        </a:rPr>
                        <a:t>93%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000000"/>
                          </a:solidFill>
                        </a:rPr>
                        <a:t>81%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000000"/>
                          </a:solidFill>
                        </a:rPr>
                        <a:t>Supervised LR baseline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000000"/>
                          </a:solidFill>
                        </a:rPr>
                        <a:t>88%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000000"/>
                          </a:solidFill>
                        </a:rPr>
                        <a:t>65%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000000"/>
                          </a:solidFill>
                        </a:rPr>
                        <a:t>LLM-only front door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000000"/>
                          </a:solidFill>
                        </a:rPr>
                        <a:t>69%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000000"/>
                          </a:solidFill>
                        </a:rPr>
                        <a:t>58%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22960" y="4434840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/>
              <a:t>Narratives early; coded labels late — ~93% injury on unseen cases.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Your idea: structural mapping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t>LLM extracts causal chain (role / system / mechanism steps)</a:t>
            </a:r>
          </a:p>
          <a:p>
            <a:pPr/>
            <a:r>
              <a:t>Align chains (Needleman-Wunsch); rerank by structure + cosine</a:t>
            </a:r>
          </a:p>
          <a:p>
            <a:pPr/>
            <a:r>
              <a:t>Goal: find 'same mechanism, different words' cases cosine misses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Structural mapping: every variant we tested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325880"/>
          <a:ext cx="1097280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7772400"/>
              </a:tblGrid>
              <a:tr h="43434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</a:rPr>
                        <a:t>Variant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</a:rPr>
                        <a:t>What it tests</a:t>
                      </a:r>
                    </a:p>
                  </a:txBody>
                  <a:tcPr/>
                </a:tc>
              </a:tr>
              <a:tr h="43434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000000"/>
                          </a:solidFill>
                        </a:rPr>
                        <a:t>A0 embedding baseline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000000"/>
                          </a:solidFill>
                        </a:rPr>
                        <a:t>Cosine similarity only</a:t>
                      </a:r>
                    </a:p>
                  </a:txBody>
                  <a:tcPr/>
                </a:tc>
              </a:tr>
              <a:tr h="43434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000000"/>
                          </a:solidFill>
                        </a:rPr>
                        <a:t>A2 rerank top-50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000000"/>
                          </a:solidFill>
                        </a:rPr>
                        <a:t>Your original rerank idea</a:t>
                      </a:r>
                    </a:p>
                  </a:txBody>
                  <a:tcPr/>
                </a:tc>
              </a:tr>
              <a:tr h="43434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000000"/>
                          </a:solidFill>
                        </a:rPr>
                        <a:t>V1 best-match bypass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000000"/>
                          </a:solidFill>
                        </a:rPr>
                        <a:t>Drop cluster averaging</a:t>
                      </a:r>
                    </a:p>
                  </a:txBody>
                  <a:tcPr/>
                </a:tc>
              </a:tr>
              <a:tr h="43434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000000"/>
                          </a:solidFill>
                        </a:rPr>
                        <a:t>V3 wider pool rerank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000000"/>
                          </a:solidFill>
                        </a:rPr>
                        <a:t>Change pool then rerank</a:t>
                      </a:r>
                    </a:p>
                  </a:txBody>
                  <a:tcPr/>
                </a:tc>
              </a:tr>
              <a:tr h="43434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000000"/>
                          </a:solidFill>
                        </a:rPr>
                        <a:t>V4 struct-first ALL 1,703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000000"/>
                          </a:solidFill>
                        </a:rPr>
                        <a:t>Retrieve by structure alone</a:t>
                      </a:r>
                    </a:p>
                  </a:txBody>
                  <a:tcPr/>
                </a:tc>
              </a:tr>
              <a:tr h="43434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000000"/>
                          </a:solidFill>
                        </a:rPr>
                        <a:t>V5 hybrid embedding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000000"/>
                          </a:solidFill>
                        </a:rPr>
                        <a:t>Narrative ⊕ chain in one vector</a:t>
                      </a:r>
                    </a:p>
                  </a:txBody>
                  <a:tcPr/>
                </a:tc>
              </a:tr>
              <a:tr h="43434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000000"/>
                          </a:solidFill>
                        </a:rPr>
                        <a:t>V6 struct severity vote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000000"/>
                          </a:solidFill>
                        </a:rPr>
                        <a:t>Structure on 296 held-out task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22960" y="5074920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/>
              <a:t>Rerank, replace retrieval, hybrid — every insertion point.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Structural mapping: results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371600"/>
          <a:ext cx="1051560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6400800"/>
              </a:tblGrid>
              <a:tr h="50292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</a:rPr>
                        <a:t>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</a:rPr>
                        <a:t>Result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Rerank A2 vs A0 (diagnosis)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No significant win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V1 best-match bypass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Harmful −1.6 to −2.6 pp (p&lt;0.001)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V4 struct-first (severity)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Injury 92.9%→81.1%; damage 81.4%→70.9%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Best struct cell (1 of 28)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+1.4 pp damage, p=0.125 (noise)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k=50 no structure control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00000"/>
                          </a:solidFill>
                        </a:rPr>
                        <a:t>+1.0 pp damage (same noise)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22960" y="4663440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/>
              <a:t>Exhaustively null. Best struct win = pool-size jitter.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Why structural mapping did not help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t>Chains too generic (~5 steps) — many accidents share the same shape</a:t>
            </a:r>
          </a:p>
          <a:p>
            <a:pPr/>
            <a:r>
              <a:t>Embedding already encodes most signal (struct ρ ≈ 0.01 vs truth)</a:t>
            </a:r>
          </a:p>
          <a:p>
            <a:pPr/>
            <a:r>
              <a:t>When struct disagrees with embedding, it is wrong more than right</a:t>
            </a:r>
          </a:p>
          <a:p>
            <a:pPr/>
            <a:r>
              <a:t>Averaging 50 neighbors beats picking one 'best struct' incident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Where we are + question for you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t>Paper: reproduce Zhang + narrative bridge + held-out 296 + ablations</a:t>
            </a:r>
          </a:p>
          <a:p>
            <a:pPr/>
            <a:r>
              <a:t>Struct mapping → Appendix A (clean negative result)</a:t>
            </a:r>
          </a:p>
          <a:p>
            <a:pPr/>
            <a:r>
              <a:t/>
            </a:r>
          </a:p>
          <a:p>
            <a:pPr/>
            <a:r>
              <a:rPr b="1"/>
              <a:t>OK to freeze struct mapping as closed?</a:t>
            </a:r>
          </a:p>
          <a:p>
            <a:pPr/>
            <a:r>
              <a:rPr b="1"/>
              <a:t>Anything you want rerun before we finalize the draft?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Blank Presentation">
  <a:themeElements>
    <a:clrScheme name="Blank Presentatio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2004-05-06T18:09:09Z</dcterms:created>
  <dc:creator>Shankar Sankararaman</dc:creator>
</cp:coreProperties>
</file>