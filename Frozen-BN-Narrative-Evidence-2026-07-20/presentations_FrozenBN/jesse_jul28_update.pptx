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16"/>
    <p:sldId id="257" r:id="rId17"/>
    <p:sldId id="258" r:id="rId15"/>
    <p:sldId id="259" r:id="rId14"/>
    <p:sldId id="260" r:id="rId13"/>
    <p:sldId id="261" r:id="rId12"/>
    <p:sldId id="262" r:id="rId11"/>
    <p:sldId id="263" r:id="rId10"/>
    <p:sldId id="264" r:id="rId9"/>
    <p:sldId id="265" r:id="rId8"/>
    <p:sldId id="266" r:id="rId7"/>
    <p:sldId id="267" r:id="rId27"/>
  </p:sldIdLst>
  <p:sldSz cy="6858000" cx="12192000"/>
  <p:notesSz cx="7315200" cy="9601200"/>
  <p:embeddedFontLst>
    <p:embeddedFont>
      <p:font typeface="Arial Narrow"/>
      <p:regular r:id="rId18"/>
      <p:bold r:id="rId19"/>
      <p:italic r:id="rId20"/>
      <p:boldItalic r:id="rId21"/>
    </p:embeddedFont>
    <p:embeddedFont>
      <p:font typeface="Helvetica Neue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">
          <p15:clr>
            <a:srgbClr val="A4A3A4"/>
          </p15:clr>
        </p15:guide>
      </p15:sldGuideLst>
    </p:ext>
    <p:ext uri="{2D200454-40CA-4A62-9FC3-DE9A4176ACB9}">
      <p15:notesGuideLst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  <p:ext uri="GoogleSlidesCustomDataVersion2">
      <go:slidesCustomData xmlns:go="http://customooxmlschemas.google.com/" r:id="rId26" roundtripDataSignature="AMtx7miYmLYUP/gi5GMFGGJ0fy9g1HDH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74504F-1B09-4FFA-8A9C-1B817F76BD0B}">
  <a:tblStyle styleId="{B174504F-1B09-4FFA-8A9C-1B817F76BD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1.xml"/><Relationship Id="rId8" Type="http://schemas.openxmlformats.org/officeDocument/2006/relationships/slide" Target="slides/slide10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slide" Target="slides/slide7.xml"/><Relationship Id="rId12" Type="http://schemas.openxmlformats.org/officeDocument/2006/relationships/slide" Target="slides/slide6.xml"/><Relationship Id="rId13" Type="http://schemas.openxmlformats.org/officeDocument/2006/relationships/slide" Target="slides/slide5.xml"/><Relationship Id="rId14" Type="http://schemas.openxmlformats.org/officeDocument/2006/relationships/slide" Target="slides/slide4.xml"/><Relationship Id="rId15" Type="http://schemas.openxmlformats.org/officeDocument/2006/relationships/slide" Target="slides/slide3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font" Target="fonts/ArialNarrow-regular.fntdata"/><Relationship Id="rId19" Type="http://schemas.openxmlformats.org/officeDocument/2006/relationships/font" Target="fonts/ArialNarrow-bold.fntdata"/><Relationship Id="rId20" Type="http://schemas.openxmlformats.org/officeDocument/2006/relationships/font" Target="fonts/ArialNarrow-italic.fntdata"/><Relationship Id="rId21" Type="http://schemas.openxmlformats.org/officeDocument/2006/relationships/font" Target="fonts/ArialNarrow-boldItalic.fntdata"/><Relationship Id="rId22" Type="http://schemas.openxmlformats.org/officeDocument/2006/relationships/font" Target="fonts/HelveticaNeue-regular.fntdata"/><Relationship Id="rId23" Type="http://schemas.openxmlformats.org/officeDocument/2006/relationships/font" Target="fonts/HelveticaNeue-bold.fntdata"/><Relationship Id="rId24" Type="http://schemas.openxmlformats.org/officeDocument/2006/relationships/font" Target="fonts/HelveticaNeue-italic.fntdata"/><Relationship Id="rId25" Type="http://schemas.openxmlformats.org/officeDocument/2006/relationships/font" Target="fonts/HelveticaNeue-boldItalic.fntdata"/><Relationship Id="rId26" Type="http://customschemas.google.com/relationships/presentationmetadata" Target="metadata"/><Relationship Id="rId2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58788" y="720725"/>
            <a:ext cx="6397625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76313" y="4559300"/>
            <a:ext cx="536257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arc: reproduce calculator, narrative bridge, fair test of struct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Undergrad analogy: calculator trained on old accidents, frozen; new stories only fill in the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motivates Section 3.5 / tiered parser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Table 7 85/85; scoreboard 77/93 after upgrades.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outputs/combined_parser_validation.md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Never used in network construction. Leak-safe: outcome phrases redacted before embedding; stated-severity readout OFF (supersedes pre-audit 93%/81%). Source: outputs/heldout_significance.md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as reasonable hypothesis we tested to falsify properly.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outputs/structmap_final_verdict/REPORT.md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Never beat baseline; struct-first hurts severity. Severity rows were run PRE-redaction (baseline 92.9%/81.4%); paired comparison still valid — every variant saw the same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Honest to Jesse: idea testable; this extraction stack is information-poor.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Stop and let Jesse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09600" y="17526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828800" y="33528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4459C"/>
              </a:buClr>
              <a:buSzPts val="3520"/>
              <a:buFont typeface="Times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609601" y="274639"/>
            <a:ext cx="9682348" cy="699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609600" y="1092531"/>
            <a:ext cx="10972800" cy="50336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4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4459C"/>
              </a:buClr>
              <a:buSzPts val="2200"/>
              <a:buFont typeface="Time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609601" y="274638"/>
            <a:ext cx="96823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24180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4459C"/>
              </a:buClr>
              <a:buSzPts val="3080"/>
              <a:buFont typeface="Times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24180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4459C"/>
              </a:buClr>
              <a:buSzPts val="3080"/>
              <a:buFont typeface="Times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459C"/>
              </a:buClr>
              <a:buSzPts val="2640"/>
              <a:buFont typeface="Times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8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459C"/>
              </a:buClr>
              <a:buSzPts val="2640"/>
              <a:buFont typeface="Times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459C"/>
              </a:buClr>
              <a:buSzPts val="2640"/>
              <a:buFont typeface="Times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8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459C"/>
              </a:buClr>
              <a:buSzPts val="2640"/>
              <a:buFont typeface="Times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609600" y="274638"/>
            <a:ext cx="950817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212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4459C"/>
              </a:buClr>
              <a:buSzPts val="3520"/>
              <a:buFont typeface="Times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4459C"/>
              </a:buClr>
              <a:buSzPts val="154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4459C"/>
              </a:buClr>
              <a:buSzPts val="154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459C"/>
              </a:buClr>
              <a:buSzPts val="2640"/>
              <a:buFont typeface="Times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4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459C"/>
              </a:buClr>
              <a:buSzPts val="2640"/>
              <a:buFont typeface="Times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459C"/>
              </a:buClr>
              <a:buSzPts val="2640"/>
              <a:buFont typeface="Times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459C"/>
              </a:buClr>
              <a:buSzPts val="2640"/>
              <a:buFont typeface="Times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-1" y="6448426"/>
            <a:ext cx="5054601" cy="40957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VU.png" id="11" name="Google Shape;11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239928" y="71898"/>
            <a:ext cx="877430" cy="113188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"/>
          <p:cNvSpPr/>
          <p:nvPr/>
        </p:nvSpPr>
        <p:spPr>
          <a:xfrm>
            <a:off x="5054601" y="6448426"/>
            <a:ext cx="1945216" cy="40957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Slide </a:t>
            </a:r>
            <a:fld id="{00000000-1234-1234-1234-123412341234}" type="slidenum">
              <a:rPr b="1" i="0" lang="en-US" sz="14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14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6999818" y="6448426"/>
            <a:ext cx="5192183" cy="40957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Vanderbilt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 preview"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43734" y="71898"/>
            <a:ext cx="1123178" cy="113188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NTSB Narrative Project — Full Story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map (15 min)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Where we started: Zhang's network + your structural-mapping idea</a:t>
            </a:r>
          </a:p>
          <a:p>
            <a:pPr/>
            <a:r>
              <a:t>Dead end #1: LLM computes probabilities directly</a:t>
            </a:r>
          </a:p>
          <a:p>
            <a:pPr/>
            <a:r>
              <a:t>What we built: LLM reads → frozen network calculates</a:t>
            </a:r>
          </a:p>
          <a:p>
            <a:pPr/>
            <a:r>
              <a:t>Proof: reproduce Zhang + 296 held-out accidents (~91% injury, leak-safe)</a:t>
            </a:r>
          </a:p>
          <a:p>
            <a:pPr/>
            <a:r>
              <a:t>Your idea tested exhaustively → appendix negative 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one picture: build time vs query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BUILD (once): coded data → frozen BN; narratives → embedding index</a:t>
            </a:r>
          </a:p>
          <a:p>
            <a:pPr/>
            <a:r>
              <a:t>QUERY: counting path (one condition) OR network path (many facts)</a:t>
            </a:r>
          </a:p>
          <a:p>
            <a:pPr/>
            <a:r>
              <a:t>Rule: narrative never retrains the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The LLM is the reader. The network is the calculator.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Dead end #1: LLM-only probabilities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Asked GPT for probabilities directly → ~10x wrong vs Zhang</a:t>
            </a:r>
          </a:p>
          <a:p>
            <a:pPr/>
            <a:r>
              <a:t>One word change → different answer (not reproducible)</a:t>
            </a:r>
          </a:p>
          <a:p>
            <a:pPr/>
            <a:r>
              <a:t>Lesson: LLM = translator; network = calculator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Reproduction: what we fixed before trusting narratives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657600"/>
                <a:gridCol w="4206240"/>
              </a:tblGrid>
              <a:tr h="5852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Result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Fire count 38→102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Merge occurrence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Denom 102 ✓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Table 7 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Cause/Factor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85/85 exact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No pilot 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Person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Fig 12 runs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Boolean injury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4-level 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Held-out eval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572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Trust the calculator first, then test narratives.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pipeline: tiered parser → evidence → frozen BN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Tier 1: NTSB vocabulary match (11/11 scenarios; 10/11 no LLM)</a:t>
            </a:r>
          </a:p>
          <a:p>
            <a:pPr/>
            <a:r>
              <a:t>Tier 2: LLM only when Tier 1 empty; strengths from data</a:t>
            </a:r>
          </a:p>
          <a:p>
            <a:pPr/>
            <a:r>
              <a:t>Hard + soft + stated evidence → propagation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Does it work? 296 held-out accidents (2007–2019)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1732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Injury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Damage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Prior (no narrative)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58.4%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42.6%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Event evidence → frozen BN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89.9%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55.7%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k-NN severity via frozen BN (primary)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90.9%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77.4%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Supervised LR (parsed features)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87.8%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64.2%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Supervised LR (narrative embedding)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91.6%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74.0%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4348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Narratives early; coded labels late — ~91% injury on unseen cases, zero trained parameters, leak-audited.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idea: structural mapping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LLM extracts causal chain (role / system / mechanism steps)</a:t>
            </a:r>
          </a:p>
          <a:p>
            <a:pPr/>
            <a:r>
              <a:t>Align chains (Needleman-Wunsch); rerank by structure + cosine</a:t>
            </a:r>
          </a:p>
          <a:p>
            <a:pPr/>
            <a:r>
              <a:t>Goal: find 'same mechanism, different words' cases cosine misses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mapping: every variant we tested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4343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</a:rP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</a:rPr>
                        <a:t>What it tests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A0 embedding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Cosine similarity only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A2 rerank top-50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Your original rerank idea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V1 best-match bypass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Drop cluster averaging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V3 wider pool rerank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Change pool then rerank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V4 struct-first ALL 1,703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Retrieve by structure alone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V5 hybrid embedding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Narrative ⊕ chain in one vector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V6 struct severity vote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Structure on 296 held-out task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Rerank, replace retrieval, hybrid — every insertion 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mapping: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40080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Result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Rerank A2 vs A0 (diagnosis)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No significant win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V1 best-match bypass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Harmful −1.6 to −2.6 pp (p&lt;0.001)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V4 struct-first (severity)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Injury 92.9%→81.1%; damage 81.4%→70.9%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Best struct cell (1 of 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+1.4 pp damage, p=0.125 (noise)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k=50 no structure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+1.0 pp damage (same noise)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663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Exhaustively null. Best struct win = pool-size jitter.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structural mapping did not help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Chains too generic (~5 steps) — many accidents share the same shape</a:t>
            </a:r>
          </a:p>
          <a:p>
            <a:pPr/>
            <a:r>
              <a:t>Embedding already encodes most signal (struct ρ ≈ 0.01 vs truth)</a:t>
            </a:r>
          </a:p>
          <a:p>
            <a:pPr/>
            <a:r>
              <a:t>When struct disagrees with embedding, it is wrong more than right</a:t>
            </a:r>
          </a:p>
          <a:p>
            <a:pPr/>
            <a:r>
              <a:t>Averaging 50 neighbors beats picking one 'best struct' incident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 + question for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Paper: reproduce Zhang + narrative bridge + held-out 296 + ablations</a:t>
            </a:r>
          </a:p>
          <a:p>
            <a:pPr/>
            <a:r>
              <a:t>Struct mapping → Appendix A (clean negative result)</a:t>
            </a:r>
          </a:p>
          <a:p>
            <a:pPr/>
            <a:r>
              <a:t/>
            </a:r>
          </a:p>
          <a:p>
            <a:pPr/>
            <a:r>
              <a:rPr b="1"/>
              <a:t>OK to freeze struct mapping as closed?</a:t>
            </a:r>
          </a:p>
          <a:p>
            <a:pPr/>
            <a:r>
              <a:rPr b="1"/>
              <a:t>Anything you want rerun before we finalize the draft?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2004-05-06T18:09:09Z</dcterms:created>
  <dc:creator>Shankar Sankararaman</dc:creator>
</cp:coreProperties>
</file>