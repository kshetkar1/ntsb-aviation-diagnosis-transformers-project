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4" r:id="rId8"/>
    <p:sldId id="265" r:id="rId9"/>
    <p:sldId id="266" r:id="rId10"/>
    <p:sldId id="267" r:id="rId11"/>
    <p:sldId id="268" r:id="rId12"/>
    <p:sldId id="269" r:id="rId13"/>
    <p:sldId id="270" r:id="rId14"/>
    <p:sldId id="262" r:id="rId15"/>
    <p:sldId id="263" r:id="rId16"/>
    <p:sldId id="271" r:id="rId17"/>
    <p:sldId id="272" r:id="rId18"/>
    <p:sldId id="273" r:id="rId19"/>
  </p:sldIdLst>
  <p:sldSz cx="12192000" cy="6858000"/>
  <p:notesSz cx="7315200" cy="9601200"/>
  <p:embeddedFontLst>
    <p:embeddedFont>
      <p:font typeface="Arial Narrow" panose="020B0604020202020204" pitchFamily="34"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iYmLYUP/gi5GMFGGJ0fy9g1HDHp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74504F-1B09-4FFA-8A9C-1B817F76BD0B}">
  <a:tblStyle styleId="{B174504F-1B09-4FFA-8A9C-1B817F76BD0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19"/>
    <p:restoredTop sz="94677"/>
  </p:normalViewPr>
  <p:slideViewPr>
    <p:cSldViewPr snapToGrid="0">
      <p:cViewPr varScale="1">
        <p:scale>
          <a:sx n="148" d="100"/>
          <a:sy n="148" d="100"/>
        </p:scale>
        <p:origin x="216" y="1520"/>
      </p:cViewPr>
      <p:guideLst>
        <p:guide orient="horz" pos="2160"/>
        <p:guide pos="384"/>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70238" cy="479425"/>
          </a:xfrm>
          <a:prstGeom prst="rect">
            <a:avLst/>
          </a:prstGeom>
          <a:noFill/>
          <a:ln>
            <a:noFill/>
          </a:ln>
        </p:spPr>
        <p:txBody>
          <a:bodyPr spcFirstLastPara="1" wrap="square" lIns="99050" tIns="49525" rIns="99050" bIns="49525" anchor="t"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4" name="Google Shape;4;n"/>
          <p:cNvSpPr txBox="1">
            <a:spLocks noGrp="1"/>
          </p:cNvSpPr>
          <p:nvPr>
            <p:ph type="dt" idx="10"/>
          </p:nvPr>
        </p:nvSpPr>
        <p:spPr>
          <a:xfrm>
            <a:off x="4144963" y="0"/>
            <a:ext cx="3170237" cy="479425"/>
          </a:xfrm>
          <a:prstGeom prst="rect">
            <a:avLst/>
          </a:prstGeom>
          <a:noFill/>
          <a:ln>
            <a:noFill/>
          </a:ln>
        </p:spPr>
        <p:txBody>
          <a:bodyPr spcFirstLastPara="1" wrap="square" lIns="99050" tIns="49525" rIns="99050" bIns="49525" anchor="t" anchorCtr="0">
            <a:noAutofit/>
          </a:bodyPr>
          <a:lstStyle>
            <a:lvl1pPr marR="0" lvl="0" algn="r"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5" name="Google Shape;5;n"/>
          <p:cNvSpPr>
            <a:spLocks noGrp="1" noRot="1" noChangeAspect="1"/>
          </p:cNvSpPr>
          <p:nvPr>
            <p:ph type="sldImg" idx="3"/>
          </p:nvPr>
        </p:nvSpPr>
        <p:spPr>
          <a:xfrm>
            <a:off x="458788" y="720725"/>
            <a:ext cx="6397625" cy="35988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0"/>
            <a:headEnd type="none" w="sm" len="sm"/>
            <a:tailEnd type="none" w="sm" len="sm"/>
          </a:ln>
        </p:spPr>
      </p:sp>
      <p:sp>
        <p:nvSpPr>
          <p:cNvPr id="6" name="Google Shape;6;n"/>
          <p:cNvSpPr txBox="1">
            <a:spLocks noGrp="1"/>
          </p:cNvSpPr>
          <p:nvPr>
            <p:ph type="body" idx="1"/>
          </p:nvPr>
        </p:nvSpPr>
        <p:spPr>
          <a:xfrm>
            <a:off x="976313" y="4559300"/>
            <a:ext cx="5362575" cy="4321175"/>
          </a:xfrm>
          <a:prstGeom prst="rect">
            <a:avLst/>
          </a:prstGeom>
          <a:noFill/>
          <a:ln>
            <a:noFill/>
          </a:ln>
        </p:spPr>
        <p:txBody>
          <a:bodyPr spcFirstLastPara="1" wrap="square" lIns="99050" tIns="49525" rIns="99050" bIns="49525" anchor="t" anchorCtr="0">
            <a:noAutofit/>
          </a:bodyPr>
          <a:lstStyle>
            <a:lvl1pPr marL="457200" marR="0" lvl="0"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1pPr>
            <a:lvl2pPr marL="914400" marR="0" lvl="1"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2pPr>
            <a:lvl3pPr marL="1371600" marR="0" lvl="2"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3pPr>
            <a:lvl4pPr marL="1828800" marR="0" lvl="3"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4pPr>
            <a:lvl5pPr marL="2286000" marR="0" lvl="4" indent="-228600" algn="l" rtl="0">
              <a:lnSpc>
                <a:spcPct val="100000"/>
              </a:lnSpc>
              <a:spcBef>
                <a:spcPts val="360"/>
              </a:spcBef>
              <a:spcAft>
                <a:spcPts val="0"/>
              </a:spcAft>
              <a:buClr>
                <a:srgbClr val="000000"/>
              </a:buClr>
              <a:buSzPts val="1400"/>
              <a:buFont typeface="Arial"/>
              <a:buNone/>
              <a:defRPr sz="1200" b="0" i="0" u="none" strike="noStrike" cap="none">
                <a:solidFill>
                  <a:schemeClr val="dk1"/>
                </a:solidFill>
                <a:latin typeface="Times"/>
                <a:ea typeface="Times"/>
                <a:cs typeface="Times"/>
                <a:sym typeface="Times"/>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21775"/>
            <a:ext cx="3170238" cy="479425"/>
          </a:xfrm>
          <a:prstGeom prst="rect">
            <a:avLst/>
          </a:prstGeom>
          <a:noFill/>
          <a:ln>
            <a:noFill/>
          </a:ln>
        </p:spPr>
        <p:txBody>
          <a:bodyPr spcFirstLastPara="1" wrap="square" lIns="99050" tIns="49525" rIns="99050" bIns="49525" anchor="b" anchorCtr="0">
            <a:noAutofit/>
          </a:bodyPr>
          <a:lstStyle>
            <a:lvl1pPr marR="0" lvl="0" algn="l" rtl="0">
              <a:lnSpc>
                <a:spcPct val="100000"/>
              </a:lnSpc>
              <a:spcBef>
                <a:spcPts val="0"/>
              </a:spcBef>
              <a:spcAft>
                <a:spcPts val="0"/>
              </a:spcAft>
              <a:buClr>
                <a:srgbClr val="000000"/>
              </a:buClr>
              <a:buSzPts val="1400"/>
              <a:buFont typeface="Arial"/>
              <a:buNone/>
              <a:defRPr sz="1300" b="0" i="0" u="none" strike="noStrike" cap="none">
                <a:solidFill>
                  <a:schemeClr val="dk1"/>
                </a:solidFill>
                <a:latin typeface="Times"/>
                <a:ea typeface="Times"/>
                <a:cs typeface="Times"/>
                <a:sym typeface="Times"/>
              </a:defRPr>
            </a:lvl1pPr>
            <a:lvl2pPr marR="0" lvl="1"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2pPr>
            <a:lvl3pPr marR="0" lvl="2"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3pPr>
            <a:lvl4pPr marR="0" lvl="3"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4pPr>
            <a:lvl5pPr marR="0" lvl="4"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5pPr>
            <a:lvl6pPr marR="0" lvl="5"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6pPr>
            <a:lvl7pPr marR="0" lvl="6"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7pPr>
            <a:lvl8pPr marR="0" lvl="7"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8pPr>
            <a:lvl9pPr marR="0" lvl="8"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Times"/>
                <a:ea typeface="Times"/>
                <a:cs typeface="Times"/>
                <a:sym typeface="Times"/>
              </a:defRPr>
            </a:lvl9pPr>
          </a:lstStyle>
          <a:p>
            <a:endParaRPr/>
          </a:p>
        </p:txBody>
      </p:sp>
      <p:sp>
        <p:nvSpPr>
          <p:cNvPr id="8" name="Google Shape;8;n"/>
          <p:cNvSpPr txBox="1">
            <a:spLocks noGrp="1"/>
          </p:cNvSpPr>
          <p:nvPr>
            <p:ph type="sldNum" idx="12"/>
          </p:nvPr>
        </p:nvSpPr>
        <p:spPr>
          <a:xfrm>
            <a:off x="4144963" y="9121775"/>
            <a:ext cx="3170237" cy="479425"/>
          </a:xfrm>
          <a:prstGeom prst="rect">
            <a:avLst/>
          </a:prstGeom>
          <a:noFill/>
          <a:ln>
            <a:noFill/>
          </a:ln>
        </p:spPr>
        <p:txBody>
          <a:bodyPr spcFirstLastPara="1" wrap="square" lIns="99050" tIns="49525" rIns="99050" bIns="49525" anchor="b" anchorCtr="0">
            <a:noAutofit/>
          </a:bodyPr>
          <a:lstStyle/>
          <a:p>
            <a:pPr marL="0" marR="0" lvl="0" indent="0" algn="r" rtl="0">
              <a:lnSpc>
                <a:spcPct val="100000"/>
              </a:lnSpc>
              <a:spcBef>
                <a:spcPts val="0"/>
              </a:spcBef>
              <a:spcAft>
                <a:spcPts val="0"/>
              </a:spcAft>
              <a:buClr>
                <a:srgbClr val="000000"/>
              </a:buClr>
              <a:buSzPts val="1300"/>
              <a:buFont typeface="Arial"/>
              <a:buNone/>
            </a:pPr>
            <a:fld id="{00000000-1234-1234-1234-123412341234}" type="slidenum">
              <a:rPr lang="en-US" sz="1300" b="0" i="0" u="none" strike="noStrike" cap="none">
                <a:solidFill>
                  <a:schemeClr val="dk1"/>
                </a:solidFill>
                <a:latin typeface="Times"/>
                <a:ea typeface="Times"/>
                <a:cs typeface="Times"/>
                <a:sym typeface="Times"/>
              </a:rPr>
              <a:t>‹#›</a:t>
            </a:fld>
            <a:endParaRPr sz="1300" b="0" i="0" u="none" strike="noStrike" cap="none">
              <a:solidFill>
                <a:schemeClr val="dk1"/>
              </a:solidFill>
              <a:latin typeface="Times"/>
              <a:ea typeface="Times"/>
              <a:cs typeface="Times"/>
              <a:sym typeface="Times"/>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'Tuesday we closed Table 4 and I showed you the corrected counting pipeline, with Table 7 reproducing exactly. And I promised the Bayesian network for today. So: the network I built and where every number in it comes from, a worked example, then every remaining table in the paper compared against ours, Tables 8 and 9 and Figures 11 and 12, then the trees live in the app, and we end with the writing plan.'</a:t>
            </a:r>
          </a:p>
          <a:p>
            <a:endParaRPr/>
          </a:p>
          <a:p>
            <a:r>
              <a:t>One minute, no more. Table 4 and Figure 3 stay in the appendix unless HE brings them up.</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'First, what I built. I did not load his network file and I did not use his GeNIe software. I took the recipe from Section 4 of the paper and implemented every step myself over our 1,742 accidents. The network is a graph: every node is an event or a finding, an arrow means one thing leads to another. And the arrows are not drawn by hand. They come from the data: findings point at the occurrence they explain, and the event sequence of each accident gives the forward arrows: fire, then emergency descent, then forced landing. Each node holds a small probability table, and once those are filled in you can clamp anything you know and the network answers in both directions: what likely caused this, and what likely comes next. The result is 785 nodes and 1,438 arcs.'</a:t>
            </a:r>
          </a:p>
          <a:p>
            <a:endParaRPr/>
          </a:p>
          <a:p>
            <a:r>
              <a:t>IF HE ASKS why not use his file: 'I did load it as a cross check, and that revealed something I will show you in a few slides. For the paper, ours has to be rebuildable from the data.'</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'Where do the numbers in those tables come from. Three cases. First, priors for the root events: the number of accidents where the event occurred divided by 184,517,128 flights, his Equation 6. Fire occurred in 102 accidents, so the prior is five and a half in ten million, same as the paper. And that is the ONLY place the flight count appears: every conditional probability is counted among accidents. Second, one-parent cells are counted directly: among accidents where the parent appears, in how many does the child follow. Capped at 0.95, because one out of one is one data point, not certainty. Real example: improper oil grade appears in exactly one accident, and it lost engine power. One out of one, capped, 0.95, and that is literally the cell in his Table 9. Third, many-parent cells cannot be counted, the combinations are too sparse, so he fits a curve, a Beta-CDF, calibrated so the single-event values match the counts, parents capped at twelve. We implement the same. So every number in the network is a count, a capped count, or a curve fit to counts. Inference runs on pyAgrum, open source, the same exact computation GeNIe runs.'</a:t>
            </a:r>
          </a:p>
          <a:p>
            <a:endParaRPr/>
          </a:p>
          <a:p>
            <a:r>
              <a:t>Pronunciation: pyAgrum = PIE-ah-grum. GeNIe = GENIE.</a:t>
            </a:r>
          </a:p>
          <a:p>
            <a:r>
              <a:t>WATCH OUT: 184M belongs to the priors ONLY.</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'Let me run an example instead of talking abstractly. I tell the network one thing: there was a loss of engine power. It propagates that evidence through all 785 nodes and returns the probability of every outcome. That is exactly the question behind his Table 9, so his published column goes right next to ours. No injury: he publishes 0.99, we get 0.95. Substantial damage: 0.017 vs our 0.022. Destroyed: 0.0056 vs our 0.029. Same question, same recipe, independently built network, and the answers line up. One honest row: serious injury, his 0.008 vs our 0.016, about double. Small probabilities move easily. Where the numbers really moved, I traced why, and that is coming in two slides.'</a:t>
            </a:r>
          </a:p>
          <a:p>
            <a:endParaRPr/>
          </a:p>
          <a:p>
            <a:r>
              <a:t>Numbers: outputs/bn_upgraded.json table9 (upgraded network).</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'Here is the moment that justifies the network. The last slide, counting could still answer: fourteen accidents have a loss of engine power, count the outcomes inside those fourteen. Noisy, but possible. Now add one more fact, which every real investigation has: the pilot in command was a factor. Only FOUR accidents in the entire dataset match both. Nobody estimates a probability from four accidents. Counting is done. The network does not filter rows: it propagates both evidences through the graph and still returns a full grounded answer. That is why the paper builds a Bayesian network and why we built one. I will run this exact query live in a few minutes.'</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'Table 8 is a what-if experiment: he dials the prior on a landing-gear strut problem up, step by step, and watches how the probability of gear collapse responds. This is something counting can NEVER do: there is nothing to count in a hypothetical world where struts fail ten times more often. Only the network can answer it. We ran the same dial on ours: 18 of the 24 cells exact, 5 close, 1 different. Read one row: set the strut prior to 0.065 and he gets gear collapse at 0.0162, we get 0.0163.'</a:t>
            </a:r>
          </a:p>
          <a:p>
            <a:endParaRPr/>
          </a:p>
          <a:p>
            <a:r>
              <a:t>Verdicts: outputs/bn_full_comparison.json, Table 8 section = 18 EXACT, 5 CLOSE, 1 DIFFERS.</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'Figures 11 and 12 are his multi-evidence demonstrations. Figure 12 conditions on pilot-in-command, and on Tuesday these four cells were not even runnable on our network, our graph had no person nodes. The person information was in our findings all along, the graph just never used it. Wire person nodes in, like his network has, and all four now come out close: no injury he publishes 0.97, we get 0.94. Figure 11 is directional: does damage rise as evidence accumulates. Ours moves in the same direction on all three checks. And his Section 5.2 gear-collapse chain: given the strut finding he gets 0.25, we get 0.25 exact; stack the evidence to three pieces and he reaches 0.894, we reach 0.855, close.'</a:t>
            </a:r>
          </a:p>
          <a:p>
            <a:endParaRPr/>
          </a:p>
          <a:p>
            <a:r>
              <a:t>DO NOT say we added or rebuilt a data file. Nothing was added: the graph now uses fields it was ignoring.</a:t>
            </a:r>
          </a:p>
          <a:p>
            <a:endParaRPr/>
          </a:p>
          <a:p>
            <a:r>
              <a:t>Sources: outputs/bn_upgraded.json fig12; bn_full_comparison Sec 5.2 text (1 exact, 3 close) and Fig 11 (3 of 3 directions match).</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rPr dirty="0"/>
              <a:t>SAY: 'So where did the gaps come from. One finding and two fixes. The finding: I went into his released code line by line, and when his builder picks which parents a node keeps, it adds RANDOM jitter to break ties. Every run of his own code produces a different network. I rebuilt his network thirty times with his own randomization: the disputed cells swing by up to six orders of magnitude between builds, and his own released network file misses the published values on ten of the eleven worst cells too. So those numbers cannot be regenerated even from his own code. Not an attack: the method is sound and most numbers reproduce. It is a reproducibility finding, and our deterministic build is the fix. Then the two upgrades. People: his Figure 12 conditions on pilot-in-command and our graph had no person nodes. The person findings were in our data all along; the graph now uses them. And severity: the faithful recipe models each injury level as its own on-off switch, and that structure cannot say nothing happened. It forced the probability of no injury to near zero when most accidents have no injuries. One injury node with four states that sum to one, same for damage, and the worst rows snap into place: no injury from an impossible 0.02 to 0.95 against his 0.99.'</a:t>
            </a:r>
          </a:p>
          <a:p>
            <a:endParaRPr dirty="0"/>
          </a:p>
          <a:p>
            <a:r>
              <a:rPr dirty="0"/>
              <a:t>IF HE ASKS 'is his paper wrong?': 'No. Most numbers reproduce and the method is sound. The deep posteriors depend on which random build you get; ours removes the randomness.'</a:t>
            </a:r>
          </a:p>
          <a:p>
            <a:r>
              <a:rPr dirty="0"/>
              <a:t>IF HE ASKS 'can the last 12 be fixed?': 'Not by us. They would need his exact random build, which even his own code cannot regenerate. That is the finding.'</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'Everything together. Every number in the paper that depends on the network, ninety three of them, scored twice: the faithful first pass, and after the two fixes. Forty eight exact, twenty nine close: 77 of 93, and each of the remaining twelve has a documented traced cause, mostly his build variance. So the sentence for the paper is: every published number is reproduced or explained with evidence. Nothing is a mystery.'</a:t>
            </a:r>
          </a:p>
          <a:p>
            <a:endParaRPr/>
          </a:p>
          <a:p>
            <a:r>
              <a:t>Sources: outputs/bn_full_comparison.json, outputs/bn_upgraded_full.json, per-cell notes in outputs/BN_COMPARISON_REPORT.md and the app.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DEMO SCRIPT (about 7 min). The app reads top to bottom; scroll and narrate.</a:t>
            </a:r>
          </a:p>
          <a:p>
            <a:r>
              <a:t>1. Diagnosis mode, query 'engine caught fire during takeoff', Run analysis. Metrics: 'it detected fire, 102 accidents, the exact Table 7 denominator.'</a:t>
            </a:r>
          </a:p>
          <a:p>
            <a:r>
              <a:t>2. Causes table: 'Table 7 counting re-run live, wiring nine of 102.'</a:t>
            </a:r>
          </a:p>
          <a:p>
            <a:r>
              <a:t>3. Comparison panel: flip neutral vs similarity ONCE: 'with neutral weights we get Table 7 back exactly; with similarity weights the query tilts the answer by a measured amount.'</a:t>
            </a:r>
          </a:p>
          <a:p>
            <a:r>
              <a:t>4. Diagnosis tree: 'left is the outcome, right is upstream: under wiring sit circuit breakers and maintenance findings, each backed by two accidents.' Open the exclusion audit: 'evacuation appears after the fire every time, so the rule excludes it. Counting, not opinion.'</a:t>
            </a:r>
          </a:p>
          <a:p>
            <a:r>
              <a:t>5. Prognosis mode: 'forward in time, every path ends in the dark boxes: damage and injury, your derivation.'</a:t>
            </a:r>
          </a:p>
          <a:p>
            <a:r>
              <a:t>6. The network panel (first open builds it, ~20 s, say so). Preset Table 9 LOEP: his column next to ours. Then preset LOEP + pilot: 'four accidents match both. Counting is dead. The network still answers. This is why it exists.'</a:t>
            </a:r>
          </a:p>
          <a:p>
            <a:r>
              <a:t>7. If time: the epilogue section: Table 7 side by side 85/85 and the 93-cell scoreboard.</a:t>
            </a:r>
          </a:p>
          <a:p>
            <a:endParaRPr/>
          </a:p>
          <a:p>
            <a:r>
              <a:t>PRACTICAL: warm the app before the meeting (run the fire query, open the network toggle once so the ~20 s build is cached). If a click seems to do nothing, click once more.</a:t>
            </a:r>
          </a:p>
          <a:p>
            <a:r>
              <a:t>WATCH OUT: within-102 counting for causes; 184M flights is the priors' denominator only.</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'So my read: the analysis phase is done. Everything the paper publishes is reproduced, close, or explained with a traced cause. Next is writing: I have a working draft, and the methodology and validation sections need to be brought up to date with what you saw today, plus a re-run of the held-out evaluation with the corrected counting. What do you want me to prioritize first?' Then stop talking and let him direct.</a:t>
            </a:r>
          </a:p>
          <a:p>
            <a:endParaRPr/>
          </a:p>
          <a:p>
            <a:r>
              <a:t>DO NOT say the draft is nearly submittable or that only small edits remain.</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'Now the tables, one by one. Table 7 first: probability of each cause given a fire. His denominator is 102 fire accidents, ours is 102, and all 85 cells match exactly. Wiring nine out of 102, airframe 32 out of 102, identical to the digit. This one is pure counting and it is the anchor everything else stands on.'</a:t>
            </a:r>
          </a:p>
          <a:p>
            <a:endParaRPr/>
          </a:p>
          <a:p>
            <a:r>
              <a:t>Source: docs/table7_full_reproduction.csv, 85/85. The app shows the full side-by-side table.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SAY: 'Table 9 is the big one: fifty cells around loss of engine power, forward edges and outcome posteriors. Every single-parent forward edge comes out exact: the 0.95, the 0.50, forced landing 0.1429, instruments 0.1357. Those are counting, and counting reproduces. First pass: 23 exact, 6 close, 21 different, and the 21 were almost all the damage and injury rows. Those needed one structural fix, two slides from now, and after it they sit next to his values, like the outcome rows you saw in the example.'</a:t>
            </a:r>
          </a:p>
          <a:p>
            <a:endParaRPr/>
          </a:p>
          <a:p>
            <a:r>
              <a:t>First-pass verdicts from outputs/bn_full_comparison.json: Table 9 = 23 exact, 6 close, 21 differs. After the severity fix the damage/injury rows move to the values in slide 5.</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Only if he asks to walk the twelve. Per-cell notes: the app's comparison section (filter to DIFFERS) and outputs/BN_COMPARISON_REPORT.md.</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ONLY if he reopens Table 4. 'We closed this Tuesday: Table 4 is the Section 3 teaching example. Its values cannot be produced by counting with any estimator we tried, and the paper's own data method is Section 4, which is what we implement and what reproduces.' Never say fake or wrong: say illustrative, worked example.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ONLY if he asks about Figure 3. 'You asked whether Figure 3 can be reproduced. I took only what the paper prints, Tables 3, 4 and 5, and pushed them through Bayes' rule: every number comes out exactly, including the 0.67 to 0.33 split. So yes, it is internally consistent, and since the inputs are the Section 3 illustrative tables it is a correct worked example rather than a data result.'</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
          <p:cNvSpPr txBox="1">
            <a:spLocks noGrp="1"/>
          </p:cNvSpPr>
          <p:nvPr>
            <p:ph type="ctrTitle"/>
          </p:nvPr>
        </p:nvSpPr>
        <p:spPr>
          <a:xfrm>
            <a:off x="609600" y="1752600"/>
            <a:ext cx="10972800" cy="11430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44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17" name="Google Shape;17;p4"/>
          <p:cNvSpPr txBox="1">
            <a:spLocks noGrp="1"/>
          </p:cNvSpPr>
          <p:nvPr>
            <p:ph type="subTitle" idx="1"/>
          </p:nvPr>
        </p:nvSpPr>
        <p:spPr>
          <a:xfrm>
            <a:off x="1828800" y="3352800"/>
            <a:ext cx="8534400" cy="17526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1600"/>
              </a:spcBef>
              <a:spcAft>
                <a:spcPts val="0"/>
              </a:spcAft>
              <a:buClr>
                <a:srgbClr val="24459C"/>
              </a:buClr>
              <a:buSzPts val="3520"/>
              <a:buFont typeface="Times"/>
              <a:buNone/>
              <a:defRPr sz="3200" b="0" i="0" u="none" strike="noStrike" cap="none">
                <a:solidFill>
                  <a:schemeClr val="dk1"/>
                </a:solidFill>
                <a:latin typeface="Arial"/>
                <a:ea typeface="Arial"/>
                <a:cs typeface="Arial"/>
                <a:sym typeface="Arial"/>
              </a:defRPr>
            </a:lvl1pPr>
            <a:lvl2pPr marR="0" lvl="1"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R="0" lvl="2"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R="0" lvl="3"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R="0" lvl="4"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R="0" lvl="5"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R="0" lvl="6"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R="0" lvl="7"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R="0" lvl="8"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609601" y="274639"/>
            <a:ext cx="9682348" cy="69913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0" name="Google Shape;20;p5"/>
          <p:cNvSpPr txBox="1">
            <a:spLocks noGrp="1"/>
          </p:cNvSpPr>
          <p:nvPr>
            <p:ph type="body" idx="1"/>
          </p:nvPr>
        </p:nvSpPr>
        <p:spPr>
          <a:xfrm>
            <a:off x="609600" y="1092531"/>
            <a:ext cx="10972800" cy="503363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chemeClr val="dk1"/>
              </a:buClr>
              <a:buSzPts val="264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Narrow"/>
                <a:ea typeface="Arial Narrow"/>
                <a:cs typeface="Arial Narrow"/>
                <a:sym typeface="Arial Narrow"/>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4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3" name="Google Shape;23;p6"/>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000"/>
              </a:spcBef>
              <a:spcAft>
                <a:spcPts val="0"/>
              </a:spcAft>
              <a:buClr>
                <a:srgbClr val="24459C"/>
              </a:buClr>
              <a:buSzPts val="2200"/>
              <a:buFont typeface="Times"/>
              <a:buNone/>
              <a:defRPr sz="2000" b="0" i="0" u="none" strike="noStrike" cap="none">
                <a:solidFill>
                  <a:schemeClr val="dk1"/>
                </a:solidFill>
                <a:latin typeface="Arial"/>
                <a:ea typeface="Arial"/>
                <a:cs typeface="Arial"/>
                <a:sym typeface="Arial"/>
              </a:defRPr>
            </a:lvl1pPr>
            <a:lvl2pPr marL="914400" marR="0" lvl="1" indent="-228600" algn="l" rtl="0">
              <a:lnSpc>
                <a:spcPct val="100000"/>
              </a:lnSpc>
              <a:spcBef>
                <a:spcPts val="180"/>
              </a:spcBef>
              <a:spcAft>
                <a:spcPts val="0"/>
              </a:spcAft>
              <a:buClr>
                <a:schemeClr val="dk1"/>
              </a:buClr>
              <a:buSzPts val="1800"/>
              <a:buFont typeface="Times"/>
              <a:buNone/>
              <a:defRPr sz="1800" b="0" i="0" u="none" strike="noStrike" cap="none">
                <a:solidFill>
                  <a:schemeClr val="dk1"/>
                </a:solidFill>
                <a:latin typeface="Arial"/>
                <a:ea typeface="Arial"/>
                <a:cs typeface="Arial"/>
                <a:sym typeface="Arial"/>
              </a:defRPr>
            </a:lvl2pPr>
            <a:lvl3pPr marL="1371600" marR="0" lvl="2" indent="-228600" algn="l" rtl="0">
              <a:lnSpc>
                <a:spcPct val="100000"/>
              </a:lnSpc>
              <a:spcBef>
                <a:spcPts val="160"/>
              </a:spcBef>
              <a:spcAft>
                <a:spcPts val="0"/>
              </a:spcAft>
              <a:buClr>
                <a:schemeClr val="dk1"/>
              </a:buClr>
              <a:buSzPts val="1600"/>
              <a:buFont typeface="Times"/>
              <a:buNone/>
              <a:defRPr sz="1600" b="0" i="0" u="none" strike="noStrike" cap="none">
                <a:solidFill>
                  <a:schemeClr val="dk1"/>
                </a:solidFill>
                <a:latin typeface="Arial"/>
                <a:ea typeface="Arial"/>
                <a:cs typeface="Arial"/>
                <a:sym typeface="Arial"/>
              </a:defRPr>
            </a:lvl3pPr>
            <a:lvl4pPr marL="1828800" marR="0" lvl="3"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4pPr>
            <a:lvl5pPr marL="2286000" marR="0" lvl="4"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5pPr>
            <a:lvl6pPr marL="2743200" marR="0" lvl="5"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6pPr>
            <a:lvl7pPr marL="3200400" marR="0" lvl="6"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7pPr>
            <a:lvl8pPr marL="3657600" marR="0" lvl="7"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8pPr>
            <a:lvl9pPr marL="4114800" marR="0" lvl="8" indent="-228600" algn="l" rtl="0">
              <a:lnSpc>
                <a:spcPct val="100000"/>
              </a:lnSpc>
              <a:spcBef>
                <a:spcPts val="140"/>
              </a:spcBef>
              <a:spcAft>
                <a:spcPts val="0"/>
              </a:spcAft>
              <a:buClr>
                <a:schemeClr val="dk1"/>
              </a:buClr>
              <a:buSzPts val="1400"/>
              <a:buFont typeface="Times"/>
              <a:buNone/>
              <a:defRPr sz="14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609601" y="274638"/>
            <a:ext cx="9682348"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26" name="Google Shape;26;p7"/>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24180" algn="l" rtl="0">
              <a:lnSpc>
                <a:spcPct val="100000"/>
              </a:lnSpc>
              <a:spcBef>
                <a:spcPts val="1400"/>
              </a:spcBef>
              <a:spcAft>
                <a:spcPts val="0"/>
              </a:spcAft>
              <a:buClr>
                <a:srgbClr val="24459C"/>
              </a:buClr>
              <a:buSzPts val="3080"/>
              <a:buFont typeface="Times"/>
              <a:buChar char="•"/>
              <a:defRPr sz="2800" b="0" i="0" u="none" strike="noStrike" cap="none">
                <a:solidFill>
                  <a:schemeClr val="dk1"/>
                </a:solidFill>
                <a:latin typeface="Arial"/>
                <a:ea typeface="Arial"/>
                <a:cs typeface="Arial"/>
                <a:sym typeface="Arial"/>
              </a:defRPr>
            </a:lvl1pPr>
            <a:lvl2pPr marL="914400" marR="0" lvl="1"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27" name="Google Shape;27;p7"/>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424180" algn="l" rtl="0">
              <a:lnSpc>
                <a:spcPct val="100000"/>
              </a:lnSpc>
              <a:spcBef>
                <a:spcPts val="1400"/>
              </a:spcBef>
              <a:spcAft>
                <a:spcPts val="0"/>
              </a:spcAft>
              <a:buClr>
                <a:srgbClr val="24459C"/>
              </a:buClr>
              <a:buSzPts val="3080"/>
              <a:buFont typeface="Times"/>
              <a:buChar char="•"/>
              <a:defRPr sz="2800" b="0" i="0" u="none" strike="noStrike" cap="none">
                <a:solidFill>
                  <a:schemeClr val="dk1"/>
                </a:solidFill>
                <a:latin typeface="Arial"/>
                <a:ea typeface="Arial"/>
                <a:cs typeface="Arial"/>
                <a:sym typeface="Arial"/>
              </a:defRPr>
            </a:lvl1pPr>
            <a:lvl2pPr marL="914400" marR="0" lvl="1"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2pPr>
            <a:lvl3pPr marL="1371600" marR="0" lvl="2"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3pPr>
            <a:lvl4pPr marL="1828800" marR="0" lvl="3"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4pPr>
            <a:lvl5pPr marL="2286000" marR="0" lvl="4"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5pPr>
            <a:lvl6pPr marL="2743200" marR="0" lvl="5"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L="3200400" marR="0" lvl="6"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L="3657600" marR="0" lvl="7"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L="4114800" marR="0" lvl="8" indent="-228600" algn="l" rtl="0">
              <a:lnSpc>
                <a:spcPct val="100000"/>
              </a:lnSpc>
              <a:spcBef>
                <a:spcPts val="18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30" name="Google Shape;30;p8"/>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200"/>
              </a:spcBef>
              <a:spcAft>
                <a:spcPts val="0"/>
              </a:spcAft>
              <a:buClr>
                <a:srgbClr val="24459C"/>
              </a:buClr>
              <a:buSzPts val="2640"/>
              <a:buFont typeface="Times"/>
              <a:buNone/>
              <a:defRPr sz="24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2000"/>
              <a:buFont typeface="Times"/>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
              </a:spcBef>
              <a:spcAft>
                <a:spcPts val="0"/>
              </a:spcAft>
              <a:buClr>
                <a:schemeClr val="dk1"/>
              </a:buClr>
              <a:buSzPts val="1800"/>
              <a:buFont typeface="Times"/>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9pPr>
          </a:lstStyle>
          <a:p>
            <a:endParaRPr/>
          </a:p>
        </p:txBody>
      </p:sp>
      <p:sp>
        <p:nvSpPr>
          <p:cNvPr id="31" name="Google Shape;31;p8"/>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32" name="Google Shape;32;p8"/>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100000"/>
              </a:lnSpc>
              <a:spcBef>
                <a:spcPts val="1200"/>
              </a:spcBef>
              <a:spcAft>
                <a:spcPts val="0"/>
              </a:spcAft>
              <a:buClr>
                <a:srgbClr val="24459C"/>
              </a:buClr>
              <a:buSzPts val="2640"/>
              <a:buFont typeface="Times"/>
              <a:buNone/>
              <a:defRPr sz="2400" b="1" i="0" u="none" strike="noStrike" cap="none">
                <a:solidFill>
                  <a:schemeClr val="dk1"/>
                </a:solidFill>
                <a:latin typeface="Arial"/>
                <a:ea typeface="Arial"/>
                <a:cs typeface="Arial"/>
                <a:sym typeface="Arial"/>
              </a:defRPr>
            </a:lvl1pPr>
            <a:lvl2pPr marL="914400" marR="0" lvl="1" indent="-228600" algn="l" rtl="0">
              <a:lnSpc>
                <a:spcPct val="100000"/>
              </a:lnSpc>
              <a:spcBef>
                <a:spcPts val="200"/>
              </a:spcBef>
              <a:spcAft>
                <a:spcPts val="0"/>
              </a:spcAft>
              <a:buClr>
                <a:schemeClr val="dk1"/>
              </a:buClr>
              <a:buSzPts val="2000"/>
              <a:buFont typeface="Times"/>
              <a:buNone/>
              <a:defRPr sz="2000" b="1" i="0" u="none" strike="noStrike" cap="none">
                <a:solidFill>
                  <a:schemeClr val="dk1"/>
                </a:solidFill>
                <a:latin typeface="Arial"/>
                <a:ea typeface="Arial"/>
                <a:cs typeface="Arial"/>
                <a:sym typeface="Arial"/>
              </a:defRPr>
            </a:lvl2pPr>
            <a:lvl3pPr marL="1371600" marR="0" lvl="2" indent="-228600" algn="l" rtl="0">
              <a:lnSpc>
                <a:spcPct val="100000"/>
              </a:lnSpc>
              <a:spcBef>
                <a:spcPts val="180"/>
              </a:spcBef>
              <a:spcAft>
                <a:spcPts val="0"/>
              </a:spcAft>
              <a:buClr>
                <a:schemeClr val="dk1"/>
              </a:buClr>
              <a:buSzPts val="1800"/>
              <a:buFont typeface="Times"/>
              <a:buNone/>
              <a:defRPr sz="1800" b="1" i="0" u="none" strike="noStrike" cap="none">
                <a:solidFill>
                  <a:schemeClr val="dk1"/>
                </a:solidFill>
                <a:latin typeface="Arial"/>
                <a:ea typeface="Arial"/>
                <a:cs typeface="Arial"/>
                <a:sym typeface="Arial"/>
              </a:defRPr>
            </a:lvl3pPr>
            <a:lvl4pPr marL="1828800" marR="0" lvl="3"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4pPr>
            <a:lvl5pPr marL="2286000" marR="0" lvl="4"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chemeClr val="dk1"/>
              </a:buClr>
              <a:buSzPts val="1600"/>
              <a:buFont typeface="Times"/>
              <a:buNone/>
              <a:defRPr sz="1600" b="1" i="0" u="none" strike="noStrike" cap="none">
                <a:solidFill>
                  <a:schemeClr val="dk1"/>
                </a:solidFill>
                <a:latin typeface="Arial"/>
                <a:ea typeface="Arial"/>
                <a:cs typeface="Arial"/>
                <a:sym typeface="Arial"/>
              </a:defRPr>
            </a:lvl9pPr>
          </a:lstStyle>
          <a:p>
            <a:endParaRPr/>
          </a:p>
        </p:txBody>
      </p:sp>
      <p:sp>
        <p:nvSpPr>
          <p:cNvPr id="33" name="Google Shape;33;p8"/>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42900" algn="l" rtl="0">
              <a:lnSpc>
                <a:spcPct val="100000"/>
              </a:lnSpc>
              <a:spcBef>
                <a:spcPts val="180"/>
              </a:spcBef>
              <a:spcAft>
                <a:spcPts val="0"/>
              </a:spcAft>
              <a:buClr>
                <a:schemeClr val="dk1"/>
              </a:buClr>
              <a:buSzPts val="1800"/>
              <a:buFont typeface="Times"/>
              <a:buChar char="–"/>
              <a:defRPr sz="18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9"/>
          <p:cNvSpPr txBox="1">
            <a:spLocks noGrp="1"/>
          </p:cNvSpPr>
          <p:nvPr>
            <p:ph type="title"/>
          </p:nvPr>
        </p:nvSpPr>
        <p:spPr>
          <a:xfrm>
            <a:off x="609600" y="274638"/>
            <a:ext cx="9508176"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7"/>
        <p:cNvGrpSpPr/>
        <p:nvPr/>
      </p:nvGrpSpPr>
      <p:grpSpPr>
        <a:xfrm>
          <a:off x="0" y="0"/>
          <a:ext cx="0" cy="0"/>
          <a:chOff x="0" y="0"/>
          <a:chExt cx="0" cy="0"/>
        </a:xfrm>
      </p:grpSpPr>
      <p:sp>
        <p:nvSpPr>
          <p:cNvPr id="38" name="Google Shape;38;p11"/>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39" name="Google Shape;39;p11"/>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marR="0" lvl="0" indent="-452120" algn="l" rtl="0">
              <a:lnSpc>
                <a:spcPct val="100000"/>
              </a:lnSpc>
              <a:spcBef>
                <a:spcPts val="1600"/>
              </a:spcBef>
              <a:spcAft>
                <a:spcPts val="0"/>
              </a:spcAft>
              <a:buClr>
                <a:srgbClr val="24459C"/>
              </a:buClr>
              <a:buSzPts val="3520"/>
              <a:buFont typeface="Times"/>
              <a:buChar char="•"/>
              <a:defRPr sz="3200" b="0" i="0" u="none" strike="noStrike" cap="none">
                <a:solidFill>
                  <a:schemeClr val="dk1"/>
                </a:solidFill>
                <a:latin typeface="Arial"/>
                <a:ea typeface="Arial"/>
                <a:cs typeface="Arial"/>
                <a:sym typeface="Arial"/>
              </a:defRPr>
            </a:lvl1pPr>
            <a:lvl2pPr marL="914400" marR="0" lvl="1" indent="-406400" algn="l" rtl="0">
              <a:lnSpc>
                <a:spcPct val="100000"/>
              </a:lnSpc>
              <a:spcBef>
                <a:spcPts val="280"/>
              </a:spcBef>
              <a:spcAft>
                <a:spcPts val="0"/>
              </a:spcAft>
              <a:buClr>
                <a:schemeClr val="dk1"/>
              </a:buClr>
              <a:buSzPts val="2800"/>
              <a:buFont typeface="Times"/>
              <a:buChar char="–"/>
              <a:defRPr sz="28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4pPr>
            <a:lvl5pPr marL="2286000" marR="0" lvl="4"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5pPr>
            <a:lvl6pPr marL="2743200" marR="0" lvl="5"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6pPr>
            <a:lvl7pPr marL="3200400" marR="0" lvl="6"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7pPr>
            <a:lvl8pPr marL="3657600" marR="0" lvl="7"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8pPr>
            <a:lvl9pPr marL="4114800" marR="0" lvl="8" indent="-228600" algn="l" rtl="0">
              <a:lnSpc>
                <a:spcPct val="100000"/>
              </a:lnSpc>
              <a:spcBef>
                <a:spcPts val="200"/>
              </a:spcBef>
              <a:spcAft>
                <a:spcPts val="0"/>
              </a:spcAft>
              <a:buClr>
                <a:srgbClr val="000000"/>
              </a:buClr>
              <a:buSzPts val="1400"/>
              <a:buFont typeface="Arial"/>
              <a:buNone/>
              <a:defRPr sz="2000" b="0" i="0" u="none" strike="noStrike" cap="none">
                <a:solidFill>
                  <a:schemeClr val="dk1"/>
                </a:solidFill>
                <a:latin typeface="Arial"/>
                <a:ea typeface="Arial"/>
                <a:cs typeface="Arial"/>
                <a:sym typeface="Arial"/>
              </a:defRPr>
            </a:lvl9pPr>
          </a:lstStyle>
          <a:p>
            <a:endParaRPr/>
          </a:p>
        </p:txBody>
      </p:sp>
      <p:sp>
        <p:nvSpPr>
          <p:cNvPr id="40" name="Google Shape;40;p1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00"/>
              </a:spcBef>
              <a:spcAft>
                <a:spcPts val="0"/>
              </a:spcAft>
              <a:buClr>
                <a:srgbClr val="24459C"/>
              </a:buClr>
              <a:buSzPts val="1540"/>
              <a:buFont typeface="Times"/>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120"/>
              </a:spcBef>
              <a:spcAft>
                <a:spcPts val="0"/>
              </a:spcAft>
              <a:buClr>
                <a:schemeClr val="dk1"/>
              </a:buClr>
              <a:buSzPts val="1200"/>
              <a:buFont typeface="Times"/>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1000"/>
              <a:buFont typeface="Times"/>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4pPr>
            <a:lvl5pPr marL="2286000" marR="0" lvl="4"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5pPr>
            <a:lvl6pPr marL="2743200" marR="0" lvl="5"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6pPr>
            <a:lvl7pPr marL="3200400" marR="0" lvl="6"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7pPr>
            <a:lvl8pPr marL="3657600" marR="0" lvl="7"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8pPr>
            <a:lvl9pPr marL="4114800" marR="0" lvl="8"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12"/>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2000" b="1" i="0" u="none" strike="noStrike" cap="none">
                <a:solidFill>
                  <a:srgbClr val="24459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43" name="Google Shape;43;p12"/>
          <p:cNvSpPr>
            <a:spLocks noGrp="1"/>
          </p:cNvSpPr>
          <p:nvPr>
            <p:ph type="pic" idx="2"/>
          </p:nvPr>
        </p:nvSpPr>
        <p:spPr>
          <a:xfrm>
            <a:off x="2389717" y="612775"/>
            <a:ext cx="7315200" cy="4114800"/>
          </a:xfrm>
          <a:prstGeom prst="rect">
            <a:avLst/>
          </a:prstGeom>
          <a:noFill/>
          <a:ln>
            <a:noFill/>
          </a:ln>
        </p:spPr>
      </p:sp>
      <p:sp>
        <p:nvSpPr>
          <p:cNvPr id="44" name="Google Shape;44;p12"/>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700"/>
              </a:spcBef>
              <a:spcAft>
                <a:spcPts val="0"/>
              </a:spcAft>
              <a:buClr>
                <a:srgbClr val="24459C"/>
              </a:buClr>
              <a:buSzPts val="1540"/>
              <a:buFont typeface="Times"/>
              <a:buNone/>
              <a:defRPr sz="1400" b="0" i="0" u="none" strike="noStrike" cap="none">
                <a:solidFill>
                  <a:schemeClr val="dk1"/>
                </a:solidFill>
                <a:latin typeface="Arial"/>
                <a:ea typeface="Arial"/>
                <a:cs typeface="Arial"/>
                <a:sym typeface="Arial"/>
              </a:defRPr>
            </a:lvl1pPr>
            <a:lvl2pPr marL="914400" marR="0" lvl="1" indent="-228600" algn="l" rtl="0">
              <a:lnSpc>
                <a:spcPct val="100000"/>
              </a:lnSpc>
              <a:spcBef>
                <a:spcPts val="120"/>
              </a:spcBef>
              <a:spcAft>
                <a:spcPts val="0"/>
              </a:spcAft>
              <a:buClr>
                <a:schemeClr val="dk1"/>
              </a:buClr>
              <a:buSzPts val="1200"/>
              <a:buFont typeface="Times"/>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100"/>
              </a:spcBef>
              <a:spcAft>
                <a:spcPts val="0"/>
              </a:spcAft>
              <a:buClr>
                <a:schemeClr val="dk1"/>
              </a:buClr>
              <a:buSzPts val="1000"/>
              <a:buFont typeface="Times"/>
              <a:buNone/>
              <a:defRPr sz="1000" b="0" i="0" u="none" strike="noStrike" cap="none">
                <a:solidFill>
                  <a:schemeClr val="dk1"/>
                </a:solidFill>
                <a:latin typeface="Arial"/>
                <a:ea typeface="Arial"/>
                <a:cs typeface="Arial"/>
                <a:sym typeface="Arial"/>
              </a:defRPr>
            </a:lvl3pPr>
            <a:lvl4pPr marL="1828800" marR="0" lvl="3"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4pPr>
            <a:lvl5pPr marL="2286000" marR="0" lvl="4"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5pPr>
            <a:lvl6pPr marL="2743200" marR="0" lvl="5"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6pPr>
            <a:lvl7pPr marL="3200400" marR="0" lvl="6"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7pPr>
            <a:lvl8pPr marL="3657600" marR="0" lvl="7"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8pPr>
            <a:lvl9pPr marL="4114800" marR="0" lvl="8" indent="-228600" algn="l" rtl="0">
              <a:lnSpc>
                <a:spcPct val="100000"/>
              </a:lnSpc>
              <a:spcBef>
                <a:spcPts val="90"/>
              </a:spcBef>
              <a:spcAft>
                <a:spcPts val="0"/>
              </a:spcAft>
              <a:buClr>
                <a:schemeClr val="dk1"/>
              </a:buClr>
              <a:buSzPts val="900"/>
              <a:buFont typeface="Times"/>
              <a:buNone/>
              <a:defRPr sz="9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45"/>
        <p:cNvGrpSpPr/>
        <p:nvPr/>
      </p:nvGrpSpPr>
      <p:grpSpPr>
        <a:xfrm>
          <a:off x="0" y="0"/>
          <a:ext cx="0" cy="0"/>
          <a:chOff x="0" y="0"/>
          <a:chExt cx="0" cy="0"/>
        </a:xfrm>
      </p:grpSpPr>
      <p:sp>
        <p:nvSpPr>
          <p:cNvPr id="46" name="Google Shape;46;p1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47" name="Google Shape;47;p13"/>
          <p:cNvSpPr txBox="1">
            <a:spLocks noGrp="1"/>
          </p:cNvSpPr>
          <p:nvPr>
            <p:ph type="body" idx="1"/>
          </p:nvPr>
        </p:nvSpPr>
        <p:spPr>
          <a:xfrm rot="5400000">
            <a:off x="3833019" y="-1623218"/>
            <a:ext cx="4525963" cy="10972800"/>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rot="5400000">
            <a:off x="7285038" y="1828802"/>
            <a:ext cx="5851525" cy="2743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50" name="Google Shape;50;p1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Arial"/>
                <a:ea typeface="Arial"/>
                <a:cs typeface="Arial"/>
                <a:sym typeface="Arial"/>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Arial"/>
                <a:ea typeface="Arial"/>
                <a:cs typeface="Arial"/>
                <a:sym typeface="Arial"/>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Arial"/>
                <a:ea typeface="Arial"/>
                <a:cs typeface="Arial"/>
                <a:sym typeface="Arial"/>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Arial"/>
                <a:ea typeface="Arial"/>
                <a:cs typeface="Arial"/>
                <a:sym typeface="Arial"/>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51"/>
        <p:cNvGrpSpPr/>
        <p:nvPr/>
      </p:nvGrpSpPr>
      <p:grpSpPr>
        <a:xfrm>
          <a:off x="0" y="0"/>
          <a:ext cx="0" cy="0"/>
          <a:chOff x="0" y="0"/>
          <a:chExt cx="0" cy="0"/>
        </a:xfrm>
      </p:grpSpPr>
      <p:sp>
        <p:nvSpPr>
          <p:cNvPr id="52" name="Google Shape;52;p15"/>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28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800" b="1" i="0" u="none" strike="noStrike" cap="none">
                <a:solidFill>
                  <a:srgbClr val="24459C"/>
                </a:solidFill>
                <a:latin typeface="Arial"/>
                <a:ea typeface="Arial"/>
                <a:cs typeface="Arial"/>
                <a:sym typeface="Arial"/>
              </a:defRPr>
            </a:lvl9pPr>
          </a:lstStyle>
          <a:p>
            <a:endParaRPr/>
          </a:p>
        </p:txBody>
      </p:sp>
      <p:sp>
        <p:nvSpPr>
          <p:cNvPr id="53" name="Google Shape;53;p15"/>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
        <p:nvSpPr>
          <p:cNvPr id="54" name="Google Shape;54;p15"/>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marR="0" lvl="0" indent="-396240" algn="l" rtl="0">
              <a:lnSpc>
                <a:spcPct val="100000"/>
              </a:lnSpc>
              <a:spcBef>
                <a:spcPts val="1200"/>
              </a:spcBef>
              <a:spcAft>
                <a:spcPts val="0"/>
              </a:spcAft>
              <a:buClr>
                <a:srgbClr val="24459C"/>
              </a:buClr>
              <a:buSzPts val="2640"/>
              <a:buFont typeface="Time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200"/>
              </a:spcBef>
              <a:spcAft>
                <a:spcPts val="0"/>
              </a:spcAft>
              <a:buClr>
                <a:schemeClr val="dk1"/>
              </a:buClr>
              <a:buSzPts val="2000"/>
              <a:buFont typeface="Times"/>
              <a:buChar char="–"/>
              <a:defRPr sz="20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240"/>
              </a:spcBef>
              <a:spcAft>
                <a:spcPts val="0"/>
              </a:spcAft>
              <a:buClr>
                <a:schemeClr val="dk1"/>
              </a:buClr>
              <a:buSzPts val="2400"/>
              <a:buFont typeface="Times"/>
              <a:buChar char="–"/>
              <a:defRPr sz="24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160"/>
              </a:spcBef>
              <a:spcAft>
                <a:spcPts val="0"/>
              </a:spcAft>
              <a:buClr>
                <a:schemeClr val="dk1"/>
              </a:buClr>
              <a:buSzPts val="1600"/>
              <a:buFont typeface="Times"/>
              <a:buChar char="»"/>
              <a:defRPr sz="16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6pPr>
            <a:lvl7pPr marL="3200400" marR="0" lvl="6"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7pPr>
            <a:lvl8pPr marL="3657600" marR="0" lvl="7"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8pPr>
            <a:lvl9pPr marL="4114800" marR="0" lvl="8" indent="-228600" algn="l" rtl="0">
              <a:lnSpc>
                <a:spcPct val="100000"/>
              </a:lnSpc>
              <a:spcBef>
                <a:spcPts val="160"/>
              </a:spcBef>
              <a:spcAft>
                <a:spcPts val="0"/>
              </a:spcAft>
              <a:buClr>
                <a:srgbClr val="000000"/>
              </a:buClr>
              <a:buSzPts val="1400"/>
              <a:buFont typeface="Arial"/>
              <a:buNone/>
              <a:defRPr sz="16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
          <p:cNvSpPr/>
          <p:nvPr/>
        </p:nvSpPr>
        <p:spPr>
          <a:xfrm>
            <a:off x="-1" y="6448426"/>
            <a:ext cx="5054601" cy="409575"/>
          </a:xfrm>
          <a:prstGeom prst="rect">
            <a:avLst/>
          </a:prstGeom>
          <a:solidFill>
            <a:srgbClr val="FFC000"/>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200"/>
              <a:buFont typeface="Arial"/>
              <a:buNone/>
            </a:pPr>
            <a:endParaRPr sz="1200" b="1" i="0" u="none" strike="noStrike" cap="none">
              <a:solidFill>
                <a:schemeClr val="dk1"/>
              </a:solidFill>
              <a:latin typeface="Helvetica Neue"/>
              <a:ea typeface="Helvetica Neue"/>
              <a:cs typeface="Helvetica Neue"/>
              <a:sym typeface="Helvetica Neue"/>
            </a:endParaRPr>
          </a:p>
        </p:txBody>
      </p:sp>
      <p:pic>
        <p:nvPicPr>
          <p:cNvPr id="11" name="Google Shape;11;p3" descr="VU.png"/>
          <p:cNvPicPr preferRelativeResize="0"/>
          <p:nvPr/>
        </p:nvPicPr>
        <p:blipFill rotWithShape="1">
          <a:blip r:embed="rId14">
            <a:alphaModFix/>
          </a:blip>
          <a:srcRect/>
          <a:stretch/>
        </p:blipFill>
        <p:spPr>
          <a:xfrm>
            <a:off x="11239928" y="71898"/>
            <a:ext cx="877430" cy="1131885"/>
          </a:xfrm>
          <a:prstGeom prst="rect">
            <a:avLst/>
          </a:prstGeom>
          <a:noFill/>
          <a:ln>
            <a:noFill/>
          </a:ln>
        </p:spPr>
      </p:pic>
      <p:sp>
        <p:nvSpPr>
          <p:cNvPr id="12" name="Google Shape;12;p3"/>
          <p:cNvSpPr/>
          <p:nvPr/>
        </p:nvSpPr>
        <p:spPr>
          <a:xfrm>
            <a:off x="5054601" y="6448426"/>
            <a:ext cx="1945216" cy="409575"/>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chemeClr val="accent1"/>
                </a:solidFill>
                <a:latin typeface="Helvetica Neue"/>
                <a:ea typeface="Helvetica Neue"/>
                <a:cs typeface="Helvetica Neue"/>
                <a:sym typeface="Helvetica Neue"/>
              </a:rPr>
              <a:t>Slide </a:t>
            </a:r>
            <a:fld id="{00000000-1234-1234-1234-123412341234}" type="slidenum">
              <a:rPr lang="en-US" sz="1400" b="1" i="0" u="none" strike="noStrike" cap="none">
                <a:solidFill>
                  <a:schemeClr val="accent1"/>
                </a:solidFill>
                <a:latin typeface="Helvetica Neue"/>
                <a:ea typeface="Helvetica Neue"/>
                <a:cs typeface="Helvetica Neue"/>
                <a:sym typeface="Helvetica Neue"/>
              </a:rPr>
              <a:t>‹#›</a:t>
            </a:fld>
            <a:endParaRPr sz="1400" b="1" i="0" u="none" strike="noStrike" cap="none">
              <a:solidFill>
                <a:schemeClr val="accent1"/>
              </a:solidFill>
              <a:latin typeface="Helvetica Neue"/>
              <a:ea typeface="Helvetica Neue"/>
              <a:cs typeface="Helvetica Neue"/>
              <a:sym typeface="Helvetica Neue"/>
            </a:endParaRPr>
          </a:p>
        </p:txBody>
      </p:sp>
      <p:sp>
        <p:nvSpPr>
          <p:cNvPr id="13" name="Google Shape;13;p3"/>
          <p:cNvSpPr/>
          <p:nvPr/>
        </p:nvSpPr>
        <p:spPr>
          <a:xfrm>
            <a:off x="6999818" y="6448426"/>
            <a:ext cx="5192183" cy="409575"/>
          </a:xfrm>
          <a:prstGeom prst="rect">
            <a:avLst/>
          </a:prstGeom>
          <a:solidFill>
            <a:srgbClr val="FFC000"/>
          </a:solidFill>
          <a:ln w="9525" cap="flat" cmpd="sng">
            <a:solidFill>
              <a:schemeClr val="dk1"/>
            </a:solidFill>
            <a:prstDash val="solid"/>
            <a:round/>
            <a:headEnd type="none" w="sm" len="sm"/>
            <a:tailEnd type="none" w="sm" len="sm"/>
          </a:ln>
        </p:spPr>
        <p:txBody>
          <a:bodyPr spcFirstLastPara="1" wrap="square" lIns="91425" tIns="45700" rIns="91425" bIns="45700" anchor="ctr" anchorCtr="1">
            <a:noAutofit/>
          </a:bodyPr>
          <a:lstStyle/>
          <a:p>
            <a:pPr marL="0" marR="0" lvl="0" indent="0" algn="ctr" rtl="0">
              <a:lnSpc>
                <a:spcPct val="100000"/>
              </a:lnSpc>
              <a:spcBef>
                <a:spcPts val="0"/>
              </a:spcBef>
              <a:spcAft>
                <a:spcPts val="0"/>
              </a:spcAft>
              <a:buClr>
                <a:srgbClr val="000000"/>
              </a:buClr>
              <a:buSzPts val="1200"/>
              <a:buFont typeface="Arial"/>
              <a:buNone/>
            </a:pPr>
            <a:r>
              <a:rPr lang="en-US" sz="1200" b="1" i="0" u="none" strike="noStrike" cap="none">
                <a:solidFill>
                  <a:schemeClr val="dk1"/>
                </a:solidFill>
                <a:latin typeface="Helvetica Neue"/>
                <a:ea typeface="Helvetica Neue"/>
                <a:cs typeface="Helvetica Neue"/>
                <a:sym typeface="Helvetica Neue"/>
              </a:rPr>
              <a:t>Vanderbilt University</a:t>
            </a:r>
            <a:endParaRPr sz="1400" b="0" i="0" u="none" strike="noStrike" cap="none">
              <a:solidFill>
                <a:srgbClr val="000000"/>
              </a:solidFill>
              <a:latin typeface="Arial"/>
              <a:ea typeface="Arial"/>
              <a:cs typeface="Arial"/>
              <a:sym typeface="Arial"/>
            </a:endParaRPr>
          </a:p>
        </p:txBody>
      </p:sp>
      <p:pic>
        <p:nvPicPr>
          <p:cNvPr id="14" name="Google Shape;14;p3" descr="Image preview"/>
          <p:cNvPicPr preferRelativeResize="0"/>
          <p:nvPr/>
        </p:nvPicPr>
        <p:blipFill rotWithShape="1">
          <a:blip r:embed="rId15">
            <a:alphaModFix/>
          </a:blip>
          <a:srcRect/>
          <a:stretch/>
        </p:blipFill>
        <p:spPr>
          <a:xfrm>
            <a:off x="9943734" y="71898"/>
            <a:ext cx="1123178" cy="113188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NTSB Project Update July 17th, 2026</a:t>
            </a:r>
          </a:p>
        </p:txBody>
      </p:sp>
      <p:sp>
        <p:nvSpPr>
          <p:cNvPr id="3" name="Subtitle 2"/>
          <p:cNvSpPr>
            <a:spLocks noGrp="1"/>
          </p:cNvSpPr>
          <p:nvPr>
            <p:ph type="subTitle" idx="1"/>
          </p:nvPr>
        </p:nvSpPr>
        <p:spPr/>
        <p:txBody>
          <a:bodyPr/>
          <a:lstStyle/>
          <a:p>
            <a:r>
              <a:rPr lang="en-US" dirty="0"/>
              <a:t>Kanu Shetkar</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Previous Meeting</a:t>
            </a:r>
          </a:p>
        </p:txBody>
      </p:sp>
      <p:sp>
        <p:nvSpPr>
          <p:cNvPr id="3" name="Text Placeholder 2"/>
          <p:cNvSpPr>
            <a:spLocks noGrp="1"/>
          </p:cNvSpPr>
          <p:nvPr>
            <p:ph type="body" idx="1"/>
          </p:nvPr>
        </p:nvSpPr>
        <p:spPr/>
        <p:txBody>
          <a:bodyPr/>
          <a:lstStyle/>
          <a:p>
            <a:r>
              <a:rPr lang="en-US" dirty="0"/>
              <a:t>Table 4</a:t>
            </a:r>
          </a:p>
          <a:p>
            <a:r>
              <a:rPr lang="en-US" dirty="0"/>
              <a:t>Showed the changes to the process</a:t>
            </a:r>
          </a:p>
          <a:p>
            <a:r>
              <a:rPr lang="en-US" dirty="0"/>
              <a:t>Proposed Bayesian network</a:t>
            </a:r>
            <a:endParaRPr dirty="0"/>
          </a:p>
          <a:p>
            <a:pPr marL="60960" indent="0">
              <a:buNone/>
            </a:pPr>
            <a:r>
              <a:rPr sz="2800" b="1" dirty="0"/>
              <a:t>Today's Meeting</a:t>
            </a:r>
          </a:p>
          <a:p>
            <a:r>
              <a:rPr dirty="0"/>
              <a:t>The Bayesian network we built, and where its numbers come from</a:t>
            </a:r>
          </a:p>
          <a:p>
            <a:r>
              <a:rPr dirty="0"/>
              <a:t>A worked example on it</a:t>
            </a:r>
          </a:p>
          <a:p>
            <a:r>
              <a:rPr dirty="0"/>
              <a:t>Every remaining table in his paper vs ours: Tables 8, 9, Figs 11, 12</a:t>
            </a:r>
          </a:p>
          <a:p>
            <a:r>
              <a:rPr dirty="0"/>
              <a:t>Diagnosis &amp; Prognosis trees live (Streamlit)</a:t>
            </a:r>
          </a:p>
          <a:p>
            <a:r>
              <a:rPr dirty="0"/>
              <a:t>Writing plan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Bayesian Network</a:t>
            </a:r>
            <a:endParaRPr dirty="0"/>
          </a:p>
        </p:txBody>
      </p:sp>
      <p:sp>
        <p:nvSpPr>
          <p:cNvPr id="3" name="Text Placeholder 2"/>
          <p:cNvSpPr>
            <a:spLocks noGrp="1"/>
          </p:cNvSpPr>
          <p:nvPr>
            <p:ph type="body" idx="1"/>
          </p:nvPr>
        </p:nvSpPr>
        <p:spPr/>
        <p:txBody>
          <a:bodyPr/>
          <a:lstStyle/>
          <a:p>
            <a:r>
              <a:rPr dirty="0"/>
              <a:t>Not his files, not his GeNIe software → his Section 4 </a:t>
            </a:r>
            <a:r>
              <a:rPr lang="en-US" dirty="0"/>
              <a:t>methodology</a:t>
            </a:r>
            <a:r>
              <a:rPr dirty="0"/>
              <a:t>, implemented by us, on our 1,742 accidents</a:t>
            </a:r>
          </a:p>
          <a:p>
            <a:r>
              <a:rPr dirty="0"/>
              <a:t>Nodes = events and findings (wiring, fire, engine power loss, injuries)</a:t>
            </a:r>
          </a:p>
          <a:p>
            <a:r>
              <a:rPr dirty="0"/>
              <a:t>Arrows come from the data itself:</a:t>
            </a:r>
          </a:p>
          <a:p>
            <a:pPr lvl="1"/>
            <a:r>
              <a:rPr dirty="0"/>
              <a:t>findings point at the occurrence they explain</a:t>
            </a:r>
          </a:p>
          <a:p>
            <a:pPr lvl="1"/>
            <a:r>
              <a:rPr lang="en-US" dirty="0"/>
              <a:t>Consecutive events in each accident’s sequence </a:t>
            </a:r>
            <a:r>
              <a:rPr dirty="0"/>
              <a:t>give the forward arrows</a:t>
            </a:r>
          </a:p>
          <a:p>
            <a:r>
              <a:rPr lang="en-US" dirty="0"/>
              <a:t>Each node holds a probability table and the next slide we fill them in</a:t>
            </a:r>
            <a:endParaRPr dirty="0"/>
          </a:p>
          <a:p>
            <a:r>
              <a:rPr b="1" dirty="0"/>
              <a:t>Result: 785 nodes, 1,4</a:t>
            </a:r>
            <a:r>
              <a:rPr lang="en-US" b="1" dirty="0"/>
              <a:t>14</a:t>
            </a:r>
            <a:r>
              <a:rPr b="1" dirty="0"/>
              <a:t> </a:t>
            </a:r>
            <a:r>
              <a:rPr lang="en-US" b="1" dirty="0"/>
              <a:t>edges</a:t>
            </a:r>
            <a:endParaRPr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for BN</a:t>
            </a:r>
            <a:endParaRPr dirty="0"/>
          </a:p>
        </p:txBody>
      </p:sp>
      <p:sp>
        <p:nvSpPr>
          <p:cNvPr id="3" name="Text Placeholder 2"/>
          <p:cNvSpPr>
            <a:spLocks noGrp="1"/>
          </p:cNvSpPr>
          <p:nvPr>
            <p:ph type="body" idx="1"/>
          </p:nvPr>
        </p:nvSpPr>
        <p:spPr/>
        <p:txBody>
          <a:bodyPr/>
          <a:lstStyle/>
          <a:p>
            <a:endParaRPr b="1" dirty="0"/>
          </a:p>
        </p:txBody>
      </p:sp>
      <p:graphicFrame>
        <p:nvGraphicFramePr>
          <p:cNvPr id="4" name="Table 3">
            <a:extLst>
              <a:ext uri="{FF2B5EF4-FFF2-40B4-BE49-F238E27FC236}">
                <a16:creationId xmlns:a16="http://schemas.microsoft.com/office/drawing/2014/main" id="{602C310A-BCE3-4034-7E59-42B4F7F9AA10}"/>
              </a:ext>
            </a:extLst>
          </p:cNvPr>
          <p:cNvGraphicFramePr>
            <a:graphicFrameLocks noGrp="1"/>
          </p:cNvGraphicFramePr>
          <p:nvPr>
            <p:extLst>
              <p:ext uri="{D42A27DB-BD31-4B8C-83A1-F6EECF244321}">
                <p14:modId xmlns:p14="http://schemas.microsoft.com/office/powerpoint/2010/main" val="2462224549"/>
              </p:ext>
            </p:extLst>
          </p:nvPr>
        </p:nvGraphicFramePr>
        <p:xfrm>
          <a:off x="1078303" y="1397480"/>
          <a:ext cx="9012687" cy="3875561"/>
        </p:xfrm>
        <a:graphic>
          <a:graphicData uri="http://schemas.openxmlformats.org/drawingml/2006/table">
            <a:tbl>
              <a:tblPr firstRow="1" bandRow="1">
                <a:tableStyleId>{B301B821-A1FF-4177-AEE7-76D212191A09}</a:tableStyleId>
              </a:tblPr>
              <a:tblGrid>
                <a:gridCol w="3004229">
                  <a:extLst>
                    <a:ext uri="{9D8B030D-6E8A-4147-A177-3AD203B41FA5}">
                      <a16:colId xmlns:a16="http://schemas.microsoft.com/office/drawing/2014/main" val="4079279502"/>
                    </a:ext>
                  </a:extLst>
                </a:gridCol>
                <a:gridCol w="3004229">
                  <a:extLst>
                    <a:ext uri="{9D8B030D-6E8A-4147-A177-3AD203B41FA5}">
                      <a16:colId xmlns:a16="http://schemas.microsoft.com/office/drawing/2014/main" val="64826286"/>
                    </a:ext>
                  </a:extLst>
                </a:gridCol>
                <a:gridCol w="3004229">
                  <a:extLst>
                    <a:ext uri="{9D8B030D-6E8A-4147-A177-3AD203B41FA5}">
                      <a16:colId xmlns:a16="http://schemas.microsoft.com/office/drawing/2014/main" val="3248346892"/>
                    </a:ext>
                  </a:extLst>
                </a:gridCol>
              </a:tblGrid>
              <a:tr h="0">
                <a:tc>
                  <a:txBody>
                    <a:bodyPr/>
                    <a:lstStyle/>
                    <a:p>
                      <a:r>
                        <a:rPr lang="en-US" dirty="0">
                          <a:solidFill>
                            <a:schemeClr val="tx1"/>
                          </a:solidFill>
                        </a:rPr>
                        <a:t>Zhang’s Section 4</a:t>
                      </a:r>
                    </a:p>
                  </a:txBody>
                  <a:tcPr/>
                </a:tc>
                <a:tc>
                  <a:txBody>
                    <a:bodyPr/>
                    <a:lstStyle/>
                    <a:p>
                      <a:r>
                        <a:rPr lang="en-US" dirty="0">
                          <a:solidFill>
                            <a:schemeClr val="tx1"/>
                          </a:solidFill>
                        </a:rPr>
                        <a:t>What it says</a:t>
                      </a:r>
                    </a:p>
                  </a:txBody>
                  <a:tcPr/>
                </a:tc>
                <a:tc>
                  <a:txBody>
                    <a:bodyPr/>
                    <a:lstStyle/>
                    <a:p>
                      <a:r>
                        <a:rPr lang="en-US" dirty="0">
                          <a:solidFill>
                            <a:schemeClr val="tx1"/>
                          </a:solidFill>
                        </a:rPr>
                        <a:t>Ours</a:t>
                      </a:r>
                    </a:p>
                  </a:txBody>
                  <a:tcPr/>
                </a:tc>
                <a:extLst>
                  <a:ext uri="{0D108BD9-81ED-4DB2-BD59-A6C34878D82A}">
                    <a16:rowId xmlns:a16="http://schemas.microsoft.com/office/drawing/2014/main" val="4022993222"/>
                  </a:ext>
                </a:extLst>
              </a:tr>
              <a:tr h="832022">
                <a:tc>
                  <a:txBody>
                    <a:bodyPr/>
                    <a:lstStyle/>
                    <a:p>
                      <a:r>
                        <a:rPr lang="en-US" dirty="0"/>
                        <a:t>4.1 Graphical representation of event sequences</a:t>
                      </a:r>
                    </a:p>
                  </a:txBody>
                  <a:tcPr/>
                </a:tc>
                <a:tc>
                  <a:txBody>
                    <a:bodyPr/>
                    <a:lstStyle/>
                    <a:p>
                      <a:r>
                        <a:rPr lang="en-US" dirty="0"/>
                        <a:t>How nodes and arrows come from findings + event sequences</a:t>
                      </a:r>
                    </a:p>
                  </a:txBody>
                  <a:tcPr/>
                </a:tc>
                <a:tc>
                  <a:txBody>
                    <a:bodyPr/>
                    <a:lstStyle/>
                    <a:p>
                      <a:r>
                        <a:rPr lang="en-US" dirty="0"/>
                        <a:t>Same 2 rules </a:t>
                      </a:r>
                      <a:r>
                        <a:rPr lang="en-US" dirty="0">
                          <a:sym typeface="Wingdings" pitchFamily="2" charset="2"/>
                        </a:rPr>
                        <a:t> 785 nodes, 1414 edges</a:t>
                      </a:r>
                      <a:endParaRPr lang="en-US" dirty="0"/>
                    </a:p>
                  </a:txBody>
                  <a:tcPr/>
                </a:tc>
                <a:extLst>
                  <a:ext uri="{0D108BD9-81ED-4DB2-BD59-A6C34878D82A}">
                    <a16:rowId xmlns:a16="http://schemas.microsoft.com/office/drawing/2014/main" val="3011570126"/>
                  </a:ext>
                </a:extLst>
              </a:tr>
              <a:tr h="832022">
                <a:tc>
                  <a:txBody>
                    <a:bodyPr/>
                    <a:lstStyle/>
                    <a:p>
                      <a:r>
                        <a:rPr lang="en-US" dirty="0"/>
                        <a:t>4.2 prior probabilities estimation</a:t>
                      </a:r>
                    </a:p>
                  </a:txBody>
                  <a:tcPr/>
                </a:tc>
                <a:tc>
                  <a:txBody>
                    <a:bodyPr/>
                    <a:lstStyle/>
                    <a:p>
                      <a:r>
                        <a:rPr lang="en-US" dirty="0"/>
                        <a:t>Occurrences / total flights (Eq. 6), his P(fire) = 5.52 x 10^-7 example</a:t>
                      </a:r>
                    </a:p>
                  </a:txBody>
                  <a:tcPr/>
                </a:tc>
                <a:tc>
                  <a:txBody>
                    <a:bodyPr/>
                    <a:lstStyle/>
                    <a:p>
                      <a:r>
                        <a:rPr lang="en-US" dirty="0"/>
                        <a:t>102 fires / 184,517,128 </a:t>
                      </a:r>
                      <a:r>
                        <a:rPr lang="en-US" dirty="0">
                          <a:sym typeface="Wingdings" pitchFamily="2" charset="2"/>
                        </a:rPr>
                        <a:t> 5.52x 10^-7</a:t>
                      </a:r>
                      <a:endParaRPr lang="en-US" dirty="0"/>
                    </a:p>
                  </a:txBody>
                  <a:tcPr/>
                </a:tc>
                <a:extLst>
                  <a:ext uri="{0D108BD9-81ED-4DB2-BD59-A6C34878D82A}">
                    <a16:rowId xmlns:a16="http://schemas.microsoft.com/office/drawing/2014/main" val="502334929"/>
                  </a:ext>
                </a:extLst>
              </a:tr>
              <a:tr h="1074695">
                <a:tc>
                  <a:txBody>
                    <a:bodyPr/>
                    <a:lstStyle/>
                    <a:p>
                      <a:r>
                        <a:rPr lang="en-US" dirty="0"/>
                        <a:t>4.3 Conditional Probability estimation</a:t>
                      </a:r>
                    </a:p>
                  </a:txBody>
                  <a:tcPr/>
                </a:tc>
                <a:tc>
                  <a:txBody>
                    <a:bodyPr/>
                    <a:lstStyle/>
                    <a:p>
                      <a:r>
                        <a:rPr lang="en-US" dirty="0"/>
                        <a:t>Single causes ratios counted form data (eq. 8/9), Beta-CDF(Eq. 14) for multi parent cells</a:t>
                      </a:r>
                    </a:p>
                  </a:txBody>
                  <a:tcPr/>
                </a:tc>
                <a:tc>
                  <a:txBody>
                    <a:bodyPr/>
                    <a:lstStyle/>
                    <a:p>
                      <a:r>
                        <a:rPr lang="en-US" dirty="0"/>
                        <a:t>Oil grade </a:t>
                      </a:r>
                      <a:r>
                        <a:rPr lang="en-US" dirty="0">
                          <a:sym typeface="Wingdings" pitchFamily="2" charset="2"/>
                        </a:rPr>
                        <a:t> engine power loss: 1/1 capped  0.95</a:t>
                      </a:r>
                    </a:p>
                    <a:p>
                      <a:r>
                        <a:rPr lang="en-US" dirty="0">
                          <a:sym typeface="Wingdings" pitchFamily="2" charset="2"/>
                        </a:rPr>
                        <a:t>(1/1 should not be the highest certainty)</a:t>
                      </a:r>
                      <a:endParaRPr lang="en-US" dirty="0"/>
                    </a:p>
                  </a:txBody>
                  <a:tcPr/>
                </a:tc>
                <a:extLst>
                  <a:ext uri="{0D108BD9-81ED-4DB2-BD59-A6C34878D82A}">
                    <a16:rowId xmlns:a16="http://schemas.microsoft.com/office/drawing/2014/main" val="2286002993"/>
                  </a:ext>
                </a:extLst>
              </a:tr>
              <a:tr h="832022">
                <a:tc>
                  <a:txBody>
                    <a:bodyPr/>
                    <a:lstStyle/>
                    <a:p>
                      <a:r>
                        <a:rPr lang="en-US" dirty="0"/>
                        <a:t>4.4 Bayesian network construction</a:t>
                      </a:r>
                    </a:p>
                  </a:txBody>
                  <a:tcPr/>
                </a:tc>
                <a:tc>
                  <a:txBody>
                    <a:bodyPr/>
                    <a:lstStyle/>
                    <a:p>
                      <a:r>
                        <a:rPr lang="en-US" dirty="0"/>
                        <a:t>Assembling the graph, pruning parents (the 12 parent cap), node ordering</a:t>
                      </a:r>
                    </a:p>
                  </a:txBody>
                  <a:tcPr/>
                </a:tc>
                <a:tc>
                  <a:txBody>
                    <a:bodyPr/>
                    <a:lstStyle/>
                    <a:p>
                      <a:r>
                        <a:rPr lang="en-US" dirty="0"/>
                        <a:t>Same 12 parent cap (the cap keeps every table small enough to estimate from real data)</a:t>
                      </a:r>
                    </a:p>
                  </a:txBody>
                  <a:tcPr/>
                </a:tc>
                <a:extLst>
                  <a:ext uri="{0D108BD9-81ED-4DB2-BD59-A6C34878D82A}">
                    <a16:rowId xmlns:a16="http://schemas.microsoft.com/office/drawing/2014/main" val="1313560588"/>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9: Loss of engine power</a:t>
            </a:r>
            <a:endParaRPr dirty="0"/>
          </a:p>
        </p:txBody>
      </p:sp>
      <p:sp>
        <p:nvSpPr>
          <p:cNvPr id="3" name="Text Placeholder 2"/>
          <p:cNvSpPr>
            <a:spLocks noGrp="1"/>
          </p:cNvSpPr>
          <p:nvPr>
            <p:ph type="body" idx="1"/>
          </p:nvPr>
        </p:nvSpPr>
        <p:spPr/>
        <p:txBody>
          <a:bodyPr/>
          <a:lstStyle/>
          <a:p>
            <a:r>
              <a:rPr lang="en-US" dirty="0"/>
              <a:t>Given a loss of engine power, what is the probability of every outcome?</a:t>
            </a:r>
          </a:p>
          <a:p>
            <a:endParaRPr lang="en-US" dirty="0"/>
          </a:p>
          <a:p>
            <a:endParaRPr lang="en-US" dirty="0"/>
          </a:p>
          <a:p>
            <a:endParaRPr lang="en-US" dirty="0"/>
          </a:p>
          <a:p>
            <a:endParaRPr lang="en-US" dirty="0"/>
          </a:p>
          <a:p>
            <a:endParaRPr lang="en-US" dirty="0"/>
          </a:p>
          <a:p>
            <a:endParaRPr lang="en-US" dirty="0"/>
          </a:p>
          <a:p>
            <a:r>
              <a:rPr lang="en-US" dirty="0"/>
              <a:t>The big rows agree: he gets 0.99 and we get 0.95. Nobody will get hurt</a:t>
            </a:r>
          </a:p>
          <a:p>
            <a:r>
              <a:rPr lang="en-US" dirty="0"/>
              <a:t>the small rows differ (explained in slide 11)</a:t>
            </a:r>
          </a:p>
        </p:txBody>
      </p:sp>
      <p:graphicFrame>
        <p:nvGraphicFramePr>
          <p:cNvPr id="4" name="Table 3"/>
          <p:cNvGraphicFramePr>
            <a:graphicFrameLocks noGrp="1"/>
          </p:cNvGraphicFramePr>
          <p:nvPr>
            <p:extLst>
              <p:ext uri="{D42A27DB-BD31-4B8C-83A1-F6EECF244321}">
                <p14:modId xmlns:p14="http://schemas.microsoft.com/office/powerpoint/2010/main" val="1431633741"/>
              </p:ext>
            </p:extLst>
          </p:nvPr>
        </p:nvGraphicFramePr>
        <p:xfrm>
          <a:off x="909224" y="1920240"/>
          <a:ext cx="9509760" cy="2926080"/>
        </p:xfrm>
        <a:graphic>
          <a:graphicData uri="http://schemas.openxmlformats.org/drawingml/2006/table">
            <a:tbl>
              <a:tblPr firstRow="1" bandRow="1">
                <a:tableStyleId>{5C22544A-7EE6-4342-B048-85BDC9FD1C3A}</a:tableStyleId>
              </a:tblPr>
              <a:tblGrid>
                <a:gridCol w="4206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87680">
                <a:tc>
                  <a:txBody>
                    <a:bodyPr/>
                    <a:lstStyle/>
                    <a:p>
                      <a:r>
                        <a:rPr sz="1500" b="1" dirty="0">
                          <a:solidFill>
                            <a:srgbClr val="000000"/>
                          </a:solidFill>
                        </a:rPr>
                        <a:t>Evidence: loss of engine power</a:t>
                      </a:r>
                    </a:p>
                  </a:txBody>
                  <a:tcPr/>
                </a:tc>
                <a:tc>
                  <a:txBody>
                    <a:bodyPr/>
                    <a:lstStyle/>
                    <a:p>
                      <a:r>
                        <a:rPr sz="1500" b="1">
                          <a:solidFill>
                            <a:srgbClr val="000000"/>
                          </a:solidFill>
                        </a:rPr>
                        <a:t>Zhang publishes</a:t>
                      </a:r>
                    </a:p>
                  </a:txBody>
                  <a:tcPr/>
                </a:tc>
                <a:tc>
                  <a:txBody>
                    <a:bodyPr/>
                    <a:lstStyle/>
                    <a:p>
                      <a:r>
                        <a:rPr sz="1500" b="1">
                          <a:solidFill>
                            <a:srgbClr val="000000"/>
                          </a:solidFill>
                        </a:rPr>
                        <a:t>Our network</a:t>
                      </a:r>
                    </a:p>
                  </a:txBody>
                  <a:tcPr/>
                </a:tc>
                <a:extLst>
                  <a:ext uri="{0D108BD9-81ED-4DB2-BD59-A6C34878D82A}">
                    <a16:rowId xmlns:a16="http://schemas.microsoft.com/office/drawing/2014/main" val="10000"/>
                  </a:ext>
                </a:extLst>
              </a:tr>
              <a:tr h="487680">
                <a:tc>
                  <a:txBody>
                    <a:bodyPr/>
                    <a:lstStyle/>
                    <a:p>
                      <a:r>
                        <a:rPr sz="1500">
                          <a:solidFill>
                            <a:srgbClr val="000000"/>
                          </a:solidFill>
                        </a:rPr>
                        <a:t>P(no injury)</a:t>
                      </a:r>
                    </a:p>
                  </a:txBody>
                  <a:tcPr/>
                </a:tc>
                <a:tc>
                  <a:txBody>
                    <a:bodyPr/>
                    <a:lstStyle/>
                    <a:p>
                      <a:r>
                        <a:rPr sz="1500">
                          <a:solidFill>
                            <a:srgbClr val="000000"/>
                          </a:solidFill>
                        </a:rPr>
                        <a:t>0.9899</a:t>
                      </a:r>
                    </a:p>
                  </a:txBody>
                  <a:tcPr/>
                </a:tc>
                <a:tc>
                  <a:txBody>
                    <a:bodyPr/>
                    <a:lstStyle/>
                    <a:p>
                      <a:r>
                        <a:rPr sz="1500">
                          <a:solidFill>
                            <a:srgbClr val="000000"/>
                          </a:solidFill>
                        </a:rPr>
                        <a:t>0.9496</a:t>
                      </a:r>
                    </a:p>
                  </a:txBody>
                  <a:tcPr/>
                </a:tc>
                <a:extLst>
                  <a:ext uri="{0D108BD9-81ED-4DB2-BD59-A6C34878D82A}">
                    <a16:rowId xmlns:a16="http://schemas.microsoft.com/office/drawing/2014/main" val="10001"/>
                  </a:ext>
                </a:extLst>
              </a:tr>
              <a:tr h="487680">
                <a:tc>
                  <a:txBody>
                    <a:bodyPr/>
                    <a:lstStyle/>
                    <a:p>
                      <a:r>
                        <a:rPr sz="1500">
                          <a:solidFill>
                            <a:srgbClr val="000000"/>
                          </a:solidFill>
                        </a:rPr>
                        <a:t>P(serious injury)</a:t>
                      </a:r>
                    </a:p>
                  </a:txBody>
                  <a:tcPr/>
                </a:tc>
                <a:tc>
                  <a:txBody>
                    <a:bodyPr/>
                    <a:lstStyle/>
                    <a:p>
                      <a:r>
                        <a:rPr sz="1500">
                          <a:solidFill>
                            <a:srgbClr val="000000"/>
                          </a:solidFill>
                        </a:rPr>
                        <a:t>0.00822</a:t>
                      </a:r>
                    </a:p>
                  </a:txBody>
                  <a:tcPr/>
                </a:tc>
                <a:tc>
                  <a:txBody>
                    <a:bodyPr/>
                    <a:lstStyle/>
                    <a:p>
                      <a:r>
                        <a:rPr sz="1500">
                          <a:solidFill>
                            <a:srgbClr val="000000"/>
                          </a:solidFill>
                        </a:rPr>
                        <a:t>0.0160</a:t>
                      </a:r>
                    </a:p>
                  </a:txBody>
                  <a:tcPr/>
                </a:tc>
                <a:extLst>
                  <a:ext uri="{0D108BD9-81ED-4DB2-BD59-A6C34878D82A}">
                    <a16:rowId xmlns:a16="http://schemas.microsoft.com/office/drawing/2014/main" val="10002"/>
                  </a:ext>
                </a:extLst>
              </a:tr>
              <a:tr h="487680">
                <a:tc>
                  <a:txBody>
                    <a:bodyPr/>
                    <a:lstStyle/>
                    <a:p>
                      <a:r>
                        <a:rPr sz="1500">
                          <a:solidFill>
                            <a:srgbClr val="000000"/>
                          </a:solidFill>
                        </a:rPr>
                        <a:t>P(substantial damage)</a:t>
                      </a:r>
                    </a:p>
                  </a:txBody>
                  <a:tcPr/>
                </a:tc>
                <a:tc>
                  <a:txBody>
                    <a:bodyPr/>
                    <a:lstStyle/>
                    <a:p>
                      <a:r>
                        <a:rPr sz="1500">
                          <a:solidFill>
                            <a:srgbClr val="000000"/>
                          </a:solidFill>
                        </a:rPr>
                        <a:t>0.0166</a:t>
                      </a:r>
                    </a:p>
                  </a:txBody>
                  <a:tcPr/>
                </a:tc>
                <a:tc>
                  <a:txBody>
                    <a:bodyPr/>
                    <a:lstStyle/>
                    <a:p>
                      <a:r>
                        <a:rPr sz="1500">
                          <a:solidFill>
                            <a:srgbClr val="000000"/>
                          </a:solidFill>
                        </a:rPr>
                        <a:t>0.0215</a:t>
                      </a:r>
                    </a:p>
                  </a:txBody>
                  <a:tcPr/>
                </a:tc>
                <a:extLst>
                  <a:ext uri="{0D108BD9-81ED-4DB2-BD59-A6C34878D82A}">
                    <a16:rowId xmlns:a16="http://schemas.microsoft.com/office/drawing/2014/main" val="10003"/>
                  </a:ext>
                </a:extLst>
              </a:tr>
              <a:tr h="487680">
                <a:tc>
                  <a:txBody>
                    <a:bodyPr/>
                    <a:lstStyle/>
                    <a:p>
                      <a:r>
                        <a:rPr sz="1500">
                          <a:solidFill>
                            <a:srgbClr val="000000"/>
                          </a:solidFill>
                        </a:rPr>
                        <a:t>P(destroyed aircraft)</a:t>
                      </a:r>
                    </a:p>
                  </a:txBody>
                  <a:tcPr/>
                </a:tc>
                <a:tc>
                  <a:txBody>
                    <a:bodyPr/>
                    <a:lstStyle/>
                    <a:p>
                      <a:r>
                        <a:rPr sz="1500">
                          <a:solidFill>
                            <a:srgbClr val="000000"/>
                          </a:solidFill>
                        </a:rPr>
                        <a:t>0.00559</a:t>
                      </a:r>
                    </a:p>
                  </a:txBody>
                  <a:tcPr/>
                </a:tc>
                <a:tc>
                  <a:txBody>
                    <a:bodyPr/>
                    <a:lstStyle/>
                    <a:p>
                      <a:r>
                        <a:rPr sz="1500">
                          <a:solidFill>
                            <a:srgbClr val="000000"/>
                          </a:solidFill>
                        </a:rPr>
                        <a:t>0.0292</a:t>
                      </a:r>
                    </a:p>
                  </a:txBody>
                  <a:tcPr/>
                </a:tc>
                <a:extLst>
                  <a:ext uri="{0D108BD9-81ED-4DB2-BD59-A6C34878D82A}">
                    <a16:rowId xmlns:a16="http://schemas.microsoft.com/office/drawing/2014/main" val="10004"/>
                  </a:ext>
                </a:extLst>
              </a:tr>
              <a:tr h="487680">
                <a:tc>
                  <a:txBody>
                    <a:bodyPr/>
                    <a:lstStyle/>
                    <a:p>
                      <a:r>
                        <a:rPr sz="1500">
                          <a:solidFill>
                            <a:srgbClr val="000000"/>
                          </a:solidFill>
                        </a:rPr>
                        <a:t>P(minor damage)</a:t>
                      </a:r>
                    </a:p>
                  </a:txBody>
                  <a:tcPr/>
                </a:tc>
                <a:tc>
                  <a:txBody>
                    <a:bodyPr/>
                    <a:lstStyle/>
                    <a:p>
                      <a:r>
                        <a:rPr sz="1500">
                          <a:solidFill>
                            <a:srgbClr val="000000"/>
                          </a:solidFill>
                        </a:rPr>
                        <a:t>0.00378</a:t>
                      </a:r>
                    </a:p>
                  </a:txBody>
                  <a:tcPr/>
                </a:tc>
                <a:tc>
                  <a:txBody>
                    <a:bodyPr/>
                    <a:lstStyle/>
                    <a:p>
                      <a:r>
                        <a:rPr sz="1500" dirty="0">
                          <a:solidFill>
                            <a:srgbClr val="000000"/>
                          </a:solidFill>
                        </a:rPr>
                        <a:t>0.0208</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t>
            </a:r>
            <a:r>
              <a:rPr dirty="0"/>
              <a:t>the network exists</a:t>
            </a:r>
          </a:p>
        </p:txBody>
      </p:sp>
      <p:sp>
        <p:nvSpPr>
          <p:cNvPr id="3" name="Text Placeholder 2"/>
          <p:cNvSpPr>
            <a:spLocks noGrp="1"/>
          </p:cNvSpPr>
          <p:nvPr>
            <p:ph type="body" idx="1"/>
          </p:nvPr>
        </p:nvSpPr>
        <p:spPr/>
        <p:txBody>
          <a:bodyPr/>
          <a:lstStyle/>
          <a:p>
            <a:r>
              <a:rPr lang="en-US" dirty="0"/>
              <a:t>The last slide, counting could still answer. 14 accidents had a loss of engine power. Just count what happened in those 14 accidents</a:t>
            </a:r>
          </a:p>
          <a:p>
            <a:r>
              <a:rPr lang="en-US" dirty="0"/>
              <a:t>But a real investigation always knows more than one thing. Say we also know the pilot in command was a factor</a:t>
            </a:r>
          </a:p>
          <a:p>
            <a:r>
              <a:rPr lang="en-US" dirty="0"/>
              <a:t>Now only 4 accidents in the entire dataset match. You cannot count your way to a probability from 4 accidents</a:t>
            </a:r>
          </a:p>
          <a:p>
            <a:r>
              <a:rPr lang="en-US" dirty="0"/>
              <a:t>The network doesn’t need matching accidents, it pushes both facts through the graph and gives the full answer. That is why we built it</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Table 8 vs ours: </a:t>
            </a:r>
            <a:r>
              <a:rPr lang="en-US" dirty="0"/>
              <a:t>The what if experiment</a:t>
            </a:r>
            <a:endParaRPr dirty="0"/>
          </a:p>
        </p:txBody>
      </p:sp>
      <p:sp>
        <p:nvSpPr>
          <p:cNvPr id="3" name="Text Placeholder 2"/>
          <p:cNvSpPr>
            <a:spLocks noGrp="1"/>
          </p:cNvSpPr>
          <p:nvPr>
            <p:ph type="body" idx="1"/>
          </p:nvPr>
        </p:nvSpPr>
        <p:spPr/>
        <p:txBody>
          <a:bodyPr/>
          <a:lstStyle/>
          <a:p>
            <a:r>
              <a:rPr lang="en-US" dirty="0"/>
              <a:t>What if landing gear strut problems became more common than they are in the data?</a:t>
            </a:r>
          </a:p>
          <a:p>
            <a:endParaRPr lang="en-US" dirty="0"/>
          </a:p>
          <a:p>
            <a:endParaRPr lang="en-US" dirty="0"/>
          </a:p>
          <a:p>
            <a:endParaRPr lang="en-US" dirty="0"/>
          </a:p>
          <a:p>
            <a:endParaRPr lang="en-US" dirty="0"/>
          </a:p>
          <a:p>
            <a:endParaRPr lang="en-US" dirty="0"/>
          </a:p>
          <a:p>
            <a:r>
              <a:rPr lang="en-US" dirty="0"/>
              <a:t>He manually sets the probability of a strut problem higher and higher and watches what the network says about gear collapse</a:t>
            </a:r>
          </a:p>
          <a:p>
            <a:r>
              <a:rPr lang="en-US" dirty="0"/>
              <a:t>We turned the same dial on our network </a:t>
            </a:r>
            <a:endParaRPr dirty="0"/>
          </a:p>
        </p:txBody>
      </p:sp>
      <p:graphicFrame>
        <p:nvGraphicFramePr>
          <p:cNvPr id="4" name="Table 3"/>
          <p:cNvGraphicFramePr>
            <a:graphicFrameLocks noGrp="1"/>
          </p:cNvGraphicFramePr>
          <p:nvPr>
            <p:extLst>
              <p:ext uri="{D42A27DB-BD31-4B8C-83A1-F6EECF244321}">
                <p14:modId xmlns:p14="http://schemas.microsoft.com/office/powerpoint/2010/main" val="610131257"/>
              </p:ext>
            </p:extLst>
          </p:nvPr>
        </p:nvGraphicFramePr>
        <p:xfrm>
          <a:off x="1062775" y="2130552"/>
          <a:ext cx="9875520" cy="2441448"/>
        </p:xfrm>
        <a:graphic>
          <a:graphicData uri="http://schemas.openxmlformats.org/drawingml/2006/table">
            <a:tbl>
              <a:tblPr firstRow="1" bandRow="1">
                <a:tableStyleId>{5C22544A-7EE6-4342-B048-85BDC9FD1C3A}</a:tableStyleId>
              </a:tblPr>
              <a:tblGrid>
                <a:gridCol w="310896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126636">
                <a:tc>
                  <a:txBody>
                    <a:bodyPr/>
                    <a:lstStyle/>
                    <a:p>
                      <a:r>
                        <a:rPr sz="1500" b="1">
                          <a:solidFill>
                            <a:srgbClr val="000000"/>
                          </a:solidFill>
                        </a:rPr>
                        <a:t>Strut prior (his dial)</a:t>
                      </a:r>
                    </a:p>
                  </a:txBody>
                  <a:tcPr/>
                </a:tc>
                <a:tc>
                  <a:txBody>
                    <a:bodyPr/>
                    <a:lstStyle/>
                    <a:p>
                      <a:r>
                        <a:rPr sz="1500" b="1" dirty="0">
                          <a:solidFill>
                            <a:srgbClr val="000000"/>
                          </a:solidFill>
                        </a:rPr>
                        <a:t>Zhang: P(gear collapsed)</a:t>
                      </a:r>
                    </a:p>
                  </a:txBody>
                  <a:tcPr/>
                </a:tc>
                <a:tc>
                  <a:txBody>
                    <a:bodyPr/>
                    <a:lstStyle/>
                    <a:p>
                      <a:r>
                        <a:rPr sz="1500" b="1">
                          <a:solidFill>
                            <a:srgbClr val="000000"/>
                          </a:solidFill>
                        </a:rPr>
                        <a:t>Ours</a:t>
                      </a:r>
                    </a:p>
                  </a:txBody>
                  <a:tcPr/>
                </a:tc>
                <a:extLst>
                  <a:ext uri="{0D108BD9-81ED-4DB2-BD59-A6C34878D82A}">
                    <a16:rowId xmlns:a16="http://schemas.microsoft.com/office/drawing/2014/main" val="10000"/>
                  </a:ext>
                </a:extLst>
              </a:tr>
              <a:tr h="530352">
                <a:tc>
                  <a:txBody>
                    <a:bodyPr/>
                    <a:lstStyle/>
                    <a:p>
                      <a:r>
                        <a:rPr sz="1500">
                          <a:solidFill>
                            <a:srgbClr val="000000"/>
                          </a:solidFill>
                        </a:rPr>
                        <a:t>0.00065</a:t>
                      </a:r>
                    </a:p>
                  </a:txBody>
                  <a:tcPr/>
                </a:tc>
                <a:tc>
                  <a:txBody>
                    <a:bodyPr/>
                    <a:lstStyle/>
                    <a:p>
                      <a:r>
                        <a:rPr sz="1500">
                          <a:solidFill>
                            <a:srgbClr val="000000"/>
                          </a:solidFill>
                        </a:rPr>
                        <a:t>0.000163</a:t>
                      </a:r>
                    </a:p>
                  </a:txBody>
                  <a:tcPr/>
                </a:tc>
                <a:tc>
                  <a:txBody>
                    <a:bodyPr/>
                    <a:lstStyle/>
                    <a:p>
                      <a:r>
                        <a:rPr sz="1500">
                          <a:solidFill>
                            <a:srgbClr val="000000"/>
                          </a:solidFill>
                        </a:rPr>
                        <a:t>0.000163  exact</a:t>
                      </a:r>
                    </a:p>
                  </a:txBody>
                  <a:tcPr/>
                </a:tc>
                <a:extLst>
                  <a:ext uri="{0D108BD9-81ED-4DB2-BD59-A6C34878D82A}">
                    <a16:rowId xmlns:a16="http://schemas.microsoft.com/office/drawing/2014/main" val="10001"/>
                  </a:ext>
                </a:extLst>
              </a:tr>
              <a:tr h="530352">
                <a:tc>
                  <a:txBody>
                    <a:bodyPr/>
                    <a:lstStyle/>
                    <a:p>
                      <a:r>
                        <a:rPr sz="1500">
                          <a:solidFill>
                            <a:srgbClr val="000000"/>
                          </a:solidFill>
                        </a:rPr>
                        <a:t>0.065</a:t>
                      </a:r>
                    </a:p>
                  </a:txBody>
                  <a:tcPr/>
                </a:tc>
                <a:tc>
                  <a:txBody>
                    <a:bodyPr/>
                    <a:lstStyle/>
                    <a:p>
                      <a:r>
                        <a:rPr sz="1500">
                          <a:solidFill>
                            <a:srgbClr val="000000"/>
                          </a:solidFill>
                        </a:rPr>
                        <a:t>0.0162</a:t>
                      </a:r>
                    </a:p>
                  </a:txBody>
                  <a:tcPr/>
                </a:tc>
                <a:tc>
                  <a:txBody>
                    <a:bodyPr/>
                    <a:lstStyle/>
                    <a:p>
                      <a:r>
                        <a:rPr sz="1500">
                          <a:solidFill>
                            <a:srgbClr val="000000"/>
                          </a:solidFill>
                        </a:rPr>
                        <a:t>0.0163  exact</a:t>
                      </a:r>
                    </a:p>
                  </a:txBody>
                  <a:tcPr/>
                </a:tc>
                <a:extLst>
                  <a:ext uri="{0D108BD9-81ED-4DB2-BD59-A6C34878D82A}">
                    <a16:rowId xmlns:a16="http://schemas.microsoft.com/office/drawing/2014/main" val="10002"/>
                  </a:ext>
                </a:extLst>
              </a:tr>
              <a:tr h="530352">
                <a:tc>
                  <a:txBody>
                    <a:bodyPr/>
                    <a:lstStyle/>
                    <a:p>
                      <a:r>
                        <a:rPr sz="1500">
                          <a:solidFill>
                            <a:srgbClr val="000000"/>
                          </a:solidFill>
                        </a:rPr>
                        <a:t>0.1</a:t>
                      </a:r>
                    </a:p>
                  </a:txBody>
                  <a:tcPr/>
                </a:tc>
                <a:tc>
                  <a:txBody>
                    <a:bodyPr/>
                    <a:lstStyle/>
                    <a:p>
                      <a:r>
                        <a:rPr sz="1500" dirty="0">
                          <a:solidFill>
                            <a:srgbClr val="000000"/>
                          </a:solidFill>
                        </a:rPr>
                        <a:t>0.025</a:t>
                      </a:r>
                    </a:p>
                  </a:txBody>
                  <a:tcPr/>
                </a:tc>
                <a:tc>
                  <a:txBody>
                    <a:bodyPr/>
                    <a:lstStyle/>
                    <a:p>
                      <a:r>
                        <a:rPr sz="1500">
                          <a:solidFill>
                            <a:srgbClr val="000000"/>
                          </a:solidFill>
                        </a:rPr>
                        <a:t>0.025  exact</a:t>
                      </a:r>
                    </a:p>
                  </a:txBody>
                  <a:tcPr/>
                </a:tc>
                <a:extLst>
                  <a:ext uri="{0D108BD9-81ED-4DB2-BD59-A6C34878D82A}">
                    <a16:rowId xmlns:a16="http://schemas.microsoft.com/office/drawing/2014/main" val="10003"/>
                  </a:ext>
                </a:extLst>
              </a:tr>
              <a:tr h="530352">
                <a:tc>
                  <a:txBody>
                    <a:bodyPr/>
                    <a:lstStyle/>
                    <a:p>
                      <a:r>
                        <a:rPr sz="1500">
                          <a:solidFill>
                            <a:srgbClr val="000000"/>
                          </a:solidFill>
                        </a:rPr>
                        <a:t>6.5 x 10^-6</a:t>
                      </a:r>
                    </a:p>
                  </a:txBody>
                  <a:tcPr/>
                </a:tc>
                <a:tc>
                  <a:txBody>
                    <a:bodyPr/>
                    <a:lstStyle/>
                    <a:p>
                      <a:r>
                        <a:rPr sz="1500" dirty="0">
                          <a:solidFill>
                            <a:srgbClr val="000000"/>
                          </a:solidFill>
                        </a:rPr>
                        <a:t>1.70 x 10^-6</a:t>
                      </a:r>
                    </a:p>
                  </a:txBody>
                  <a:tcPr/>
                </a:tc>
                <a:tc>
                  <a:txBody>
                    <a:bodyPr/>
                    <a:lstStyle/>
                    <a:p>
                      <a:r>
                        <a:rPr sz="1500" dirty="0">
                          <a:solidFill>
                            <a:srgbClr val="000000"/>
                          </a:solidFill>
                        </a:rPr>
                        <a:t>1.72 x 10^-6  close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Figures 11 and 12 vs ours: the multi-evidence queries</a:t>
            </a:r>
          </a:p>
        </p:txBody>
      </p:sp>
      <p:sp>
        <p:nvSpPr>
          <p:cNvPr id="3" name="Text Placeholder 2"/>
          <p:cNvSpPr>
            <a:spLocks noGrp="1"/>
          </p:cNvSpPr>
          <p:nvPr>
            <p:ph type="body" idx="1"/>
          </p:nvPr>
        </p:nvSpPr>
        <p:spPr/>
        <p:txBody>
          <a:bodyPr/>
          <a:lstStyle/>
          <a:p>
            <a:r>
              <a:rPr lang="en-US" dirty="0"/>
              <a:t>This time the evidence is a person: the pilot in command was a factor</a:t>
            </a:r>
          </a:p>
          <a:p>
            <a:r>
              <a:rPr lang="en-US" dirty="0"/>
              <a:t>On Tuesday these 4 queries could </a:t>
            </a:r>
            <a:r>
              <a:rPr lang="en-US" dirty="0" err="1"/>
              <a:t>nto</a:t>
            </a:r>
            <a:r>
              <a:rPr lang="en-US" dirty="0"/>
              <a:t> run at all, the graph had no person nodes</a:t>
            </a:r>
          </a:p>
          <a:p>
            <a:r>
              <a:rPr lang="en-US" dirty="0"/>
              <a:t>The person findings were in our data all along, the graph never used them</a:t>
            </a:r>
          </a:p>
          <a:p>
            <a:r>
              <a:rPr lang="en-US" dirty="0"/>
              <a:t>Now all 4 queries run and all 4 queries come close </a:t>
            </a:r>
            <a:endParaRPr dirty="0"/>
          </a:p>
        </p:txBody>
      </p:sp>
      <p:graphicFrame>
        <p:nvGraphicFramePr>
          <p:cNvPr id="4" name="Table 3"/>
          <p:cNvGraphicFramePr>
            <a:graphicFrameLocks noGrp="1"/>
          </p:cNvGraphicFramePr>
          <p:nvPr>
            <p:extLst>
              <p:ext uri="{D42A27DB-BD31-4B8C-83A1-F6EECF244321}">
                <p14:modId xmlns:p14="http://schemas.microsoft.com/office/powerpoint/2010/main" val="4064808676"/>
              </p:ext>
            </p:extLst>
          </p:nvPr>
        </p:nvGraphicFramePr>
        <p:xfrm>
          <a:off x="853440" y="3699956"/>
          <a:ext cx="10241280" cy="2426208"/>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r>
                        <a:rPr sz="1400" b="1" dirty="0">
                          <a:solidFill>
                            <a:srgbClr val="000000"/>
                          </a:solidFill>
                        </a:rPr>
                        <a:t>Fig 12 (evidence: pilot-in-command)</a:t>
                      </a:r>
                    </a:p>
                  </a:txBody>
                  <a:tcPr/>
                </a:tc>
                <a:tc>
                  <a:txBody>
                    <a:bodyPr/>
                    <a:lstStyle/>
                    <a:p>
                      <a:r>
                        <a:rPr sz="1400" b="1">
                          <a:solidFill>
                            <a:srgbClr val="000000"/>
                          </a:solidFill>
                        </a:rPr>
                        <a:t>Zhang</a:t>
                      </a:r>
                    </a:p>
                  </a:txBody>
                  <a:tcPr/>
                </a:tc>
                <a:tc>
                  <a:txBody>
                    <a:bodyPr/>
                    <a:lstStyle/>
                    <a:p>
                      <a:r>
                        <a:rPr sz="1400" b="1">
                          <a:solidFill>
                            <a:srgbClr val="000000"/>
                          </a:solidFill>
                        </a:rPr>
                        <a:t>Ours</a:t>
                      </a:r>
                    </a:p>
                  </a:txBody>
                  <a:tcPr/>
                </a:tc>
                <a:extLst>
                  <a:ext uri="{0D108BD9-81ED-4DB2-BD59-A6C34878D82A}">
                    <a16:rowId xmlns:a16="http://schemas.microsoft.com/office/drawing/2014/main" val="10000"/>
                  </a:ext>
                </a:extLst>
              </a:tr>
              <a:tr h="530352">
                <a:tc>
                  <a:txBody>
                    <a:bodyPr/>
                    <a:lstStyle/>
                    <a:p>
                      <a:r>
                        <a:rPr sz="1400">
                          <a:solidFill>
                            <a:srgbClr val="000000"/>
                          </a:solidFill>
                        </a:rPr>
                        <a:t>P(unstabilized approach)</a:t>
                      </a:r>
                    </a:p>
                  </a:txBody>
                  <a:tcPr/>
                </a:tc>
                <a:tc>
                  <a:txBody>
                    <a:bodyPr/>
                    <a:lstStyle/>
                    <a:p>
                      <a:r>
                        <a:rPr sz="1400">
                          <a:solidFill>
                            <a:srgbClr val="000000"/>
                          </a:solidFill>
                        </a:rPr>
                        <a:t>0.00484</a:t>
                      </a:r>
                    </a:p>
                  </a:txBody>
                  <a:tcPr/>
                </a:tc>
                <a:tc>
                  <a:txBody>
                    <a:bodyPr/>
                    <a:lstStyle/>
                    <a:p>
                      <a:r>
                        <a:rPr sz="1400">
                          <a:solidFill>
                            <a:srgbClr val="000000"/>
                          </a:solidFill>
                        </a:rPr>
                        <a:t>0.0037  close</a:t>
                      </a:r>
                    </a:p>
                  </a:txBody>
                  <a:tcPr/>
                </a:tc>
                <a:extLst>
                  <a:ext uri="{0D108BD9-81ED-4DB2-BD59-A6C34878D82A}">
                    <a16:rowId xmlns:a16="http://schemas.microsoft.com/office/drawing/2014/main" val="10001"/>
                  </a:ext>
                </a:extLst>
              </a:tr>
              <a:tr h="530352">
                <a:tc>
                  <a:txBody>
                    <a:bodyPr/>
                    <a:lstStyle/>
                    <a:p>
                      <a:r>
                        <a:rPr sz="1400">
                          <a:solidFill>
                            <a:srgbClr val="000000"/>
                          </a:solidFill>
                        </a:rPr>
                        <a:t>P(dragged wing / rotor / pod)</a:t>
                      </a:r>
                    </a:p>
                  </a:txBody>
                  <a:tcPr/>
                </a:tc>
                <a:tc>
                  <a:txBody>
                    <a:bodyPr/>
                    <a:lstStyle/>
                    <a:p>
                      <a:r>
                        <a:rPr sz="1400">
                          <a:solidFill>
                            <a:srgbClr val="000000"/>
                          </a:solidFill>
                        </a:rPr>
                        <a:t>0.023</a:t>
                      </a:r>
                    </a:p>
                  </a:txBody>
                  <a:tcPr/>
                </a:tc>
                <a:tc>
                  <a:txBody>
                    <a:bodyPr/>
                    <a:lstStyle/>
                    <a:p>
                      <a:r>
                        <a:rPr sz="1400">
                          <a:solidFill>
                            <a:srgbClr val="000000"/>
                          </a:solidFill>
                        </a:rPr>
                        <a:t>0.0211  close</a:t>
                      </a:r>
                    </a:p>
                  </a:txBody>
                  <a:tcPr/>
                </a:tc>
                <a:extLst>
                  <a:ext uri="{0D108BD9-81ED-4DB2-BD59-A6C34878D82A}">
                    <a16:rowId xmlns:a16="http://schemas.microsoft.com/office/drawing/2014/main" val="10002"/>
                  </a:ext>
                </a:extLst>
              </a:tr>
              <a:tr h="530352">
                <a:tc>
                  <a:txBody>
                    <a:bodyPr/>
                    <a:lstStyle/>
                    <a:p>
                      <a:r>
                        <a:rPr sz="1400">
                          <a:solidFill>
                            <a:srgbClr val="000000"/>
                          </a:solidFill>
                        </a:rPr>
                        <a:t>P(substantial damage)</a:t>
                      </a:r>
                    </a:p>
                  </a:txBody>
                  <a:tcPr/>
                </a:tc>
                <a:tc>
                  <a:txBody>
                    <a:bodyPr/>
                    <a:lstStyle/>
                    <a:p>
                      <a:r>
                        <a:rPr sz="1400">
                          <a:solidFill>
                            <a:srgbClr val="000000"/>
                          </a:solidFill>
                        </a:rPr>
                        <a:t>0.0458</a:t>
                      </a:r>
                    </a:p>
                  </a:txBody>
                  <a:tcPr/>
                </a:tc>
                <a:tc>
                  <a:txBody>
                    <a:bodyPr/>
                    <a:lstStyle/>
                    <a:p>
                      <a:r>
                        <a:rPr sz="1400">
                          <a:solidFill>
                            <a:srgbClr val="000000"/>
                          </a:solidFill>
                        </a:rPr>
                        <a:t>0.0510  close</a:t>
                      </a:r>
                    </a:p>
                  </a:txBody>
                  <a:tcPr/>
                </a:tc>
                <a:extLst>
                  <a:ext uri="{0D108BD9-81ED-4DB2-BD59-A6C34878D82A}">
                    <a16:rowId xmlns:a16="http://schemas.microsoft.com/office/drawing/2014/main" val="10003"/>
                  </a:ext>
                </a:extLst>
              </a:tr>
              <a:tr h="530352">
                <a:tc>
                  <a:txBody>
                    <a:bodyPr/>
                    <a:lstStyle/>
                    <a:p>
                      <a:r>
                        <a:rPr sz="1400">
                          <a:solidFill>
                            <a:srgbClr val="000000"/>
                          </a:solidFill>
                        </a:rPr>
                        <a:t>P(no injury)</a:t>
                      </a:r>
                    </a:p>
                  </a:txBody>
                  <a:tcPr/>
                </a:tc>
                <a:tc>
                  <a:txBody>
                    <a:bodyPr/>
                    <a:lstStyle/>
                    <a:p>
                      <a:r>
                        <a:rPr sz="1400">
                          <a:solidFill>
                            <a:srgbClr val="000000"/>
                          </a:solidFill>
                        </a:rPr>
                        <a:t>0.97</a:t>
                      </a:r>
                    </a:p>
                  </a:txBody>
                  <a:tcPr/>
                </a:tc>
                <a:tc>
                  <a:txBody>
                    <a:bodyPr/>
                    <a:lstStyle/>
                    <a:p>
                      <a:r>
                        <a:rPr sz="1400" dirty="0">
                          <a:solidFill>
                            <a:srgbClr val="000000"/>
                          </a:solidFill>
                        </a:rPr>
                        <a:t>0.9405  close</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gaps came from: one finding, two fixes</a:t>
            </a:r>
          </a:p>
        </p:txBody>
      </p:sp>
      <p:sp>
        <p:nvSpPr>
          <p:cNvPr id="3" name="Text Placeholder 2"/>
          <p:cNvSpPr>
            <a:spLocks noGrp="1"/>
          </p:cNvSpPr>
          <p:nvPr>
            <p:ph type="body" idx="1"/>
          </p:nvPr>
        </p:nvSpPr>
        <p:spPr/>
        <p:txBody>
          <a:bodyPr/>
          <a:lstStyle/>
          <a:p>
            <a:r>
              <a:rPr lang="en-US" sz="2000" dirty="0"/>
              <a:t>Small probabilities are built from long chains of multiplication, so they are the numbers that move the most.</a:t>
            </a:r>
          </a:p>
          <a:p>
            <a:r>
              <a:rPr lang="en-US" sz="2000" dirty="0"/>
              <a:t>when his code builds the network, it breaks ties with a random draw. Every run of his own code produces a slightly different network.</a:t>
            </a:r>
          </a:p>
          <a:p>
            <a:r>
              <a:rPr lang="en-US" sz="2000" dirty="0"/>
              <a:t>We rebuilt his network 30 times. The disputed cells are different between his own builds, and even his released network misses most of them.</a:t>
            </a:r>
          </a:p>
          <a:p>
            <a:r>
              <a:rPr lang="en-US" sz="2000" dirty="0"/>
              <a:t>Our build has no randomness in it. Build it twice, you get the same network. That is what makes our numbers checkable.</a:t>
            </a:r>
          </a:p>
          <a:p>
            <a:r>
              <a:rPr lang="en-US" sz="2000" dirty="0"/>
              <a:t>The first fix: The person findings were in our data all along, the graph just never used them. Wiring them in is what made Figure 12 run.</a:t>
            </a:r>
          </a:p>
          <a:p>
            <a:r>
              <a:rPr lang="en-US" sz="2000" dirty="0"/>
              <a:t>The second fix: severity. Injury used to be separate on and off switches, which cannot say that nothing happened. One node with four states, fatal, serious, minor, none, fixed the worst rows: no injury went from 0.02 to 0.95, right next to his 0.99.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All 93 published network numbers, scored</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3285732593"/>
              </p:ext>
            </p:extLst>
          </p:nvPr>
        </p:nvGraphicFramePr>
        <p:xfrm>
          <a:off x="1463040" y="1463040"/>
          <a:ext cx="9144000" cy="336804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023360">
                  <a:extLst>
                    <a:ext uri="{9D8B030D-6E8A-4147-A177-3AD203B41FA5}">
                      <a16:colId xmlns:a16="http://schemas.microsoft.com/office/drawing/2014/main" val="20002"/>
                    </a:ext>
                  </a:extLst>
                </a:gridCol>
              </a:tblGrid>
              <a:tr h="518160">
                <a:tc>
                  <a:txBody>
                    <a:bodyPr/>
                    <a:lstStyle/>
                    <a:p>
                      <a:endParaRPr/>
                    </a:p>
                  </a:txBody>
                  <a:tcPr/>
                </a:tc>
                <a:tc>
                  <a:txBody>
                    <a:bodyPr/>
                    <a:lstStyle/>
                    <a:p>
                      <a:r>
                        <a:rPr sz="1500" b="1">
                          <a:solidFill>
                            <a:srgbClr val="000000"/>
                          </a:solidFill>
                        </a:rPr>
                        <a:t>First pass</a:t>
                      </a:r>
                    </a:p>
                  </a:txBody>
                  <a:tcPr/>
                </a:tc>
                <a:tc>
                  <a:txBody>
                    <a:bodyPr/>
                    <a:lstStyle/>
                    <a:p>
                      <a:r>
                        <a:rPr sz="1500" b="1">
                          <a:solidFill>
                            <a:srgbClr val="000000"/>
                          </a:solidFill>
                        </a:rPr>
                        <a:t>After the two fixes</a:t>
                      </a:r>
                    </a:p>
                  </a:txBody>
                  <a:tcPr/>
                </a:tc>
                <a:extLst>
                  <a:ext uri="{0D108BD9-81ED-4DB2-BD59-A6C34878D82A}">
                    <a16:rowId xmlns:a16="http://schemas.microsoft.com/office/drawing/2014/main" val="10000"/>
                  </a:ext>
                </a:extLst>
              </a:tr>
              <a:tr h="518160">
                <a:tc>
                  <a:txBody>
                    <a:bodyPr/>
                    <a:lstStyle/>
                    <a:p>
                      <a:r>
                        <a:rPr sz="1500">
                          <a:solidFill>
                            <a:srgbClr val="000000"/>
                          </a:solidFill>
                        </a:rPr>
                        <a:t>Exact</a:t>
                      </a:r>
                    </a:p>
                  </a:txBody>
                  <a:tcPr/>
                </a:tc>
                <a:tc>
                  <a:txBody>
                    <a:bodyPr/>
                    <a:lstStyle/>
                    <a:p>
                      <a:r>
                        <a:rPr sz="1500">
                          <a:solidFill>
                            <a:srgbClr val="000000"/>
                          </a:solidFill>
                        </a:rPr>
                        <a:t>43</a:t>
                      </a:r>
                    </a:p>
                  </a:txBody>
                  <a:tcPr/>
                </a:tc>
                <a:tc>
                  <a:txBody>
                    <a:bodyPr/>
                    <a:lstStyle/>
                    <a:p>
                      <a:r>
                        <a:rPr sz="1500">
                          <a:solidFill>
                            <a:srgbClr val="000000"/>
                          </a:solidFill>
                        </a:rPr>
                        <a:t>48</a:t>
                      </a:r>
                    </a:p>
                  </a:txBody>
                  <a:tcPr/>
                </a:tc>
                <a:extLst>
                  <a:ext uri="{0D108BD9-81ED-4DB2-BD59-A6C34878D82A}">
                    <a16:rowId xmlns:a16="http://schemas.microsoft.com/office/drawing/2014/main" val="10001"/>
                  </a:ext>
                </a:extLst>
              </a:tr>
              <a:tr h="518160">
                <a:tc>
                  <a:txBody>
                    <a:bodyPr/>
                    <a:lstStyle/>
                    <a:p>
                      <a:r>
                        <a:rPr sz="1500">
                          <a:solidFill>
                            <a:srgbClr val="000000"/>
                          </a:solidFill>
                        </a:rPr>
                        <a:t>Close</a:t>
                      </a:r>
                    </a:p>
                  </a:txBody>
                  <a:tcPr/>
                </a:tc>
                <a:tc>
                  <a:txBody>
                    <a:bodyPr/>
                    <a:lstStyle/>
                    <a:p>
                      <a:r>
                        <a:rPr sz="1500">
                          <a:solidFill>
                            <a:srgbClr val="000000"/>
                          </a:solidFill>
                        </a:rPr>
                        <a:t>16</a:t>
                      </a:r>
                    </a:p>
                  </a:txBody>
                  <a:tcPr/>
                </a:tc>
                <a:tc>
                  <a:txBody>
                    <a:bodyPr/>
                    <a:lstStyle/>
                    <a:p>
                      <a:r>
                        <a:rPr sz="1500">
                          <a:solidFill>
                            <a:srgbClr val="000000"/>
                          </a:solidFill>
                        </a:rPr>
                        <a:t>29</a:t>
                      </a:r>
                    </a:p>
                  </a:txBody>
                  <a:tcPr/>
                </a:tc>
                <a:extLst>
                  <a:ext uri="{0D108BD9-81ED-4DB2-BD59-A6C34878D82A}">
                    <a16:rowId xmlns:a16="http://schemas.microsoft.com/office/drawing/2014/main" val="10002"/>
                  </a:ext>
                </a:extLst>
              </a:tr>
              <a:tr h="518160">
                <a:tc>
                  <a:txBody>
                    <a:bodyPr/>
                    <a:lstStyle/>
                    <a:p>
                      <a:r>
                        <a:rPr sz="1500">
                          <a:solidFill>
                            <a:srgbClr val="000000"/>
                          </a:solidFill>
                        </a:rPr>
                        <a:t>Different</a:t>
                      </a:r>
                    </a:p>
                  </a:txBody>
                  <a:tcPr/>
                </a:tc>
                <a:tc>
                  <a:txBody>
                    <a:bodyPr/>
                    <a:lstStyle/>
                    <a:p>
                      <a:r>
                        <a:rPr sz="1500">
                          <a:solidFill>
                            <a:srgbClr val="000000"/>
                          </a:solidFill>
                        </a:rPr>
                        <a:t>26</a:t>
                      </a:r>
                    </a:p>
                  </a:txBody>
                  <a:tcPr/>
                </a:tc>
                <a:tc>
                  <a:txBody>
                    <a:bodyPr/>
                    <a:lstStyle/>
                    <a:p>
                      <a:r>
                        <a:rPr sz="1500">
                          <a:solidFill>
                            <a:srgbClr val="000000"/>
                          </a:solidFill>
                        </a:rPr>
                        <a:t>12  (each with a traced cause)</a:t>
                      </a:r>
                    </a:p>
                  </a:txBody>
                  <a:tcPr/>
                </a:tc>
                <a:extLst>
                  <a:ext uri="{0D108BD9-81ED-4DB2-BD59-A6C34878D82A}">
                    <a16:rowId xmlns:a16="http://schemas.microsoft.com/office/drawing/2014/main" val="10003"/>
                  </a:ext>
                </a:extLst>
              </a:tr>
              <a:tr h="518160">
                <a:tc>
                  <a:txBody>
                    <a:bodyPr/>
                    <a:lstStyle/>
                    <a:p>
                      <a:r>
                        <a:rPr lang="en-US" sz="1500" dirty="0">
                          <a:solidFill>
                            <a:srgbClr val="000000"/>
                          </a:solidFill>
                        </a:rPr>
                        <a:t>Paper doesn’t give us numbers to try to compare </a:t>
                      </a:r>
                      <a:r>
                        <a:rPr lang="en-US" sz="1500">
                          <a:solidFill>
                            <a:srgbClr val="000000"/>
                          </a:solidFill>
                        </a:rPr>
                        <a:t>and reproduce </a:t>
                      </a:r>
                      <a:endParaRPr sz="1500" dirty="0">
                        <a:solidFill>
                          <a:srgbClr val="000000"/>
                        </a:solidFill>
                      </a:endParaRPr>
                    </a:p>
                  </a:txBody>
                  <a:tcPr/>
                </a:tc>
                <a:tc>
                  <a:txBody>
                    <a:bodyPr/>
                    <a:lstStyle/>
                    <a:p>
                      <a:r>
                        <a:rPr sz="1500">
                          <a:solidFill>
                            <a:srgbClr val="000000"/>
                          </a:solidFill>
                        </a:rPr>
                        <a:t>8</a:t>
                      </a:r>
                    </a:p>
                  </a:txBody>
                  <a:tcPr/>
                </a:tc>
                <a:tc>
                  <a:txBody>
                    <a:bodyPr/>
                    <a:lstStyle/>
                    <a:p>
                      <a:r>
                        <a:rPr sz="1500">
                          <a:solidFill>
                            <a:srgbClr val="000000"/>
                          </a:solidFill>
                        </a:rPr>
                        <a:t>4</a:t>
                      </a:r>
                    </a:p>
                  </a:txBody>
                  <a:tcPr/>
                </a:tc>
                <a:extLst>
                  <a:ext uri="{0D108BD9-81ED-4DB2-BD59-A6C34878D82A}">
                    <a16:rowId xmlns:a16="http://schemas.microsoft.com/office/drawing/2014/main" val="10004"/>
                  </a:ext>
                </a:extLst>
              </a:tr>
              <a:tr h="518160">
                <a:tc>
                  <a:txBody>
                    <a:bodyPr/>
                    <a:lstStyle/>
                    <a:p>
                      <a:r>
                        <a:rPr sz="1500">
                          <a:solidFill>
                            <a:srgbClr val="000000"/>
                          </a:solidFill>
                        </a:rPr>
                        <a:t>Exact or close</a:t>
                      </a:r>
                    </a:p>
                  </a:txBody>
                  <a:tcPr/>
                </a:tc>
                <a:tc>
                  <a:txBody>
                    <a:bodyPr/>
                    <a:lstStyle/>
                    <a:p>
                      <a:r>
                        <a:rPr sz="1500">
                          <a:solidFill>
                            <a:srgbClr val="000000"/>
                          </a:solidFill>
                        </a:rPr>
                        <a:t>59 / 93</a:t>
                      </a:r>
                    </a:p>
                  </a:txBody>
                  <a:tcPr/>
                </a:tc>
                <a:tc>
                  <a:txBody>
                    <a:bodyPr/>
                    <a:lstStyle/>
                    <a:p>
                      <a:r>
                        <a:rPr sz="1500" dirty="0">
                          <a:solidFill>
                            <a:srgbClr val="000000"/>
                          </a:solidFill>
                        </a:rPr>
                        <a:t>77 / 93</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777240" y="4937602"/>
            <a:ext cx="10515600" cy="877163"/>
          </a:xfrm>
          <a:prstGeom prst="rect">
            <a:avLst/>
          </a:prstGeom>
          <a:noFill/>
        </p:spPr>
        <p:txBody>
          <a:bodyPr wrap="square">
            <a:spAutoFit/>
          </a:bodyPr>
          <a:lstStyle/>
          <a:p>
            <a:pPr marL="285750" indent="-285750">
              <a:buFontTx/>
              <a:buChar char="-"/>
            </a:pPr>
            <a:r>
              <a:rPr lang="en-US" sz="1700" b="1" dirty="0"/>
              <a:t>9/12 of the different are </a:t>
            </a:r>
            <a:r>
              <a:rPr lang="en-US" sz="1700" b="1" dirty="0" err="1"/>
              <a:t>tbale</a:t>
            </a:r>
            <a:r>
              <a:rPr lang="en-US" sz="1700" b="1" dirty="0"/>
              <a:t> 9 damage/injury tails</a:t>
            </a:r>
          </a:p>
          <a:p>
            <a:pPr marL="285750" indent="-285750">
              <a:buFontTx/>
              <a:buChar char="-"/>
            </a:pPr>
            <a:endParaRPr lang="en-US" sz="1700" b="1" dirty="0"/>
          </a:p>
          <a:p>
            <a:endParaRPr sz="1700" b="1"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Demo</a:t>
            </a:r>
          </a:p>
        </p:txBody>
      </p:sp>
      <p:sp>
        <p:nvSpPr>
          <p:cNvPr id="3" name="Text Placeholder 2"/>
          <p:cNvSpPr>
            <a:spLocks noGrp="1"/>
          </p:cNvSpPr>
          <p:nvPr>
            <p:ph type="body" idx="1"/>
          </p:nvPr>
        </p:nvSpPr>
        <p:spPr/>
        <p:txBody>
          <a:bodyPr/>
          <a:lstStyle/>
          <a:p>
            <a:r>
              <a:t>Show Streamlit 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a:t>
            </a:r>
          </a:p>
        </p:txBody>
      </p:sp>
      <p:sp>
        <p:nvSpPr>
          <p:cNvPr id="3" name="Text Placeholder 2"/>
          <p:cNvSpPr>
            <a:spLocks noGrp="1"/>
          </p:cNvSpPr>
          <p:nvPr>
            <p:ph type="body" idx="1"/>
          </p:nvPr>
        </p:nvSpPr>
        <p:spPr/>
        <p:txBody>
          <a:bodyPr/>
          <a:lstStyle/>
          <a:p>
            <a:r>
              <a:rPr dirty="0"/>
              <a:t>Analysis phase is done → every published number matched, close, or explained with evidence</a:t>
            </a:r>
          </a:p>
          <a:p>
            <a:r>
              <a:rPr dirty="0"/>
              <a:t>Bring the draft's methodology + validation sections up to date with what you saw today</a:t>
            </a:r>
          </a:p>
          <a:p>
            <a:r>
              <a:rPr dirty="0"/>
              <a:t>Re-run the held-out evaluation with the corrected counting</a:t>
            </a:r>
          </a:p>
          <a:p>
            <a:endParaRPr dirty="0"/>
          </a:p>
          <a:p>
            <a:r>
              <a:rPr b="1" dirty="0"/>
              <a:t>What should I prioritize first?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a:t>
            </a:r>
          </a:p>
        </p:txBody>
      </p:sp>
      <p:sp>
        <p:nvSpPr>
          <p:cNvPr id="3" name="Text Placeholder 2"/>
          <p:cNvSpPr>
            <a:spLocks noGrp="1"/>
          </p:cNvSpPr>
          <p:nvPr>
            <p:ph type="body" idx="1"/>
          </p:nvPr>
        </p:nvSpPr>
        <p:spPr/>
        <p:txBody>
          <a:bodyPr/>
          <a:lstStyle/>
          <a:p>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 7 vs ours: cause probabilities</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nvGraphicFramePr>
        <p:xfrm>
          <a:off x="914400" y="1554480"/>
          <a:ext cx="10241280" cy="2926080"/>
        </p:xfrm>
        <a:graphic>
          <a:graphicData uri="http://schemas.openxmlformats.org/drawingml/2006/table">
            <a:tbl>
              <a:tblPr firstRow="1" bandRow="1">
                <a:tableStyleId>{5C22544A-7EE6-4342-B048-85BDC9FD1C3A}</a:tableStyleId>
              </a:tblPr>
              <a:tblGrid>
                <a:gridCol w="4937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87680">
                <a:tc>
                  <a:txBody>
                    <a:bodyPr/>
                    <a:lstStyle/>
                    <a:p>
                      <a:r>
                        <a:rPr sz="1500" b="1">
                          <a:solidFill>
                            <a:srgbClr val="000000"/>
                          </a:solidFill>
                        </a:rPr>
                        <a:t>P(cause | fire), sample rows</a:t>
                      </a:r>
                    </a:p>
                  </a:txBody>
                  <a:tcPr/>
                </a:tc>
                <a:tc>
                  <a:txBody>
                    <a:bodyPr/>
                    <a:lstStyle/>
                    <a:p>
                      <a:r>
                        <a:rPr sz="1500" b="1">
                          <a:solidFill>
                            <a:srgbClr val="000000"/>
                          </a:solidFill>
                        </a:rPr>
                        <a:t>Zhang</a:t>
                      </a:r>
                    </a:p>
                  </a:txBody>
                  <a:tcPr/>
                </a:tc>
                <a:tc>
                  <a:txBody>
                    <a:bodyPr/>
                    <a:lstStyle/>
                    <a:p>
                      <a:r>
                        <a:rPr sz="1500" b="1">
                          <a:solidFill>
                            <a:srgbClr val="000000"/>
                          </a:solidFill>
                        </a:rPr>
                        <a:t>Ours</a:t>
                      </a:r>
                    </a:p>
                  </a:txBody>
                  <a:tcPr/>
                </a:tc>
                <a:extLst>
                  <a:ext uri="{0D108BD9-81ED-4DB2-BD59-A6C34878D82A}">
                    <a16:rowId xmlns:a16="http://schemas.microsoft.com/office/drawing/2014/main" val="10000"/>
                  </a:ext>
                </a:extLst>
              </a:tr>
              <a:tr h="487680">
                <a:tc>
                  <a:txBody>
                    <a:bodyPr/>
                    <a:lstStyle/>
                    <a:p>
                      <a:r>
                        <a:rPr sz="1500">
                          <a:solidFill>
                            <a:srgbClr val="000000"/>
                          </a:solidFill>
                        </a:rPr>
                        <a:t>airframe/component/system failure</a:t>
                      </a:r>
                    </a:p>
                  </a:txBody>
                  <a:tcPr/>
                </a:tc>
                <a:tc>
                  <a:txBody>
                    <a:bodyPr/>
                    <a:lstStyle/>
                    <a:p>
                      <a:r>
                        <a:rPr sz="1500">
                          <a:solidFill>
                            <a:srgbClr val="000000"/>
                          </a:solidFill>
                        </a:rPr>
                        <a:t>0.3137  (32/102)</a:t>
                      </a:r>
                    </a:p>
                  </a:txBody>
                  <a:tcPr/>
                </a:tc>
                <a:tc>
                  <a:txBody>
                    <a:bodyPr/>
                    <a:lstStyle/>
                    <a:p>
                      <a:r>
                        <a:rPr sz="1500">
                          <a:solidFill>
                            <a:srgbClr val="000000"/>
                          </a:solidFill>
                        </a:rPr>
                        <a:t>0.3137  (32/102)</a:t>
                      </a:r>
                    </a:p>
                  </a:txBody>
                  <a:tcPr/>
                </a:tc>
                <a:extLst>
                  <a:ext uri="{0D108BD9-81ED-4DB2-BD59-A6C34878D82A}">
                    <a16:rowId xmlns:a16="http://schemas.microsoft.com/office/drawing/2014/main" val="10001"/>
                  </a:ext>
                </a:extLst>
              </a:tr>
              <a:tr h="487680">
                <a:tc>
                  <a:txBody>
                    <a:bodyPr/>
                    <a:lstStyle/>
                    <a:p>
                      <a:r>
                        <a:rPr sz="1500">
                          <a:solidFill>
                            <a:srgbClr val="000000"/>
                          </a:solidFill>
                        </a:rPr>
                        <a:t>electrical system, electric wiring</a:t>
                      </a:r>
                    </a:p>
                  </a:txBody>
                  <a:tcPr/>
                </a:tc>
                <a:tc>
                  <a:txBody>
                    <a:bodyPr/>
                    <a:lstStyle/>
                    <a:p>
                      <a:r>
                        <a:rPr sz="1500">
                          <a:solidFill>
                            <a:srgbClr val="000000"/>
                          </a:solidFill>
                        </a:rPr>
                        <a:t>0.0882  (9/102)</a:t>
                      </a:r>
                    </a:p>
                  </a:txBody>
                  <a:tcPr/>
                </a:tc>
                <a:tc>
                  <a:txBody>
                    <a:bodyPr/>
                    <a:lstStyle/>
                    <a:p>
                      <a:r>
                        <a:rPr sz="1500">
                          <a:solidFill>
                            <a:srgbClr val="000000"/>
                          </a:solidFill>
                        </a:rPr>
                        <a:t>0.0882  (9/102)</a:t>
                      </a:r>
                    </a:p>
                  </a:txBody>
                  <a:tcPr/>
                </a:tc>
                <a:extLst>
                  <a:ext uri="{0D108BD9-81ED-4DB2-BD59-A6C34878D82A}">
                    <a16:rowId xmlns:a16="http://schemas.microsoft.com/office/drawing/2014/main" val="10002"/>
                  </a:ext>
                </a:extLst>
              </a:tr>
              <a:tr h="487680">
                <a:tc>
                  <a:txBody>
                    <a:bodyPr/>
                    <a:lstStyle/>
                    <a:p>
                      <a:r>
                        <a:rPr sz="1500">
                          <a:solidFill>
                            <a:srgbClr val="000000"/>
                          </a:solidFill>
                        </a:rPr>
                        <a:t>loss of engine power (total)</a:t>
                      </a:r>
                    </a:p>
                  </a:txBody>
                  <a:tcPr/>
                </a:tc>
                <a:tc>
                  <a:txBody>
                    <a:bodyPr/>
                    <a:lstStyle/>
                    <a:p>
                      <a:r>
                        <a:rPr sz="1500">
                          <a:solidFill>
                            <a:srgbClr val="000000"/>
                          </a:solidFill>
                        </a:rPr>
                        <a:t>0.0882  (9/102)</a:t>
                      </a:r>
                    </a:p>
                  </a:txBody>
                  <a:tcPr/>
                </a:tc>
                <a:tc>
                  <a:txBody>
                    <a:bodyPr/>
                    <a:lstStyle/>
                    <a:p>
                      <a:r>
                        <a:rPr sz="1500">
                          <a:solidFill>
                            <a:srgbClr val="000000"/>
                          </a:solidFill>
                        </a:rPr>
                        <a:t>0.0882  (9/102)</a:t>
                      </a:r>
                    </a:p>
                  </a:txBody>
                  <a:tcPr/>
                </a:tc>
                <a:extLst>
                  <a:ext uri="{0D108BD9-81ED-4DB2-BD59-A6C34878D82A}">
                    <a16:rowId xmlns:a16="http://schemas.microsoft.com/office/drawing/2014/main" val="10003"/>
                  </a:ext>
                </a:extLst>
              </a:tr>
              <a:tr h="487680">
                <a:tc>
                  <a:txBody>
                    <a:bodyPr/>
                    <a:lstStyle/>
                    <a:p>
                      <a:r>
                        <a:rPr sz="1500">
                          <a:solidFill>
                            <a:srgbClr val="000000"/>
                          </a:solidFill>
                        </a:rPr>
                        <a:t>fluid, fuel</a:t>
                      </a:r>
                    </a:p>
                  </a:txBody>
                  <a:tcPr/>
                </a:tc>
                <a:tc>
                  <a:txBody>
                    <a:bodyPr/>
                    <a:lstStyle/>
                    <a:p>
                      <a:r>
                        <a:rPr sz="1500">
                          <a:solidFill>
                            <a:srgbClr val="000000"/>
                          </a:solidFill>
                        </a:rPr>
                        <a:t>0.0588  (6/102)</a:t>
                      </a:r>
                    </a:p>
                  </a:txBody>
                  <a:tcPr/>
                </a:tc>
                <a:tc>
                  <a:txBody>
                    <a:bodyPr/>
                    <a:lstStyle/>
                    <a:p>
                      <a:r>
                        <a:rPr sz="1500">
                          <a:solidFill>
                            <a:srgbClr val="000000"/>
                          </a:solidFill>
                        </a:rPr>
                        <a:t>0.0588  (6/102)</a:t>
                      </a:r>
                    </a:p>
                  </a:txBody>
                  <a:tcPr/>
                </a:tc>
                <a:extLst>
                  <a:ext uri="{0D108BD9-81ED-4DB2-BD59-A6C34878D82A}">
                    <a16:rowId xmlns:a16="http://schemas.microsoft.com/office/drawing/2014/main" val="10004"/>
                  </a:ext>
                </a:extLst>
              </a:tr>
              <a:tr h="487680">
                <a:tc>
                  <a:txBody>
                    <a:bodyPr/>
                    <a:lstStyle/>
                    <a:p>
                      <a:r>
                        <a:rPr sz="1500">
                          <a:solidFill>
                            <a:srgbClr val="000000"/>
                          </a:solidFill>
                        </a:rPr>
                        <a:t>auxiliary power unit (APU)</a:t>
                      </a:r>
                    </a:p>
                  </a:txBody>
                  <a:tcPr/>
                </a:tc>
                <a:tc>
                  <a:txBody>
                    <a:bodyPr/>
                    <a:lstStyle/>
                    <a:p>
                      <a:r>
                        <a:rPr sz="1500">
                          <a:solidFill>
                            <a:srgbClr val="000000"/>
                          </a:solidFill>
                        </a:rPr>
                        <a:t>0.0490  (5/102)</a:t>
                      </a:r>
                    </a:p>
                  </a:txBody>
                  <a:tcPr/>
                </a:tc>
                <a:tc>
                  <a:txBody>
                    <a:bodyPr/>
                    <a:lstStyle/>
                    <a:p>
                      <a:r>
                        <a:rPr sz="1500">
                          <a:solidFill>
                            <a:srgbClr val="000000"/>
                          </a:solidFill>
                        </a:rPr>
                        <a:t>0.0490  (5/102)</a:t>
                      </a:r>
                    </a:p>
                  </a:txBody>
                  <a:tcPr/>
                </a:tc>
                <a:extLst>
                  <a:ext uri="{0D108BD9-81ED-4DB2-BD59-A6C34878D82A}">
                    <a16:rowId xmlns:a16="http://schemas.microsoft.com/office/drawing/2014/main" val="10005"/>
                  </a:ext>
                </a:extLst>
              </a:tr>
            </a:tbl>
          </a:graphicData>
        </a:graphic>
      </p:graphicFrame>
      <p:sp>
        <p:nvSpPr>
          <p:cNvPr id="5" name="TextBox 4"/>
          <p:cNvSpPr txBox="1"/>
          <p:nvPr/>
        </p:nvSpPr>
        <p:spPr>
          <a:xfrm>
            <a:off x="822960" y="4937760"/>
            <a:ext cx="10515600" cy="822960"/>
          </a:xfrm>
          <a:prstGeom prst="rect">
            <a:avLst/>
          </a:prstGeom>
          <a:noFill/>
        </p:spPr>
        <p:txBody>
          <a:bodyPr wrap="square">
            <a:spAutoFit/>
          </a:bodyPr>
          <a:lstStyle/>
          <a:p>
            <a:r>
              <a:rPr sz="1700" b="1"/>
              <a:t>85 of 85 cells exact. Same denominator, same rules, same numbers.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Table 9 vs ours: 50 cells around engine power loss</a:t>
            </a:r>
          </a:p>
        </p:txBody>
      </p:sp>
      <p:sp>
        <p:nvSpPr>
          <p:cNvPr id="3" name="Text Placeholder 2"/>
          <p:cNvSpPr>
            <a:spLocks noGrp="1"/>
          </p:cNvSpPr>
          <p:nvPr>
            <p:ph type="body" idx="1"/>
          </p:nvPr>
        </p:nvSpPr>
        <p:spPr/>
        <p:txBody>
          <a:bodyPr/>
          <a:lstStyle/>
          <a:p>
            <a:endParaRPr/>
          </a:p>
        </p:txBody>
      </p:sp>
      <p:graphicFrame>
        <p:nvGraphicFramePr>
          <p:cNvPr id="4" name="Table 3"/>
          <p:cNvGraphicFramePr>
            <a:graphicFrameLocks noGrp="1"/>
          </p:cNvGraphicFramePr>
          <p:nvPr/>
        </p:nvGraphicFramePr>
        <p:xfrm>
          <a:off x="822960" y="1417320"/>
          <a:ext cx="10424160" cy="3200400"/>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57200">
                <a:tc>
                  <a:txBody>
                    <a:bodyPr/>
                    <a:lstStyle/>
                    <a:p>
                      <a:r>
                        <a:rPr sz="1400" b="1">
                          <a:solidFill>
                            <a:srgbClr val="000000"/>
                          </a:solidFill>
                        </a:rPr>
                        <a:t>Cell</a:t>
                      </a:r>
                    </a:p>
                  </a:txBody>
                  <a:tcPr/>
                </a:tc>
                <a:tc>
                  <a:txBody>
                    <a:bodyPr/>
                    <a:lstStyle/>
                    <a:p>
                      <a:r>
                        <a:rPr sz="1400" b="1">
                          <a:solidFill>
                            <a:srgbClr val="000000"/>
                          </a:solidFill>
                        </a:rPr>
                        <a:t>Zhang</a:t>
                      </a:r>
                    </a:p>
                  </a:txBody>
                  <a:tcPr/>
                </a:tc>
                <a:tc>
                  <a:txBody>
                    <a:bodyPr/>
                    <a:lstStyle/>
                    <a:p>
                      <a:r>
                        <a:rPr sz="1400" b="1">
                          <a:solidFill>
                            <a:srgbClr val="000000"/>
                          </a:solidFill>
                        </a:rPr>
                        <a:t>Ours</a:t>
                      </a:r>
                    </a:p>
                  </a:txBody>
                  <a:tcPr/>
                </a:tc>
                <a:extLst>
                  <a:ext uri="{0D108BD9-81ED-4DB2-BD59-A6C34878D82A}">
                    <a16:rowId xmlns:a16="http://schemas.microsoft.com/office/drawing/2014/main" val="10000"/>
                  </a:ext>
                </a:extLst>
              </a:tr>
              <a:tr h="457200">
                <a:tc>
                  <a:txBody>
                    <a:bodyPr/>
                    <a:lstStyle/>
                    <a:p>
                      <a:r>
                        <a:rPr sz="1400">
                          <a:solidFill>
                            <a:srgbClr val="000000"/>
                          </a:solidFill>
                        </a:rPr>
                        <a:t>P(engine power loss | improper oil usage)</a:t>
                      </a:r>
                    </a:p>
                  </a:txBody>
                  <a:tcPr/>
                </a:tc>
                <a:tc>
                  <a:txBody>
                    <a:bodyPr/>
                    <a:lstStyle/>
                    <a:p>
                      <a:r>
                        <a:rPr sz="1400">
                          <a:solidFill>
                            <a:srgbClr val="000000"/>
                          </a:solidFill>
                        </a:rPr>
                        <a:t>0.95</a:t>
                      </a:r>
                    </a:p>
                  </a:txBody>
                  <a:tcPr/>
                </a:tc>
                <a:tc>
                  <a:txBody>
                    <a:bodyPr/>
                    <a:lstStyle/>
                    <a:p>
                      <a:r>
                        <a:rPr sz="1400">
                          <a:solidFill>
                            <a:srgbClr val="000000"/>
                          </a:solidFill>
                        </a:rPr>
                        <a:t>0.95  exact</a:t>
                      </a:r>
                    </a:p>
                  </a:txBody>
                  <a:tcPr/>
                </a:tc>
                <a:extLst>
                  <a:ext uri="{0D108BD9-81ED-4DB2-BD59-A6C34878D82A}">
                    <a16:rowId xmlns:a16="http://schemas.microsoft.com/office/drawing/2014/main" val="10001"/>
                  </a:ext>
                </a:extLst>
              </a:tr>
              <a:tr h="457200">
                <a:tc>
                  <a:txBody>
                    <a:bodyPr/>
                    <a:lstStyle/>
                    <a:p>
                      <a:r>
                        <a:rPr sz="1400">
                          <a:solidFill>
                            <a:srgbClr val="000000"/>
                          </a:solidFill>
                        </a:rPr>
                        <a:t>P(engine power loss | combustion liner failure)</a:t>
                      </a:r>
                    </a:p>
                  </a:txBody>
                  <a:tcPr/>
                </a:tc>
                <a:tc>
                  <a:txBody>
                    <a:bodyPr/>
                    <a:lstStyle/>
                    <a:p>
                      <a:r>
                        <a:rPr sz="1400">
                          <a:solidFill>
                            <a:srgbClr val="000000"/>
                          </a:solidFill>
                        </a:rPr>
                        <a:t>0.50</a:t>
                      </a:r>
                    </a:p>
                  </a:txBody>
                  <a:tcPr/>
                </a:tc>
                <a:tc>
                  <a:txBody>
                    <a:bodyPr/>
                    <a:lstStyle/>
                    <a:p>
                      <a:r>
                        <a:rPr sz="1400">
                          <a:solidFill>
                            <a:srgbClr val="000000"/>
                          </a:solidFill>
                        </a:rPr>
                        <a:t>0.50  exact</a:t>
                      </a:r>
                    </a:p>
                  </a:txBody>
                  <a:tcPr/>
                </a:tc>
                <a:extLst>
                  <a:ext uri="{0D108BD9-81ED-4DB2-BD59-A6C34878D82A}">
                    <a16:rowId xmlns:a16="http://schemas.microsoft.com/office/drawing/2014/main" val="10002"/>
                  </a:ext>
                </a:extLst>
              </a:tr>
              <a:tr h="457200">
                <a:tc>
                  <a:txBody>
                    <a:bodyPr/>
                    <a:lstStyle/>
                    <a:p>
                      <a:r>
                        <a:rPr sz="1400">
                          <a:solidFill>
                            <a:srgbClr val="000000"/>
                          </a:solidFill>
                        </a:rPr>
                        <a:t>P(forced landing | engine power loss)</a:t>
                      </a:r>
                    </a:p>
                  </a:txBody>
                  <a:tcPr/>
                </a:tc>
                <a:tc>
                  <a:txBody>
                    <a:bodyPr/>
                    <a:lstStyle/>
                    <a:p>
                      <a:r>
                        <a:rPr sz="1400">
                          <a:solidFill>
                            <a:srgbClr val="000000"/>
                          </a:solidFill>
                        </a:rPr>
                        <a:t>0.1429</a:t>
                      </a:r>
                    </a:p>
                  </a:txBody>
                  <a:tcPr/>
                </a:tc>
                <a:tc>
                  <a:txBody>
                    <a:bodyPr/>
                    <a:lstStyle/>
                    <a:p>
                      <a:r>
                        <a:rPr sz="1400">
                          <a:solidFill>
                            <a:srgbClr val="000000"/>
                          </a:solidFill>
                        </a:rPr>
                        <a:t>0.1429  exact</a:t>
                      </a:r>
                    </a:p>
                  </a:txBody>
                  <a:tcPr/>
                </a:tc>
                <a:extLst>
                  <a:ext uri="{0D108BD9-81ED-4DB2-BD59-A6C34878D82A}">
                    <a16:rowId xmlns:a16="http://schemas.microsoft.com/office/drawing/2014/main" val="10003"/>
                  </a:ext>
                </a:extLst>
              </a:tr>
              <a:tr h="457200">
                <a:tc>
                  <a:txBody>
                    <a:bodyPr/>
                    <a:lstStyle/>
                    <a:p>
                      <a:r>
                        <a:rPr sz="1400">
                          <a:solidFill>
                            <a:srgbClr val="000000"/>
                          </a:solidFill>
                        </a:rPr>
                        <a:t>P(forced landing | inoperative instruments)</a:t>
                      </a:r>
                    </a:p>
                  </a:txBody>
                  <a:tcPr/>
                </a:tc>
                <a:tc>
                  <a:txBody>
                    <a:bodyPr/>
                    <a:lstStyle/>
                    <a:p>
                      <a:r>
                        <a:rPr sz="1400">
                          <a:solidFill>
                            <a:srgbClr val="000000"/>
                          </a:solidFill>
                        </a:rPr>
                        <a:t>0.1357</a:t>
                      </a:r>
                    </a:p>
                  </a:txBody>
                  <a:tcPr/>
                </a:tc>
                <a:tc>
                  <a:txBody>
                    <a:bodyPr/>
                    <a:lstStyle/>
                    <a:p>
                      <a:r>
                        <a:rPr sz="1400">
                          <a:solidFill>
                            <a:srgbClr val="000000"/>
                          </a:solidFill>
                        </a:rPr>
                        <a:t>0.1357  exact</a:t>
                      </a:r>
                    </a:p>
                  </a:txBody>
                  <a:tcPr/>
                </a:tc>
                <a:extLst>
                  <a:ext uri="{0D108BD9-81ED-4DB2-BD59-A6C34878D82A}">
                    <a16:rowId xmlns:a16="http://schemas.microsoft.com/office/drawing/2014/main" val="10004"/>
                  </a:ext>
                </a:extLst>
              </a:tr>
              <a:tr h="457200">
                <a:tc>
                  <a:txBody>
                    <a:bodyPr/>
                    <a:lstStyle/>
                    <a:p>
                      <a:r>
                        <a:rPr sz="1400">
                          <a:solidFill>
                            <a:srgbClr val="000000"/>
                          </a:solidFill>
                        </a:rPr>
                        <a:t>P(no injury | engine power loss)</a:t>
                      </a:r>
                    </a:p>
                  </a:txBody>
                  <a:tcPr/>
                </a:tc>
                <a:tc>
                  <a:txBody>
                    <a:bodyPr/>
                    <a:lstStyle/>
                    <a:p>
                      <a:r>
                        <a:rPr sz="1400">
                          <a:solidFill>
                            <a:srgbClr val="000000"/>
                          </a:solidFill>
                        </a:rPr>
                        <a:t>0.9899</a:t>
                      </a:r>
                    </a:p>
                  </a:txBody>
                  <a:tcPr/>
                </a:tc>
                <a:tc>
                  <a:txBody>
                    <a:bodyPr/>
                    <a:lstStyle/>
                    <a:p>
                      <a:r>
                        <a:rPr sz="1400">
                          <a:solidFill>
                            <a:srgbClr val="000000"/>
                          </a:solidFill>
                        </a:rPr>
                        <a:t>0.9496  after fix</a:t>
                      </a:r>
                    </a:p>
                  </a:txBody>
                  <a:tcPr/>
                </a:tc>
                <a:extLst>
                  <a:ext uri="{0D108BD9-81ED-4DB2-BD59-A6C34878D82A}">
                    <a16:rowId xmlns:a16="http://schemas.microsoft.com/office/drawing/2014/main" val="10005"/>
                  </a:ext>
                </a:extLst>
              </a:tr>
              <a:tr h="457200">
                <a:tc>
                  <a:txBody>
                    <a:bodyPr/>
                    <a:lstStyle/>
                    <a:p>
                      <a:r>
                        <a:rPr sz="1400">
                          <a:solidFill>
                            <a:srgbClr val="000000"/>
                          </a:solidFill>
                        </a:rPr>
                        <a:t>P(minor damage | engine power loss)</a:t>
                      </a:r>
                    </a:p>
                  </a:txBody>
                  <a:tcPr/>
                </a:tc>
                <a:tc>
                  <a:txBody>
                    <a:bodyPr/>
                    <a:lstStyle/>
                    <a:p>
                      <a:r>
                        <a:rPr sz="1400">
                          <a:solidFill>
                            <a:srgbClr val="000000"/>
                          </a:solidFill>
                        </a:rPr>
                        <a:t>0.00378</a:t>
                      </a:r>
                    </a:p>
                  </a:txBody>
                  <a:tcPr/>
                </a:tc>
                <a:tc>
                  <a:txBody>
                    <a:bodyPr/>
                    <a:lstStyle/>
                    <a:p>
                      <a:r>
                        <a:rPr sz="1400">
                          <a:solidFill>
                            <a:srgbClr val="000000"/>
                          </a:solidFill>
                        </a:rPr>
                        <a:t>0.0208  after fix</a:t>
                      </a:r>
                    </a:p>
                  </a:txBody>
                  <a:tcPr/>
                </a:tc>
                <a:extLst>
                  <a:ext uri="{0D108BD9-81ED-4DB2-BD59-A6C34878D82A}">
                    <a16:rowId xmlns:a16="http://schemas.microsoft.com/office/drawing/2014/main" val="10006"/>
                  </a:ext>
                </a:extLst>
              </a:tr>
            </a:tbl>
          </a:graphicData>
        </a:graphic>
      </p:graphicFrame>
      <p:sp>
        <p:nvSpPr>
          <p:cNvPr id="5" name="TextBox 4"/>
          <p:cNvSpPr txBox="1"/>
          <p:nvPr/>
        </p:nvSpPr>
        <p:spPr>
          <a:xfrm>
            <a:off x="822960" y="4846320"/>
            <a:ext cx="10515600" cy="822960"/>
          </a:xfrm>
          <a:prstGeom prst="rect">
            <a:avLst/>
          </a:prstGeom>
          <a:noFill/>
        </p:spPr>
        <p:txBody>
          <a:bodyPr wrap="square">
            <a:spAutoFit/>
          </a:bodyPr>
          <a:lstStyle/>
          <a:p>
            <a:r>
              <a:rPr sz="1700" b="1"/>
              <a:t>Every single-parent edge exact. The damage and injury rows needed one fix → coming in two slides.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the 12 remaining gaps, by cause</a:t>
            </a:r>
          </a:p>
        </p:txBody>
      </p:sp>
      <p:sp>
        <p:nvSpPr>
          <p:cNvPr id="3" name="Text Placeholder 2"/>
          <p:cNvSpPr>
            <a:spLocks noGrp="1"/>
          </p:cNvSpPr>
          <p:nvPr>
            <p:ph type="body" idx="1"/>
          </p:nvPr>
        </p:nvSpPr>
        <p:spPr/>
        <p:txBody>
          <a:bodyPr/>
          <a:lstStyle/>
          <a:p>
            <a:r>
              <a:t>His build variance (majority): deep multi-hop posteriors that swing orders of magnitude across his own random builds; his released network misses them too</a:t>
            </a:r>
          </a:p>
          <a:p>
            <a:r>
              <a:t>Data contradicts the printed value (2-3 cells): the raw counts cannot produce his number under any estimator we tried</a:t>
            </a:r>
          </a:p>
          <a:p>
            <a:r>
              <a:t>Scope and definition differences: node families we resolve differently (e.g. gear-collapse variants), documented per cell</a:t>
            </a:r>
          </a:p>
          <a:p>
            <a:r>
              <a:rPr b="1"/>
              <a:t>Every cell has its note in the comparison table (app + BN_COMPARISON_REPORT.md)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Table 4 recap (closed on Tuesday)</a:t>
            </a:r>
          </a:p>
        </p:txBody>
      </p:sp>
      <p:sp>
        <p:nvSpPr>
          <p:cNvPr id="3" name="Text Placeholder 2"/>
          <p:cNvSpPr>
            <a:spLocks noGrp="1"/>
          </p:cNvSpPr>
          <p:nvPr>
            <p:ph type="body" idx="1"/>
          </p:nvPr>
        </p:nvSpPr>
        <p:spPr/>
        <p:txBody>
          <a:bodyPr/>
          <a:lstStyle/>
          <a:p>
            <a:r>
              <a:t>Table 4 = P(fire | wiring, fuel), the Section 3 illustrative CPT</a:t>
            </a:r>
          </a:p>
          <a:p>
            <a:r>
              <a:t>Its values cannot be counted from the data (no estimator over the 1,742 accidents produces them)</a:t>
            </a:r>
          </a:p>
          <a:p>
            <a:r>
              <a:t>The paper itself signals this: Section 3 = worked example, Section 4 (Eq. 9 + Beta-CDF) = the data method</a:t>
            </a:r>
          </a:p>
          <a:p>
            <a:r>
              <a:rPr b="1"/>
              <a:t>Our pipeline uses the Section 4 recipe → those numbers reproduce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the Figure 3 question, answered</a:t>
            </a:r>
          </a:p>
        </p:txBody>
      </p:sp>
      <p:sp>
        <p:nvSpPr>
          <p:cNvPr id="3" name="Text Placeholder 2"/>
          <p:cNvSpPr>
            <a:spLocks noGrp="1"/>
          </p:cNvSpPr>
          <p:nvPr>
            <p:ph type="body" idx="1"/>
          </p:nvPr>
        </p:nvSpPr>
        <p:spPr/>
        <p:txBody>
          <a:bodyPr/>
          <a:lstStyle/>
          <a:p>
            <a:r>
              <a:t>Inputs: only the printed Table 3 (priors), Table 4 (fire CPT), Table 5 (evacuation CPT)</a:t>
            </a:r>
          </a:p>
          <a:p>
            <a:r>
              <a:t>Computation: chain rule + Bayes' rule, four hand-checkable steps</a:t>
            </a:r>
          </a:p>
          <a:p>
            <a:r>
              <a:t>Every Figure 3 number comes out exactly, including the 0.67 / 0.33 wiring vs brake split</a:t>
            </a:r>
          </a:p>
          <a:p>
            <a:r>
              <a:rPr b="1"/>
              <a:t>So Figure 3 = correct algebra on the Section 3 illustrative tables: a worked example, not a data result</a:t>
            </a:r>
          </a:p>
          <a:p>
            <a:r>
              <a:t>Script: tests/reproduce_fig3_from_tables.py</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3977</Words>
  <Application>Microsoft Macintosh PowerPoint</Application>
  <PresentationFormat>Widescreen</PresentationFormat>
  <Paragraphs>260</Paragraphs>
  <Slides>18</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Times</vt:lpstr>
      <vt:lpstr>Wingdings</vt:lpstr>
      <vt:lpstr>Arial</vt:lpstr>
      <vt:lpstr>Helvetica Neue</vt:lpstr>
      <vt:lpstr>Calibri</vt:lpstr>
      <vt:lpstr>Arial Narrow</vt:lpstr>
      <vt:lpstr>Blank Presentation</vt:lpstr>
      <vt:lpstr>NTSB Project Update July 17th, 2026</vt:lpstr>
      <vt:lpstr>Previous Meeting</vt:lpstr>
      <vt:lpstr>The Bayesian Network</vt:lpstr>
      <vt:lpstr>Methodology for BN</vt:lpstr>
      <vt:lpstr>Table 9: Loss of engine power</vt:lpstr>
      <vt:lpstr>Why the network exists</vt:lpstr>
      <vt:lpstr>Table 8 vs ours: The what if experiment</vt:lpstr>
      <vt:lpstr>Figures 11 and 12 vs ours: the multi-evidence queries</vt:lpstr>
      <vt:lpstr>Where the gaps came from: one finding, two fixes</vt:lpstr>
      <vt:lpstr>All 93 published network numbers, scored</vt:lpstr>
      <vt:lpstr>Live Demo</vt:lpstr>
      <vt:lpstr>Next Step</vt:lpstr>
      <vt:lpstr>Appendix</vt:lpstr>
      <vt:lpstr>Table 7 vs ours: cause probabilities</vt:lpstr>
      <vt:lpstr>Table 9 vs ours: 50 cells around engine power loss</vt:lpstr>
      <vt:lpstr>Appendix: the 12 remaining gaps, by cause</vt:lpstr>
      <vt:lpstr>Appendix: Table 4 recap (closed on Tuesday)</vt:lpstr>
      <vt:lpstr>Appendix: the Figure 3 question, answered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Shankar Sankararaman</dc:creator>
  <cp:lastModifiedBy>Shetkar, Kanu</cp:lastModifiedBy>
  <cp:revision>1</cp:revision>
  <dcterms:created xsi:type="dcterms:W3CDTF">2004-05-06T18:09:09Z</dcterms:created>
  <dcterms:modified xsi:type="dcterms:W3CDTF">2026-07-17T17:53:57Z</dcterms:modified>
</cp:coreProperties>
</file>