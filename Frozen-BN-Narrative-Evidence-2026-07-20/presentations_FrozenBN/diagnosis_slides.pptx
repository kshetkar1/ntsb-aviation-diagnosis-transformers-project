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beats: the bug I found, the fix, the results. New this version: every key result is paired with the actual figure/table from Zhang's paper so you can verify the numbers. Headline: same data -&gt; same numbers as Zhang, and we go a bit beyond. Scope is the fire node, 1982-2006 window.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Maha gave me a one-number sanity check; I treated it as the gate. If I don't reproduce 5.52e-7, every conditional is suspect. Prior + Table 7 are the real targets, not Table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everyone in Zhang's own model first. Fire sits in the middle with cause parents on the left and the damage consequence on the right. Everything we reproduce quantifies the arrows pointing INTO the fire node, from real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wasn't close-but-off. Everything was wrong at once, which signals a data problem upstream, not a parameter to nudge.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single gap explains why nothing lined up: the fire denominator was wrong, so every P(cause|fire) was computed on the wrong population.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smaller-but-real mismatches stacked on the missing data: wrong source layer, wrong denominator, incomplete retrieval index.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fix corresponds to one problem. Nothing here is a tuning hack — it's making my pipeline use the same data and definitions Zhang did.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slide that makes the 'process change' explicit. Each row is a knob we turned from a wrong setting to the setting Zhang actually used; the right column says exactly what that buys us. No tuning, just alignment.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Zhang's actual equation and worked example on screen so the next slide (ours) is apples-to-apples. Key subtlety the advisor flagged: the denominator is total flights, not accidents.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sanity check passing to the digit, against Zhang's own equation one slide back. That's the gate cleared.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table from the paper, not a redraw, so the next slide is a literal side-by-side. Watch the airframe cell, 0.31372 — the single most important number to match.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next to the previous slide — same causes, same probabilities. Convergence is clean: tighter retrieval is query-focused; full breadth reproduces the whole population and equals Zhang.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answers the long-standing Table 4 question. The 0.99 is pedagogical — Zhang hand-fills that CPT to illustrate the toy network. His genuine estimator (Fig. 8 Beta-CDF) gives ~0.1 on the same inputs. So we don't chase 0.99; we reproduce the legitimate quantities (prior, Table 7) and reinterpret Table 4 as 'condition on more evidence', shown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4 asked 'given brake + wiring, how likely is fire?'. Our conditional asks the diagnosis-direction analogue — 'given fire AND wiring, which cause dominates?' — by restricting the population (14 incidents), not inventing a 0.99. Answer: wiring ~79%.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step past pure reproduction: the method isn't fire-specific anymore — it generalizes to any outcome the data supports.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always guessing top-1, the engine declines when causes are tied. Validated lift over base-rate on the high-confidence subset for fire and gear; loss-of-engine-power is a wash, stated honestly. Population diagnosis untouched.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conservative. Population diagnosis is an A; per-incident sits at base-rate, an honest data-ceiling limitation, not a regression vs Zhang — Zhang never claims per-incident.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Everything before was reproduction — proving I can get Zhang's numbers. This is the actual new science: a better way to estimate probabilities when there's almost no data, and I validated it. I'll teach the concepts first, show the result, then be very honest about where it does and doesn't win.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vocabulary, it's easy to forget. A CPT is the lookup table of probabilities inside the network: for each node, given its parents, how likely each state is. A cell is one entry — one specific conditional probability — got by counting how often the cause and outcome co-occur over how often the cause happens. 'Sparse' just means barely any incidents to count. That's a problem because one freak case dominates the estimate, and the rare events are the ones we most want to get right.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terms. A CDF is 'the probability of being at or below some value' — picture lining people up by height and asking what fraction are no taller than six feet; that fraction is the CDF at six feet, and it rises from zero to one. The Beta distribution is a curve that only lives between 0 and 1, a natural way to describe a probability you're unsure about; it has two shape dials, alpha and beta. Zhang's smoother runs a cell's raw ratio through one fixed Beta curve to pull crazy values toward the middle. The key word is 'fixed' — same curve for every cell, regardless of what it's about.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catch. Alpha and beta are calibrated one time across all the data and used everywhere the same way. And it only sees the bare ratio, k out of n — it has no idea whether the cell is about a fuel system or a landing gear. So with one or two incidents it's just massaging a noisy fraction; it smooths the number but adds no real evidence. In our experiment that one-size-fits-all curve actually hurt: on the mid-range cells it was the worst of all four methods at every sparsity level.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motivating example. Zhang's marquee number — given the engine instruments are out, 95% chance you lose engine power — sounds authoritative. But tracing his code, the raw number is one incident over one incident, which is 1.0, and there's a hardcoded line: 'if the ratio is exactly 1.0, multiply by 0.95.' That's the entire origin. One data point and an arbitrary haircut, not an estimate. So the research question is: when a cell rests on a single incident, is there something smarter and more honest to report?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is simple. The exact cell has almost no data, but the corpus is full of incidents that READ like it. So instead of trusting one or two coded observations, I turn every narrative into a vector capturing its meaning, find the fifty incidents most similar to the cause, and ask what fraction escalated to the outcome. That's borrowing strength. And because it always looks at the same pool of similar incidents, the answer is stable — it doesn't lurch around depending on which one or two local cases you saw. That stability is the whole point of a smoother.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clever part is how we get ground truth for sparse cells, since by definition they don't have enough data to know the answer. So we fake the sparsity: take cells that DO have lots of data — their full-data fraction is the truth — then artificially shrink them to 1, 2, 3, 5, or 10 observations, 400 times each, and see which method best recovers the known truth. Then a stricter test, leave-one-out: hide one incident, predict it from the others, and don't let semantic peek at the one we're predicting. Proper paired stats across all 158 cells, so these aren't eyeballed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picture. Left is accuracy, lower is better — the green semantic line is flat and low, around 0.11, no matter how little data there is. The grey and red counting lines start near 0.28 at one observation and come down, crossing green around seven. Right is stability — how much the answer jumps between random draws; semantic is pinned to zero, the others bounce. The blue Beta-CDF line is worst on accuracy everywhere. And it's all statistically significant — p below one in ten thousand against Beta-CDF.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result as numbers. Read down the last column: semantic is 0.111 everywhere because it ignores the noisy little sample. Read across the n=1 row — counting methods are near 0.28, more than double the error. By n=10 the bottom row flips: raw count is 0.085 and now beats semantic's 0.111. Honest reading: semantic dominates when data is scarce, counting wins once data is plentiful, crossing around seven observations. The cross-entropy at n=1 says it louder — 0.58 versus nearly 4 for raw counting.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arms me for the inevitable question — is it actually better than Zhang? Honest answer: yes, where it matters most. In the sparse regime, n of five or fewer, which is precisely where Zhang's 0.95 lives, it's significantly more accurate and dramatically more stable. And it's a clean win over his actual Beta-CDF smoother across the board. But I won't oversell it: once you have ten or more observations a plain raw count is better, and in the strictest leave-one-out test semantic actually loses to raw counting because its neighbour pool carries a small bias. So the honest takeaway isn't 'throw out counting,' it's 'use the right tool for the regime' — semantic when starved for data, counting when rich. That hybrid is the clean story for the paper.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closes the open item from last time. Beat one was reproduction, beat two was the sparse-cell estimator. This third part is the one thing only the narrative method can do: take a single incident's write-up and use it to guess that incident's cause better than just going with the most common cause overall. I validated four things — conditioning helps, the probabilities are honest, I added a safety switch, and it survives messy queries. The one honest thing I repeat throughout: I'm claiming a reliable improvement over the baseline, not high accuracy. Lead with lift, not the 47 percent.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words, they're easy to forget. Query-conditioning: instead of guessing from overall statistics, look at what this incident's write-up says and use the most similar past incidents to inform the guess. The prior, or unconditioned baseline, is what I'm trying to beat — 'what's most common for this outcome, ignoring the narrative'; beating it means the narrative adds information. Leave-one-out is the honest exam: to score each incident I use every other incident but hide the one I'm scoring. Leakage control matters because lots of these narratives basically tell you the cause, so I separated the clean factual reports from the cause-revealing ones to be sure the result is real.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one of the ~1,300 factual incidents I do three things and compare them on the SAME incident. Conditioned: embed the story, pull the most similar past incidents, compute the cause distribution over those. Unconditioned prior: identical machinery with the narrative stripped out — just the overall frequency. And the clever control, a random pool of the same size: smaller pools naturally make probabilities look concentrated, so the random-equal-size pool has that same concentration but zero narrative relevance; subtracting it leaves the real signal from the story. Then I compare paired, incident by incident, with proper significance tests.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top row, A-clean — the honest, leakage-free number, the one to quote. Conditioning gets top-1 of 47.4 percent versus 42.2 for the prior, about five points better, and the MRR goes up by about 0.052, p around 1e-11. Against the random pool the gap is even bigger, 8.5 points and 0.103, 1e-29. Beating the prior says the narrative helps; beating the random pool says it's not a small-pool artefact. Both hold decisively.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Lift is just the size of the improvement — conditioned minus baseline; bars above zero mean the narrative helps. Why lead with lift instead of the raw 47 percent? Because absolute accuracy is capped by the data — NTSB cause codes are full of vague catch-alls, so no method, Zhang's or mine, hits 90 percent per-incident. That 47 is a ceiling of the dataset, not a failure. The honest claim is the improvement over baseline, and it's big and rock-solid. If she pushes on '47 sounds low,' that's the answer: the contribution is the lift.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kills the 'isn't this just leakage?' objection. Stratum B is the cause-prose — text that literally describes the cause. If my method were winning by cheating off that, B would show a much bigger lift than clean A. It doesn't — B is +0.050, clean A is +0.052, basically the same. So A isn't riding on leakage. As a sanity check, the A-leak slice — factual reports that echo the cause — does show a bigger lift, +0.106, proving the detector detects leakage. And conditioning only helps when there's a specific mechanism to find; on the handful of generic-only cases the overall frequency is already best, so conditioning slightly hurts there — exactly as expected, and it motivates the safety gate.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is separate from ranking. Ranking asks 'did you put the right cause near the top?' Calibration asks 'when you said 60 percent, were you right about 60 percent of the time?' You want both. ECE is the average distance between what the model claims and what actually happens. Brier is a single overall score for how good the probabilities are, lower better. And temperature scaling is the fix — one knob that stretches or squeezes all the probabilities at once to match reality; just one number, so no overfitting. No heavy math, just one dial.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news. Out of the box the conditioned method is already pretty honest — ECE about 0.06, only slightly over-confident: says 52 percent on average, right about 49. Mildly cocky, not wildly wrong. A single temperature dial near 0.47 cuts the held-out calibration error roughly in half, to 0.038, without hurting the Brier score. So with a one-parameter tweak you can trust the stated probabilities to within about four to six points. The caveat: calibration only fixes what the number means — it makes '60 percent' mean 60 percent — it doesn't make the method correct more often. Accuracy ceiling is still about 49 percent.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Gating is a safety feature, not an accuracy feature. We saw conditioning hurts on the generic catch-all cases, so I added a switch — gated diagnose — that says: 'if the overall frequencies already point to a generic cause, and the narrative has no confident specific mechanism to offer instead, trust the frequencies.' In the table, ungated gets generic-true right about 55 percent; the prior gets them right about 65. The gate recovers that to 65, matching the prior and the oracle, while barely touching the specific cases. The honest part: it does NOT raise the overall number, because the harm cases are only about two percent of incidents, so even a perfect oracle adds only ~0.2 points. The point of gating is safety — never worse than the prior where the narrative can't help. Footnote: the scary 'minus twenty points' I mentioned before was partly a tie-break quirk; the real harm is closer to minus ten.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'what happens when a real user types something rough?' I mangle the query the way a real person would — drop filler words, have an LLM rewrite it in plain lay language, pad it with boilerplate, or chop it down — and ask whether the improvement holds. Mostly yes. Keyword-only keeps essentially all the lift, a lay paraphrase keeps all the top-1 lift and most of the ranking lift, and noise doesn't hurt because the embedding ignores boilerplate. The one real weakness is truncating to a single sentence — ranking lift drops to about a quarter, because the opening sentence of an NTSB report is usually generic. The most reassuring result is the paraphrase: a plain-English rewrite that never mentions the cause still preserves the lift, proving the method reads the mechanism content, not NTSB phrasing, and isn't leaking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cheat-sheet for the tough questions. Better than Zhang? Yes, on two fronts — we reproduce his population numbers exactly, and we validated something he never did, per-incident conditioning, with a real leakage-controlled lift. 47 sounds low? I agree, which is why I lead with lift — 47 is a ceiling baked into how NTSB coded the data, and the contribution is the five-point, highly significant improvement over the no-narrative baseline. Leakage? The clean and leaky strata show the same lift, impossible if I were cheating off the cause text, and a cause-free paraphrase still works. Vague queries? Robust to keywords, paraphrases, and noise; only one-sentence truncation really hurts, and even then top-1 beats the prior. Honest, confident, every caveat attached.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now. The reproduction is rock-solid and buys credibility. I have two genuinely validated contributions: query-conditioning, the narrative method's own win — it beats the no-narrative baseline with overwhelming significance and I've shown it's not leakage and not a small-pool artefact — and the sparse-cell robustness work that fixes Zhang's fragile smoother. And the conditioning method isn't just validated, it's hardened: the probabilities are calibrated and a one-parameter fix makes them honest to a few points, there's a safety gate so it's never worse than the prior, and it survives messy real queries. Every caveat stays attached: modest absolute accuracy, the gate is safety not score, very short queries lose most of the ranking benefit, and the sparse-cell method isn't a blanket win — all pointing to the obvious next step, a hybrid that uses each tool where it's best.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7315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728655" cy="2926080"/>
          </a:xfrm>
          <a:prstGeom prst="rect">
            <a:avLst/>
          </a:prstGeom>
          <a:noFill/>
        </p:spPr>
        <p:txBody>
          <a:bodyPr wrap="square">
            <a:spAutoFit/>
          </a:bodyPr>
          <a:lstStyle/>
          <a:p>
            <a:r>
              <a:rPr sz="4000" b="1">
                <a:solidFill>
                  <a:srgbClr val="FFFFFF"/>
                </a:solidFill>
              </a:rPr>
              <a:t>NTSB Bayesian Network — Diagnosis</a:t>
            </a:r>
          </a:p>
          <a:p>
            <a:r>
              <a:rPr sz="2200">
                <a:solidFill>
                  <a:srgbClr val="CFDDEE"/>
                </a:solidFill>
              </a:rPr>
              <a:t>Reproduction &amp; generalization of Zhang et al. (RESS 2021)</a:t>
            </a:r>
          </a:p>
          <a:p>
            <a:pPr>
              <a:spcBef>
                <a:spcPts val="2400"/>
              </a:spcBef>
            </a:pPr>
            <a:r>
              <a:rPr sz="1600">
                <a:solidFill>
                  <a:srgbClr val="FFFFFF"/>
                </a:solidFill>
              </a:rPr>
              <a:t>Presenter: [student name]    •    Advisor: Maha    •    June 25, 2026</a:t>
            </a:r>
          </a:p>
          <a:p>
            <a:r>
              <a:rPr sz="1600" i="1">
                <a:solidFill>
                  <a:srgbClr val="9FC2E0"/>
                </a:solidFill>
              </a:rPr>
              <a:t>The issue I found  →  how I fixed it  →  the diagnosis results</a:t>
            </a:r>
          </a:p>
          <a:p>
            <a:pPr>
              <a:spcBef>
                <a:spcPts val="1000"/>
              </a:spcBef>
            </a:pPr>
            <a:r>
              <a:rPr sz="1400" i="1">
                <a:solidFill>
                  <a:srgbClr val="9FC2E0"/>
                </a:solidFill>
              </a:rPr>
              <a:t>Zhang's original figures/tables shown side-by-side with ours throughout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Goal &amp; the advisor's sanity check</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Goal: reproduce Zhang's diagnosis numbers exactly, then generalize the method.</a:t>
            </a:r>
          </a:p>
          <a:p>
            <a:pPr>
              <a:spcAft>
                <a:spcPts val="600"/>
              </a:spcAft>
            </a:pPr>
            <a:r>
              <a:rPr sz="1800">
                <a:solidFill>
                  <a:srgbClr val="1A1A1A"/>
                </a:solidFill>
              </a:rPr>
              <a:t>•  Your sanity check — the fire prior should be:</a:t>
            </a:r>
          </a:p>
          <a:p>
            <a:pPr lvl="1">
              <a:spcAft>
                <a:spcPts val="600"/>
              </a:spcAft>
            </a:pPr>
            <a:r>
              <a:rPr sz="1600">
                <a:solidFill>
                  <a:srgbClr val="444444"/>
                </a:solidFill>
              </a:rPr>
              <a:t>–  P(fire) = 102 fires / ~184.5M flights = 5.52 x 10^-7</a:t>
            </a:r>
          </a:p>
          <a:p>
            <a:pPr>
              <a:spcAft>
                <a:spcPts val="600"/>
              </a:spcAft>
            </a:pPr>
            <a:r>
              <a:rPr sz="1800">
                <a:solidFill>
                  <a:srgbClr val="1A1A1A"/>
                </a:solidFill>
              </a:rPr>
              <a:t>•  If the engine can't hit that prior, nothing downstream can be trusted.</a:t>
            </a:r>
          </a:p>
          <a:p>
            <a:pPr>
              <a:spcAft>
                <a:spcPts val="600"/>
              </a:spcAft>
            </a:pPr>
            <a:r>
              <a:rPr sz="1800">
                <a:solidFill>
                  <a:srgbClr val="1A1A1A"/>
                </a:solidFill>
              </a:rPr>
              <a:t>•  Two correct targets: the prior and Table 7  (P(cause | fire)).</a:t>
            </a:r>
          </a:p>
          <a:p>
            <a:pPr lvl="1">
              <a:spcAft>
                <a:spcPts val="600"/>
              </a:spcAft>
            </a:pPr>
            <a:r>
              <a:rPr sz="1600">
                <a:solidFill>
                  <a:srgbClr val="444444"/>
                </a:solidFill>
              </a:rPr>
              <a:t>–  Table 4's 0.99 values are a pedagogical CPT (conditional probability table), not method outputs — shown later side-by-side.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Zhang's model: the fire node and its parent causes</a:t>
            </a:r>
          </a:p>
          <a:p>
            <a:r>
              <a:rPr sz="1500">
                <a:solidFill>
                  <a:srgbClr val="CFDDEE"/>
                </a:solidFill>
              </a:rPr>
              <a:t>Zhang Fig. 2 (actual figure from the paper)</a:t>
            </a:r>
          </a:p>
        </p:txBody>
      </p:sp>
      <p:pic>
        <p:nvPicPr>
          <p:cNvPr id="3" name="Picture 2" descr="zhang_bn_fire.png"/>
          <p:cNvPicPr>
            <a:picLocks noChangeAspect="1"/>
          </p:cNvPicPr>
          <p:nvPr/>
        </p:nvPicPr>
        <p:blipFill>
          <a:blip r:embed="rId2"/>
          <a:stretch>
            <a:fillRect/>
          </a:stretch>
        </p:blipFill>
        <p:spPr>
          <a:xfrm>
            <a:off x="2273090" y="1234440"/>
            <a:ext cx="7615339" cy="3246120"/>
          </a:xfrm>
          <a:prstGeom prst="rect">
            <a:avLst/>
          </a:prstGeom>
          <a:ln w="9525">
            <a:solidFill>
              <a:srgbClr val="BBC7D4"/>
            </a:solidFill>
          </a:ln>
        </p:spPr>
      </p:pic>
      <p:sp>
        <p:nvSpPr>
          <p:cNvPr id="4" name="TextBox 3"/>
          <p:cNvSpPr txBox="1"/>
          <p:nvPr/>
        </p:nvSpPr>
        <p:spPr>
          <a:xfrm>
            <a:off x="502920" y="4709160"/>
            <a:ext cx="11185855" cy="4297680"/>
          </a:xfrm>
          <a:prstGeom prst="rect">
            <a:avLst/>
          </a:prstGeom>
          <a:noFill/>
        </p:spPr>
        <p:txBody>
          <a:bodyPr wrap="square">
            <a:spAutoFit/>
          </a:bodyPr>
          <a:lstStyle/>
          <a:p>
            <a:pPr>
              <a:spcAft>
                <a:spcPts val="600"/>
              </a:spcAft>
            </a:pPr>
            <a:r>
              <a:rPr sz="1600">
                <a:solidFill>
                  <a:srgbClr val="1A1A1A"/>
                </a:solidFill>
              </a:rPr>
              <a:t>•  The Fire node (x3) has parent causes feeding in: brake/landing-gear wear (x1) and electrical wiring overheating (x2); fire then drives aircraft damage (x4).</a:t>
            </a:r>
          </a:p>
          <a:p>
            <a:pPr>
              <a:spcAft>
                <a:spcPts val="600"/>
              </a:spcAft>
            </a:pPr>
            <a:r>
              <a:rPr sz="1600">
                <a:solidFill>
                  <a:srgbClr val="1A1A1A"/>
                </a:solidFill>
              </a:rPr>
              <a:t>•  Our diagnosis computes P(cause | fire) over exactly these kinds of parent causes — learned from data, across ALL of Zhang's causes, not just two.</a:t>
            </a:r>
          </a:p>
          <a:p>
            <a:pPr>
              <a:spcAft>
                <a:spcPts val="600"/>
              </a:spcAft>
            </a:pPr>
            <a:r>
              <a:rPr sz="1600">
                <a:solidFill>
                  <a:srgbClr val="1A1A1A"/>
                </a:solidFill>
              </a:rPr>
              <a:t>•  This is the picture behind both Table 7 (which causes lead to fire) and Table 4 (the CPT of the fire node).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The problem: my numbers didn't match Zhang</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My diagnosis probabilities diverged from Zhang's across the board.</a:t>
            </a:r>
          </a:p>
          <a:p>
            <a:pPr>
              <a:spcAft>
                <a:spcPts val="600"/>
              </a:spcAft>
            </a:pPr>
            <a:r>
              <a:rPr sz="1800">
                <a:solidFill>
                  <a:srgbClr val="1A1A1A"/>
                </a:solidFill>
              </a:rPr>
              <a:t>•  The prior was off, and Table 7 cause shares didn't line up.</a:t>
            </a:r>
          </a:p>
          <a:p>
            <a:pPr>
              <a:spcAft>
                <a:spcPts val="600"/>
              </a:spcAft>
            </a:pPr>
            <a:r>
              <a:rPr sz="1800">
                <a:solidFill>
                  <a:srgbClr val="1A1A1A"/>
                </a:solidFill>
              </a:rPr>
              <a:t>•  My engine overlapped Zhang on only 3 of 10 top causes.</a:t>
            </a:r>
          </a:p>
          <a:p>
            <a:pPr>
              <a:spcAft>
                <a:spcPts val="600"/>
              </a:spcAft>
            </a:pPr>
            <a:r>
              <a:rPr sz="1800">
                <a:solidFill>
                  <a:srgbClr val="1A1A1A"/>
                </a:solidFill>
              </a:rPr>
              <a:t>•  This pointed to something systematic — not a tuning issue.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Root cause #1: missing legacy data  (38 vs 102 fires)</a:t>
            </a:r>
          </a:p>
        </p:txBody>
      </p:sp>
      <p:sp>
        <p:nvSpPr>
          <p:cNvPr id="3" name="TextBox 2"/>
          <p:cNvSpPr txBox="1"/>
          <p:nvPr/>
        </p:nvSpPr>
        <p:spPr>
          <a:xfrm>
            <a:off x="502920" y="1325880"/>
            <a:ext cx="11185855" cy="2377440"/>
          </a:xfrm>
          <a:prstGeom prst="rect">
            <a:avLst/>
          </a:prstGeom>
          <a:noFill/>
        </p:spPr>
        <p:txBody>
          <a:bodyPr wrap="square">
            <a:spAutoFit/>
          </a:bodyPr>
          <a:lstStyle/>
          <a:p>
            <a:pPr>
              <a:spcAft>
                <a:spcPts val="600"/>
              </a:spcAft>
            </a:pPr>
            <a:r>
              <a:rPr sz="1800">
                <a:solidFill>
                  <a:srgbClr val="1A1A1A"/>
                </a:solidFill>
              </a:rPr>
              <a:t>•  NTSB changed coding schemes (eADMS, the electronic Aviation Data Management System) ~2007.</a:t>
            </a:r>
          </a:p>
          <a:p>
            <a:pPr>
              <a:spcAft>
                <a:spcPts val="600"/>
              </a:spcAft>
            </a:pPr>
            <a:r>
              <a:rPr sz="1800">
                <a:solidFill>
                  <a:srgbClr val="1A1A1A"/>
                </a:solidFill>
              </a:rPr>
              <a:t>•  Pre-2007 accidents store event chains + findings in legacy files (Occurrences.txt, seq_of_events.txt).</a:t>
            </a:r>
          </a:p>
          <a:p>
            <a:pPr>
              <a:spcAft>
                <a:spcPts val="600"/>
              </a:spcAft>
            </a:pPr>
            <a:r>
              <a:rPr sz="1800">
                <a:solidFill>
                  <a:srgbClr val="1A1A1A"/>
                </a:solidFill>
              </a:rPr>
              <a:t>•  My processed dataset never merged that legacy layer — 1,742 pre-2007 incidents had empty sequence_of_events and findings.</a:t>
            </a:r>
          </a:p>
          <a:p>
            <a:pPr>
              <a:spcAft>
                <a:spcPts val="600"/>
              </a:spcAft>
            </a:pPr>
            <a:r>
              <a:rPr sz="1800">
                <a:solidFill>
                  <a:srgbClr val="1A1A1A"/>
                </a:solidFill>
              </a:rPr>
              <a:t>•  Result: only 38 fires counted instead of 102 (~78% of the window missing causal data).</a:t>
            </a:r>
          </a:p>
        </p:txBody>
      </p:sp>
      <p:graphicFrame>
        <p:nvGraphicFramePr>
          <p:cNvPr id="4" name="Table 3"/>
          <p:cNvGraphicFramePr>
            <a:graphicFrameLocks noGrp="1"/>
          </p:cNvGraphicFramePr>
          <p:nvPr/>
        </p:nvGraphicFramePr>
        <p:xfrm>
          <a:off x="1280160" y="4297680"/>
          <a:ext cx="9601200" cy="1737360"/>
        </p:xfrm>
        <a:graphic>
          <a:graphicData uri="http://schemas.openxmlformats.org/drawingml/2006/table">
            <a:tbl>
              <a:tblPr firstRow="1" bandRow="1">
                <a:tableStyleId>{5C22544A-7EE6-4342-B048-85BDC9FD1C3A}</a:tableStyleId>
              </a:tblPr>
              <a:tblGrid>
                <a:gridCol w="5029200"/>
                <a:gridCol w="2286000"/>
                <a:gridCol w="2286000"/>
              </a:tblGrid>
              <a:tr h="434340">
                <a:tc>
                  <a:txBody>
                    <a:bodyPr/>
                    <a:lstStyle/>
                    <a:p>
                      <a:r>
                        <a:rPr sz="1500" b="1">
                          <a:solidFill>
                            <a:srgbClr val="FFFFFF"/>
                          </a:solidFill>
                        </a:rPr>
                        <a:t>Symptom</a:t>
                      </a:r>
                    </a:p>
                  </a:txBody>
                  <a:tcPr marL="54864" marR="54864" marT="18288" marB="18288">
                    <a:solidFill>
                      <a:srgbClr val="1F6FB2"/>
                    </a:solidFill>
                  </a:tcPr>
                </a:tc>
                <a:tc>
                  <a:txBody>
                    <a:bodyPr/>
                    <a:lstStyle/>
                    <a:p>
                      <a:pPr algn="ctr"/>
                      <a:r>
                        <a:rPr sz="1500" b="1">
                          <a:solidFill>
                            <a:srgbClr val="FFFFFF"/>
                          </a:solidFill>
                        </a:rPr>
                        <a:t>Before</a:t>
                      </a:r>
                    </a:p>
                  </a:txBody>
                  <a:tcPr marL="54864" marR="54864" marT="18288" marB="18288">
                    <a:solidFill>
                      <a:srgbClr val="1F6FB2"/>
                    </a:solidFill>
                  </a:tcPr>
                </a:tc>
                <a:tc>
                  <a:txBody>
                    <a:bodyPr/>
                    <a:lstStyle/>
                    <a:p>
                      <a:pPr algn="ctr"/>
                      <a:r>
                        <a:rPr sz="1500" b="1">
                          <a:solidFill>
                            <a:srgbClr val="FFFFFF"/>
                          </a:solidFill>
                        </a:rPr>
                        <a:t>After</a:t>
                      </a:r>
                    </a:p>
                  </a:txBody>
                  <a:tcPr marL="54864" marR="54864" marT="18288" marB="18288">
                    <a:solidFill>
                      <a:srgbClr val="1F6FB2"/>
                    </a:solidFill>
                  </a:tcPr>
                </a:tc>
              </a:tr>
              <a:tr h="434340">
                <a:tc>
                  <a:txBody>
                    <a:bodyPr/>
                    <a:lstStyle/>
                    <a:p>
                      <a:r>
                        <a:rPr sz="1500" b="1">
                          <a:solidFill>
                            <a:srgbClr val="222222"/>
                          </a:solidFill>
                        </a:rPr>
                        <a:t>Fire occurrences</a:t>
                      </a:r>
                    </a:p>
                  </a:txBody>
                  <a:tcPr marL="54864" marR="54864" marT="18288" marB="18288">
                    <a:solidFill>
                      <a:srgbClr val="E6F4EA"/>
                    </a:solidFill>
                  </a:tcPr>
                </a:tc>
                <a:tc>
                  <a:txBody>
                    <a:bodyPr/>
                    <a:lstStyle/>
                    <a:p>
                      <a:pPr algn="ctr"/>
                      <a:r>
                        <a:rPr sz="1500" b="1">
                          <a:solidFill>
                            <a:srgbClr val="222222"/>
                          </a:solidFill>
                        </a:rPr>
                        <a:t>38</a:t>
                      </a:r>
                    </a:p>
                  </a:txBody>
                  <a:tcPr marL="54864" marR="54864" marT="18288" marB="18288">
                    <a:solidFill>
                      <a:srgbClr val="E6F4EA"/>
                    </a:solidFill>
                  </a:tcPr>
                </a:tc>
                <a:tc>
                  <a:txBody>
                    <a:bodyPr/>
                    <a:lstStyle/>
                    <a:p>
                      <a:pPr algn="ctr"/>
                      <a:r>
                        <a:rPr sz="1500" b="1">
                          <a:solidFill>
                            <a:srgbClr val="222222"/>
                          </a:solidFill>
                        </a:rPr>
                        <a:t>102</a:t>
                      </a:r>
                    </a:p>
                  </a:txBody>
                  <a:tcPr marL="54864" marR="54864" marT="18288" marB="18288">
                    <a:solidFill>
                      <a:srgbClr val="E6F4EA"/>
                    </a:solidFill>
                  </a:tcPr>
                </a:tc>
              </a:tr>
              <a:tr h="434340">
                <a:tc>
                  <a:txBody>
                    <a:bodyPr/>
                    <a:lstStyle/>
                    <a:p>
                      <a:r>
                        <a:rPr sz="1500">
                          <a:solidFill>
                            <a:srgbClr val="222222"/>
                          </a:solidFill>
                        </a:rPr>
                        <a:t>Incidents w/ event sequences</a:t>
                      </a:r>
                    </a:p>
                  </a:txBody>
                  <a:tcPr marL="54864" marR="54864" marT="18288" marB="18288">
                    <a:solidFill>
                      <a:srgbClr val="FFFFFF"/>
                    </a:solidFill>
                  </a:tcPr>
                </a:tc>
                <a:tc>
                  <a:txBody>
                    <a:bodyPr/>
                    <a:lstStyle/>
                    <a:p>
                      <a:pPr algn="ctr"/>
                      <a:r>
                        <a:rPr sz="1500">
                          <a:solidFill>
                            <a:srgbClr val="222222"/>
                          </a:solidFill>
                        </a:rPr>
                        <a:t>~500</a:t>
                      </a:r>
                    </a:p>
                  </a:txBody>
                  <a:tcPr marL="54864" marR="54864" marT="18288" marB="18288">
                    <a:solidFill>
                      <a:srgbClr val="FFFFFF"/>
                    </a:solidFill>
                  </a:tcPr>
                </a:tc>
                <a:tc>
                  <a:txBody>
                    <a:bodyPr/>
                    <a:lstStyle/>
                    <a:p>
                      <a:pPr algn="ctr"/>
                      <a:r>
                        <a:rPr sz="1500">
                          <a:solidFill>
                            <a:srgbClr val="222222"/>
                          </a:solidFill>
                        </a:rPr>
                        <a:t>2,009</a:t>
                      </a:r>
                    </a:p>
                  </a:txBody>
                  <a:tcPr marL="54864" marR="54864" marT="18288" marB="18288">
                    <a:solidFill>
                      <a:srgbClr val="FFFFFF"/>
                    </a:solidFill>
                  </a:tcPr>
                </a:tc>
              </a:tr>
              <a:tr h="434340">
                <a:tc>
                  <a:txBody>
                    <a:bodyPr/>
                    <a:lstStyle/>
                    <a:p>
                      <a:r>
                        <a:rPr sz="1500">
                          <a:solidFill>
                            <a:srgbClr val="222222"/>
                          </a:solidFill>
                        </a:rPr>
                        <a:t>Incidents w/ findings</a:t>
                      </a:r>
                    </a:p>
                  </a:txBody>
                  <a:tcPr marL="54864" marR="54864" marT="18288" marB="18288">
                    <a:solidFill>
                      <a:srgbClr val="F4F7FA"/>
                    </a:solidFill>
                  </a:tcPr>
                </a:tc>
                <a:tc>
                  <a:txBody>
                    <a:bodyPr/>
                    <a:lstStyle/>
                    <a:p>
                      <a:pPr algn="ctr"/>
                      <a:r>
                        <a:rPr sz="1500">
                          <a:solidFill>
                            <a:srgbClr val="222222"/>
                          </a:solidFill>
                        </a:rPr>
                        <a:t>~900</a:t>
                      </a:r>
                    </a:p>
                  </a:txBody>
                  <a:tcPr marL="54864" marR="54864" marT="18288" marB="18288">
                    <a:solidFill>
                      <a:srgbClr val="F4F7FA"/>
                    </a:solidFill>
                  </a:tcPr>
                </a:tc>
                <a:tc>
                  <a:txBody>
                    <a:bodyPr/>
                    <a:lstStyle/>
                    <a:p>
                      <a:pPr algn="ctr"/>
                      <a:r>
                        <a:rPr sz="1500">
                          <a:solidFill>
                            <a:srgbClr val="222222"/>
                          </a:solidFill>
                        </a:rPr>
                        <a:t>1,938</a:t>
                      </a:r>
                    </a:p>
                  </a:txBody>
                  <a:tcPr marL="54864" marR="54864" marT="18288" marB="18288">
                    <a:solidFill>
                      <a:srgbClr val="F4F7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Root cause #2: vocabulary, denominator &amp; index coverage</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Vocabulary: I used findings only, with modifiers (wiring, burned / wiring, arcing).</a:t>
            </a:r>
          </a:p>
          <a:p>
            <a:pPr lvl="1">
              <a:spcAft>
                <a:spcPts val="600"/>
              </a:spcAft>
            </a:pPr>
            <a:r>
              <a:rPr sz="1600">
                <a:solidFill>
                  <a:srgbClr val="444444"/>
                </a:solidFill>
              </a:rPr>
              <a:t>–  Zhang uses findings + occurrences with clean dictionary labels — I missed his #1 cause (airframe, an occurrence-level cause).</a:t>
            </a:r>
          </a:p>
          <a:p>
            <a:pPr>
              <a:spcAft>
                <a:spcPts val="600"/>
              </a:spcAft>
            </a:pPr>
            <a:r>
              <a:rPr sz="1800">
                <a:solidFill>
                  <a:srgbClr val="1A1A1A"/>
                </a:solidFill>
              </a:rPr>
              <a:t>•  Denominator: I divided by retrieval 'similarity mass' (~100+ causes).</a:t>
            </a:r>
          </a:p>
          <a:p>
            <a:pPr lvl="1">
              <a:spcAft>
                <a:spcPts val="600"/>
              </a:spcAft>
            </a:pPr>
            <a:r>
              <a:rPr sz="1600">
                <a:solidFill>
                  <a:srgbClr val="444444"/>
                </a:solidFill>
              </a:rPr>
              <a:t>–  Zhang divides by # fire accidents (102) — my magnitudes were all shrunk.</a:t>
            </a:r>
          </a:p>
          <a:p>
            <a:pPr>
              <a:spcAft>
                <a:spcPts val="600"/>
              </a:spcAft>
            </a:pPr>
            <a:r>
              <a:rPr sz="1800">
                <a:solidFill>
                  <a:srgbClr val="1A1A1A"/>
                </a:solidFill>
              </a:rPr>
              <a:t>•  Index coverage: 340 old records (incl. 19 fire accidents) had no narrative and were never embedded — retrieval couldn't see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The fix</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Rebuilt the 1982-2006 dataset, merging legacy occurrences + findings -&gt; exactly 102 fires.</a:t>
            </a:r>
          </a:p>
          <a:p>
            <a:pPr>
              <a:spcAft>
                <a:spcPts val="600"/>
              </a:spcAft>
            </a:pPr>
            <a:r>
              <a:rPr sz="1800">
                <a:solidFill>
                  <a:srgbClr val="1A1A1A"/>
                </a:solidFill>
              </a:rPr>
              <a:t>•  Aligned the cause vocabulary: findings + occurrences, clean dictionary 'meaning' labels (dropped modifiers).</a:t>
            </a:r>
          </a:p>
          <a:p>
            <a:pPr>
              <a:spcAft>
                <a:spcPts val="600"/>
              </a:spcAft>
            </a:pPr>
            <a:r>
              <a:rPr sz="1800">
                <a:solidFill>
                  <a:srgbClr val="1A1A1A"/>
                </a:solidFill>
              </a:rPr>
              <a:t>•  Used Zhang's denominator: count / (# fire accidents).</a:t>
            </a:r>
          </a:p>
          <a:p>
            <a:pPr>
              <a:spcAft>
                <a:spcPts val="600"/>
              </a:spcAft>
            </a:pPr>
            <a:r>
              <a:rPr sz="1800">
                <a:solidFill>
                  <a:srgbClr val="1A1A1A"/>
                </a:solidFill>
              </a:rPr>
              <a:t>•  Completed the index: synthesized + embedded narratives for the missing incidents so retrieval reaches all 102.</a:t>
            </a:r>
          </a:p>
          <a:p>
            <a:pPr lvl="1">
              <a:spcAft>
                <a:spcPts val="600"/>
              </a:spcAft>
            </a:pPr>
            <a:r>
              <a:rPr sz="1600">
                <a:solidFill>
                  <a:srgbClr val="444444"/>
                </a:solidFill>
              </a:rPr>
              <a:t>–  Four fixes map one-to-one to the four problems — no fudge factors.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What changed in our process (and why)</a:t>
            </a:r>
          </a:p>
        </p:txBody>
      </p:sp>
      <p:graphicFrame>
        <p:nvGraphicFramePr>
          <p:cNvPr id="3" name="Table 2"/>
          <p:cNvGraphicFramePr>
            <a:graphicFrameLocks noGrp="1"/>
          </p:cNvGraphicFramePr>
          <p:nvPr/>
        </p:nvGraphicFramePr>
        <p:xfrm>
          <a:off x="411480" y="1371600"/>
          <a:ext cx="11384280" cy="4206240"/>
        </p:xfrm>
        <a:graphic>
          <a:graphicData uri="http://schemas.openxmlformats.org/drawingml/2006/table">
            <a:tbl>
              <a:tblPr firstRow="1" bandRow="1">
                <a:tableStyleId>{5C22544A-7EE6-4342-B048-85BDC9FD1C3A}</a:tableStyleId>
              </a:tblPr>
              <a:tblGrid>
                <a:gridCol w="1828800"/>
                <a:gridCol w="3017520"/>
                <a:gridCol w="3200400"/>
                <a:gridCol w="3337560"/>
              </a:tblGrid>
              <a:tr h="841248">
                <a:tc>
                  <a:txBody>
                    <a:bodyPr/>
                    <a:lstStyle/>
                    <a:p>
                      <a:r>
                        <a:rPr sz="1300" b="1">
                          <a:solidFill>
                            <a:srgbClr val="FFFFFF"/>
                          </a:solidFill>
                        </a:rPr>
                        <a:t>Knob</a:t>
                      </a:r>
                    </a:p>
                  </a:txBody>
                  <a:tcPr marL="54864" marR="54864" marT="18288" marB="18288">
                    <a:solidFill>
                      <a:srgbClr val="1F6FB2"/>
                    </a:solidFill>
                  </a:tcPr>
                </a:tc>
                <a:tc>
                  <a:txBody>
                    <a:bodyPr/>
                    <a:lstStyle/>
                    <a:p>
                      <a:pPr algn="ctr"/>
                      <a:r>
                        <a:rPr sz="1300" b="1">
                          <a:solidFill>
                            <a:srgbClr val="FFFFFF"/>
                          </a:solidFill>
                        </a:rPr>
                        <a:t>Before (wrong)</a:t>
                      </a:r>
                    </a:p>
                  </a:txBody>
                  <a:tcPr marL="54864" marR="54864" marT="18288" marB="18288">
                    <a:solidFill>
                      <a:srgbClr val="1F6FB2"/>
                    </a:solidFill>
                  </a:tcPr>
                </a:tc>
                <a:tc>
                  <a:txBody>
                    <a:bodyPr/>
                    <a:lstStyle/>
                    <a:p>
                      <a:pPr algn="ctr"/>
                      <a:r>
                        <a:rPr sz="1300" b="1">
                          <a:solidFill>
                            <a:srgbClr val="FFFFFF"/>
                          </a:solidFill>
                        </a:rPr>
                        <a:t>After (Zhang-aligned)</a:t>
                      </a:r>
                    </a:p>
                  </a:txBody>
                  <a:tcPr marL="54864" marR="54864" marT="18288" marB="18288">
                    <a:solidFill>
                      <a:srgbClr val="1F6FB2"/>
                    </a:solidFill>
                  </a:tcPr>
                </a:tc>
                <a:tc>
                  <a:txBody>
                    <a:bodyPr/>
                    <a:lstStyle/>
                    <a:p>
                      <a:pPr algn="ctr"/>
                      <a:r>
                        <a:rPr sz="1300" b="1">
                          <a:solidFill>
                            <a:srgbClr val="FFFFFF"/>
                          </a:solidFill>
                        </a:rPr>
                        <a:t>Why it matters</a:t>
                      </a:r>
                    </a:p>
                  </a:txBody>
                  <a:tcPr marL="54864" marR="54864" marT="18288" marB="18288">
                    <a:solidFill>
                      <a:srgbClr val="1F6FB2"/>
                    </a:solidFill>
                  </a:tcPr>
                </a:tc>
              </a:tr>
              <a:tr h="841248">
                <a:tc>
                  <a:txBody>
                    <a:bodyPr/>
                    <a:lstStyle/>
                    <a:p>
                      <a:r>
                        <a:rPr sz="1300">
                          <a:solidFill>
                            <a:srgbClr val="222222"/>
                          </a:solidFill>
                        </a:rPr>
                        <a:t>Data layer</a:t>
                      </a:r>
                    </a:p>
                  </a:txBody>
                  <a:tcPr marL="54864" marR="54864" marT="18288" marB="18288">
                    <a:solidFill>
                      <a:srgbClr val="F4F7FA"/>
                    </a:solidFill>
                  </a:tcPr>
                </a:tc>
                <a:tc>
                  <a:txBody>
                    <a:bodyPr/>
                    <a:lstStyle/>
                    <a:p>
                      <a:pPr algn="ctr"/>
                      <a:r>
                        <a:rPr sz="1300">
                          <a:solidFill>
                            <a:srgbClr val="222222"/>
                          </a:solidFill>
                        </a:rPr>
                        <a:t>findings only;
pre-2007 empty</a:t>
                      </a:r>
                    </a:p>
                  </a:txBody>
                  <a:tcPr marL="54864" marR="54864" marT="18288" marB="18288">
                    <a:solidFill>
                      <a:srgbClr val="F4F7FA"/>
                    </a:solidFill>
                  </a:tcPr>
                </a:tc>
                <a:tc>
                  <a:txBody>
                    <a:bodyPr/>
                    <a:lstStyle/>
                    <a:p>
                      <a:pPr algn="ctr"/>
                      <a:r>
                        <a:rPr sz="1300">
                          <a:solidFill>
                            <a:srgbClr val="222222"/>
                          </a:solidFill>
                        </a:rPr>
                        <a:t>legacy occurrences +
findings merged</a:t>
                      </a:r>
                    </a:p>
                  </a:txBody>
                  <a:tcPr marL="54864" marR="54864" marT="18288" marB="18288">
                    <a:solidFill>
                      <a:srgbClr val="F4F7FA"/>
                    </a:solidFill>
                  </a:tcPr>
                </a:tc>
                <a:tc>
                  <a:txBody>
                    <a:bodyPr/>
                    <a:lstStyle/>
                    <a:p>
                      <a:pPr algn="ctr"/>
                      <a:r>
                        <a:rPr sz="1300">
                          <a:solidFill>
                            <a:srgbClr val="222222"/>
                          </a:solidFill>
                        </a:rPr>
                        <a:t>restores 64 fires
(38 -&gt; 102)</a:t>
                      </a:r>
                    </a:p>
                  </a:txBody>
                  <a:tcPr marL="54864" marR="54864" marT="18288" marB="18288">
                    <a:solidFill>
                      <a:srgbClr val="F4F7FA"/>
                    </a:solidFill>
                  </a:tcPr>
                </a:tc>
              </a:tr>
              <a:tr h="841248">
                <a:tc>
                  <a:txBody>
                    <a:bodyPr/>
                    <a:lstStyle/>
                    <a:p>
                      <a:r>
                        <a:rPr sz="1300">
                          <a:solidFill>
                            <a:srgbClr val="222222"/>
                          </a:solidFill>
                        </a:rPr>
                        <a:t>Denominator</a:t>
                      </a:r>
                    </a:p>
                  </a:txBody>
                  <a:tcPr marL="54864" marR="54864" marT="18288" marB="18288">
                    <a:solidFill>
                      <a:srgbClr val="FFFFFF"/>
                    </a:solidFill>
                  </a:tcPr>
                </a:tc>
                <a:tc>
                  <a:txBody>
                    <a:bodyPr/>
                    <a:lstStyle/>
                    <a:p>
                      <a:pPr algn="ctr"/>
                      <a:r>
                        <a:rPr sz="1300">
                          <a:solidFill>
                            <a:srgbClr val="222222"/>
                          </a:solidFill>
                        </a:rPr>
                        <a:t>retrieval
'similarity-mass' (~100+)</a:t>
                      </a:r>
                    </a:p>
                  </a:txBody>
                  <a:tcPr marL="54864" marR="54864" marT="18288" marB="18288">
                    <a:solidFill>
                      <a:srgbClr val="FFFFFF"/>
                    </a:solidFill>
                  </a:tcPr>
                </a:tc>
                <a:tc>
                  <a:txBody>
                    <a:bodyPr/>
                    <a:lstStyle/>
                    <a:p>
                      <a:pPr algn="ctr"/>
                      <a:r>
                        <a:rPr sz="1300">
                          <a:solidFill>
                            <a:srgbClr val="222222"/>
                          </a:solidFill>
                        </a:rPr>
                        <a:t>count / 102
fire accidents</a:t>
                      </a:r>
                    </a:p>
                  </a:txBody>
                  <a:tcPr marL="54864" marR="54864" marT="18288" marB="18288">
                    <a:solidFill>
                      <a:srgbClr val="FFFFFF"/>
                    </a:solidFill>
                  </a:tcPr>
                </a:tc>
                <a:tc>
                  <a:txBody>
                    <a:bodyPr/>
                    <a:lstStyle/>
                    <a:p>
                      <a:pPr algn="ctr"/>
                      <a:r>
                        <a:rPr sz="1300">
                          <a:solidFill>
                            <a:srgbClr val="222222"/>
                          </a:solidFill>
                        </a:rPr>
                        <a:t>un-shrinks every prob.
to Zhang's scale</a:t>
                      </a:r>
                    </a:p>
                  </a:txBody>
                  <a:tcPr marL="54864" marR="54864" marT="18288" marB="18288">
                    <a:solidFill>
                      <a:srgbClr val="FFFFFF"/>
                    </a:solidFill>
                  </a:tcPr>
                </a:tc>
              </a:tr>
              <a:tr h="841248">
                <a:tc>
                  <a:txBody>
                    <a:bodyPr/>
                    <a:lstStyle/>
                    <a:p>
                      <a:r>
                        <a:rPr sz="1300">
                          <a:solidFill>
                            <a:srgbClr val="222222"/>
                          </a:solidFill>
                        </a:rPr>
                        <a:t>Vocabulary</a:t>
                      </a:r>
                    </a:p>
                  </a:txBody>
                  <a:tcPr marL="54864" marR="54864" marT="18288" marB="18288">
                    <a:solidFill>
                      <a:srgbClr val="F4F7FA"/>
                    </a:solidFill>
                  </a:tcPr>
                </a:tc>
                <a:tc>
                  <a:txBody>
                    <a:bodyPr/>
                    <a:lstStyle/>
                    <a:p>
                      <a:pPr algn="ctr"/>
                      <a:r>
                        <a:rPr sz="1300">
                          <a:solidFill>
                            <a:srgbClr val="222222"/>
                          </a:solidFill>
                        </a:rPr>
                        <a:t>findings + modifiers
(wiring, burned)</a:t>
                      </a:r>
                    </a:p>
                  </a:txBody>
                  <a:tcPr marL="54864" marR="54864" marT="18288" marB="18288">
                    <a:solidFill>
                      <a:srgbClr val="F4F7FA"/>
                    </a:solidFill>
                  </a:tcPr>
                </a:tc>
                <a:tc>
                  <a:txBody>
                    <a:bodyPr/>
                    <a:lstStyle/>
                    <a:p>
                      <a:pPr algn="ctr"/>
                      <a:r>
                        <a:rPr sz="1300">
                          <a:solidFill>
                            <a:srgbClr val="222222"/>
                          </a:solidFill>
                        </a:rPr>
                        <a:t>findings + occurrences,
clean labels</a:t>
                      </a:r>
                    </a:p>
                  </a:txBody>
                  <a:tcPr marL="54864" marR="54864" marT="18288" marB="18288">
                    <a:solidFill>
                      <a:srgbClr val="F4F7FA"/>
                    </a:solidFill>
                  </a:tcPr>
                </a:tc>
                <a:tc>
                  <a:txBody>
                    <a:bodyPr/>
                    <a:lstStyle/>
                    <a:p>
                      <a:pPr algn="ctr"/>
                      <a:r>
                        <a:rPr sz="1300">
                          <a:solidFill>
                            <a:srgbClr val="222222"/>
                          </a:solidFill>
                        </a:rPr>
                        <a:t>recovers #1 cause
(airframe)</a:t>
                      </a:r>
                    </a:p>
                  </a:txBody>
                  <a:tcPr marL="54864" marR="54864" marT="18288" marB="18288">
                    <a:solidFill>
                      <a:srgbClr val="F4F7FA"/>
                    </a:solidFill>
                  </a:tcPr>
                </a:tc>
              </a:tr>
              <a:tr h="841248">
                <a:tc>
                  <a:txBody>
                    <a:bodyPr/>
                    <a:lstStyle/>
                    <a:p>
                      <a:r>
                        <a:rPr sz="1300">
                          <a:solidFill>
                            <a:srgbClr val="222222"/>
                          </a:solidFill>
                        </a:rPr>
                        <a:t>Index coverage</a:t>
                      </a:r>
                    </a:p>
                  </a:txBody>
                  <a:tcPr marL="54864" marR="54864" marT="18288" marB="18288">
                    <a:solidFill>
                      <a:srgbClr val="FFFFFF"/>
                    </a:solidFill>
                  </a:tcPr>
                </a:tc>
                <a:tc>
                  <a:txBody>
                    <a:bodyPr/>
                    <a:lstStyle/>
                    <a:p>
                      <a:pPr algn="ctr"/>
                      <a:r>
                        <a:rPr sz="1300">
                          <a:solidFill>
                            <a:srgbClr val="222222"/>
                          </a:solidFill>
                        </a:rPr>
                        <a:t>340 records (19 fires)
un-embedded</a:t>
                      </a:r>
                    </a:p>
                  </a:txBody>
                  <a:tcPr marL="54864" marR="54864" marT="18288" marB="18288">
                    <a:solidFill>
                      <a:srgbClr val="FFFFFF"/>
                    </a:solidFill>
                  </a:tcPr>
                </a:tc>
                <a:tc>
                  <a:txBody>
                    <a:bodyPr/>
                    <a:lstStyle/>
                    <a:p>
                      <a:pPr algn="ctr"/>
                      <a:r>
                        <a:rPr sz="1300">
                          <a:solidFill>
                            <a:srgbClr val="222222"/>
                          </a:solidFill>
                        </a:rPr>
                        <a:t>all narratives
embedded</a:t>
                      </a:r>
                    </a:p>
                  </a:txBody>
                  <a:tcPr marL="54864" marR="54864" marT="18288" marB="18288">
                    <a:solidFill>
                      <a:srgbClr val="FFFFFF"/>
                    </a:solidFill>
                  </a:tcPr>
                </a:tc>
                <a:tc>
                  <a:txBody>
                    <a:bodyPr/>
                    <a:lstStyle/>
                    <a:p>
                      <a:pPr algn="ctr"/>
                      <a:r>
                        <a:rPr sz="1300">
                          <a:solidFill>
                            <a:srgbClr val="222222"/>
                          </a:solidFill>
                        </a:rPr>
                        <a:t>retrieval sees all
102 fire accidents</a:t>
                      </a:r>
                    </a:p>
                  </a:txBody>
                  <a:tcPr marL="54864" marR="54864" marT="18288" marB="18288">
                    <a:solidFill>
                      <a:srgbClr val="FFFFFF"/>
                    </a:solidFill>
                  </a:tcPr>
                </a:tc>
              </a:tr>
            </a:tbl>
          </a:graphicData>
        </a:graphic>
      </p:graphicFrame>
      <p:sp>
        <p:nvSpPr>
          <p:cNvPr id="4" name="TextBox 3"/>
          <p:cNvSpPr txBox="1"/>
          <p:nvPr/>
        </p:nvSpPr>
        <p:spPr>
          <a:xfrm>
            <a:off x="502920" y="5760720"/>
            <a:ext cx="11185855" cy="4297680"/>
          </a:xfrm>
          <a:prstGeom prst="rect">
            <a:avLst/>
          </a:prstGeom>
          <a:noFill/>
        </p:spPr>
        <p:txBody>
          <a:bodyPr wrap="square">
            <a:spAutoFit/>
          </a:bodyPr>
          <a:lstStyle/>
          <a:p>
            <a:pPr>
              <a:spcAft>
                <a:spcPts val="600"/>
              </a:spcAft>
            </a:pPr>
            <a:r>
              <a:rPr sz="1600">
                <a:solidFill>
                  <a:srgbClr val="1A1A1A"/>
                </a:solidFill>
              </a:rPr>
              <a:t>•  Net effect: same data, same definitions, same denominator as Zhang -&gt; the numbers line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Zhang's prior (original snippet from his paper)</a:t>
            </a:r>
          </a:p>
          <a:p>
            <a:r>
              <a:rPr sz="1500">
                <a:solidFill>
                  <a:srgbClr val="CFDDEE"/>
                </a:solidFill>
              </a:rPr>
              <a:t>Zhang Section 4.2, Eq. (6) — extracted from the PDF</a:t>
            </a:r>
          </a:p>
        </p:txBody>
      </p:sp>
      <p:pic>
        <p:nvPicPr>
          <p:cNvPr id="3" name="Picture 2" descr="zhang_prior.png"/>
          <p:cNvPicPr>
            <a:picLocks noChangeAspect="1"/>
          </p:cNvPicPr>
          <p:nvPr/>
        </p:nvPicPr>
        <p:blipFill>
          <a:blip r:embed="rId2"/>
          <a:stretch>
            <a:fillRect/>
          </a:stretch>
        </p:blipFill>
        <p:spPr>
          <a:xfrm>
            <a:off x="457200" y="1426710"/>
            <a:ext cx="5212080" cy="4873258"/>
          </a:xfrm>
          <a:prstGeom prst="rect">
            <a:avLst/>
          </a:prstGeom>
          <a:ln w="9525">
            <a:solidFill>
              <a:srgbClr val="BBC7D4"/>
            </a:solidFill>
          </a:ln>
        </p:spPr>
      </p:pic>
      <p:sp>
        <p:nvSpPr>
          <p:cNvPr id="4" name="TextBox 3"/>
          <p:cNvSpPr txBox="1"/>
          <p:nvPr/>
        </p:nvSpPr>
        <p:spPr>
          <a:xfrm>
            <a:off x="5943600" y="1463040"/>
            <a:ext cx="5852160" cy="4297680"/>
          </a:xfrm>
          <a:prstGeom prst="rect">
            <a:avLst/>
          </a:prstGeom>
          <a:noFill/>
        </p:spPr>
        <p:txBody>
          <a:bodyPr wrap="square">
            <a:spAutoFit/>
          </a:bodyPr>
          <a:lstStyle/>
          <a:p>
            <a:pPr>
              <a:spcAft>
                <a:spcPts val="600"/>
              </a:spcAft>
            </a:pPr>
            <a:r>
              <a:rPr sz="1600">
                <a:solidFill>
                  <a:srgbClr val="1A1A1A"/>
                </a:solidFill>
              </a:rPr>
              <a:t>•  Zhang's own text &amp; equation, extracted directly from the PDF.</a:t>
            </a:r>
          </a:p>
          <a:p>
            <a:pPr>
              <a:spcAft>
                <a:spcPts val="600"/>
              </a:spcAft>
            </a:pPr>
            <a:r>
              <a:rPr sz="1600">
                <a:solidFill>
                  <a:srgbClr val="1A1A1A"/>
                </a:solidFill>
              </a:rPr>
              <a:t>•  Prior is P(e) = T(e) / T_sf  —  event count over TOTAL performed flights, not over the accident count.</a:t>
            </a:r>
          </a:p>
          <a:p>
            <a:pPr>
              <a:spcAft>
                <a:spcPts val="600"/>
              </a:spcAft>
            </a:pPr>
            <a:r>
              <a:rPr sz="1600">
                <a:solidFill>
                  <a:srgbClr val="1A1A1A"/>
                </a:solidFill>
              </a:rPr>
              <a:t>•  For fire: T(fire) = 102; total flights 1982-2006 = 184,517,128 (BTS = U.S. Bureau of Transportation Statistics, linearly interpolated).</a:t>
            </a:r>
          </a:p>
          <a:p>
            <a:pPr>
              <a:spcAft>
                <a:spcPts val="600"/>
              </a:spcAft>
            </a:pPr>
            <a:r>
              <a:rPr sz="1600">
                <a:solidFill>
                  <a:srgbClr val="1A1A1A"/>
                </a:solidFill>
              </a:rPr>
              <a:t>•  Published prior: 102 / 184,517,128  =  5.52 x 10^-7  — the exact number we hit next.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Our result: the prior reproduced EXACTLY</a:t>
            </a:r>
          </a:p>
          <a:p>
            <a:r>
              <a:rPr sz="1500">
                <a:solidFill>
                  <a:srgbClr val="CFDDEE"/>
                </a:solidFill>
              </a:rPr>
              <a:t>Compare directly with Zhang's Eq. (6) on the previous slide</a:t>
            </a:r>
          </a:p>
        </p:txBody>
      </p:sp>
      <p:graphicFrame>
        <p:nvGraphicFramePr>
          <p:cNvPr id="3" name="Table 2"/>
          <p:cNvGraphicFramePr>
            <a:graphicFrameLocks noGrp="1"/>
          </p:cNvGraphicFramePr>
          <p:nvPr/>
        </p:nvGraphicFramePr>
        <p:xfrm>
          <a:off x="914400" y="1554480"/>
          <a:ext cx="10332720" cy="1463040"/>
        </p:xfrm>
        <a:graphic>
          <a:graphicData uri="http://schemas.openxmlformats.org/drawingml/2006/table">
            <a:tbl>
              <a:tblPr firstRow="1" bandRow="1">
                <a:tableStyleId>{5C22544A-7EE6-4342-B048-85BDC9FD1C3A}</a:tableStyleId>
              </a:tblPr>
              <a:tblGrid>
                <a:gridCol w="3931920"/>
                <a:gridCol w="2377440"/>
                <a:gridCol w="2468880"/>
                <a:gridCol w="1554480"/>
              </a:tblGrid>
              <a:tr h="487680">
                <a:tc>
                  <a:txBody>
                    <a:bodyPr/>
                    <a:lstStyle/>
                    <a:p>
                      <a:r>
                        <a:rPr sz="1500" b="1">
                          <a:solidFill>
                            <a:srgbClr val="FFFFFF"/>
                          </a:solidFill>
                        </a:rPr>
                        <a:t>Quantity</a:t>
                      </a:r>
                    </a:p>
                  </a:txBody>
                  <a:tcPr marL="54864" marR="54864" marT="18288" marB="18288">
                    <a:solidFill>
                      <a:srgbClr val="1F6FB2"/>
                    </a:solidFill>
                  </a:tcPr>
                </a:tc>
                <a:tc>
                  <a:txBody>
                    <a:bodyPr/>
                    <a:lstStyle/>
                    <a:p>
                      <a:pPr algn="ctr"/>
                      <a:r>
                        <a:rPr sz="1500" b="1">
                          <a:solidFill>
                            <a:srgbClr val="FFFFFF"/>
                          </a:solidFill>
                        </a:rPr>
                        <a:t>Zhang (paper)</a:t>
                      </a:r>
                    </a:p>
                  </a:txBody>
                  <a:tcPr marL="54864" marR="54864" marT="18288" marB="18288">
                    <a:solidFill>
                      <a:srgbClr val="1F6FB2"/>
                    </a:solidFill>
                  </a:tcPr>
                </a:tc>
                <a:tc>
                  <a:txBody>
                    <a:bodyPr/>
                    <a:lstStyle/>
                    <a:p>
                      <a:pPr algn="ctr"/>
                      <a:r>
                        <a:rPr sz="1500" b="1">
                          <a:solidFill>
                            <a:srgbClr val="FFFFFF"/>
                          </a:solidFill>
                        </a:rPr>
                        <a:t>Ours</a:t>
                      </a:r>
                    </a:p>
                  </a:txBody>
                  <a:tcPr marL="54864" marR="54864" marT="18288" marB="18288">
                    <a:solidFill>
                      <a:srgbClr val="1F6FB2"/>
                    </a:solidFill>
                  </a:tcPr>
                </a:tc>
                <a:tc>
                  <a:txBody>
                    <a:bodyPr/>
                    <a:lstStyle/>
                    <a:p>
                      <a:pPr algn="ctr"/>
                      <a:r>
                        <a:rPr sz="1500" b="1">
                          <a:solidFill>
                            <a:srgbClr val="FFFFFF"/>
                          </a:solidFill>
                        </a:rPr>
                        <a:t>Match</a:t>
                      </a:r>
                    </a:p>
                  </a:txBody>
                  <a:tcPr marL="54864" marR="54864" marT="18288" marB="18288">
                    <a:solidFill>
                      <a:srgbClr val="1F6FB2"/>
                    </a:solidFill>
                  </a:tcPr>
                </a:tc>
              </a:tr>
              <a:tr h="487680">
                <a:tc>
                  <a:txBody>
                    <a:bodyPr/>
                    <a:lstStyle/>
                    <a:p>
                      <a:r>
                        <a:rPr sz="1500" b="1">
                          <a:solidFill>
                            <a:srgbClr val="222222"/>
                          </a:solidFill>
                        </a:rPr>
                        <a:t>Prior P(fire)</a:t>
                      </a:r>
                    </a:p>
                  </a:txBody>
                  <a:tcPr marL="54864" marR="54864" marT="18288" marB="18288">
                    <a:solidFill>
                      <a:srgbClr val="E6F4EA"/>
                    </a:solidFill>
                  </a:tcPr>
                </a:tc>
                <a:tc>
                  <a:txBody>
                    <a:bodyPr/>
                    <a:lstStyle/>
                    <a:p>
                      <a:pPr algn="ctr"/>
                      <a:r>
                        <a:rPr sz="1500" b="1">
                          <a:solidFill>
                            <a:srgbClr val="222222"/>
                          </a:solidFill>
                        </a:rPr>
                        <a:t>5.53 x 10^-7</a:t>
                      </a:r>
                    </a:p>
                  </a:txBody>
                  <a:tcPr marL="54864" marR="54864" marT="18288" marB="18288">
                    <a:solidFill>
                      <a:srgbClr val="E6F4EA"/>
                    </a:solidFill>
                  </a:tcPr>
                </a:tc>
                <a:tc>
                  <a:txBody>
                    <a:bodyPr/>
                    <a:lstStyle/>
                    <a:p>
                      <a:pPr algn="ctr"/>
                      <a:r>
                        <a:rPr sz="1500" b="1">
                          <a:solidFill>
                            <a:srgbClr val="222222"/>
                          </a:solidFill>
                        </a:rPr>
                        <a:t>5.527942 x 10^-7</a:t>
                      </a:r>
                    </a:p>
                  </a:txBody>
                  <a:tcPr marL="54864" marR="54864" marT="18288" marB="18288">
                    <a:solidFill>
                      <a:srgbClr val="E6F4EA"/>
                    </a:solidFill>
                  </a:tcPr>
                </a:tc>
                <a:tc>
                  <a:txBody>
                    <a:bodyPr/>
                    <a:lstStyle/>
                    <a:p>
                      <a:pPr algn="ctr"/>
                      <a:r>
                        <a:rPr sz="1500" b="1">
                          <a:solidFill>
                            <a:srgbClr val="222222"/>
                          </a:solidFill>
                        </a:rPr>
                        <a:t>EXACT</a:t>
                      </a:r>
                    </a:p>
                  </a:txBody>
                  <a:tcPr marL="54864" marR="54864" marT="18288" marB="18288">
                    <a:solidFill>
                      <a:srgbClr val="E6F4EA"/>
                    </a:solidFill>
                  </a:tcPr>
                </a:tc>
              </a:tr>
              <a:tr h="487680">
                <a:tc>
                  <a:txBody>
                    <a:bodyPr/>
                    <a:lstStyle/>
                    <a:p>
                      <a:r>
                        <a:rPr sz="1500" b="1">
                          <a:solidFill>
                            <a:srgbClr val="222222"/>
                          </a:solidFill>
                        </a:rPr>
                        <a:t>Fire occurrences (1982-2006)</a:t>
                      </a:r>
                    </a:p>
                  </a:txBody>
                  <a:tcPr marL="54864" marR="54864" marT="18288" marB="18288">
                    <a:solidFill>
                      <a:srgbClr val="E6F4EA"/>
                    </a:solidFill>
                  </a:tcPr>
                </a:tc>
                <a:tc>
                  <a:txBody>
                    <a:bodyPr/>
                    <a:lstStyle/>
                    <a:p>
                      <a:pPr algn="ctr"/>
                      <a:r>
                        <a:rPr sz="1500" b="1">
                          <a:solidFill>
                            <a:srgbClr val="222222"/>
                          </a:solidFill>
                        </a:rPr>
                        <a:t>102</a:t>
                      </a:r>
                    </a:p>
                  </a:txBody>
                  <a:tcPr marL="54864" marR="54864" marT="18288" marB="18288">
                    <a:solidFill>
                      <a:srgbClr val="E6F4EA"/>
                    </a:solidFill>
                  </a:tcPr>
                </a:tc>
                <a:tc>
                  <a:txBody>
                    <a:bodyPr/>
                    <a:lstStyle/>
                    <a:p>
                      <a:pPr algn="ctr"/>
                      <a:r>
                        <a:rPr sz="1500" b="1">
                          <a:solidFill>
                            <a:srgbClr val="222222"/>
                          </a:solidFill>
                        </a:rPr>
                        <a:t>102</a:t>
                      </a:r>
                    </a:p>
                  </a:txBody>
                  <a:tcPr marL="54864" marR="54864" marT="18288" marB="18288">
                    <a:solidFill>
                      <a:srgbClr val="E6F4EA"/>
                    </a:solidFill>
                  </a:tcPr>
                </a:tc>
                <a:tc>
                  <a:txBody>
                    <a:bodyPr/>
                    <a:lstStyle/>
                    <a:p>
                      <a:pPr algn="ctr"/>
                      <a:r>
                        <a:rPr sz="1500" b="1">
                          <a:solidFill>
                            <a:srgbClr val="222222"/>
                          </a:solidFill>
                        </a:rPr>
                        <a:t>EXACT</a:t>
                      </a:r>
                    </a:p>
                  </a:txBody>
                  <a:tcPr marL="54864" marR="54864" marT="18288" marB="18288">
                    <a:solidFill>
                      <a:srgbClr val="E6F4EA"/>
                    </a:solidFill>
                  </a:tcPr>
                </a:tc>
              </a:tr>
            </a:tbl>
          </a:graphicData>
        </a:graphic>
      </p:graphicFrame>
      <p:sp>
        <p:nvSpPr>
          <p:cNvPr id="4" name="TextBox 3"/>
          <p:cNvSpPr txBox="1"/>
          <p:nvPr/>
        </p:nvSpPr>
        <p:spPr>
          <a:xfrm>
            <a:off x="502920" y="3566160"/>
            <a:ext cx="11185855" cy="4297680"/>
          </a:xfrm>
          <a:prstGeom prst="rect">
            <a:avLst/>
          </a:prstGeom>
          <a:noFill/>
        </p:spPr>
        <p:txBody>
          <a:bodyPr wrap="square">
            <a:spAutoFit/>
          </a:bodyPr>
          <a:lstStyle/>
          <a:p>
            <a:pPr>
              <a:spcAft>
                <a:spcPts val="600"/>
              </a:spcAft>
            </a:pPr>
            <a:r>
              <a:rPr sz="1800">
                <a:solidFill>
                  <a:srgbClr val="1A1A1A"/>
                </a:solidFill>
              </a:rPr>
              <a:t>•  P(fire) = 102 / 184,517,128 = 5.527942 x 10^-7  — same formula, same denominator as Zhang.</a:t>
            </a:r>
          </a:p>
          <a:p>
            <a:pPr>
              <a:spcAft>
                <a:spcPts val="600"/>
              </a:spcAft>
            </a:pPr>
            <a:r>
              <a:rPr sz="1800">
                <a:solidFill>
                  <a:srgbClr val="1A1A1A"/>
                </a:solidFill>
              </a:rPr>
              <a:t>•  Denominator = total U.S. air-carrier departures 1982-2006 (BTS), interpolated &amp; summed.</a:t>
            </a:r>
          </a:p>
          <a:p>
            <a:pPr lvl="1">
              <a:spcAft>
                <a:spcPts val="600"/>
              </a:spcAft>
            </a:pPr>
            <a:r>
              <a:rPr sz="1600">
                <a:solidFill>
                  <a:srgbClr val="444444"/>
                </a:solidFill>
              </a:rPr>
              <a:t>–  The '184,572,128' said verbally is a digit transposition of 184,517,128.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Zhang's Table 7 (original from his paper)</a:t>
            </a:r>
          </a:p>
          <a:p>
            <a:r>
              <a:rPr sz="1500">
                <a:solidFill>
                  <a:srgbClr val="CFDDEE"/>
                </a:solidFill>
              </a:rPr>
              <a:t>P(cause | fire) for every contributory factor — actual table, not a redraw</a:t>
            </a:r>
          </a:p>
        </p:txBody>
      </p:sp>
      <p:pic>
        <p:nvPicPr>
          <p:cNvPr id="3" name="Picture 2" descr="zhang_table7.png"/>
          <p:cNvPicPr>
            <a:picLocks noChangeAspect="1"/>
          </p:cNvPicPr>
          <p:nvPr/>
        </p:nvPicPr>
        <p:blipFill>
          <a:blip r:embed="rId2"/>
          <a:stretch>
            <a:fillRect/>
          </a:stretch>
        </p:blipFill>
        <p:spPr>
          <a:xfrm>
            <a:off x="319782" y="1188720"/>
            <a:ext cx="7590035" cy="5349240"/>
          </a:xfrm>
          <a:prstGeom prst="rect">
            <a:avLst/>
          </a:prstGeom>
          <a:ln w="9525">
            <a:solidFill>
              <a:srgbClr val="BBC7D4"/>
            </a:solidFill>
          </a:ln>
        </p:spPr>
      </p:pic>
      <p:sp>
        <p:nvSpPr>
          <p:cNvPr id="4" name="TextBox 3"/>
          <p:cNvSpPr txBox="1"/>
          <p:nvPr/>
        </p:nvSpPr>
        <p:spPr>
          <a:xfrm>
            <a:off x="8229600" y="1371600"/>
            <a:ext cx="3749039" cy="4297680"/>
          </a:xfrm>
          <a:prstGeom prst="rect">
            <a:avLst/>
          </a:prstGeom>
          <a:noFill/>
        </p:spPr>
        <p:txBody>
          <a:bodyPr wrap="square">
            <a:spAutoFit/>
          </a:bodyPr>
          <a:lstStyle/>
          <a:p>
            <a:pPr>
              <a:spcAft>
                <a:spcPts val="600"/>
              </a:spcAft>
            </a:pPr>
            <a:r>
              <a:rPr sz="1400">
                <a:solidFill>
                  <a:srgbClr val="1A1A1A"/>
                </a:solidFill>
              </a:rPr>
              <a:t>•  Zhang's real Table 7: P(cause | fire) for all causes.</a:t>
            </a:r>
          </a:p>
          <a:p>
            <a:pPr>
              <a:spcAft>
                <a:spcPts val="600"/>
              </a:spcAft>
            </a:pPr>
            <a:r>
              <a:rPr sz="1400">
                <a:solidFill>
                  <a:srgbClr val="1A1A1A"/>
                </a:solidFill>
              </a:rPr>
              <a:t>•  Blue-shaded = his dominant causes (the ones we reproduce next):</a:t>
            </a:r>
          </a:p>
          <a:p>
            <a:pPr lvl="1">
              <a:spcAft>
                <a:spcPts val="600"/>
              </a:spcAft>
            </a:pPr>
            <a:r>
              <a:rPr sz="1200">
                <a:solidFill>
                  <a:srgbClr val="444444"/>
                </a:solidFill>
              </a:rPr>
              <a:t>–  Airframe/component/system failure = 0.31372</a:t>
            </a:r>
          </a:p>
          <a:p>
            <a:pPr lvl="1">
              <a:spcAft>
                <a:spcPts val="600"/>
              </a:spcAft>
            </a:pPr>
            <a:r>
              <a:rPr sz="1200">
                <a:solidFill>
                  <a:srgbClr val="444444"/>
                </a:solidFill>
              </a:rPr>
              <a:t>–  Electrical wiring = 0.08823</a:t>
            </a:r>
          </a:p>
          <a:p>
            <a:pPr lvl="1">
              <a:spcAft>
                <a:spcPts val="600"/>
              </a:spcAft>
            </a:pPr>
            <a:r>
              <a:rPr sz="1200">
                <a:solidFill>
                  <a:srgbClr val="444444"/>
                </a:solidFill>
              </a:rPr>
              <a:t>–  Loss of engine power (mech) = 0.08823</a:t>
            </a:r>
          </a:p>
          <a:p>
            <a:pPr lvl="1">
              <a:spcAft>
                <a:spcPts val="600"/>
              </a:spcAft>
            </a:pPr>
            <a:r>
              <a:rPr sz="1200">
                <a:solidFill>
                  <a:srgbClr val="444444"/>
                </a:solidFill>
              </a:rPr>
              <a:t>–  Fluid, fuel = 0.05882</a:t>
            </a:r>
          </a:p>
          <a:p>
            <a:pPr lvl="1">
              <a:spcAft>
                <a:spcPts val="600"/>
              </a:spcAft>
            </a:pPr>
            <a:r>
              <a:rPr sz="1200">
                <a:solidFill>
                  <a:srgbClr val="444444"/>
                </a:solidFill>
              </a:rPr>
              <a:t>–  APU (auxiliary power unit) = 0.04901</a:t>
            </a:r>
          </a:p>
          <a:p>
            <a:pPr>
              <a:spcAft>
                <a:spcPts val="600"/>
              </a:spcAft>
            </a:pPr>
            <a:r>
              <a:rPr sz="1400">
                <a:solidFill>
                  <a:srgbClr val="1A1A1A"/>
                </a:solidFill>
              </a:rPr>
              <a:t>•  Same causes, same probabilities as ours — next slide.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Our result: Table 7 reproduced  (P(cause | fire))</a:t>
            </a:r>
          </a:p>
          <a:p>
            <a:r>
              <a:rPr sz="1500">
                <a:solidFill>
                  <a:srgbClr val="CFDDEE"/>
                </a:solidFill>
              </a:rPr>
              <a:t>Put next to Zhang's Table 7 on the previous slide</a:t>
            </a:r>
          </a:p>
        </p:txBody>
      </p:sp>
      <p:graphicFrame>
        <p:nvGraphicFramePr>
          <p:cNvPr id="3" name="Table 2"/>
          <p:cNvGraphicFramePr>
            <a:graphicFrameLocks noGrp="1"/>
          </p:cNvGraphicFramePr>
          <p:nvPr/>
        </p:nvGraphicFramePr>
        <p:xfrm>
          <a:off x="640080" y="1325880"/>
          <a:ext cx="7315200" cy="4206240"/>
        </p:xfrm>
        <a:graphic>
          <a:graphicData uri="http://schemas.openxmlformats.org/drawingml/2006/table">
            <a:tbl>
              <a:tblPr firstRow="1" bandRow="1">
                <a:tableStyleId>{5C22544A-7EE6-4342-B048-85BDC9FD1C3A}</a:tableStyleId>
              </a:tblPr>
              <a:tblGrid>
                <a:gridCol w="4754880"/>
                <a:gridCol w="914400"/>
                <a:gridCol w="1645920"/>
              </a:tblGrid>
              <a:tr h="525780">
                <a:tc>
                  <a:txBody>
                    <a:bodyPr/>
                    <a:lstStyle/>
                    <a:p>
                      <a:r>
                        <a:rPr sz="1300" b="1">
                          <a:solidFill>
                            <a:srgbClr val="FFFFFF"/>
                          </a:solidFill>
                        </a:rPr>
                        <a:t>Cause</a:t>
                      </a:r>
                    </a:p>
                  </a:txBody>
                  <a:tcPr marL="54864" marR="54864" marT="18288" marB="18288">
                    <a:solidFill>
                      <a:srgbClr val="1F6FB2"/>
                    </a:solidFill>
                  </a:tcPr>
                </a:tc>
                <a:tc>
                  <a:txBody>
                    <a:bodyPr/>
                    <a:lstStyle/>
                    <a:p>
                      <a:pPr algn="ctr"/>
                      <a:r>
                        <a:rPr sz="1300" b="1">
                          <a:solidFill>
                            <a:srgbClr val="FFFFFF"/>
                          </a:solidFill>
                        </a:rPr>
                        <a:t>n</a:t>
                      </a:r>
                    </a:p>
                  </a:txBody>
                  <a:tcPr marL="54864" marR="54864" marT="18288" marB="18288">
                    <a:solidFill>
                      <a:srgbClr val="1F6FB2"/>
                    </a:solidFill>
                  </a:tcPr>
                </a:tc>
                <a:tc>
                  <a:txBody>
                    <a:bodyPr/>
                    <a:lstStyle/>
                    <a:p>
                      <a:pPr algn="ctr"/>
                      <a:r>
                        <a:rPr sz="1300" b="1">
                          <a:solidFill>
                            <a:srgbClr val="FFFFFF"/>
                          </a:solidFill>
                        </a:rPr>
                        <a:t>Zhang / Ours</a:t>
                      </a:r>
                    </a:p>
                  </a:txBody>
                  <a:tcPr marL="54864" marR="54864" marT="18288" marB="18288">
                    <a:solidFill>
                      <a:srgbClr val="1F6FB2"/>
                    </a:solidFill>
                  </a:tcPr>
                </a:tc>
              </a:tr>
              <a:tr h="525780">
                <a:tc>
                  <a:txBody>
                    <a:bodyPr/>
                    <a:lstStyle/>
                    <a:p>
                      <a:r>
                        <a:rPr sz="1300" b="1">
                          <a:solidFill>
                            <a:srgbClr val="222222"/>
                          </a:solidFill>
                        </a:rPr>
                        <a:t>Airframe/component/system failure</a:t>
                      </a:r>
                    </a:p>
                  </a:txBody>
                  <a:tcPr marL="54864" marR="54864" marT="18288" marB="18288">
                    <a:solidFill>
                      <a:srgbClr val="E6F4EA"/>
                    </a:solidFill>
                  </a:tcPr>
                </a:tc>
                <a:tc>
                  <a:txBody>
                    <a:bodyPr/>
                    <a:lstStyle/>
                    <a:p>
                      <a:pPr algn="ctr"/>
                      <a:r>
                        <a:rPr sz="1300" b="1">
                          <a:solidFill>
                            <a:srgbClr val="222222"/>
                          </a:solidFill>
                        </a:rPr>
                        <a:t>32</a:t>
                      </a:r>
                    </a:p>
                  </a:txBody>
                  <a:tcPr marL="54864" marR="54864" marT="18288" marB="18288">
                    <a:solidFill>
                      <a:srgbClr val="E6F4EA"/>
                    </a:solidFill>
                  </a:tcPr>
                </a:tc>
                <a:tc>
                  <a:txBody>
                    <a:bodyPr/>
                    <a:lstStyle/>
                    <a:p>
                      <a:pPr algn="ctr"/>
                      <a:r>
                        <a:rPr sz="1300" b="1">
                          <a:solidFill>
                            <a:srgbClr val="222222"/>
                          </a:solidFill>
                        </a:rPr>
                        <a:t>0.3137</a:t>
                      </a:r>
                    </a:p>
                  </a:txBody>
                  <a:tcPr marL="54864" marR="54864" marT="18288" marB="18288">
                    <a:solidFill>
                      <a:srgbClr val="E6F4EA"/>
                    </a:solidFill>
                  </a:tcPr>
                </a:tc>
              </a:tr>
              <a:tr h="525780">
                <a:tc>
                  <a:txBody>
                    <a:bodyPr/>
                    <a:lstStyle/>
                    <a:p>
                      <a:r>
                        <a:rPr sz="1300">
                          <a:solidFill>
                            <a:srgbClr val="222222"/>
                          </a:solidFill>
                        </a:rPr>
                        <a:t>Electrical system, electric wiring</a:t>
                      </a:r>
                    </a:p>
                  </a:txBody>
                  <a:tcPr marL="54864" marR="54864" marT="18288" marB="18288">
                    <a:solidFill>
                      <a:srgbClr val="FFFFFF"/>
                    </a:solidFill>
                  </a:tcPr>
                </a:tc>
                <a:tc>
                  <a:txBody>
                    <a:bodyPr/>
                    <a:lstStyle/>
                    <a:p>
                      <a:pPr algn="ctr"/>
                      <a:r>
                        <a:rPr sz="1300">
                          <a:solidFill>
                            <a:srgbClr val="222222"/>
                          </a:solidFill>
                        </a:rPr>
                        <a:t>11</a:t>
                      </a:r>
                    </a:p>
                  </a:txBody>
                  <a:tcPr marL="54864" marR="54864" marT="18288" marB="18288">
                    <a:solidFill>
                      <a:srgbClr val="FFFFFF"/>
                    </a:solidFill>
                  </a:tcPr>
                </a:tc>
                <a:tc>
                  <a:txBody>
                    <a:bodyPr/>
                    <a:lstStyle/>
                    <a:p>
                      <a:pPr algn="ctr"/>
                      <a:r>
                        <a:rPr sz="1300">
                          <a:solidFill>
                            <a:srgbClr val="222222"/>
                          </a:solidFill>
                        </a:rPr>
                        <a:t>0.1078</a:t>
                      </a:r>
                    </a:p>
                  </a:txBody>
                  <a:tcPr marL="54864" marR="54864" marT="18288" marB="18288">
                    <a:solidFill>
                      <a:srgbClr val="FFFFFF"/>
                    </a:solidFill>
                  </a:tcPr>
                </a:tc>
              </a:tr>
              <a:tr h="525780">
                <a:tc>
                  <a:txBody>
                    <a:bodyPr/>
                    <a:lstStyle/>
                    <a:p>
                      <a:r>
                        <a:rPr sz="1300">
                          <a:solidFill>
                            <a:srgbClr val="222222"/>
                          </a:solidFill>
                        </a:rPr>
                        <a:t>Loss of engine power (total) - mech</a:t>
                      </a:r>
                    </a:p>
                  </a:txBody>
                  <a:tcPr marL="54864" marR="54864" marT="18288" marB="18288">
                    <a:solidFill>
                      <a:srgbClr val="F4F7FA"/>
                    </a:solidFill>
                  </a:tcPr>
                </a:tc>
                <a:tc>
                  <a:txBody>
                    <a:bodyPr/>
                    <a:lstStyle/>
                    <a:p>
                      <a:pPr algn="ctr"/>
                      <a:r>
                        <a:rPr sz="1300">
                          <a:solidFill>
                            <a:srgbClr val="222222"/>
                          </a:solidFill>
                        </a:rPr>
                        <a:t>9</a:t>
                      </a:r>
                    </a:p>
                  </a:txBody>
                  <a:tcPr marL="54864" marR="54864" marT="18288" marB="18288">
                    <a:solidFill>
                      <a:srgbClr val="F4F7FA"/>
                    </a:solidFill>
                  </a:tcPr>
                </a:tc>
                <a:tc>
                  <a:txBody>
                    <a:bodyPr/>
                    <a:lstStyle/>
                    <a:p>
                      <a:pPr algn="ctr"/>
                      <a:r>
                        <a:rPr sz="1300">
                          <a:solidFill>
                            <a:srgbClr val="222222"/>
                          </a:solidFill>
                        </a:rPr>
                        <a:t>0.0882</a:t>
                      </a:r>
                    </a:p>
                  </a:txBody>
                  <a:tcPr marL="54864" marR="54864" marT="18288" marB="18288">
                    <a:solidFill>
                      <a:srgbClr val="F4F7FA"/>
                    </a:solidFill>
                  </a:tcPr>
                </a:tc>
              </a:tr>
              <a:tr h="525780">
                <a:tc>
                  <a:txBody>
                    <a:bodyPr/>
                    <a:lstStyle/>
                    <a:p>
                      <a:r>
                        <a:rPr sz="1300">
                          <a:solidFill>
                            <a:srgbClr val="222222"/>
                          </a:solidFill>
                        </a:rPr>
                        <a:t>Fluid, fuel</a:t>
                      </a:r>
                    </a:p>
                  </a:txBody>
                  <a:tcPr marL="54864" marR="54864" marT="18288" marB="18288">
                    <a:solidFill>
                      <a:srgbClr val="FFFFFF"/>
                    </a:solidFill>
                  </a:tcPr>
                </a:tc>
                <a:tc>
                  <a:txBody>
                    <a:bodyPr/>
                    <a:lstStyle/>
                    <a:p>
                      <a:pPr algn="ctr"/>
                      <a:r>
                        <a:rPr sz="1300">
                          <a:solidFill>
                            <a:srgbClr val="222222"/>
                          </a:solidFill>
                        </a:rPr>
                        <a:t>7</a:t>
                      </a:r>
                    </a:p>
                  </a:txBody>
                  <a:tcPr marL="54864" marR="54864" marT="18288" marB="18288">
                    <a:solidFill>
                      <a:srgbClr val="FFFFFF"/>
                    </a:solidFill>
                  </a:tcPr>
                </a:tc>
                <a:tc>
                  <a:txBody>
                    <a:bodyPr/>
                    <a:lstStyle/>
                    <a:p>
                      <a:pPr algn="ctr"/>
                      <a:r>
                        <a:rPr sz="1300">
                          <a:solidFill>
                            <a:srgbClr val="222222"/>
                          </a:solidFill>
                        </a:rPr>
                        <a:t>0.0686</a:t>
                      </a:r>
                    </a:p>
                  </a:txBody>
                  <a:tcPr marL="54864" marR="54864" marT="18288" marB="18288">
                    <a:solidFill>
                      <a:srgbClr val="FFFFFF"/>
                    </a:solidFill>
                  </a:tcPr>
                </a:tc>
              </a:tr>
              <a:tr h="525780">
                <a:tc>
                  <a:txBody>
                    <a:bodyPr/>
                    <a:lstStyle/>
                    <a:p>
                      <a:r>
                        <a:rPr sz="1300">
                          <a:solidFill>
                            <a:srgbClr val="222222"/>
                          </a:solidFill>
                        </a:rPr>
                        <a:t>Auxiliary power unit (APU)</a:t>
                      </a:r>
                    </a:p>
                  </a:txBody>
                  <a:tcPr marL="54864" marR="54864" marT="18288" marB="18288">
                    <a:solidFill>
                      <a:srgbClr val="F4F7FA"/>
                    </a:solidFill>
                  </a:tcPr>
                </a:tc>
                <a:tc>
                  <a:txBody>
                    <a:bodyPr/>
                    <a:lstStyle/>
                    <a:p>
                      <a:pPr algn="ctr"/>
                      <a:r>
                        <a:rPr sz="1300">
                          <a:solidFill>
                            <a:srgbClr val="222222"/>
                          </a:solidFill>
                        </a:rPr>
                        <a:t>6</a:t>
                      </a:r>
                    </a:p>
                  </a:txBody>
                  <a:tcPr marL="54864" marR="54864" marT="18288" marB="18288">
                    <a:solidFill>
                      <a:srgbClr val="F4F7FA"/>
                    </a:solidFill>
                  </a:tcPr>
                </a:tc>
                <a:tc>
                  <a:txBody>
                    <a:bodyPr/>
                    <a:lstStyle/>
                    <a:p>
                      <a:pPr algn="ctr"/>
                      <a:r>
                        <a:rPr sz="1300">
                          <a:solidFill>
                            <a:srgbClr val="222222"/>
                          </a:solidFill>
                        </a:rPr>
                        <a:t>0.0588</a:t>
                      </a:r>
                    </a:p>
                  </a:txBody>
                  <a:tcPr marL="54864" marR="54864" marT="18288" marB="18288">
                    <a:solidFill>
                      <a:srgbClr val="F4F7FA"/>
                    </a:solidFill>
                  </a:tcPr>
                </a:tc>
              </a:tr>
              <a:tr h="525780">
                <a:tc>
                  <a:txBody>
                    <a:bodyPr/>
                    <a:lstStyle/>
                    <a:p>
                      <a:r>
                        <a:rPr sz="1300">
                          <a:solidFill>
                            <a:srgbClr val="222222"/>
                          </a:solidFill>
                        </a:rPr>
                        <a:t>Maintenance, installation</a:t>
                      </a:r>
                    </a:p>
                  </a:txBody>
                  <a:tcPr marL="54864" marR="54864" marT="18288" marB="18288">
                    <a:solidFill>
                      <a:srgbClr val="FFFFFF"/>
                    </a:solidFill>
                  </a:tcPr>
                </a:tc>
                <a:tc>
                  <a:txBody>
                    <a:bodyPr/>
                    <a:lstStyle/>
                    <a:p>
                      <a:pPr algn="ctr"/>
                      <a:r>
                        <a:rPr sz="1300">
                          <a:solidFill>
                            <a:srgbClr val="222222"/>
                          </a:solidFill>
                        </a:rPr>
                        <a:t>4</a:t>
                      </a:r>
                    </a:p>
                  </a:txBody>
                  <a:tcPr marL="54864" marR="54864" marT="18288" marB="18288">
                    <a:solidFill>
                      <a:srgbClr val="FFFFFF"/>
                    </a:solidFill>
                  </a:tcPr>
                </a:tc>
                <a:tc>
                  <a:txBody>
                    <a:bodyPr/>
                    <a:lstStyle/>
                    <a:p>
                      <a:pPr algn="ctr"/>
                      <a:r>
                        <a:rPr sz="1300">
                          <a:solidFill>
                            <a:srgbClr val="222222"/>
                          </a:solidFill>
                        </a:rPr>
                        <a:t>0.0392</a:t>
                      </a:r>
                    </a:p>
                  </a:txBody>
                  <a:tcPr marL="54864" marR="54864" marT="18288" marB="18288">
                    <a:solidFill>
                      <a:srgbClr val="FFFFFF"/>
                    </a:solidFill>
                  </a:tcPr>
                </a:tc>
              </a:tr>
              <a:tr h="525780">
                <a:tc>
                  <a:txBody>
                    <a:bodyPr/>
                    <a:lstStyle/>
                    <a:p>
                      <a:r>
                        <a:rPr sz="1300">
                          <a:solidFill>
                            <a:srgbClr val="222222"/>
                          </a:solidFill>
                        </a:rPr>
                        <a:t>Landing gear, tire</a:t>
                      </a:r>
                    </a:p>
                  </a:txBody>
                  <a:tcPr marL="54864" marR="54864" marT="18288" marB="18288">
                    <a:solidFill>
                      <a:srgbClr val="F4F7FA"/>
                    </a:solidFill>
                  </a:tcPr>
                </a:tc>
                <a:tc>
                  <a:txBody>
                    <a:bodyPr/>
                    <a:lstStyle/>
                    <a:p>
                      <a:pPr algn="ctr"/>
                      <a:r>
                        <a:rPr sz="1300">
                          <a:solidFill>
                            <a:srgbClr val="222222"/>
                          </a:solidFill>
                        </a:rPr>
                        <a:t>4</a:t>
                      </a:r>
                    </a:p>
                  </a:txBody>
                  <a:tcPr marL="54864" marR="54864" marT="18288" marB="18288">
                    <a:solidFill>
                      <a:srgbClr val="F4F7FA"/>
                    </a:solidFill>
                  </a:tcPr>
                </a:tc>
                <a:tc>
                  <a:txBody>
                    <a:bodyPr/>
                    <a:lstStyle/>
                    <a:p>
                      <a:pPr algn="ctr"/>
                      <a:r>
                        <a:rPr sz="1300">
                          <a:solidFill>
                            <a:srgbClr val="222222"/>
                          </a:solidFill>
                        </a:rPr>
                        <a:t>0.0392</a:t>
                      </a:r>
                    </a:p>
                  </a:txBody>
                  <a:tcPr marL="54864" marR="54864" marT="18288" marB="18288">
                    <a:solidFill>
                      <a:srgbClr val="F4F7FA"/>
                    </a:solidFill>
                  </a:tcPr>
                </a:tc>
              </a:tr>
            </a:tbl>
          </a:graphicData>
        </a:graphic>
      </p:graphicFrame>
      <p:sp>
        <p:nvSpPr>
          <p:cNvPr id="4" name="TextBox 3"/>
          <p:cNvSpPr txBox="1"/>
          <p:nvPr/>
        </p:nvSpPr>
        <p:spPr>
          <a:xfrm>
            <a:off x="8138160" y="1554480"/>
            <a:ext cx="3657600" cy="4297680"/>
          </a:xfrm>
          <a:prstGeom prst="rect">
            <a:avLst/>
          </a:prstGeom>
          <a:noFill/>
        </p:spPr>
        <p:txBody>
          <a:bodyPr wrap="square">
            <a:spAutoFit/>
          </a:bodyPr>
          <a:lstStyle/>
          <a:p>
            <a:pPr>
              <a:spcAft>
                <a:spcPts val="600"/>
              </a:spcAft>
            </a:pPr>
            <a:r>
              <a:rPr sz="1500">
                <a:solidFill>
                  <a:srgbClr val="1A1A1A"/>
                </a:solidFill>
              </a:rPr>
              <a:t>•  Dominant cell exact vs Zhang: Airframe 0.3137 = 0.31372.</a:t>
            </a:r>
          </a:p>
          <a:p>
            <a:pPr>
              <a:spcAft>
                <a:spcPts val="600"/>
              </a:spcAft>
            </a:pPr>
            <a:r>
              <a:rPr sz="1500">
                <a:solidFill>
                  <a:srgbClr val="1A1A1A"/>
                </a:solidFill>
              </a:rPr>
              <a:t>•  Secondary cells within ~1 accident.</a:t>
            </a:r>
          </a:p>
          <a:p>
            <a:pPr>
              <a:spcAft>
                <a:spcPts val="600"/>
              </a:spcAft>
            </a:pPr>
            <a:r>
              <a:rPr sz="1500">
                <a:solidFill>
                  <a:srgbClr val="1A1A1A"/>
                </a:solidFill>
              </a:rPr>
              <a:t>•  At full retrieval breadth, 113/113 causes match Zhang exactly.</a:t>
            </a:r>
          </a:p>
          <a:p>
            <a:pPr>
              <a:spcAft>
                <a:spcPts val="600"/>
              </a:spcAft>
            </a:pPr>
            <a:r>
              <a:rPr sz="1500">
                <a:solidFill>
                  <a:srgbClr val="1A1A1A"/>
                </a:solidFill>
              </a:rPr>
              <a:t>•  top-50 -&gt; 36 fires (0.222); top-200 -&gt; 84 (0.286); all -&gt; 102 (0.3137).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Zhang's Table 4 vs his actual method  (pedagogical 0.99 != output)</a:t>
            </a:r>
          </a:p>
          <a:p>
            <a:r>
              <a:rPr sz="1500">
                <a:solidFill>
                  <a:srgbClr val="CFDDEE"/>
                </a:solidFill>
              </a:rPr>
              <a:t>Zhang Table 4 (top) and Fig. 8 Beta-CDF estimator (bottom) — actual figures</a:t>
            </a:r>
          </a:p>
        </p:txBody>
      </p:sp>
      <p:pic>
        <p:nvPicPr>
          <p:cNvPr id="3" name="Picture 2" descr="zhang_table4.png"/>
          <p:cNvPicPr>
            <a:picLocks noChangeAspect="1"/>
          </p:cNvPicPr>
          <p:nvPr/>
        </p:nvPicPr>
        <p:blipFill>
          <a:blip r:embed="rId2"/>
          <a:stretch>
            <a:fillRect/>
          </a:stretch>
        </p:blipFill>
        <p:spPr>
          <a:xfrm>
            <a:off x="963740" y="1234440"/>
            <a:ext cx="10234039" cy="1691640"/>
          </a:xfrm>
          <a:prstGeom prst="rect">
            <a:avLst/>
          </a:prstGeom>
          <a:ln w="9525">
            <a:solidFill>
              <a:srgbClr val="BBC7D4"/>
            </a:solidFill>
          </a:ln>
        </p:spPr>
      </p:pic>
      <p:pic>
        <p:nvPicPr>
          <p:cNvPr id="4" name="Picture 3" descr="zhang_betacdf.png"/>
          <p:cNvPicPr>
            <a:picLocks noChangeAspect="1"/>
          </p:cNvPicPr>
          <p:nvPr/>
        </p:nvPicPr>
        <p:blipFill>
          <a:blip r:embed="rId3"/>
          <a:stretch>
            <a:fillRect/>
          </a:stretch>
        </p:blipFill>
        <p:spPr>
          <a:xfrm>
            <a:off x="509325" y="3154680"/>
            <a:ext cx="4833508" cy="3246120"/>
          </a:xfrm>
          <a:prstGeom prst="rect">
            <a:avLst/>
          </a:prstGeom>
          <a:ln w="9525">
            <a:solidFill>
              <a:srgbClr val="BBC7D4"/>
            </a:solidFill>
          </a:ln>
        </p:spPr>
      </p:pic>
      <p:sp>
        <p:nvSpPr>
          <p:cNvPr id="5" name="TextBox 4"/>
          <p:cNvSpPr txBox="1"/>
          <p:nvPr/>
        </p:nvSpPr>
        <p:spPr>
          <a:xfrm>
            <a:off x="5852160" y="3108960"/>
            <a:ext cx="5943600" cy="4297680"/>
          </a:xfrm>
          <a:prstGeom prst="rect">
            <a:avLst/>
          </a:prstGeom>
          <a:noFill/>
        </p:spPr>
        <p:txBody>
          <a:bodyPr wrap="square">
            <a:spAutoFit/>
          </a:bodyPr>
          <a:lstStyle/>
          <a:p>
            <a:pPr>
              <a:spcAft>
                <a:spcPts val="600"/>
              </a:spcAft>
            </a:pPr>
            <a:r>
              <a:rPr sz="1400">
                <a:solidFill>
                  <a:srgbClr val="1A1A1A"/>
                </a:solidFill>
              </a:rPr>
              <a:t>•  Top = Zhang's Table 4: the CPT that motivated this work —</a:t>
            </a:r>
          </a:p>
          <a:p>
            <a:pPr lvl="1">
              <a:spcAft>
                <a:spcPts val="600"/>
              </a:spcAft>
            </a:pPr>
            <a:r>
              <a:rPr sz="1200">
                <a:solidFill>
                  <a:srgbClr val="444444"/>
                </a:solidFill>
              </a:rPr>
              <a:t>–  'if brake worn AND wiring overheated -&gt; P(fire) = 0.99'.</a:t>
            </a:r>
          </a:p>
          <a:p>
            <a:pPr lvl="1">
              <a:spcAft>
                <a:spcPts val="600"/>
              </a:spcAft>
            </a:pPr>
            <a:r>
              <a:rPr sz="1200">
                <a:solidFill>
                  <a:srgbClr val="444444"/>
                </a:solidFill>
              </a:rPr>
              <a:t>–  It is a hand-set TEACHING example for the Fig. 2 toy net, NOT an estimator output.</a:t>
            </a:r>
          </a:p>
          <a:p>
            <a:pPr>
              <a:spcAft>
                <a:spcPts val="600"/>
              </a:spcAft>
            </a:pPr>
            <a:r>
              <a:rPr sz="1400">
                <a:solidFill>
                  <a:srgbClr val="1A1A1A"/>
                </a:solidFill>
              </a:rPr>
              <a:t>•  Bottom = Zhang's real method (Fig. 8 Beta-CDF, a*b ~ 1.05/2.03).</a:t>
            </a:r>
          </a:p>
          <a:p>
            <a:pPr lvl="1">
              <a:spcAft>
                <a:spcPts val="600"/>
              </a:spcAft>
            </a:pPr>
            <a:r>
              <a:rPr sz="1200">
                <a:solidFill>
                  <a:srgbClr val="444444"/>
                </a:solidFill>
              </a:rPr>
              <a:t>–  On the same inputs it yields ~0.09-0.11, nowhere near 0.99.</a:t>
            </a:r>
          </a:p>
          <a:p>
            <a:pPr>
              <a:spcAft>
                <a:spcPts val="600"/>
              </a:spcAft>
            </a:pPr>
            <a:r>
              <a:rPr sz="1400">
                <a:solidFill>
                  <a:srgbClr val="1A1A1A"/>
                </a:solidFill>
              </a:rPr>
              <a:t>•  So 'get Table 4 to 0.9' is unreachable by ANY method, including Zhang's own.</a:t>
            </a:r>
          </a:p>
          <a:p>
            <a:pPr>
              <a:spcAft>
                <a:spcPts val="600"/>
              </a:spcAft>
            </a:pPr>
            <a:r>
              <a:rPr sz="1400">
                <a:solidFill>
                  <a:srgbClr val="1A1A1A"/>
                </a:solidFill>
              </a:rPr>
              <a:t>•  We relate our conditional diagnosis to Table 4's idea — honestly — next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Beyond Zhang: conditional diagnosis  (the honest Table-4 analogue)</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P(cause | outcome AND condition) — restrict the population, then diagnose.</a:t>
            </a:r>
          </a:p>
          <a:p>
            <a:pPr>
              <a:spcAft>
                <a:spcPts val="600"/>
              </a:spcAft>
            </a:pPr>
            <a:r>
              <a:rPr sz="1800">
                <a:solidFill>
                  <a:srgbClr val="1A1A1A"/>
                </a:solidFill>
              </a:rPr>
              <a:t>•  Example: P(cause | fire AND electrical wiring)</a:t>
            </a:r>
          </a:p>
          <a:p>
            <a:pPr lvl="1">
              <a:spcAft>
                <a:spcPts val="600"/>
              </a:spcAft>
            </a:pPr>
            <a:r>
              <a:rPr sz="1600">
                <a:solidFill>
                  <a:srgbClr val="444444"/>
                </a:solidFill>
              </a:rPr>
              <a:t>–  Population restricted to the 14 wiring-related fire incidents.</a:t>
            </a:r>
          </a:p>
          <a:p>
            <a:pPr lvl="1">
              <a:spcAft>
                <a:spcPts val="600"/>
              </a:spcAft>
            </a:pPr>
            <a:r>
              <a:rPr sz="1600">
                <a:solidFill>
                  <a:srgbClr val="444444"/>
                </a:solidFill>
              </a:rPr>
              <a:t>–  Wiring jumps to ~78.6% as the dominant cause.</a:t>
            </a:r>
          </a:p>
          <a:p>
            <a:pPr>
              <a:spcAft>
                <a:spcPts val="600"/>
              </a:spcAft>
            </a:pPr>
            <a:r>
              <a:rPr sz="1800">
                <a:solidFill>
                  <a:srgbClr val="1A1A1A"/>
                </a:solidFill>
              </a:rPr>
              <a:t>•  This is the honest version of Table 4's idea: instead of hand-setting 0.99, we sub-set to the matching incidents and report what the data says.</a:t>
            </a:r>
          </a:p>
          <a:p>
            <a:pPr>
              <a:spcAft>
                <a:spcPts val="600"/>
              </a:spcAft>
            </a:pPr>
            <a:r>
              <a:rPr sz="1800">
                <a:solidFill>
                  <a:srgbClr val="1A1A1A"/>
                </a:solidFill>
              </a:rPr>
              <a:t>•  Lets the advisor ask targeted 'what if we already know X'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Beyond Zhang: generalized to any outcome</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Zhang's diagnosis is hard-scoped to fire. Mine is outcome-agnostic.</a:t>
            </a:r>
          </a:p>
          <a:p>
            <a:pPr>
              <a:spcAft>
                <a:spcPts val="600"/>
              </a:spcAft>
            </a:pPr>
            <a:r>
              <a:rPr sz="1800">
                <a:solidFill>
                  <a:srgbClr val="1A1A1A"/>
                </a:solidFill>
              </a:rPr>
              <a:t>•  Same P(cause | outcome) machinery runs for any outcome node, e.g.:</a:t>
            </a:r>
          </a:p>
          <a:p>
            <a:pPr lvl="1">
              <a:spcAft>
                <a:spcPts val="600"/>
              </a:spcAft>
            </a:pPr>
            <a:r>
              <a:rPr sz="1600">
                <a:solidFill>
                  <a:srgbClr val="444444"/>
                </a:solidFill>
              </a:rPr>
              <a:t>–  Loss of engine power</a:t>
            </a:r>
          </a:p>
          <a:p>
            <a:pPr lvl="1">
              <a:spcAft>
                <a:spcPts val="600"/>
              </a:spcAft>
            </a:pPr>
            <a:r>
              <a:rPr sz="1600">
                <a:solidFill>
                  <a:srgbClr val="444444"/>
                </a:solidFill>
              </a:rPr>
              <a:t>–  Gear collapsed</a:t>
            </a:r>
          </a:p>
          <a:p>
            <a:pPr lvl="1">
              <a:spcAft>
                <a:spcPts val="600"/>
              </a:spcAft>
            </a:pPr>
            <a:r>
              <a:rPr sz="1600">
                <a:solidFill>
                  <a:srgbClr val="444444"/>
                </a:solidFill>
              </a:rPr>
              <a:t>–  Any detected outcome (via detect_outcome)</a:t>
            </a:r>
          </a:p>
          <a:p>
            <a:pPr>
              <a:spcAft>
                <a:spcPts val="600"/>
              </a:spcAft>
            </a:pPr>
            <a:r>
              <a:rPr sz="1800">
                <a:solidFill>
                  <a:srgbClr val="1A1A1A"/>
                </a:solidFill>
              </a:rPr>
              <a:t>•  Engine also accepts free-text queries ('What is the probability of fire?') and resolves them to Zhang's quantities.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Beyond Zhang: confidence-aware selective diagnosis</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Per-incident: commit only when confident; abstain otherwise.</a:t>
            </a:r>
          </a:p>
          <a:p>
            <a:pPr>
              <a:spcAft>
                <a:spcPts val="600"/>
              </a:spcAft>
            </a:pPr>
            <a:r>
              <a:rPr sz="1800">
                <a:solidFill>
                  <a:srgbClr val="1A1A1A"/>
                </a:solidFill>
              </a:rPr>
              <a:t>•  Confidence signal = margin between the top-2 specific causes:</a:t>
            </a:r>
          </a:p>
          <a:p>
            <a:pPr lvl="1">
              <a:spcAft>
                <a:spcPts val="600"/>
              </a:spcAft>
            </a:pPr>
            <a:r>
              <a:rPr sz="1600">
                <a:solidFill>
                  <a:srgbClr val="444444"/>
                </a:solidFill>
              </a:rPr>
              <a:t>–  margin = P(top-1) - P(top-2) over the specific-mechanism ranking.</a:t>
            </a:r>
          </a:p>
          <a:p>
            <a:pPr>
              <a:spcAft>
                <a:spcPts val="600"/>
              </a:spcAft>
            </a:pPr>
            <a:r>
              <a:rPr sz="1800">
                <a:solidFill>
                  <a:srgbClr val="1A1A1A"/>
                </a:solidFill>
              </a:rPr>
              <a:t>•  margin &gt;= 0.08  -&gt;  commit (high confidence, single top cause).</a:t>
            </a:r>
          </a:p>
          <a:p>
            <a:pPr>
              <a:spcAft>
                <a:spcPts val="600"/>
              </a:spcAft>
            </a:pPr>
            <a:r>
              <a:rPr sz="1800">
                <a:solidFill>
                  <a:srgbClr val="1A1A1A"/>
                </a:solidFill>
              </a:rPr>
              <a:t>•  margin &lt; 0.08   -&gt;  abstain (low confidence, return candidate list).</a:t>
            </a:r>
          </a:p>
          <a:p>
            <a:pPr>
              <a:spcAft>
                <a:spcPts val="600"/>
              </a:spcAft>
            </a:pPr>
            <a:r>
              <a:rPr sz="1800">
                <a:solidFill>
                  <a:srgbClr val="1A1A1A"/>
                </a:solidFill>
              </a:rPr>
              <a:t>•  Threshold 0.08 = top-25%-coverage operating point (pooled fire + gear).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Honest assessment</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Population-level diagnosis = A. Exact reproduction of Zhang's Table 7 + prior (the task Zhang/Maha scope).</a:t>
            </a:r>
          </a:p>
          <a:p>
            <a:pPr>
              <a:spcAft>
                <a:spcPts val="600"/>
              </a:spcAft>
            </a:pPr>
            <a:r>
              <a:rPr sz="1800">
                <a:solidFill>
                  <a:srgbClr val="1A1A1A"/>
                </a:solidFill>
              </a:rPr>
              <a:t>•  Per-incident cause prediction = near base-rate. Honest LOO (leave-one-out) cross-validation:</a:t>
            </a:r>
          </a:p>
          <a:p>
            <a:pPr lvl="1">
              <a:spcAft>
                <a:spcPts val="600"/>
              </a:spcAft>
            </a:pPr>
            <a:r>
              <a:rPr sz="1600">
                <a:solidFill>
                  <a:srgbClr val="444444"/>
                </a:solidFill>
              </a:rPr>
              <a:t>–  Fire (n=72): top-1 18.1% vs baseline 12.5%; MRR (mean reciprocal rank) 0.304 vs 0.287.</a:t>
            </a:r>
          </a:p>
          <a:p>
            <a:pPr lvl="1">
              <a:spcAft>
                <a:spcPts val="600"/>
              </a:spcAft>
            </a:pPr>
            <a:r>
              <a:rPr sz="1600">
                <a:solidFill>
                  <a:srgbClr val="444444"/>
                </a:solidFill>
              </a:rPr>
              <a:t>–  Loss of engine power (n=114): essentially tied with baseline.</a:t>
            </a:r>
          </a:p>
          <a:p>
            <a:pPr lvl="1">
              <a:spcAft>
                <a:spcPts val="600"/>
              </a:spcAft>
            </a:pPr>
            <a:r>
              <a:rPr sz="1600">
                <a:solidFill>
                  <a:srgbClr val="444444"/>
                </a:solidFill>
              </a:rPr>
              <a:t>–  Gear (n=51): slightly trails baseline.</a:t>
            </a:r>
          </a:p>
          <a:p>
            <a:pPr>
              <a:spcAft>
                <a:spcPts val="600"/>
              </a:spcAft>
            </a:pPr>
            <a:r>
              <a:rPr sz="1800">
                <a:solidFill>
                  <a:srgbClr val="1A1A1A"/>
                </a:solidFill>
              </a:rPr>
              <a:t>•  Why: NTSB cause coding is dominated by generic catch-all categories -&gt; little specific signal. A data ceiling, NOT something Zhang claims.</a:t>
            </a:r>
          </a:p>
          <a:p>
            <a:pPr>
              <a:spcAft>
                <a:spcPts val="600"/>
              </a:spcAft>
            </a:pPr>
            <a:r>
              <a:rPr sz="1800">
                <a:solidFill>
                  <a:srgbClr val="1A1A1A"/>
                </a:solidFill>
              </a:rPr>
              <a:t>•  I even tested lift reranking to beat the ceiling — it failed / didn't close consistently.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11880"/>
            <a:ext cx="3840480" cy="6400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728655" cy="2743200"/>
          </a:xfrm>
          <a:prstGeom prst="rect">
            <a:avLst/>
          </a:prstGeom>
          <a:noFill/>
        </p:spPr>
        <p:txBody>
          <a:bodyPr wrap="square">
            <a:spAutoFit/>
          </a:bodyPr>
          <a:lstStyle/>
          <a:p>
            <a:r>
              <a:rPr sz="4000" b="1">
                <a:solidFill>
                  <a:srgbClr val="FFFFFF"/>
                </a:solidFill>
              </a:rPr>
              <a:t>Part 2: A more robust estimator for sparse cells</a:t>
            </a:r>
          </a:p>
          <a:p>
            <a:pPr>
              <a:spcBef>
                <a:spcPts val="1600"/>
              </a:spcBef>
            </a:pPr>
            <a:r>
              <a:rPr sz="1800">
                <a:solidFill>
                  <a:srgbClr val="CFDDEE"/>
                </a:solidFill>
              </a:rPr>
              <a:t>The new, validated contribution — better where Zhang is weakest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Part 2: A more robust estimator for sparse cells</a:t>
            </a:r>
          </a:p>
          <a:p>
            <a:r>
              <a:rPr sz="1500">
                <a:solidFill>
                  <a:srgbClr val="CFDDEE"/>
                </a:solidFill>
              </a:rPr>
              <a:t>The new, validated contribution since the last meeting</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Part 1 was about DENSE numbers — the fire prior and Table 7 — where we have 102 fires to count, so plain counting works.</a:t>
            </a:r>
          </a:p>
          <a:p>
            <a:pPr>
              <a:spcAft>
                <a:spcPts val="600"/>
              </a:spcAft>
            </a:pPr>
            <a:r>
              <a:rPr sz="1800">
                <a:solidFill>
                  <a:srgbClr val="1A1A1A"/>
                </a:solidFill>
              </a:rPr>
              <a:t>•  This part is the opposite situation: cells with almost no data (1-10 observations) — which is exactly where Zhang's famous 0.95 lives.</a:t>
            </a:r>
          </a:p>
          <a:p>
            <a:pPr>
              <a:spcAft>
                <a:spcPts val="600"/>
              </a:spcAft>
            </a:pPr>
            <a:r>
              <a:rPr sz="1800">
                <a:solidFill>
                  <a:srgbClr val="1A1A1A"/>
                </a:solidFill>
              </a:rPr>
              <a:t>•  Claim, stated honestly up front:</a:t>
            </a:r>
          </a:p>
          <a:p>
            <a:pPr lvl="1">
              <a:spcAft>
                <a:spcPts val="600"/>
              </a:spcAft>
            </a:pPr>
            <a:r>
              <a:rPr sz="1600">
                <a:solidFill>
                  <a:srgbClr val="444444"/>
                </a:solidFill>
              </a:rPr>
              <a:t>–  Our semantic-neighbour smoothing is more accurate AND far more stable than Zhang's smoother exactly where his estimates are most fragile.</a:t>
            </a:r>
          </a:p>
          <a:p>
            <a:pPr lvl="1">
              <a:spcAft>
                <a:spcPts val="600"/>
              </a:spcAft>
            </a:pPr>
            <a:r>
              <a:rPr sz="1600">
                <a:solidFill>
                  <a:srgbClr val="444444"/>
                </a:solidFill>
              </a:rPr>
              <a:t>–  It is also a strict, clean replacement for his Beta-CDF smoother.</a:t>
            </a:r>
          </a:p>
          <a:p>
            <a:pPr lvl="1">
              <a:spcAft>
                <a:spcPts val="600"/>
              </a:spcAft>
            </a:pPr>
            <a:r>
              <a:rPr sz="1600">
                <a:solidFill>
                  <a:srgbClr val="444444"/>
                </a:solidFill>
              </a:rPr>
              <a:t>–  NOT a blanket 'we beat everything' — the honest caveat travels with us all the way through.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First, the basics: CPTs, cells, and what 'sparse' means</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A Bayesian network stores its numbers in conditional probability tables (CPTs) — one table per node.</a:t>
            </a:r>
          </a:p>
          <a:p>
            <a:pPr>
              <a:spcAft>
                <a:spcPts val="600"/>
              </a:spcAft>
            </a:pPr>
            <a:r>
              <a:rPr sz="1800">
                <a:solidFill>
                  <a:srgbClr val="1A1A1A"/>
                </a:solidFill>
              </a:rPr>
              <a:t>•  A CPT 'cell' is a single conditional probability, e.g. P(fire | electrical wiring overheated): 'given the cause, how often does the outcome happen?'</a:t>
            </a:r>
          </a:p>
          <a:p>
            <a:pPr>
              <a:spcAft>
                <a:spcPts val="600"/>
              </a:spcAft>
            </a:pPr>
            <a:r>
              <a:rPr sz="1800">
                <a:solidFill>
                  <a:srgbClr val="1A1A1A"/>
                </a:solidFill>
              </a:rPr>
              <a:t>•  We estimate a cell by counting:  cell = (times cause AND outcome) / (times the cause happens).</a:t>
            </a:r>
          </a:p>
          <a:p>
            <a:pPr>
              <a:spcAft>
                <a:spcPts val="600"/>
              </a:spcAft>
            </a:pPr>
            <a:r>
              <a:rPr sz="1800">
                <a:solidFill>
                  <a:srgbClr val="1A1A1A"/>
                </a:solidFill>
              </a:rPr>
              <a:t>•  A cell is SPARSE when the cause shows up in very few incidents — 1, 2, 3. Then the count rests on almost nothing.</a:t>
            </a:r>
          </a:p>
          <a:p>
            <a:pPr>
              <a:spcAft>
                <a:spcPts val="600"/>
              </a:spcAft>
            </a:pPr>
            <a:r>
              <a:rPr sz="1800">
                <a:solidFill>
                  <a:srgbClr val="1A1A1A"/>
                </a:solidFill>
              </a:rPr>
              <a:t>•  Why it matters: with 102 fires, counting is rock-solid. With 1 observation, a single coincidence swings the number from 0 to 1.</a:t>
            </a:r>
          </a:p>
          <a:p>
            <a:pPr lvl="1">
              <a:spcAft>
                <a:spcPts val="600"/>
              </a:spcAft>
            </a:pPr>
            <a:r>
              <a:rPr sz="1600">
                <a:solidFill>
                  <a:srgbClr val="444444"/>
                </a:solidFill>
              </a:rPr>
              <a:t>–  Rare-but-serious events — the ones safety analysts care most about — are exactly the sparse ones.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A quick primer: the CDF and the Beta distribution (plain words)</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CDF = cumulative distribution function. At a value x it is simply 'the probability the quantity comes out at or below x'.</a:t>
            </a:r>
          </a:p>
          <a:p>
            <a:pPr lvl="1">
              <a:spcAft>
                <a:spcPts val="600"/>
              </a:spcAft>
            </a:pPr>
            <a:r>
              <a:rPr sz="1600">
                <a:solidFill>
                  <a:srgbClr val="444444"/>
                </a:solidFill>
              </a:rPr>
              <a:t>–  Intuition: line people up by height; the CDF at 5'8" = the fraction no taller than 5'8". It always climbs from 0 up to 1.</a:t>
            </a:r>
          </a:p>
          <a:p>
            <a:pPr>
              <a:spcAft>
                <a:spcPts val="600"/>
              </a:spcAft>
            </a:pPr>
            <a:r>
              <a:rPr sz="1800">
                <a:solidFill>
                  <a:srgbClr val="1A1A1A"/>
                </a:solidFill>
              </a:rPr>
              <a:t>•  The Beta distribution is a flexible curve that lives between 0 and 1 — perfect for a probability whose value we're unsure of. Two knobs: alpha and beta.</a:t>
            </a:r>
          </a:p>
          <a:p>
            <a:pPr>
              <a:spcAft>
                <a:spcPts val="600"/>
              </a:spcAft>
            </a:pPr>
            <a:r>
              <a:rPr sz="1800">
                <a:solidFill>
                  <a:srgbClr val="1A1A1A"/>
                </a:solidFill>
              </a:rPr>
              <a:t>•  Zhang's Beta-CDF smoother feeds a cell's raw ratio through a Beta CDF with fixed, globally-fit knobs (alpha ~ 1.046, beta ~ 2.026) to shrink extreme ratios.</a:t>
            </a:r>
          </a:p>
          <a:p>
            <a:pPr>
              <a:spcAft>
                <a:spcPts val="600"/>
              </a:spcAft>
            </a:pPr>
            <a:r>
              <a:rPr sz="1800">
                <a:solidFill>
                  <a:srgbClr val="1A1A1A"/>
                </a:solidFill>
              </a:rPr>
              <a:t>•  Plain takeaway: it's a parametric smoother — ONE fixed curve applied to EVERY cell, no matter what that cell is about.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Zhang's Beta-CDF smoother — why it's fragile when data is tiny</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The alpha and beta are fit once, globally, then applied to every cell identically.</a:t>
            </a:r>
          </a:p>
          <a:p>
            <a:pPr>
              <a:spcAft>
                <a:spcPts val="600"/>
              </a:spcAft>
            </a:pPr>
            <a:r>
              <a:rPr sz="1800">
                <a:solidFill>
                  <a:srgbClr val="1A1A1A"/>
                </a:solidFill>
              </a:rPr>
              <a:t>•  It only looks at the ratio k/n (positives over observations). It does NOT look at what the incident was about — it can't tell a fuel fire from a brake failure.</a:t>
            </a:r>
          </a:p>
          <a:p>
            <a:pPr>
              <a:spcAft>
                <a:spcPts val="600"/>
              </a:spcAft>
            </a:pPr>
            <a:r>
              <a:rPr sz="1800">
                <a:solidFill>
                  <a:srgbClr val="1A1A1A"/>
                </a:solidFill>
              </a:rPr>
              <a:t>•  So with 1-2 observations it still just transforms a noisy k/n — it smooths the NUMBER but not the EVIDENCE. No new information comes in.</a:t>
            </a:r>
          </a:p>
          <a:p>
            <a:pPr>
              <a:spcAft>
                <a:spcPts val="600"/>
              </a:spcAft>
            </a:pPr>
            <a:r>
              <a:rPr sz="1800">
                <a:solidFill>
                  <a:srgbClr val="1A1A1A"/>
                </a:solidFill>
              </a:rPr>
              <a:t>•  In our test it actually distorted mid-range cells: it was the WORST estimator at every sparsity level, because the one global curve pushes honest mid-range ratios away from the truth.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Why Zhang's flagship 0.95 is fragile  (1 observation + a cap)</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Zhang's headline forward number is P(loss of engine power | inoperative engine instruments) = 0.95.</a:t>
            </a:r>
          </a:p>
          <a:p>
            <a:pPr>
              <a:spcAft>
                <a:spcPts val="600"/>
              </a:spcAft>
            </a:pPr>
            <a:r>
              <a:rPr sz="1800">
                <a:solidFill>
                  <a:srgbClr val="1A1A1A"/>
                </a:solidFill>
              </a:rPr>
              <a:t>•  Where does 0.95 come from? Reading his code:</a:t>
            </a:r>
          </a:p>
          <a:p>
            <a:pPr lvl="1">
              <a:spcAft>
                <a:spcPts val="600"/>
              </a:spcAft>
            </a:pPr>
            <a:r>
              <a:rPr sz="1600">
                <a:solidFill>
                  <a:srgbClr val="444444"/>
                </a:solidFill>
              </a:rPr>
              <a:t>–  The raw co-occurrence ratio is 1 / 1 = 1.0 — the cause appears in exactly ONE incident, which happened to escalate.</a:t>
            </a:r>
          </a:p>
          <a:p>
            <a:pPr lvl="1">
              <a:spcAft>
                <a:spcPts val="600"/>
              </a:spcAft>
            </a:pPr>
            <a:r>
              <a:rPr sz="1600">
                <a:solidFill>
                  <a:srgbClr val="444444"/>
                </a:solidFill>
              </a:rPr>
              <a:t>–  A hardcoded rule then knocks a perfect 1.0 down to 0.95 (an arbitrary cap).</a:t>
            </a:r>
          </a:p>
          <a:p>
            <a:pPr>
              <a:spcAft>
                <a:spcPts val="600"/>
              </a:spcAft>
            </a:pPr>
            <a:r>
              <a:rPr sz="1800">
                <a:solidFill>
                  <a:srgbClr val="1A1A1A"/>
                </a:solidFill>
              </a:rPr>
              <a:t>•  So the famous 0.95 = one anecdote + a manual cap. It is NOT a statistical estimate at all.</a:t>
            </a:r>
          </a:p>
          <a:p>
            <a:pPr>
              <a:spcAft>
                <a:spcPts val="600"/>
              </a:spcAft>
            </a:pPr>
            <a:r>
              <a:rPr sz="1800">
                <a:solidFill>
                  <a:srgbClr val="1A1A1A"/>
                </a:solidFill>
              </a:rPr>
              <a:t>•  This is the bullseye for a better method: what should you report when a cell rests on a single incident?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Our idea: semantic-neighbour smoothing  (borrow strength)</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Problem: the exact cell has 1-2 incidents — too few to trust.</a:t>
            </a:r>
          </a:p>
          <a:p>
            <a:pPr>
              <a:spcAft>
                <a:spcPts val="600"/>
              </a:spcAft>
            </a:pPr>
            <a:r>
              <a:rPr sz="1800">
                <a:solidFill>
                  <a:srgbClr val="1A1A1A"/>
                </a:solidFill>
              </a:rPr>
              <a:t>•  Insight: there are many other incidents whose STORIES are similar, even if they aren't coded into this exact cell.</a:t>
            </a:r>
          </a:p>
          <a:p>
            <a:pPr>
              <a:spcAft>
                <a:spcPts val="600"/>
              </a:spcAft>
            </a:pPr>
            <a:r>
              <a:rPr sz="1800">
                <a:solidFill>
                  <a:srgbClr val="1A1A1A"/>
                </a:solidFill>
              </a:rPr>
              <a:t>•  Method: embed every incident narrative as a vector (numbers capturing meaning), find the K=50 most semantically similar incidents to the cause, and ask 'what fraction of those escalated to the outcome?'</a:t>
            </a:r>
          </a:p>
          <a:p>
            <a:pPr>
              <a:spcAft>
                <a:spcPts val="600"/>
              </a:spcAft>
            </a:pPr>
            <a:r>
              <a:rPr sz="1800">
                <a:solidFill>
                  <a:srgbClr val="1A1A1A"/>
                </a:solidFill>
              </a:rPr>
              <a:t>•  This borrows strength from related real cases instead of leaning on the 1-2 local observations.</a:t>
            </a:r>
          </a:p>
          <a:p>
            <a:pPr>
              <a:spcAft>
                <a:spcPts val="600"/>
              </a:spcAft>
            </a:pPr>
            <a:r>
              <a:rPr sz="1800">
                <a:solidFill>
                  <a:srgbClr val="1A1A1A"/>
                </a:solidFill>
              </a:rPr>
              <a:t>•  Because it pools the same neighbourhood every time, the estimate barely moves run-to-run — it is n-independent (doesn't depend on the few local samples drawn).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How we tested it: subsample-to-recover  (+ leave-one-out)</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The trick: for a genuinely sparse cell you don't know the truth — so we MANUFACTURE sparsity from cells that are data-rich.</a:t>
            </a:r>
          </a:p>
          <a:p>
            <a:pPr>
              <a:spcAft>
                <a:spcPts val="600"/>
              </a:spcAft>
            </a:pPr>
            <a:r>
              <a:rPr sz="1800">
                <a:solidFill>
                  <a:srgbClr val="1A1A1A"/>
                </a:solidFill>
              </a:rPr>
              <a:t>•  Subsample-to-recover:</a:t>
            </a:r>
          </a:p>
          <a:p>
            <a:pPr lvl="1">
              <a:spcAft>
                <a:spcPts val="600"/>
              </a:spcAft>
            </a:pPr>
            <a:r>
              <a:rPr sz="1600">
                <a:solidFill>
                  <a:srgbClr val="444444"/>
                </a:solidFill>
              </a:rPr>
              <a:t>–  Take 158 well-populated 'gold' cells (cause appears in &gt;=30 incidents) — their full-data fraction is the trusted 'truth'.</a:t>
            </a:r>
          </a:p>
          <a:p>
            <a:pPr lvl="1">
              <a:spcAft>
                <a:spcPts val="600"/>
              </a:spcAft>
            </a:pPr>
            <a:r>
              <a:rPr sz="1600">
                <a:solidFill>
                  <a:srgbClr val="444444"/>
                </a:solidFill>
              </a:rPr>
              <a:t>–  Shrink each cell to a tiny sample of n in {1,2,3,5,10} (400 random draws each).</a:t>
            </a:r>
          </a:p>
          <a:p>
            <a:pPr lvl="1">
              <a:spcAft>
                <a:spcPts val="600"/>
              </a:spcAft>
            </a:pPr>
            <a:r>
              <a:rPr sz="1600">
                <a:solidFill>
                  <a:srgbClr val="444444"/>
                </a:solidFill>
              </a:rPr>
              <a:t>–  Each method estimates the truth from that tiny sample; score the error (MAE / Brier / cross-entropy).</a:t>
            </a:r>
          </a:p>
          <a:p>
            <a:pPr>
              <a:spcAft>
                <a:spcPts val="600"/>
              </a:spcAft>
            </a:pPr>
            <a:r>
              <a:rPr sz="1800">
                <a:solidFill>
                  <a:srgbClr val="1A1A1A"/>
                </a:solidFill>
              </a:rPr>
              <a:t>•  Leave-one-out (LOO): stricter, leakage-free — hold out ONE incident, predict it from the others (semantic NOT allowed to see the held-out case).</a:t>
            </a:r>
          </a:p>
          <a:p>
            <a:pPr>
              <a:spcAft>
                <a:spcPts val="600"/>
              </a:spcAft>
            </a:pPr>
            <a:r>
              <a:rPr sz="1800">
                <a:solidFill>
                  <a:srgbClr val="1A1A1A"/>
                </a:solidFill>
              </a:rPr>
              <a:t>•  Stats: paired Wilcoxon test + bootstrap confidence intervals across all 158 cells.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Results: accuracy and stability vs sparsity</a:t>
            </a:r>
          </a:p>
          <a:p>
            <a:r>
              <a:rPr sz="1500">
                <a:solidFill>
                  <a:srgbClr val="CFDDEE"/>
                </a:solidFill>
              </a:rPr>
              <a:t>Left = accuracy (MAE) vs n; right = stability (across-draw STD) vs n</a:t>
            </a:r>
          </a:p>
        </p:txBody>
      </p:sp>
      <p:pic>
        <p:nvPicPr>
          <p:cNvPr id="3" name="Picture 2" descr="sparse_robustness.png"/>
          <p:cNvPicPr>
            <a:picLocks noChangeAspect="1"/>
          </p:cNvPicPr>
          <p:nvPr/>
        </p:nvPicPr>
        <p:blipFill>
          <a:blip r:embed="rId2"/>
          <a:stretch>
            <a:fillRect/>
          </a:stretch>
        </p:blipFill>
        <p:spPr>
          <a:xfrm>
            <a:off x="365760" y="2002536"/>
            <a:ext cx="7680960" cy="2944368"/>
          </a:xfrm>
          <a:prstGeom prst="rect">
            <a:avLst/>
          </a:prstGeom>
          <a:ln w="9525">
            <a:solidFill>
              <a:srgbClr val="BBC7D4"/>
            </a:solidFill>
          </a:ln>
        </p:spPr>
      </p:pic>
      <p:sp>
        <p:nvSpPr>
          <p:cNvPr id="4" name="TextBox 3"/>
          <p:cNvSpPr txBox="1"/>
          <p:nvPr/>
        </p:nvSpPr>
        <p:spPr>
          <a:xfrm>
            <a:off x="8138160" y="1371600"/>
            <a:ext cx="3749039" cy="4297680"/>
          </a:xfrm>
          <a:prstGeom prst="rect">
            <a:avLst/>
          </a:prstGeom>
          <a:noFill/>
        </p:spPr>
        <p:txBody>
          <a:bodyPr wrap="square">
            <a:spAutoFit/>
          </a:bodyPr>
          <a:lstStyle/>
          <a:p>
            <a:pPr>
              <a:spcAft>
                <a:spcPts val="600"/>
              </a:spcAft>
            </a:pPr>
            <a:r>
              <a:rPr sz="1300">
                <a:solidFill>
                  <a:srgbClr val="1A1A1A"/>
                </a:solidFill>
              </a:rPr>
              <a:t>•  Accuracy (left): semantic sits flat at MAE ~ 0.11 for every n; counting starts near 0.27-0.28 at n=1 and only catches it around n ~ 7.</a:t>
            </a:r>
          </a:p>
          <a:p>
            <a:pPr>
              <a:spcAft>
                <a:spcPts val="600"/>
              </a:spcAft>
            </a:pPr>
            <a:r>
              <a:rPr sz="1300">
                <a:solidFill>
                  <a:srgbClr val="1A1A1A"/>
                </a:solidFill>
              </a:rPr>
              <a:t>•  Stability (right): semantic spread ~ 0.000 (same answer every draw); counting / Beta-CDF wobble at STD 0.10-0.37.</a:t>
            </a:r>
          </a:p>
          <a:p>
            <a:pPr>
              <a:spcAft>
                <a:spcPts val="600"/>
              </a:spcAft>
            </a:pPr>
            <a:r>
              <a:rPr sz="1300">
                <a:solidFill>
                  <a:srgbClr val="1A1A1A"/>
                </a:solidFill>
              </a:rPr>
              <a:t>•  Beta-CDF (blue) is the WORST line at every n — the global curve distorts these cells.</a:t>
            </a:r>
          </a:p>
          <a:p>
            <a:pPr>
              <a:spcAft>
                <a:spcPts val="600"/>
              </a:spcAft>
            </a:pPr>
            <a:r>
              <a:rPr sz="1300">
                <a:solidFill>
                  <a:srgbClr val="1A1A1A"/>
                </a:solidFill>
              </a:rPr>
              <a:t>•  Significance: vs Beta-CDF, semantic wins at EVERY n (Wilcoxon p &lt; 1e-4, bootstrap CIs exclude 0); vs raw count, it wins big for n &lt;= 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Results: error (MAE) vs number of observations</a:t>
            </a:r>
          </a:p>
          <a:p>
            <a:r>
              <a:rPr sz="1500">
                <a:solidFill>
                  <a:srgbClr val="CFDDEE"/>
                </a:solidFill>
              </a:rPr>
              <a:t>Lower = closer to the trusted full-data truth</a:t>
            </a:r>
          </a:p>
        </p:txBody>
      </p:sp>
      <p:graphicFrame>
        <p:nvGraphicFramePr>
          <p:cNvPr id="3" name="Table 2"/>
          <p:cNvGraphicFramePr>
            <a:graphicFrameLocks noGrp="1"/>
          </p:cNvGraphicFramePr>
          <p:nvPr/>
        </p:nvGraphicFramePr>
        <p:xfrm>
          <a:off x="640080" y="1371600"/>
          <a:ext cx="7863840" cy="2651760"/>
        </p:xfrm>
        <a:graphic>
          <a:graphicData uri="http://schemas.openxmlformats.org/drawingml/2006/table">
            <a:tbl>
              <a:tblPr firstRow="1" bandRow="1">
                <a:tableStyleId>{5C22544A-7EE6-4342-B048-85BDC9FD1C3A}</a:tableStyleId>
              </a:tblPr>
              <a:tblGrid>
                <a:gridCol w="731520"/>
                <a:gridCol w="1645920"/>
                <a:gridCol w="2011680"/>
                <a:gridCol w="1737360"/>
                <a:gridCol w="1737360"/>
              </a:tblGrid>
              <a:tr h="441960">
                <a:tc>
                  <a:txBody>
                    <a:bodyPr/>
                    <a:lstStyle/>
                    <a:p>
                      <a:r>
                        <a:rPr sz="1400" b="1">
                          <a:solidFill>
                            <a:srgbClr val="FFFFFF"/>
                          </a:solidFill>
                        </a:rPr>
                        <a:t>n</a:t>
                      </a:r>
                    </a:p>
                  </a:txBody>
                  <a:tcPr marL="54864" marR="54864" marT="18288" marB="18288">
                    <a:solidFill>
                      <a:srgbClr val="1F6FB2"/>
                    </a:solidFill>
                  </a:tcPr>
                </a:tc>
                <a:tc>
                  <a:txBody>
                    <a:bodyPr/>
                    <a:lstStyle/>
                    <a:p>
                      <a:pPr algn="ctr"/>
                      <a:r>
                        <a:rPr sz="1400" b="1">
                          <a:solidFill>
                            <a:srgbClr val="FFFFFF"/>
                          </a:solidFill>
                        </a:rPr>
                        <a:t>raw / MLE</a:t>
                      </a:r>
                    </a:p>
                  </a:txBody>
                  <a:tcPr marL="54864" marR="54864" marT="18288" marB="18288">
                    <a:solidFill>
                      <a:srgbClr val="1F6FB2"/>
                    </a:solidFill>
                  </a:tcPr>
                </a:tc>
                <a:tc>
                  <a:txBody>
                    <a:bodyPr/>
                    <a:lstStyle/>
                    <a:p>
                      <a:pPr algn="ctr"/>
                      <a:r>
                        <a:rPr sz="1400" b="1">
                          <a:solidFill>
                            <a:srgbClr val="FFFFFF"/>
                          </a:solidFill>
                        </a:rPr>
                        <a:t>Zhang cap (-&gt;0.95)</a:t>
                      </a:r>
                    </a:p>
                  </a:txBody>
                  <a:tcPr marL="54864" marR="54864" marT="18288" marB="18288">
                    <a:solidFill>
                      <a:srgbClr val="1F6FB2"/>
                    </a:solidFill>
                  </a:tcPr>
                </a:tc>
                <a:tc>
                  <a:txBody>
                    <a:bodyPr/>
                    <a:lstStyle/>
                    <a:p>
                      <a:pPr algn="ctr"/>
                      <a:r>
                        <a:rPr sz="1400" b="1">
                          <a:solidFill>
                            <a:srgbClr val="FFFFFF"/>
                          </a:solidFill>
                        </a:rPr>
                        <a:t>Zhang Beta-CDF</a:t>
                      </a:r>
                    </a:p>
                  </a:txBody>
                  <a:tcPr marL="54864" marR="54864" marT="18288" marB="18288">
                    <a:solidFill>
                      <a:srgbClr val="1F6FB2"/>
                    </a:solidFill>
                  </a:tcPr>
                </a:tc>
                <a:tc>
                  <a:txBody>
                    <a:bodyPr/>
                    <a:lstStyle/>
                    <a:p>
                      <a:pPr algn="ctr"/>
                      <a:r>
                        <a:rPr sz="1400" b="1">
                          <a:solidFill>
                            <a:srgbClr val="FFFFFF"/>
                          </a:solidFill>
                        </a:rPr>
                        <a:t>Semantic (ours)</a:t>
                      </a:r>
                    </a:p>
                  </a:txBody>
                  <a:tcPr marL="54864" marR="54864" marT="18288" marB="18288">
                    <a:solidFill>
                      <a:srgbClr val="1F6FB2"/>
                    </a:solidFill>
                  </a:tcPr>
                </a:tc>
              </a:tr>
              <a:tr h="441960">
                <a:tc>
                  <a:txBody>
                    <a:bodyPr/>
                    <a:lstStyle/>
                    <a:p>
                      <a:r>
                        <a:rPr sz="1400" b="1">
                          <a:solidFill>
                            <a:srgbClr val="222222"/>
                          </a:solidFill>
                        </a:rPr>
                        <a:t>1</a:t>
                      </a:r>
                    </a:p>
                  </a:txBody>
                  <a:tcPr marL="54864" marR="54864" marT="18288" marB="18288">
                    <a:solidFill>
                      <a:srgbClr val="E6F4EA"/>
                    </a:solidFill>
                  </a:tcPr>
                </a:tc>
                <a:tc>
                  <a:txBody>
                    <a:bodyPr/>
                    <a:lstStyle/>
                    <a:p>
                      <a:pPr algn="ctr"/>
                      <a:r>
                        <a:rPr sz="1400" b="1">
                          <a:solidFill>
                            <a:srgbClr val="222222"/>
                          </a:solidFill>
                        </a:rPr>
                        <a:t>0.284</a:t>
                      </a:r>
                    </a:p>
                  </a:txBody>
                  <a:tcPr marL="54864" marR="54864" marT="18288" marB="18288">
                    <a:solidFill>
                      <a:srgbClr val="E6F4EA"/>
                    </a:solidFill>
                  </a:tcPr>
                </a:tc>
                <a:tc>
                  <a:txBody>
                    <a:bodyPr/>
                    <a:lstStyle/>
                    <a:p>
                      <a:pPr algn="ctr"/>
                      <a:r>
                        <a:rPr sz="1400" b="1">
                          <a:solidFill>
                            <a:srgbClr val="222222"/>
                          </a:solidFill>
                        </a:rPr>
                        <a:t>0.272</a:t>
                      </a:r>
                    </a:p>
                  </a:txBody>
                  <a:tcPr marL="54864" marR="54864" marT="18288" marB="18288">
                    <a:solidFill>
                      <a:srgbClr val="E6F4EA"/>
                    </a:solidFill>
                  </a:tcPr>
                </a:tc>
                <a:tc>
                  <a:txBody>
                    <a:bodyPr/>
                    <a:lstStyle/>
                    <a:p>
                      <a:pPr algn="ctr"/>
                      <a:r>
                        <a:rPr sz="1400" b="1">
                          <a:solidFill>
                            <a:srgbClr val="222222"/>
                          </a:solidFill>
                        </a:rPr>
                        <a:t>0.284</a:t>
                      </a:r>
                    </a:p>
                  </a:txBody>
                  <a:tcPr marL="54864" marR="54864" marT="18288" marB="18288">
                    <a:solidFill>
                      <a:srgbClr val="E6F4EA"/>
                    </a:solidFill>
                  </a:tcPr>
                </a:tc>
                <a:tc>
                  <a:txBody>
                    <a:bodyPr/>
                    <a:lstStyle/>
                    <a:p>
                      <a:pPr algn="ctr"/>
                      <a:r>
                        <a:rPr sz="1400" b="1">
                          <a:solidFill>
                            <a:srgbClr val="222222"/>
                          </a:solidFill>
                        </a:rPr>
                        <a:t>0.111</a:t>
                      </a:r>
                    </a:p>
                  </a:txBody>
                  <a:tcPr marL="54864" marR="54864" marT="18288" marB="18288">
                    <a:solidFill>
                      <a:srgbClr val="E6F4EA"/>
                    </a:solidFill>
                  </a:tcPr>
                </a:tc>
              </a:tr>
              <a:tr h="441960">
                <a:tc>
                  <a:txBody>
                    <a:bodyPr/>
                    <a:lstStyle/>
                    <a:p>
                      <a:r>
                        <a:rPr sz="1400" b="1">
                          <a:solidFill>
                            <a:srgbClr val="222222"/>
                          </a:solidFill>
                        </a:rPr>
                        <a:t>2</a:t>
                      </a:r>
                    </a:p>
                  </a:txBody>
                  <a:tcPr marL="54864" marR="54864" marT="18288" marB="18288">
                    <a:solidFill>
                      <a:srgbClr val="E6F4EA"/>
                    </a:solidFill>
                  </a:tcPr>
                </a:tc>
                <a:tc>
                  <a:txBody>
                    <a:bodyPr/>
                    <a:lstStyle/>
                    <a:p>
                      <a:pPr algn="ctr"/>
                      <a:r>
                        <a:rPr sz="1400" b="1">
                          <a:solidFill>
                            <a:srgbClr val="222222"/>
                          </a:solidFill>
                        </a:rPr>
                        <a:t>0.216</a:t>
                      </a:r>
                    </a:p>
                  </a:txBody>
                  <a:tcPr marL="54864" marR="54864" marT="18288" marB="18288">
                    <a:solidFill>
                      <a:srgbClr val="E6F4EA"/>
                    </a:solidFill>
                  </a:tcPr>
                </a:tc>
                <a:tc>
                  <a:txBody>
                    <a:bodyPr/>
                    <a:lstStyle/>
                    <a:p>
                      <a:pPr algn="ctr"/>
                      <a:r>
                        <a:rPr sz="1400" b="1">
                          <a:solidFill>
                            <a:srgbClr val="222222"/>
                          </a:solidFill>
                        </a:rPr>
                        <a:t>0.212</a:t>
                      </a:r>
                    </a:p>
                  </a:txBody>
                  <a:tcPr marL="54864" marR="54864" marT="18288" marB="18288">
                    <a:solidFill>
                      <a:srgbClr val="E6F4EA"/>
                    </a:solidFill>
                  </a:tcPr>
                </a:tc>
                <a:tc>
                  <a:txBody>
                    <a:bodyPr/>
                    <a:lstStyle/>
                    <a:p>
                      <a:pPr algn="ctr"/>
                      <a:r>
                        <a:rPr sz="1400" b="1">
                          <a:solidFill>
                            <a:srgbClr val="222222"/>
                          </a:solidFill>
                        </a:rPr>
                        <a:t>0.272</a:t>
                      </a:r>
                    </a:p>
                  </a:txBody>
                  <a:tcPr marL="54864" marR="54864" marT="18288" marB="18288">
                    <a:solidFill>
                      <a:srgbClr val="E6F4EA"/>
                    </a:solidFill>
                  </a:tcPr>
                </a:tc>
                <a:tc>
                  <a:txBody>
                    <a:bodyPr/>
                    <a:lstStyle/>
                    <a:p>
                      <a:pPr algn="ctr"/>
                      <a:r>
                        <a:rPr sz="1400" b="1">
                          <a:solidFill>
                            <a:srgbClr val="222222"/>
                          </a:solidFill>
                        </a:rPr>
                        <a:t>0.111</a:t>
                      </a:r>
                    </a:p>
                  </a:txBody>
                  <a:tcPr marL="54864" marR="54864" marT="18288" marB="18288">
                    <a:solidFill>
                      <a:srgbClr val="E6F4EA"/>
                    </a:solidFill>
                  </a:tcPr>
                </a:tc>
              </a:tr>
              <a:tr h="441960">
                <a:tc>
                  <a:txBody>
                    <a:bodyPr/>
                    <a:lstStyle/>
                    <a:p>
                      <a:r>
                        <a:rPr sz="1400" b="1">
                          <a:solidFill>
                            <a:srgbClr val="222222"/>
                          </a:solidFill>
                        </a:rPr>
                        <a:t>3</a:t>
                      </a:r>
                    </a:p>
                  </a:txBody>
                  <a:tcPr marL="54864" marR="54864" marT="18288" marB="18288">
                    <a:solidFill>
                      <a:srgbClr val="E6F4EA"/>
                    </a:solidFill>
                  </a:tcPr>
                </a:tc>
                <a:tc>
                  <a:txBody>
                    <a:bodyPr/>
                    <a:lstStyle/>
                    <a:p>
                      <a:pPr algn="ctr"/>
                      <a:r>
                        <a:rPr sz="1400" b="1">
                          <a:solidFill>
                            <a:srgbClr val="222222"/>
                          </a:solidFill>
                        </a:rPr>
                        <a:t>0.176</a:t>
                      </a:r>
                    </a:p>
                  </a:txBody>
                  <a:tcPr marL="54864" marR="54864" marT="18288" marB="18288">
                    <a:solidFill>
                      <a:srgbClr val="E6F4EA"/>
                    </a:solidFill>
                  </a:tcPr>
                </a:tc>
                <a:tc>
                  <a:txBody>
                    <a:bodyPr/>
                    <a:lstStyle/>
                    <a:p>
                      <a:pPr algn="ctr"/>
                      <a:r>
                        <a:rPr sz="1400" b="1">
                          <a:solidFill>
                            <a:srgbClr val="222222"/>
                          </a:solidFill>
                        </a:rPr>
                        <a:t>0.173</a:t>
                      </a:r>
                    </a:p>
                  </a:txBody>
                  <a:tcPr marL="54864" marR="54864" marT="18288" marB="18288">
                    <a:solidFill>
                      <a:srgbClr val="E6F4EA"/>
                    </a:solidFill>
                  </a:tcPr>
                </a:tc>
                <a:tc>
                  <a:txBody>
                    <a:bodyPr/>
                    <a:lstStyle/>
                    <a:p>
                      <a:pPr algn="ctr"/>
                      <a:r>
                        <a:rPr sz="1400" b="1">
                          <a:solidFill>
                            <a:srgbClr val="222222"/>
                          </a:solidFill>
                        </a:rPr>
                        <a:t>0.250</a:t>
                      </a:r>
                    </a:p>
                  </a:txBody>
                  <a:tcPr marL="54864" marR="54864" marT="18288" marB="18288">
                    <a:solidFill>
                      <a:srgbClr val="E6F4EA"/>
                    </a:solidFill>
                  </a:tcPr>
                </a:tc>
                <a:tc>
                  <a:txBody>
                    <a:bodyPr/>
                    <a:lstStyle/>
                    <a:p>
                      <a:pPr algn="ctr"/>
                      <a:r>
                        <a:rPr sz="1400" b="1">
                          <a:solidFill>
                            <a:srgbClr val="222222"/>
                          </a:solidFill>
                        </a:rPr>
                        <a:t>0.111</a:t>
                      </a:r>
                    </a:p>
                  </a:txBody>
                  <a:tcPr marL="54864" marR="54864" marT="18288" marB="18288">
                    <a:solidFill>
                      <a:srgbClr val="E6F4EA"/>
                    </a:solidFill>
                  </a:tcPr>
                </a:tc>
              </a:tr>
              <a:tr h="441960">
                <a:tc>
                  <a:txBody>
                    <a:bodyPr/>
                    <a:lstStyle/>
                    <a:p>
                      <a:r>
                        <a:rPr sz="1400" b="1">
                          <a:solidFill>
                            <a:srgbClr val="222222"/>
                          </a:solidFill>
                        </a:rPr>
                        <a:t>5</a:t>
                      </a:r>
                    </a:p>
                  </a:txBody>
                  <a:tcPr marL="54864" marR="54864" marT="18288" marB="18288">
                    <a:solidFill>
                      <a:srgbClr val="E6F4EA"/>
                    </a:solidFill>
                  </a:tcPr>
                </a:tc>
                <a:tc>
                  <a:txBody>
                    <a:bodyPr/>
                    <a:lstStyle/>
                    <a:p>
                      <a:pPr algn="ctr"/>
                      <a:r>
                        <a:rPr sz="1400" b="1">
                          <a:solidFill>
                            <a:srgbClr val="222222"/>
                          </a:solidFill>
                        </a:rPr>
                        <a:t>0.131</a:t>
                      </a:r>
                    </a:p>
                  </a:txBody>
                  <a:tcPr marL="54864" marR="54864" marT="18288" marB="18288">
                    <a:solidFill>
                      <a:srgbClr val="E6F4EA"/>
                    </a:solidFill>
                  </a:tcPr>
                </a:tc>
                <a:tc>
                  <a:txBody>
                    <a:bodyPr/>
                    <a:lstStyle/>
                    <a:p>
                      <a:pPr algn="ctr"/>
                      <a:r>
                        <a:rPr sz="1400" b="1">
                          <a:solidFill>
                            <a:srgbClr val="222222"/>
                          </a:solidFill>
                        </a:rPr>
                        <a:t>0.130</a:t>
                      </a:r>
                    </a:p>
                  </a:txBody>
                  <a:tcPr marL="54864" marR="54864" marT="18288" marB="18288">
                    <a:solidFill>
                      <a:srgbClr val="E6F4EA"/>
                    </a:solidFill>
                  </a:tcPr>
                </a:tc>
                <a:tc>
                  <a:txBody>
                    <a:bodyPr/>
                    <a:lstStyle/>
                    <a:p>
                      <a:pPr algn="ctr"/>
                      <a:r>
                        <a:rPr sz="1400" b="1">
                          <a:solidFill>
                            <a:srgbClr val="222222"/>
                          </a:solidFill>
                        </a:rPr>
                        <a:t>0.212</a:t>
                      </a:r>
                    </a:p>
                  </a:txBody>
                  <a:tcPr marL="54864" marR="54864" marT="18288" marB="18288">
                    <a:solidFill>
                      <a:srgbClr val="E6F4EA"/>
                    </a:solidFill>
                  </a:tcPr>
                </a:tc>
                <a:tc>
                  <a:txBody>
                    <a:bodyPr/>
                    <a:lstStyle/>
                    <a:p>
                      <a:pPr algn="ctr"/>
                      <a:r>
                        <a:rPr sz="1400" b="1">
                          <a:solidFill>
                            <a:srgbClr val="222222"/>
                          </a:solidFill>
                        </a:rPr>
                        <a:t>0.111</a:t>
                      </a:r>
                    </a:p>
                  </a:txBody>
                  <a:tcPr marL="54864" marR="54864" marT="18288" marB="18288">
                    <a:solidFill>
                      <a:srgbClr val="E6F4EA"/>
                    </a:solidFill>
                  </a:tcPr>
                </a:tc>
              </a:tr>
              <a:tr h="441960">
                <a:tc>
                  <a:txBody>
                    <a:bodyPr/>
                    <a:lstStyle/>
                    <a:p>
                      <a:r>
                        <a:rPr sz="1400">
                          <a:solidFill>
                            <a:srgbClr val="222222"/>
                          </a:solidFill>
                        </a:rPr>
                        <a:t>10</a:t>
                      </a:r>
                    </a:p>
                  </a:txBody>
                  <a:tcPr marL="54864" marR="54864" marT="18288" marB="18288">
                    <a:solidFill>
                      <a:srgbClr val="F4F7FA"/>
                    </a:solidFill>
                  </a:tcPr>
                </a:tc>
                <a:tc>
                  <a:txBody>
                    <a:bodyPr/>
                    <a:lstStyle/>
                    <a:p>
                      <a:pPr algn="ctr"/>
                      <a:r>
                        <a:rPr sz="1400">
                          <a:solidFill>
                            <a:srgbClr val="222222"/>
                          </a:solidFill>
                        </a:rPr>
                        <a:t>0.085</a:t>
                      </a:r>
                    </a:p>
                  </a:txBody>
                  <a:tcPr marL="54864" marR="54864" marT="18288" marB="18288">
                    <a:solidFill>
                      <a:srgbClr val="F4F7FA"/>
                    </a:solidFill>
                  </a:tcPr>
                </a:tc>
                <a:tc>
                  <a:txBody>
                    <a:bodyPr/>
                    <a:lstStyle/>
                    <a:p>
                      <a:pPr algn="ctr"/>
                      <a:r>
                        <a:rPr sz="1400">
                          <a:solidFill>
                            <a:srgbClr val="222222"/>
                          </a:solidFill>
                        </a:rPr>
                        <a:t>0.085</a:t>
                      </a:r>
                    </a:p>
                  </a:txBody>
                  <a:tcPr marL="54864" marR="54864" marT="18288" marB="18288">
                    <a:solidFill>
                      <a:srgbClr val="F4F7FA"/>
                    </a:solidFill>
                  </a:tcPr>
                </a:tc>
                <a:tc>
                  <a:txBody>
                    <a:bodyPr/>
                    <a:lstStyle/>
                    <a:p>
                      <a:pPr algn="ctr"/>
                      <a:r>
                        <a:rPr sz="1400">
                          <a:solidFill>
                            <a:srgbClr val="222222"/>
                          </a:solidFill>
                        </a:rPr>
                        <a:t>0.166</a:t>
                      </a:r>
                    </a:p>
                  </a:txBody>
                  <a:tcPr marL="54864" marR="54864" marT="18288" marB="18288">
                    <a:solidFill>
                      <a:srgbClr val="F4F7FA"/>
                    </a:solidFill>
                  </a:tcPr>
                </a:tc>
                <a:tc>
                  <a:txBody>
                    <a:bodyPr/>
                    <a:lstStyle/>
                    <a:p>
                      <a:pPr algn="ctr"/>
                      <a:r>
                        <a:rPr sz="1400">
                          <a:solidFill>
                            <a:srgbClr val="222222"/>
                          </a:solidFill>
                        </a:rPr>
                        <a:t>0.111</a:t>
                      </a:r>
                    </a:p>
                  </a:txBody>
                  <a:tcPr marL="54864" marR="54864" marT="18288" marB="18288">
                    <a:solidFill>
                      <a:srgbClr val="F4F7FA"/>
                    </a:solidFill>
                  </a:tcPr>
                </a:tc>
              </a:tr>
            </a:tbl>
          </a:graphicData>
        </a:graphic>
      </p:graphicFrame>
      <p:sp>
        <p:nvSpPr>
          <p:cNvPr id="4" name="TextBox 3"/>
          <p:cNvSpPr txBox="1"/>
          <p:nvPr/>
        </p:nvSpPr>
        <p:spPr>
          <a:xfrm>
            <a:off x="502920" y="4297680"/>
            <a:ext cx="11185855" cy="4297680"/>
          </a:xfrm>
          <a:prstGeom prst="rect">
            <a:avLst/>
          </a:prstGeom>
          <a:noFill/>
        </p:spPr>
        <p:txBody>
          <a:bodyPr wrap="square">
            <a:spAutoFit/>
          </a:bodyPr>
          <a:lstStyle/>
          <a:p>
            <a:pPr>
              <a:spcAft>
                <a:spcPts val="600"/>
              </a:spcAft>
            </a:pPr>
            <a:r>
              <a:rPr sz="1500">
                <a:solidFill>
                  <a:srgbClr val="1A1A1A"/>
                </a:solidFill>
              </a:rPr>
              <a:t>•  Semantic is best for n = 1-5; raw count overtakes it by n = 10 (crossover ~ n = 7).</a:t>
            </a:r>
          </a:p>
          <a:p>
            <a:pPr>
              <a:spcAft>
                <a:spcPts val="600"/>
              </a:spcAft>
            </a:pPr>
            <a:r>
              <a:rPr sz="1500">
                <a:solidFill>
                  <a:srgbClr val="1A1A1A"/>
                </a:solidFill>
              </a:rPr>
              <a:t>•  Stability STD: semantic 0.000 at every n; raw / cap / Beta-CDF 0.10-0.37.</a:t>
            </a:r>
          </a:p>
          <a:p>
            <a:pPr>
              <a:spcAft>
                <a:spcPts val="600"/>
              </a:spcAft>
            </a:pPr>
            <a:r>
              <a:rPr sz="1500">
                <a:solidFill>
                  <a:srgbClr val="1A1A1A"/>
                </a:solidFill>
              </a:rPr>
              <a:t>•  Cross-entropy at n=1 (lower better): raw 3.92, cap 2.39, Beta-CDF 3.92, semantic 0.58 — same story, sharper.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So... is this better than Zhang?  (the honest answer)</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Yes — exactly where it matters most. In the ultra-sparse regime (n &lt;= 5, where Zhang's fragile 0.95-type cells live), semantic is significantly more accurate and far more stable than raw count, the 0.95-cap, and Beta-CDF.</a:t>
            </a:r>
          </a:p>
          <a:p>
            <a:pPr>
              <a:spcAft>
                <a:spcPts val="600"/>
              </a:spcAft>
            </a:pPr>
            <a:r>
              <a:rPr sz="1800">
                <a:solidFill>
                  <a:srgbClr val="1A1A1A"/>
                </a:solidFill>
              </a:rPr>
              <a:t>•  It is a strict, clean replacement for Zhang's Beta-CDF smoother — better on every metric, at every n, AND under the strict leave-one-out check.</a:t>
            </a:r>
          </a:p>
          <a:p>
            <a:pPr>
              <a:spcAft>
                <a:spcPts val="600"/>
              </a:spcAft>
            </a:pPr>
            <a:r>
              <a:rPr sz="1800">
                <a:solidFill>
                  <a:srgbClr val="1A1A1A"/>
                </a:solidFill>
              </a:rPr>
              <a:t>•  Honest caveat (must say this): semantic does NOT beat a plain raw count at ~10+ observations, and in strict held-out (LOO) prediction it LOSES to raw count:</a:t>
            </a:r>
          </a:p>
          <a:p>
            <a:pPr lvl="1">
              <a:spcAft>
                <a:spcPts val="600"/>
              </a:spcAft>
            </a:pPr>
            <a:r>
              <a:rPr sz="1600">
                <a:solidFill>
                  <a:srgbClr val="444444"/>
                </a:solidFill>
              </a:rPr>
              <a:t>–  LOO Brier (lower better): raw/cap 0.148 &lt; semantic 0.167 &lt; Beta-CDF 0.171.</a:t>
            </a:r>
          </a:p>
          <a:p>
            <a:pPr>
              <a:spcAft>
                <a:spcPts val="600"/>
              </a:spcAft>
            </a:pPr>
            <a:r>
              <a:rPr sz="1800">
                <a:solidFill>
                  <a:srgbClr val="1A1A1A"/>
                </a:solidFill>
              </a:rPr>
              <a:t>•  Scientifically honest framing -&gt; a HYBRID: semantic smoothing for sparse cells, plain counting for dense cells. The natural next step / future work.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11880"/>
            <a:ext cx="3840480" cy="6400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728655" cy="2743200"/>
          </a:xfrm>
          <a:prstGeom prst="rect">
            <a:avLst/>
          </a:prstGeom>
          <a:noFill/>
        </p:spPr>
        <p:txBody>
          <a:bodyPr wrap="square">
            <a:spAutoFit/>
          </a:bodyPr>
          <a:lstStyle/>
          <a:p>
            <a:r>
              <a:rPr sz="4000" b="1">
                <a:solidFill>
                  <a:srgbClr val="FFFFFF"/>
                </a:solidFill>
              </a:rPr>
              <a:t>Part 3: Does the narrative method actually work?</a:t>
            </a:r>
          </a:p>
          <a:p>
            <a:pPr>
              <a:spcBef>
                <a:spcPts val="1600"/>
              </a:spcBef>
            </a:pPr>
            <a:r>
              <a:rPr sz="1800">
                <a:solidFill>
                  <a:srgbClr val="CFDDEE"/>
                </a:solidFill>
              </a:rPr>
              <a:t>Validating &amp; hardening diagnosis — conditioning, calibration, gating, robustness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Part 3: Does the narrative method actually work?</a:t>
            </a:r>
          </a:p>
          <a:p>
            <a:r>
              <a:rPr sz="1500">
                <a:solidFill>
                  <a:srgbClr val="CFDDEE"/>
                </a:solidFill>
              </a:rPr>
              <a:t>The open item ('validate query-conditioning') is now closed</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Part 1 = reproduction (counting -&gt; the population numbers). Part 2 = a better estimator for sparse cells.</a:t>
            </a:r>
          </a:p>
          <a:p>
            <a:pPr>
              <a:spcAft>
                <a:spcPts val="600"/>
              </a:spcAft>
            </a:pPr>
            <a:r>
              <a:rPr sz="1800">
                <a:solidFill>
                  <a:srgbClr val="1A1A1A"/>
                </a:solidFill>
              </a:rPr>
              <a:t>•  Part 3 = the narrative engine's OWN unique value: per-incident query-conditioning.</a:t>
            </a:r>
          </a:p>
          <a:p>
            <a:pPr>
              <a:spcAft>
                <a:spcPts val="600"/>
              </a:spcAft>
            </a:pPr>
            <a:r>
              <a:rPr sz="1800">
                <a:solidFill>
                  <a:srgbClr val="1A1A1A"/>
                </a:solidFill>
              </a:rPr>
              <a:t>•  The whole question: does using THIS incident's story sharpen the cause estimate beyond just using overall frequencies?</a:t>
            </a:r>
          </a:p>
          <a:p>
            <a:pPr>
              <a:spcAft>
                <a:spcPts val="600"/>
              </a:spcAft>
            </a:pPr>
            <a:r>
              <a:rPr sz="1800">
                <a:solidFill>
                  <a:srgbClr val="1A1A1A"/>
                </a:solidFill>
              </a:rPr>
              <a:t>•  Four things we now validated, in order:</a:t>
            </a:r>
          </a:p>
          <a:p>
            <a:pPr lvl="1">
              <a:spcAft>
                <a:spcPts val="600"/>
              </a:spcAft>
            </a:pPr>
            <a:r>
              <a:rPr sz="1600">
                <a:solidFill>
                  <a:srgbClr val="444444"/>
                </a:solidFill>
              </a:rPr>
              <a:t>–  (1) conditioning works (the headline)  (2) the probabilities are calibrated  (3) a safety gate  (4) robustness to rough real queries.</a:t>
            </a:r>
          </a:p>
          <a:p>
            <a:pPr>
              <a:spcAft>
                <a:spcPts val="600"/>
              </a:spcAft>
            </a:pPr>
            <a:r>
              <a:rPr sz="1800">
                <a:solidFill>
                  <a:srgbClr val="1A1A1A"/>
                </a:solidFill>
              </a:rPr>
              <a:t>•  Honest framing up front: the win is in the LIFT over the baseline, NOT a high absolute accuracy. Absolute top-1 stays a modest ~47%.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First, the vocabulary: conditioning, the prior, LOO, leakage</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Query-conditioning = use the incident's OWN narrative to sharpen the cause estimate, instead of just reading off the overall frequencies.</a:t>
            </a:r>
          </a:p>
          <a:p>
            <a:pPr lvl="1">
              <a:spcAft>
                <a:spcPts val="600"/>
              </a:spcAft>
            </a:pPr>
            <a:r>
              <a:rPr sz="1600">
                <a:solidFill>
                  <a:srgbClr val="444444"/>
                </a:solidFill>
              </a:rPr>
              <a:t>–  'This story looks like THESE past cases -&gt; so THIS cause is likely.'</a:t>
            </a:r>
          </a:p>
          <a:p>
            <a:pPr>
              <a:spcAft>
                <a:spcPts val="600"/>
              </a:spcAft>
            </a:pPr>
            <a:r>
              <a:rPr sz="1800">
                <a:solidFill>
                  <a:srgbClr val="1A1A1A"/>
                </a:solidFill>
              </a:rPr>
              <a:t>•  The prior / 'unconditioned' baseline = P(cause | outcome) over ALL incidents — 'ignore the story, name whatever cause is most common'. Beating it proves the narrative ADDS information.</a:t>
            </a:r>
          </a:p>
          <a:p>
            <a:pPr>
              <a:spcAft>
                <a:spcPts val="600"/>
              </a:spcAft>
            </a:pPr>
            <a:r>
              <a:rPr sz="1800">
                <a:solidFill>
                  <a:srgbClr val="1A1A1A"/>
                </a:solidFill>
              </a:rPr>
              <a:t>•  Leave-one-out (LOO) = a fair held-out test: predict EACH incident using all the OTHERS, never itself.</a:t>
            </a:r>
          </a:p>
          <a:p>
            <a:pPr>
              <a:spcAft>
                <a:spcPts val="600"/>
              </a:spcAft>
            </a:pPr>
            <a:r>
              <a:rPr sz="1800">
                <a:solidFill>
                  <a:srgbClr val="1A1A1A"/>
                </a:solidFill>
              </a:rPr>
              <a:t>•  Leakage control = some NTSB narratives literally STATE the cause; conditioning on those is cheating. So we split A = factual story (clean) vs B = cause-prose (leaky) and check the honest A still wins.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How we tested it: leakage-controlled leave-one-out (design)</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Scale: LOO over n = 1,283 factual incidents (every factual narrative with a real Zhang-edge cause); self always excluded.</a:t>
            </a:r>
          </a:p>
          <a:p>
            <a:pPr>
              <a:spcAft>
                <a:spcPts val="600"/>
              </a:spcAft>
            </a:pPr>
            <a:r>
              <a:rPr sz="1800">
                <a:solidFill>
                  <a:srgbClr val="1A1A1A"/>
                </a:solidFill>
              </a:rPr>
              <a:t>•  CONDITIONED = embed the incident's narrative -&gt; retrieve its most semantically similar incidents -&gt; P(cause | outcome, those neighbours).</a:t>
            </a:r>
          </a:p>
          <a:p>
            <a:pPr>
              <a:spcAft>
                <a:spcPts val="600"/>
              </a:spcAft>
            </a:pPr>
            <a:r>
              <a:rPr sz="1800">
                <a:solidFill>
                  <a:srgbClr val="1A1A1A"/>
                </a:solidFill>
              </a:rPr>
              <a:t>•  UNCONDITIONED (the prior) = the SAME pipeline with the narrative removed -&gt; P(cause | outcome) over all incidents.</a:t>
            </a:r>
          </a:p>
          <a:p>
            <a:pPr>
              <a:spcAft>
                <a:spcPts val="600"/>
              </a:spcAft>
            </a:pPr>
            <a:r>
              <a:rPr sz="1800">
                <a:solidFill>
                  <a:srgbClr val="1A1A1A"/>
                </a:solidFill>
              </a:rPr>
              <a:t>•  RANDOM-pool control = P(cause | outcome) over a random pool of the SAME SIZE as the conditioned neighbourhood.</a:t>
            </a:r>
          </a:p>
          <a:p>
            <a:pPr lvl="1">
              <a:spcAft>
                <a:spcPts val="600"/>
              </a:spcAft>
            </a:pPr>
            <a:r>
              <a:rPr sz="1600">
                <a:solidFill>
                  <a:srgbClr val="444444"/>
                </a:solidFill>
              </a:rPr>
              <a:t>–  The conditioned pool is smaller -&gt; mass concentrates mechanically. Random has the same concentration but no narrative -&gt; cond - random isolates the real signal.</a:t>
            </a:r>
          </a:p>
          <a:p>
            <a:pPr>
              <a:spcAft>
                <a:spcPts val="600"/>
              </a:spcAft>
            </a:pPr>
            <a:r>
              <a:rPr sz="1800">
                <a:solidFill>
                  <a:srgbClr val="1A1A1A"/>
                </a:solidFill>
              </a:rPr>
              <a:t>•  Stats: paired per-incident difference, Wilcoxon signed-rank + bootstrap 95% CIs.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Results: conditioning vs the prior vs a random pool</a:t>
            </a:r>
          </a:p>
          <a:p>
            <a:r>
              <a:rPr sz="1500">
                <a:solidFill>
                  <a:srgbClr val="CFDDEE"/>
                </a:solidFill>
              </a:rPr>
              <a:t>cond / unc / rand — specific-cause space; lifts are paired means</a:t>
            </a:r>
          </a:p>
        </p:txBody>
      </p:sp>
      <p:graphicFrame>
        <p:nvGraphicFramePr>
          <p:cNvPr id="3" name="Table 2"/>
          <p:cNvGraphicFramePr>
            <a:graphicFrameLocks noGrp="1"/>
          </p:cNvGraphicFramePr>
          <p:nvPr/>
        </p:nvGraphicFramePr>
        <p:xfrm>
          <a:off x="411480" y="1371600"/>
          <a:ext cx="11384280" cy="2377440"/>
        </p:xfrm>
        <a:graphic>
          <a:graphicData uri="http://schemas.openxmlformats.org/drawingml/2006/table">
            <a:tbl>
              <a:tblPr firstRow="1" bandRow="1">
                <a:tableStyleId>{5C22544A-7EE6-4342-B048-85BDC9FD1C3A}</a:tableStyleId>
              </a:tblPr>
              <a:tblGrid>
                <a:gridCol w="2468880"/>
                <a:gridCol w="731520"/>
                <a:gridCol w="2423160"/>
                <a:gridCol w="2651760"/>
                <a:gridCol w="1554480"/>
                <a:gridCol w="1554480"/>
              </a:tblGrid>
              <a:tr h="475488">
                <a:tc>
                  <a:txBody>
                    <a:bodyPr/>
                    <a:lstStyle/>
                    <a:p>
                      <a:r>
                        <a:rPr sz="1200" b="1">
                          <a:solidFill>
                            <a:srgbClr val="FFFFFF"/>
                          </a:solidFill>
                        </a:rPr>
                        <a:t>Stratum (specific)</a:t>
                      </a:r>
                    </a:p>
                  </a:txBody>
                  <a:tcPr marL="54864" marR="54864" marT="18288" marB="18288">
                    <a:solidFill>
                      <a:srgbClr val="1F6FB2"/>
                    </a:solidFill>
                  </a:tcPr>
                </a:tc>
                <a:tc>
                  <a:txBody>
                    <a:bodyPr/>
                    <a:lstStyle/>
                    <a:p>
                      <a:pPr algn="ctr"/>
                      <a:r>
                        <a:rPr sz="1200" b="1">
                          <a:solidFill>
                            <a:srgbClr val="FFFFFF"/>
                          </a:solidFill>
                        </a:rPr>
                        <a:t>n</a:t>
                      </a:r>
                    </a:p>
                  </a:txBody>
                  <a:tcPr marL="54864" marR="54864" marT="18288" marB="18288">
                    <a:solidFill>
                      <a:srgbClr val="1F6FB2"/>
                    </a:solidFill>
                  </a:tcPr>
                </a:tc>
                <a:tc>
                  <a:txBody>
                    <a:bodyPr/>
                    <a:lstStyle/>
                    <a:p>
                      <a:pPr algn="ctr"/>
                      <a:r>
                        <a:rPr sz="1200" b="1">
                          <a:solidFill>
                            <a:srgbClr val="FFFFFF"/>
                          </a:solidFill>
                        </a:rPr>
                        <a:t>top-1 (c/u/r)</a:t>
                      </a:r>
                    </a:p>
                  </a:txBody>
                  <a:tcPr marL="54864" marR="54864" marT="18288" marB="18288">
                    <a:solidFill>
                      <a:srgbClr val="1F6FB2"/>
                    </a:solidFill>
                  </a:tcPr>
                </a:tc>
                <a:tc>
                  <a:txBody>
                    <a:bodyPr/>
                    <a:lstStyle/>
                    <a:p>
                      <a:pPr algn="ctr"/>
                      <a:r>
                        <a:rPr sz="1200" b="1">
                          <a:solidFill>
                            <a:srgbClr val="FFFFFF"/>
                          </a:solidFill>
                        </a:rPr>
                        <a:t>MRR (c/u/r)</a:t>
                      </a:r>
                    </a:p>
                  </a:txBody>
                  <a:tcPr marL="54864" marR="54864" marT="18288" marB="18288">
                    <a:solidFill>
                      <a:srgbClr val="1F6FB2"/>
                    </a:solidFill>
                  </a:tcPr>
                </a:tc>
                <a:tc>
                  <a:txBody>
                    <a:bodyPr/>
                    <a:lstStyle/>
                    <a:p>
                      <a:pPr algn="ctr"/>
                      <a:r>
                        <a:rPr sz="1200" b="1">
                          <a:solidFill>
                            <a:srgbClr val="FFFFFF"/>
                          </a:solidFill>
                        </a:rPr>
                        <a:t>MRR lift
vs prior</a:t>
                      </a:r>
                    </a:p>
                  </a:txBody>
                  <a:tcPr marL="54864" marR="54864" marT="18288" marB="18288">
                    <a:solidFill>
                      <a:srgbClr val="1F6FB2"/>
                    </a:solidFill>
                  </a:tcPr>
                </a:tc>
                <a:tc>
                  <a:txBody>
                    <a:bodyPr/>
                    <a:lstStyle/>
                    <a:p>
                      <a:pPr algn="ctr"/>
                      <a:r>
                        <a:rPr sz="1200" b="1">
                          <a:solidFill>
                            <a:srgbClr val="FFFFFF"/>
                          </a:solidFill>
                        </a:rPr>
                        <a:t>MRR lift
vs random</a:t>
                      </a:r>
                    </a:p>
                  </a:txBody>
                  <a:tcPr marL="54864" marR="54864" marT="18288" marB="18288">
                    <a:solidFill>
                      <a:srgbClr val="1F6FB2"/>
                    </a:solidFill>
                  </a:tcPr>
                </a:tc>
              </a:tr>
              <a:tr h="475488">
                <a:tc>
                  <a:txBody>
                    <a:bodyPr/>
                    <a:lstStyle/>
                    <a:p>
                      <a:r>
                        <a:rPr sz="1200" b="1">
                          <a:solidFill>
                            <a:srgbClr val="222222"/>
                          </a:solidFill>
                        </a:rPr>
                        <a:t>A-clean (leakage-free)</a:t>
                      </a:r>
                    </a:p>
                  </a:txBody>
                  <a:tcPr marL="54864" marR="54864" marT="18288" marB="18288">
                    <a:solidFill>
                      <a:srgbClr val="E6F4EA"/>
                    </a:solidFill>
                  </a:tcPr>
                </a:tc>
                <a:tc>
                  <a:txBody>
                    <a:bodyPr/>
                    <a:lstStyle/>
                    <a:p>
                      <a:pPr algn="ctr"/>
                      <a:r>
                        <a:rPr sz="1200" b="1">
                          <a:solidFill>
                            <a:srgbClr val="222222"/>
                          </a:solidFill>
                        </a:rPr>
                        <a:t>1085</a:t>
                      </a:r>
                    </a:p>
                  </a:txBody>
                  <a:tcPr marL="54864" marR="54864" marT="18288" marB="18288">
                    <a:solidFill>
                      <a:srgbClr val="E6F4EA"/>
                    </a:solidFill>
                  </a:tcPr>
                </a:tc>
                <a:tc>
                  <a:txBody>
                    <a:bodyPr/>
                    <a:lstStyle/>
                    <a:p>
                      <a:pPr algn="ctr"/>
                      <a:r>
                        <a:rPr sz="1200" b="1">
                          <a:solidFill>
                            <a:srgbClr val="222222"/>
                          </a:solidFill>
                        </a:rPr>
                        <a:t>47.4/42.2/38.9</a:t>
                      </a:r>
                    </a:p>
                  </a:txBody>
                  <a:tcPr marL="54864" marR="54864" marT="18288" marB="18288">
                    <a:solidFill>
                      <a:srgbClr val="E6F4EA"/>
                    </a:solidFill>
                  </a:tcPr>
                </a:tc>
                <a:tc>
                  <a:txBody>
                    <a:bodyPr/>
                    <a:lstStyle/>
                    <a:p>
                      <a:pPr algn="ctr"/>
                      <a:r>
                        <a:rPr sz="1200" b="1">
                          <a:solidFill>
                            <a:srgbClr val="222222"/>
                          </a:solidFill>
                        </a:rPr>
                        <a:t>0.577/0.525/0.473</a:t>
                      </a:r>
                    </a:p>
                  </a:txBody>
                  <a:tcPr marL="54864" marR="54864" marT="18288" marB="18288">
                    <a:solidFill>
                      <a:srgbClr val="E6F4EA"/>
                    </a:solidFill>
                  </a:tcPr>
                </a:tc>
                <a:tc>
                  <a:txBody>
                    <a:bodyPr/>
                    <a:lstStyle/>
                    <a:p>
                      <a:pPr algn="ctr"/>
                      <a:r>
                        <a:rPr sz="1200" b="1">
                          <a:solidFill>
                            <a:srgbClr val="222222"/>
                          </a:solidFill>
                        </a:rPr>
                        <a:t>+0.052
(p~1e-11)</a:t>
                      </a:r>
                    </a:p>
                  </a:txBody>
                  <a:tcPr marL="54864" marR="54864" marT="18288" marB="18288">
                    <a:solidFill>
                      <a:srgbClr val="E6F4EA"/>
                    </a:solidFill>
                  </a:tcPr>
                </a:tc>
                <a:tc>
                  <a:txBody>
                    <a:bodyPr/>
                    <a:lstStyle/>
                    <a:p>
                      <a:pPr algn="ctr"/>
                      <a:r>
                        <a:rPr sz="1200" b="1">
                          <a:solidFill>
                            <a:srgbClr val="222222"/>
                          </a:solidFill>
                        </a:rPr>
                        <a:t>+0.103
(p~1e-29)</a:t>
                      </a:r>
                    </a:p>
                  </a:txBody>
                  <a:tcPr marL="54864" marR="54864" marT="18288" marB="18288">
                    <a:solidFill>
                      <a:srgbClr val="E6F4EA"/>
                    </a:solidFill>
                  </a:tcPr>
                </a:tc>
              </a:tr>
              <a:tr h="475488">
                <a:tc>
                  <a:txBody>
                    <a:bodyPr/>
                    <a:lstStyle/>
                    <a:p>
                      <a:r>
                        <a:rPr sz="1200">
                          <a:solidFill>
                            <a:srgbClr val="222222"/>
                          </a:solidFill>
                        </a:rPr>
                        <a:t>A-all (factual)</a:t>
                      </a:r>
                    </a:p>
                  </a:txBody>
                  <a:tcPr marL="54864" marR="54864" marT="18288" marB="18288">
                    <a:solidFill>
                      <a:srgbClr val="FFFFFF"/>
                    </a:solidFill>
                  </a:tcPr>
                </a:tc>
                <a:tc>
                  <a:txBody>
                    <a:bodyPr/>
                    <a:lstStyle/>
                    <a:p>
                      <a:pPr algn="ctr"/>
                      <a:r>
                        <a:rPr sz="1200">
                          <a:solidFill>
                            <a:srgbClr val="222222"/>
                          </a:solidFill>
                        </a:rPr>
                        <a:t>1254</a:t>
                      </a:r>
                    </a:p>
                  </a:txBody>
                  <a:tcPr marL="54864" marR="54864" marT="18288" marB="18288">
                    <a:solidFill>
                      <a:srgbClr val="FFFFFF"/>
                    </a:solidFill>
                  </a:tcPr>
                </a:tc>
                <a:tc>
                  <a:txBody>
                    <a:bodyPr/>
                    <a:lstStyle/>
                    <a:p>
                      <a:pPr algn="ctr"/>
                      <a:r>
                        <a:rPr sz="1200">
                          <a:solidFill>
                            <a:srgbClr val="222222"/>
                          </a:solidFill>
                        </a:rPr>
                        <a:t>46.9/40.9/38.0</a:t>
                      </a:r>
                    </a:p>
                  </a:txBody>
                  <a:tcPr marL="54864" marR="54864" marT="18288" marB="18288">
                    <a:solidFill>
                      <a:srgbClr val="FFFFFF"/>
                    </a:solidFill>
                  </a:tcPr>
                </a:tc>
                <a:tc>
                  <a:txBody>
                    <a:bodyPr/>
                    <a:lstStyle/>
                    <a:p>
                      <a:pPr algn="ctr"/>
                      <a:r>
                        <a:rPr sz="1200">
                          <a:solidFill>
                            <a:srgbClr val="222222"/>
                          </a:solidFill>
                        </a:rPr>
                        <a:t>0.570/0.511/0.463</a:t>
                      </a:r>
                    </a:p>
                  </a:txBody>
                  <a:tcPr marL="54864" marR="54864" marT="18288" marB="18288">
                    <a:solidFill>
                      <a:srgbClr val="FFFFFF"/>
                    </a:solidFill>
                  </a:tcPr>
                </a:tc>
                <a:tc>
                  <a:txBody>
                    <a:bodyPr/>
                    <a:lstStyle/>
                    <a:p>
                      <a:pPr algn="ctr"/>
                      <a:r>
                        <a:rPr sz="1200">
                          <a:solidFill>
                            <a:srgbClr val="222222"/>
                          </a:solidFill>
                        </a:rPr>
                        <a:t>+0.059</a:t>
                      </a:r>
                    </a:p>
                  </a:txBody>
                  <a:tcPr marL="54864" marR="54864" marT="18288" marB="18288">
                    <a:solidFill>
                      <a:srgbClr val="FFFFFF"/>
                    </a:solidFill>
                  </a:tcPr>
                </a:tc>
                <a:tc>
                  <a:txBody>
                    <a:bodyPr/>
                    <a:lstStyle/>
                    <a:p>
                      <a:pPr algn="ctr"/>
                      <a:r>
                        <a:rPr sz="1200">
                          <a:solidFill>
                            <a:srgbClr val="222222"/>
                          </a:solidFill>
                        </a:rPr>
                        <a:t>+0.108</a:t>
                      </a:r>
                    </a:p>
                  </a:txBody>
                  <a:tcPr marL="54864" marR="54864" marT="18288" marB="18288">
                    <a:solidFill>
                      <a:srgbClr val="FFFFFF"/>
                    </a:solidFill>
                  </a:tcPr>
                </a:tc>
              </a:tr>
              <a:tr h="475488">
                <a:tc>
                  <a:txBody>
                    <a:bodyPr/>
                    <a:lstStyle/>
                    <a:p>
                      <a:r>
                        <a:rPr sz="1200">
                          <a:solidFill>
                            <a:srgbClr val="222222"/>
                          </a:solidFill>
                        </a:rPr>
                        <a:t>A-leak (echoes cause)</a:t>
                      </a:r>
                    </a:p>
                  </a:txBody>
                  <a:tcPr marL="54864" marR="54864" marT="18288" marB="18288">
                    <a:solidFill>
                      <a:srgbClr val="F4F7FA"/>
                    </a:solidFill>
                  </a:tcPr>
                </a:tc>
                <a:tc>
                  <a:txBody>
                    <a:bodyPr/>
                    <a:lstStyle/>
                    <a:p>
                      <a:pPr algn="ctr"/>
                      <a:r>
                        <a:rPr sz="1200">
                          <a:solidFill>
                            <a:srgbClr val="222222"/>
                          </a:solidFill>
                        </a:rPr>
                        <a:t>169</a:t>
                      </a:r>
                    </a:p>
                  </a:txBody>
                  <a:tcPr marL="54864" marR="54864" marT="18288" marB="18288">
                    <a:solidFill>
                      <a:srgbClr val="F4F7FA"/>
                    </a:solidFill>
                  </a:tcPr>
                </a:tc>
                <a:tc>
                  <a:txBody>
                    <a:bodyPr/>
                    <a:lstStyle/>
                    <a:p>
                      <a:pPr algn="ctr"/>
                      <a:r>
                        <a:rPr sz="1200">
                          <a:solidFill>
                            <a:srgbClr val="222222"/>
                          </a:solidFill>
                        </a:rPr>
                        <a:t>43.8/32.5/32.5</a:t>
                      </a:r>
                    </a:p>
                  </a:txBody>
                  <a:tcPr marL="54864" marR="54864" marT="18288" marB="18288">
                    <a:solidFill>
                      <a:srgbClr val="F4F7FA"/>
                    </a:solidFill>
                  </a:tcPr>
                </a:tc>
                <a:tc>
                  <a:txBody>
                    <a:bodyPr/>
                    <a:lstStyle/>
                    <a:p>
                      <a:pPr algn="ctr"/>
                      <a:r>
                        <a:rPr sz="1200">
                          <a:solidFill>
                            <a:srgbClr val="222222"/>
                          </a:solidFill>
                        </a:rPr>
                        <a:t>0.529/0.423/0.394</a:t>
                      </a:r>
                    </a:p>
                  </a:txBody>
                  <a:tcPr marL="54864" marR="54864" marT="18288" marB="18288">
                    <a:solidFill>
                      <a:srgbClr val="F4F7FA"/>
                    </a:solidFill>
                  </a:tcPr>
                </a:tc>
                <a:tc>
                  <a:txBody>
                    <a:bodyPr/>
                    <a:lstStyle/>
                    <a:p>
                      <a:pPr algn="ctr"/>
                      <a:r>
                        <a:rPr sz="1200">
                          <a:solidFill>
                            <a:srgbClr val="222222"/>
                          </a:solidFill>
                        </a:rPr>
                        <a:t>+0.106</a:t>
                      </a:r>
                    </a:p>
                  </a:txBody>
                  <a:tcPr marL="54864" marR="54864" marT="18288" marB="18288">
                    <a:solidFill>
                      <a:srgbClr val="F4F7FA"/>
                    </a:solidFill>
                  </a:tcPr>
                </a:tc>
                <a:tc>
                  <a:txBody>
                    <a:bodyPr/>
                    <a:lstStyle/>
                    <a:p>
                      <a:pPr algn="ctr"/>
                      <a:r>
                        <a:rPr sz="1200">
                          <a:solidFill>
                            <a:srgbClr val="222222"/>
                          </a:solidFill>
                        </a:rPr>
                        <a:t>+0.135</a:t>
                      </a:r>
                    </a:p>
                  </a:txBody>
                  <a:tcPr marL="54864" marR="54864" marT="18288" marB="18288">
                    <a:solidFill>
                      <a:srgbClr val="F4F7FA"/>
                    </a:solidFill>
                  </a:tcPr>
                </a:tc>
              </a:tr>
              <a:tr h="475488">
                <a:tc>
                  <a:txBody>
                    <a:bodyPr/>
                    <a:lstStyle/>
                    <a:p>
                      <a:r>
                        <a:rPr sz="1200">
                          <a:solidFill>
                            <a:srgbClr val="222222"/>
                          </a:solidFill>
                        </a:rPr>
                        <a:t>B-cause-prose (leaky)</a:t>
                      </a:r>
                    </a:p>
                  </a:txBody>
                  <a:tcPr marL="54864" marR="54864" marT="18288" marB="18288">
                    <a:solidFill>
                      <a:srgbClr val="FFFFFF"/>
                    </a:solidFill>
                  </a:tcPr>
                </a:tc>
                <a:tc>
                  <a:txBody>
                    <a:bodyPr/>
                    <a:lstStyle/>
                    <a:p>
                      <a:pPr algn="ctr"/>
                      <a:r>
                        <a:rPr sz="1200">
                          <a:solidFill>
                            <a:srgbClr val="222222"/>
                          </a:solidFill>
                        </a:rPr>
                        <a:t>746</a:t>
                      </a:r>
                    </a:p>
                  </a:txBody>
                  <a:tcPr marL="54864" marR="54864" marT="18288" marB="18288">
                    <a:solidFill>
                      <a:srgbClr val="FFFFFF"/>
                    </a:solidFill>
                  </a:tcPr>
                </a:tc>
                <a:tc>
                  <a:txBody>
                    <a:bodyPr/>
                    <a:lstStyle/>
                    <a:p>
                      <a:pPr algn="ctr"/>
                      <a:r>
                        <a:rPr sz="1200">
                          <a:solidFill>
                            <a:srgbClr val="222222"/>
                          </a:solidFill>
                        </a:rPr>
                        <a:t>45.6/40.6/35.1</a:t>
                      </a:r>
                    </a:p>
                  </a:txBody>
                  <a:tcPr marL="54864" marR="54864" marT="18288" marB="18288">
                    <a:solidFill>
                      <a:srgbClr val="FFFFFF"/>
                    </a:solidFill>
                  </a:tcPr>
                </a:tc>
                <a:tc>
                  <a:txBody>
                    <a:bodyPr/>
                    <a:lstStyle/>
                    <a:p>
                      <a:pPr algn="ctr"/>
                      <a:r>
                        <a:rPr sz="1200">
                          <a:solidFill>
                            <a:srgbClr val="222222"/>
                          </a:solidFill>
                        </a:rPr>
                        <a:t>0.568/0.518/0.442</a:t>
                      </a:r>
                    </a:p>
                  </a:txBody>
                  <a:tcPr marL="54864" marR="54864" marT="18288" marB="18288">
                    <a:solidFill>
                      <a:srgbClr val="FFFFFF"/>
                    </a:solidFill>
                  </a:tcPr>
                </a:tc>
                <a:tc>
                  <a:txBody>
                    <a:bodyPr/>
                    <a:lstStyle/>
                    <a:p>
                      <a:pPr algn="ctr"/>
                      <a:r>
                        <a:rPr sz="1200">
                          <a:solidFill>
                            <a:srgbClr val="222222"/>
                          </a:solidFill>
                        </a:rPr>
                        <a:t>+0.050</a:t>
                      </a:r>
                    </a:p>
                  </a:txBody>
                  <a:tcPr marL="54864" marR="54864" marT="18288" marB="18288">
                    <a:solidFill>
                      <a:srgbClr val="FFFFFF"/>
                    </a:solidFill>
                  </a:tcPr>
                </a:tc>
                <a:tc>
                  <a:txBody>
                    <a:bodyPr/>
                    <a:lstStyle/>
                    <a:p>
                      <a:pPr algn="ctr"/>
                      <a:r>
                        <a:rPr sz="1200">
                          <a:solidFill>
                            <a:srgbClr val="222222"/>
                          </a:solidFill>
                        </a:rPr>
                        <a:t>+0.126</a:t>
                      </a:r>
                    </a:p>
                  </a:txBody>
                  <a:tcPr marL="54864" marR="54864" marT="18288" marB="18288">
                    <a:solidFill>
                      <a:srgbClr val="FFFFFF"/>
                    </a:solidFill>
                  </a:tcPr>
                </a:tc>
              </a:tr>
            </a:tbl>
          </a:graphicData>
        </a:graphic>
      </p:graphicFrame>
      <p:sp>
        <p:nvSpPr>
          <p:cNvPr id="4" name="TextBox 3"/>
          <p:cNvSpPr txBox="1"/>
          <p:nvPr/>
        </p:nvSpPr>
        <p:spPr>
          <a:xfrm>
            <a:off x="502920" y="4023360"/>
            <a:ext cx="11185855" cy="4297680"/>
          </a:xfrm>
          <a:prstGeom prst="rect">
            <a:avLst/>
          </a:prstGeom>
          <a:noFill/>
        </p:spPr>
        <p:txBody>
          <a:bodyPr wrap="square">
            <a:spAutoFit/>
          </a:bodyPr>
          <a:lstStyle/>
          <a:p>
            <a:pPr>
              <a:spcAft>
                <a:spcPts val="600"/>
              </a:spcAft>
            </a:pPr>
            <a:r>
              <a:rPr sz="1500">
                <a:solidFill>
                  <a:srgbClr val="1A1A1A"/>
                </a:solidFill>
              </a:rPr>
              <a:t>•  Headline (honest A-clean): conditioning beats the prior +5.2 pp top-1 / +0.052 MRR (p~1e-11), and beats a concentration-matched random pool +8.5 pp / +0.103 (p~1e-29).</a:t>
            </a:r>
          </a:p>
          <a:p>
            <a:pPr>
              <a:spcAft>
                <a:spcPts val="600"/>
              </a:spcAft>
            </a:pPr>
            <a:r>
              <a:rPr sz="1500">
                <a:solidFill>
                  <a:srgbClr val="1A1A1A"/>
                </a:solidFill>
              </a:rPr>
              <a:t>•  Every comparison is paired per incident with overwhelming significance — not a small-sample fluke.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The picture: conditioning lift over each baseline</a:t>
            </a:r>
          </a:p>
          <a:p>
            <a:r>
              <a:rPr sz="1500">
                <a:solidFill>
                  <a:srgbClr val="CFDDEE"/>
                </a:solidFill>
              </a:rPr>
              <a:t>Conditioned minus each baseline, per stratum — positive = the narrative helps</a:t>
            </a:r>
          </a:p>
        </p:txBody>
      </p:sp>
      <p:pic>
        <p:nvPicPr>
          <p:cNvPr id="3" name="Picture 2" descr="query_conditioning_validation.png"/>
          <p:cNvPicPr>
            <a:picLocks noChangeAspect="1"/>
          </p:cNvPicPr>
          <p:nvPr/>
        </p:nvPicPr>
        <p:blipFill>
          <a:blip r:embed="rId2"/>
          <a:stretch>
            <a:fillRect/>
          </a:stretch>
        </p:blipFill>
        <p:spPr>
          <a:xfrm>
            <a:off x="365760" y="1391920"/>
            <a:ext cx="7498079" cy="4165600"/>
          </a:xfrm>
          <a:prstGeom prst="rect">
            <a:avLst/>
          </a:prstGeom>
          <a:ln w="9525">
            <a:solidFill>
              <a:srgbClr val="BBC7D4"/>
            </a:solidFill>
          </a:ln>
        </p:spPr>
      </p:pic>
      <p:sp>
        <p:nvSpPr>
          <p:cNvPr id="4" name="TextBox 3"/>
          <p:cNvSpPr txBox="1"/>
          <p:nvPr/>
        </p:nvSpPr>
        <p:spPr>
          <a:xfrm>
            <a:off x="7955279" y="1371600"/>
            <a:ext cx="3931920" cy="4297680"/>
          </a:xfrm>
          <a:prstGeom prst="rect">
            <a:avLst/>
          </a:prstGeom>
          <a:noFill/>
        </p:spPr>
        <p:txBody>
          <a:bodyPr wrap="square">
            <a:spAutoFit/>
          </a:bodyPr>
          <a:lstStyle/>
          <a:p>
            <a:pPr>
              <a:spcAft>
                <a:spcPts val="600"/>
              </a:spcAft>
            </a:pPr>
            <a:r>
              <a:rPr sz="1300">
                <a:solidFill>
                  <a:srgbClr val="1A1A1A"/>
                </a:solidFill>
              </a:rPr>
              <a:t>•  'Lift' = the gap between conditioned and baseline — how much the narrative improves the guess. Positive bars = it helps.</a:t>
            </a:r>
          </a:p>
          <a:p>
            <a:pPr>
              <a:spcAft>
                <a:spcPts val="600"/>
              </a:spcAft>
            </a:pPr>
            <a:r>
              <a:rPr sz="1300">
                <a:solidFill>
                  <a:srgbClr val="1A1A1A"/>
                </a:solidFill>
              </a:rPr>
              <a:t>•  Why we lead with lift, NOT the 47%: absolute top-1 is capped by the data (NTSB coding is catch-all-dominated), so ~47% is a data ceiling, not a method failure.</a:t>
            </a:r>
          </a:p>
          <a:p>
            <a:pPr>
              <a:spcAft>
                <a:spcPts val="600"/>
              </a:spcAft>
            </a:pPr>
            <a:r>
              <a:rPr sz="1300">
                <a:solidFill>
                  <a:srgbClr val="1A1A1A"/>
                </a:solidFill>
              </a:rPr>
              <a:t>•  The scientific claim is the reliable improvement over the no-narrative baseline — large and significant.</a:t>
            </a:r>
          </a:p>
          <a:p>
            <a:pPr>
              <a:spcAft>
                <a:spcPts val="600"/>
              </a:spcAft>
            </a:pPr>
            <a:r>
              <a:rPr sz="1300">
                <a:solidFill>
                  <a:srgbClr val="1A1A1A"/>
                </a:solidFill>
              </a:rPr>
              <a:t>•  Both bars (vs prior, vs random) clearly positive in honest A-clean -&gt; the lift is real and not a concentration artefact.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Is it real, or is it leakage?  (the decisive check)</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The proof it's NOT leakage: the leaky ceiling B (+0.050 MRR) is NO bigger than the honest A-clean (+0.052 MRR).</a:t>
            </a:r>
          </a:p>
          <a:p>
            <a:pPr lvl="1">
              <a:spcAft>
                <a:spcPts val="600"/>
              </a:spcAft>
            </a:pPr>
            <a:r>
              <a:rPr sz="1600">
                <a:solidFill>
                  <a:srgbClr val="444444"/>
                </a:solidFill>
              </a:rPr>
              <a:t>–  If A were secretly leakage, B (which DOES contain the cause text) would dominate it. It doesn't -&gt; A is clean.</a:t>
            </a:r>
          </a:p>
          <a:p>
            <a:pPr>
              <a:spcAft>
                <a:spcPts val="600"/>
              </a:spcAft>
            </a:pPr>
            <a:r>
              <a:rPr sz="1800">
                <a:solidFill>
                  <a:srgbClr val="1A1A1A"/>
                </a:solidFill>
              </a:rPr>
              <a:t>•  A-leak confirms the detector works: factual narratives that DO echo the cause show the expected bigger lift (+0.106).</a:t>
            </a:r>
          </a:p>
          <a:p>
            <a:pPr>
              <a:spcAft>
                <a:spcPts val="600"/>
              </a:spcAft>
            </a:pPr>
            <a:r>
              <a:rPr sz="1800">
                <a:solidFill>
                  <a:srgbClr val="1A1A1A"/>
                </a:solidFill>
              </a:rPr>
              <a:t>•  Conditioning helps where it should, and only there: the win is on specific-mechanism causes.</a:t>
            </a:r>
          </a:p>
          <a:p>
            <a:pPr lvl="1">
              <a:spcAft>
                <a:spcPts val="600"/>
              </a:spcAft>
            </a:pPr>
            <a:r>
              <a:rPr sz="1600">
                <a:solidFill>
                  <a:srgbClr val="444444"/>
                </a:solidFill>
              </a:rPr>
              <a:t>–  On incidents whose only true cause is a generic catch-all (n=29), the frequency prior is already optimal, so conditioning LOSES (top-1 -20.7 pp) — the predicted pattern, not a bug.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Calibration: do the stated probabilities mean what they say?</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Calibration = when the method says '60% confident', it should be right about 60% of the time. A trustworthy tool needs honest probabilities, not just good ranks.</a:t>
            </a:r>
          </a:p>
          <a:p>
            <a:pPr>
              <a:spcAft>
                <a:spcPts val="600"/>
              </a:spcAft>
            </a:pPr>
            <a:r>
              <a:rPr sz="1800">
                <a:solidFill>
                  <a:srgbClr val="1A1A1A"/>
                </a:solidFill>
              </a:rPr>
              <a:t>•  ECE (expected calibration error) = the average gap between stated confidence and actual correctness, across bins. Lower = more honest (~0.06 = agree to ~6 pp).</a:t>
            </a:r>
          </a:p>
          <a:p>
            <a:pPr>
              <a:spcAft>
                <a:spcPts val="600"/>
              </a:spcAft>
            </a:pPr>
            <a:r>
              <a:rPr sz="1800">
                <a:solidFill>
                  <a:srgbClr val="1A1A1A"/>
                </a:solidFill>
              </a:rPr>
              <a:t>•  Brier score = an overall 'probability accuracy' score (squared error of confidence vs right/wrong). Lower = better.</a:t>
            </a:r>
          </a:p>
          <a:p>
            <a:pPr>
              <a:spcAft>
                <a:spcPts val="600"/>
              </a:spcAft>
            </a:pPr>
            <a:r>
              <a:rPr sz="1800">
                <a:solidFill>
                  <a:srgbClr val="1A1A1A"/>
                </a:solidFill>
              </a:rPr>
              <a:t>•  Temperature scaling = a single dial (T) that uniformly softens/sharpens ALL the probabilities to line confidence up with reality — one parameter, no per-bin fudging, so it can't overfit.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Calibration results: already honest, and a one-dial fix</a:t>
            </a:r>
          </a:p>
          <a:p>
            <a:r>
              <a:rPr sz="1500">
                <a:solidFill>
                  <a:srgbClr val="CFDDEE"/>
                </a:solidFill>
              </a:rPr>
              <a:t>A-clean, all-cause output (the number a user actually sees)</a:t>
            </a:r>
          </a:p>
        </p:txBody>
      </p:sp>
      <p:pic>
        <p:nvPicPr>
          <p:cNvPr id="3" name="Picture 2" descr="calibration.png"/>
          <p:cNvPicPr>
            <a:picLocks noChangeAspect="1"/>
          </p:cNvPicPr>
          <p:nvPr/>
        </p:nvPicPr>
        <p:blipFill>
          <a:blip r:embed="rId2"/>
          <a:stretch>
            <a:fillRect/>
          </a:stretch>
        </p:blipFill>
        <p:spPr>
          <a:xfrm>
            <a:off x="365760" y="2225040"/>
            <a:ext cx="7498079" cy="2499359"/>
          </a:xfrm>
          <a:prstGeom prst="rect">
            <a:avLst/>
          </a:prstGeom>
          <a:ln w="9525">
            <a:solidFill>
              <a:srgbClr val="BBC7D4"/>
            </a:solidFill>
          </a:ln>
        </p:spPr>
      </p:pic>
      <p:sp>
        <p:nvSpPr>
          <p:cNvPr id="4" name="TextBox 3"/>
          <p:cNvSpPr txBox="1"/>
          <p:nvPr/>
        </p:nvSpPr>
        <p:spPr>
          <a:xfrm>
            <a:off x="7955279" y="1371600"/>
            <a:ext cx="3931920" cy="4297680"/>
          </a:xfrm>
          <a:prstGeom prst="rect">
            <a:avLst/>
          </a:prstGeom>
          <a:noFill/>
        </p:spPr>
        <p:txBody>
          <a:bodyPr wrap="square">
            <a:spAutoFit/>
          </a:bodyPr>
          <a:lstStyle/>
          <a:p>
            <a:pPr>
              <a:spcAft>
                <a:spcPts val="600"/>
              </a:spcAft>
            </a:pPr>
            <a:r>
              <a:rPr sz="1300">
                <a:solidFill>
                  <a:srgbClr val="1A1A1A"/>
                </a:solidFill>
              </a:rPr>
              <a:t>•  The conditioned method is already fairly calibrated: ECE ~ 0.059, with only a mild over-confidence (states ~0.52, right ~0.49).</a:t>
            </a:r>
          </a:p>
          <a:p>
            <a:pPr>
              <a:spcAft>
                <a:spcPts val="600"/>
              </a:spcAft>
            </a:pPr>
            <a:r>
              <a:rPr sz="1300">
                <a:solidFill>
                  <a:srgbClr val="1A1A1A"/>
                </a:solidFill>
              </a:rPr>
              <a:t>•  A one-parameter temperature scaling (T ~ 0.47) HALVES held-out ECE: 0.070 -&gt; 0.038, with no Brier cost (0.200 -&gt; 0.193).</a:t>
            </a:r>
          </a:p>
          <a:p>
            <a:pPr>
              <a:spcAft>
                <a:spcPts val="600"/>
              </a:spcAft>
            </a:pPr>
            <a:r>
              <a:rPr sz="1300">
                <a:solidFill>
                  <a:srgbClr val="1A1A1A"/>
                </a:solidFill>
              </a:rPr>
              <a:t>•  Bottom line: after this light, non-overfit fix, the stated probabilities are trustworthy to ~4-6 pp.</a:t>
            </a:r>
          </a:p>
          <a:p>
            <a:pPr>
              <a:spcAft>
                <a:spcPts val="600"/>
              </a:spcAft>
            </a:pPr>
            <a:r>
              <a:rPr sz="1300">
                <a:solidFill>
                  <a:srgbClr val="1A1A1A"/>
                </a:solidFill>
              </a:rPr>
              <a:t>•  Honest caveat: calibration fixes WHAT the number means, not how often the method is right — the ~49% accuracy ceiling is unchanged.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Auto-gating: a safety switch, not an accuracy boost</a:t>
            </a:r>
          </a:p>
        </p:txBody>
      </p:sp>
      <p:sp>
        <p:nvSpPr>
          <p:cNvPr id="3" name="TextBox 2"/>
          <p:cNvSpPr txBox="1"/>
          <p:nvPr/>
        </p:nvSpPr>
        <p:spPr>
          <a:xfrm>
            <a:off x="502920" y="1325880"/>
            <a:ext cx="11185855" cy="1463040"/>
          </a:xfrm>
          <a:prstGeom prst="rect">
            <a:avLst/>
          </a:prstGeom>
          <a:noFill/>
        </p:spPr>
        <p:txBody>
          <a:bodyPr wrap="square">
            <a:spAutoFit/>
          </a:bodyPr>
          <a:lstStyle/>
          <a:p>
            <a:pPr>
              <a:spcAft>
                <a:spcPts val="600"/>
              </a:spcAft>
            </a:pPr>
            <a:r>
              <a:rPr sz="1800">
                <a:solidFill>
                  <a:srgbClr val="1A1A1A"/>
                </a:solidFill>
              </a:rPr>
              <a:t>•  What gating is: a safety switch — when the narrative CAN'T help, automatically defer to the overall frequencies (the prior) instead of conditioning.</a:t>
            </a:r>
          </a:p>
          <a:p>
            <a:pPr>
              <a:spcAft>
                <a:spcPts val="600"/>
              </a:spcAft>
            </a:pPr>
            <a:r>
              <a:rPr sz="1800">
                <a:solidFill>
                  <a:srgbClr val="1A1A1A"/>
                </a:solidFill>
              </a:rPr>
              <a:t>•  The rule (gated_diagnose(), added to the engine): fall back to the prior ONLY when the prior's top-1 cause is generic AND the conditioned specific-margin &lt; 0.08.</a:t>
            </a:r>
          </a:p>
        </p:txBody>
      </p:sp>
      <p:graphicFrame>
        <p:nvGraphicFramePr>
          <p:cNvPr id="4" name="Table 3"/>
          <p:cNvGraphicFramePr>
            <a:graphicFrameLocks noGrp="1"/>
          </p:cNvGraphicFramePr>
          <p:nvPr/>
        </p:nvGraphicFramePr>
        <p:xfrm>
          <a:off x="640080" y="2880360"/>
          <a:ext cx="10881360" cy="1737360"/>
        </p:xfrm>
        <a:graphic>
          <a:graphicData uri="http://schemas.openxmlformats.org/drawingml/2006/table">
            <a:tbl>
              <a:tblPr firstRow="1" bandRow="1">
                <a:tableStyleId>{5C22544A-7EE6-4342-B048-85BDC9FD1C3A}</a:tableStyleId>
              </a:tblPr>
              <a:tblGrid>
                <a:gridCol w="3017520"/>
                <a:gridCol w="1188720"/>
                <a:gridCol w="2194560"/>
                <a:gridCol w="2240280"/>
                <a:gridCol w="2240280"/>
              </a:tblGrid>
              <a:tr h="347472">
                <a:tc>
                  <a:txBody>
                    <a:bodyPr/>
                    <a:lstStyle/>
                    <a:p>
                      <a:r>
                        <a:rPr sz="1300" b="1">
                          <a:solidFill>
                            <a:srgbClr val="FFFFFF"/>
                          </a:solidFill>
                        </a:rPr>
                        <a:t>Strategy</a:t>
                      </a:r>
                    </a:p>
                  </a:txBody>
                  <a:tcPr marL="54864" marR="54864" marT="18288" marB="18288">
                    <a:solidFill>
                      <a:srgbClr val="1F6FB2"/>
                    </a:solidFill>
                  </a:tcPr>
                </a:tc>
                <a:tc>
                  <a:txBody>
                    <a:bodyPr/>
                    <a:lstStyle/>
                    <a:p>
                      <a:pPr algn="ctr"/>
                      <a:r>
                        <a:rPr sz="1300" b="1">
                          <a:solidFill>
                            <a:srgbClr val="FFFFFF"/>
                          </a:solidFill>
                        </a:rPr>
                        <a:t>fires</a:t>
                      </a:r>
                    </a:p>
                  </a:txBody>
                  <a:tcPr marL="54864" marR="54864" marT="18288" marB="18288">
                    <a:solidFill>
                      <a:srgbClr val="1F6FB2"/>
                    </a:solidFill>
                  </a:tcPr>
                </a:tc>
                <a:tc>
                  <a:txBody>
                    <a:bodyPr/>
                    <a:lstStyle/>
                    <a:p>
                      <a:pPr algn="ctr"/>
                      <a:r>
                        <a:rPr sz="1300" b="1">
                          <a:solidFill>
                            <a:srgbClr val="FFFFFF"/>
                          </a:solidFill>
                        </a:rPr>
                        <a:t>overall top-1</a:t>
                      </a:r>
                    </a:p>
                  </a:txBody>
                  <a:tcPr marL="54864" marR="54864" marT="18288" marB="18288">
                    <a:solidFill>
                      <a:srgbClr val="1F6FB2"/>
                    </a:solidFill>
                  </a:tcPr>
                </a:tc>
                <a:tc>
                  <a:txBody>
                    <a:bodyPr/>
                    <a:lstStyle/>
                    <a:p>
                      <a:pPr algn="ctr"/>
                      <a:r>
                        <a:rPr sz="1300" b="1">
                          <a:solidFill>
                            <a:srgbClr val="FFFFFF"/>
                          </a:solidFill>
                        </a:rPr>
                        <a:t>generic-true top-1</a:t>
                      </a:r>
                    </a:p>
                  </a:txBody>
                  <a:tcPr marL="54864" marR="54864" marT="18288" marB="18288">
                    <a:solidFill>
                      <a:srgbClr val="1F6FB2"/>
                    </a:solidFill>
                  </a:tcPr>
                </a:tc>
                <a:tc>
                  <a:txBody>
                    <a:bodyPr/>
                    <a:lstStyle/>
                    <a:p>
                      <a:pPr algn="ctr"/>
                      <a:r>
                        <a:rPr sz="1300" b="1">
                          <a:solidFill>
                            <a:srgbClr val="FFFFFF"/>
                          </a:solidFill>
                        </a:rPr>
                        <a:t>specific-true top-1</a:t>
                      </a:r>
                    </a:p>
                  </a:txBody>
                  <a:tcPr marL="54864" marR="54864" marT="18288" marB="18288">
                    <a:solidFill>
                      <a:srgbClr val="1F6FB2"/>
                    </a:solidFill>
                  </a:tcPr>
                </a:tc>
              </a:tr>
              <a:tr h="347472">
                <a:tc>
                  <a:txBody>
                    <a:bodyPr/>
                    <a:lstStyle/>
                    <a:p>
                      <a:r>
                        <a:rPr sz="1300">
                          <a:solidFill>
                            <a:srgbClr val="222222"/>
                          </a:solidFill>
                        </a:rPr>
                        <a:t>Ungated conditioning</a:t>
                      </a:r>
                    </a:p>
                  </a:txBody>
                  <a:tcPr marL="54864" marR="54864" marT="18288" marB="18288">
                    <a:solidFill>
                      <a:srgbClr val="F4F7FA"/>
                    </a:solidFill>
                  </a:tcPr>
                </a:tc>
                <a:tc>
                  <a:txBody>
                    <a:bodyPr/>
                    <a:lstStyle/>
                    <a:p>
                      <a:pPr algn="ctr"/>
                      <a:r>
                        <a:rPr sz="1300">
                          <a:solidFill>
                            <a:srgbClr val="222222"/>
                          </a:solidFill>
                        </a:rPr>
                        <a:t>0 %</a:t>
                      </a:r>
                    </a:p>
                  </a:txBody>
                  <a:tcPr marL="54864" marR="54864" marT="18288" marB="18288">
                    <a:solidFill>
                      <a:srgbClr val="F4F7FA"/>
                    </a:solidFill>
                  </a:tcPr>
                </a:tc>
                <a:tc>
                  <a:txBody>
                    <a:bodyPr/>
                    <a:lstStyle/>
                    <a:p>
                      <a:pPr algn="ctr"/>
                      <a:r>
                        <a:rPr sz="1300">
                          <a:solidFill>
                            <a:srgbClr val="222222"/>
                          </a:solidFill>
                        </a:rPr>
                        <a:t>0.481</a:t>
                      </a:r>
                    </a:p>
                  </a:txBody>
                  <a:tcPr marL="54864" marR="54864" marT="18288" marB="18288">
                    <a:solidFill>
                      <a:srgbClr val="F4F7FA"/>
                    </a:solidFill>
                  </a:tcPr>
                </a:tc>
                <a:tc>
                  <a:txBody>
                    <a:bodyPr/>
                    <a:lstStyle/>
                    <a:p>
                      <a:pPr algn="ctr"/>
                      <a:r>
                        <a:rPr sz="1300">
                          <a:solidFill>
                            <a:srgbClr val="222222"/>
                          </a:solidFill>
                        </a:rPr>
                        <a:t>0.552</a:t>
                      </a:r>
                    </a:p>
                  </a:txBody>
                  <a:tcPr marL="54864" marR="54864" marT="18288" marB="18288">
                    <a:solidFill>
                      <a:srgbClr val="F4F7FA"/>
                    </a:solidFill>
                  </a:tcPr>
                </a:tc>
                <a:tc>
                  <a:txBody>
                    <a:bodyPr/>
                    <a:lstStyle/>
                    <a:p>
                      <a:pPr algn="ctr"/>
                      <a:r>
                        <a:rPr sz="1300">
                          <a:solidFill>
                            <a:srgbClr val="222222"/>
                          </a:solidFill>
                        </a:rPr>
                        <a:t>0.479</a:t>
                      </a:r>
                    </a:p>
                  </a:txBody>
                  <a:tcPr marL="54864" marR="54864" marT="18288" marB="18288">
                    <a:solidFill>
                      <a:srgbClr val="F4F7FA"/>
                    </a:solidFill>
                  </a:tcPr>
                </a:tc>
              </a:tr>
              <a:tr h="347472">
                <a:tc>
                  <a:txBody>
                    <a:bodyPr/>
                    <a:lstStyle/>
                    <a:p>
                      <a:r>
                        <a:rPr sz="1300">
                          <a:solidFill>
                            <a:srgbClr val="222222"/>
                          </a:solidFill>
                        </a:rPr>
                        <a:t>Unconditioned prior</a:t>
                      </a:r>
                    </a:p>
                  </a:txBody>
                  <a:tcPr marL="54864" marR="54864" marT="18288" marB="18288">
                    <a:solidFill>
                      <a:srgbClr val="FFFFFF"/>
                    </a:solidFill>
                  </a:tcPr>
                </a:tc>
                <a:tc>
                  <a:txBody>
                    <a:bodyPr/>
                    <a:lstStyle/>
                    <a:p>
                      <a:pPr algn="ctr"/>
                      <a:r>
                        <a:rPr sz="1300">
                          <a:solidFill>
                            <a:srgbClr val="222222"/>
                          </a:solidFill>
                        </a:rPr>
                        <a:t>100 %</a:t>
                      </a:r>
                    </a:p>
                  </a:txBody>
                  <a:tcPr marL="54864" marR="54864" marT="18288" marB="18288">
                    <a:solidFill>
                      <a:srgbClr val="FFFFFF"/>
                    </a:solidFill>
                  </a:tcPr>
                </a:tc>
                <a:tc>
                  <a:txBody>
                    <a:bodyPr/>
                    <a:lstStyle/>
                    <a:p>
                      <a:pPr algn="ctr"/>
                      <a:r>
                        <a:rPr sz="1300">
                          <a:solidFill>
                            <a:srgbClr val="222222"/>
                          </a:solidFill>
                        </a:rPr>
                        <a:t>0.425</a:t>
                      </a:r>
                    </a:p>
                  </a:txBody>
                  <a:tcPr marL="54864" marR="54864" marT="18288" marB="18288">
                    <a:solidFill>
                      <a:srgbClr val="FFFFFF"/>
                    </a:solidFill>
                  </a:tcPr>
                </a:tc>
                <a:tc>
                  <a:txBody>
                    <a:bodyPr/>
                    <a:lstStyle/>
                    <a:p>
                      <a:pPr algn="ctr"/>
                      <a:r>
                        <a:rPr sz="1300">
                          <a:solidFill>
                            <a:srgbClr val="222222"/>
                          </a:solidFill>
                        </a:rPr>
                        <a:t>0.655</a:t>
                      </a:r>
                    </a:p>
                  </a:txBody>
                  <a:tcPr marL="54864" marR="54864" marT="18288" marB="18288">
                    <a:solidFill>
                      <a:srgbClr val="FFFFFF"/>
                    </a:solidFill>
                  </a:tcPr>
                </a:tc>
                <a:tc>
                  <a:txBody>
                    <a:bodyPr/>
                    <a:lstStyle/>
                    <a:p>
                      <a:pPr algn="ctr"/>
                      <a:r>
                        <a:rPr sz="1300">
                          <a:solidFill>
                            <a:srgbClr val="222222"/>
                          </a:solidFill>
                        </a:rPr>
                        <a:t>0.419</a:t>
                      </a:r>
                    </a:p>
                  </a:txBody>
                  <a:tcPr marL="54864" marR="54864" marT="18288" marB="18288">
                    <a:solidFill>
                      <a:srgbClr val="FFFFFF"/>
                    </a:solidFill>
                  </a:tcPr>
                </a:tc>
              </a:tr>
              <a:tr h="347472">
                <a:tc>
                  <a:txBody>
                    <a:bodyPr/>
                    <a:lstStyle/>
                    <a:p>
                      <a:r>
                        <a:rPr sz="1300" b="1">
                          <a:solidFill>
                            <a:srgbClr val="222222"/>
                          </a:solidFill>
                        </a:rPr>
                        <a:t>GATED (ours)</a:t>
                      </a:r>
                    </a:p>
                  </a:txBody>
                  <a:tcPr marL="54864" marR="54864" marT="18288" marB="18288">
                    <a:solidFill>
                      <a:srgbClr val="E6F4EA"/>
                    </a:solidFill>
                  </a:tcPr>
                </a:tc>
                <a:tc>
                  <a:txBody>
                    <a:bodyPr/>
                    <a:lstStyle/>
                    <a:p>
                      <a:pPr algn="ctr"/>
                      <a:r>
                        <a:rPr sz="1300" b="1">
                          <a:solidFill>
                            <a:srgbClr val="222222"/>
                          </a:solidFill>
                        </a:rPr>
                        <a:t>14.6 %</a:t>
                      </a:r>
                    </a:p>
                  </a:txBody>
                  <a:tcPr marL="54864" marR="54864" marT="18288" marB="18288">
                    <a:solidFill>
                      <a:srgbClr val="E6F4EA"/>
                    </a:solidFill>
                  </a:tcPr>
                </a:tc>
                <a:tc>
                  <a:txBody>
                    <a:bodyPr/>
                    <a:lstStyle/>
                    <a:p>
                      <a:pPr algn="ctr"/>
                      <a:r>
                        <a:rPr sz="1300" b="1">
                          <a:solidFill>
                            <a:srgbClr val="222222"/>
                          </a:solidFill>
                        </a:rPr>
                        <a:t>0.479</a:t>
                      </a:r>
                    </a:p>
                  </a:txBody>
                  <a:tcPr marL="54864" marR="54864" marT="18288" marB="18288">
                    <a:solidFill>
                      <a:srgbClr val="E6F4EA"/>
                    </a:solidFill>
                  </a:tcPr>
                </a:tc>
                <a:tc>
                  <a:txBody>
                    <a:bodyPr/>
                    <a:lstStyle/>
                    <a:p>
                      <a:pPr algn="ctr"/>
                      <a:r>
                        <a:rPr sz="1300" b="1">
                          <a:solidFill>
                            <a:srgbClr val="222222"/>
                          </a:solidFill>
                        </a:rPr>
                        <a:t>0.655</a:t>
                      </a:r>
                    </a:p>
                  </a:txBody>
                  <a:tcPr marL="54864" marR="54864" marT="18288" marB="18288">
                    <a:solidFill>
                      <a:srgbClr val="E6F4EA"/>
                    </a:solidFill>
                  </a:tcPr>
                </a:tc>
                <a:tc>
                  <a:txBody>
                    <a:bodyPr/>
                    <a:lstStyle/>
                    <a:p>
                      <a:pPr algn="ctr"/>
                      <a:r>
                        <a:rPr sz="1300" b="1">
                          <a:solidFill>
                            <a:srgbClr val="222222"/>
                          </a:solidFill>
                        </a:rPr>
                        <a:t>0.475</a:t>
                      </a:r>
                    </a:p>
                  </a:txBody>
                  <a:tcPr marL="54864" marR="54864" marT="18288" marB="18288">
                    <a:solidFill>
                      <a:srgbClr val="E6F4EA"/>
                    </a:solidFill>
                  </a:tcPr>
                </a:tc>
              </a:tr>
              <a:tr h="347472">
                <a:tc>
                  <a:txBody>
                    <a:bodyPr/>
                    <a:lstStyle/>
                    <a:p>
                      <a:r>
                        <a:rPr sz="1300">
                          <a:solidFill>
                            <a:srgbClr val="222222"/>
                          </a:solidFill>
                        </a:rPr>
                        <a:t>Oracle (uses true cause)</a:t>
                      </a:r>
                    </a:p>
                  </a:txBody>
                  <a:tcPr marL="54864" marR="54864" marT="18288" marB="18288">
                    <a:solidFill>
                      <a:srgbClr val="FFFFFF"/>
                    </a:solidFill>
                  </a:tcPr>
                </a:tc>
                <a:tc>
                  <a:txBody>
                    <a:bodyPr/>
                    <a:lstStyle/>
                    <a:p>
                      <a:pPr algn="ctr"/>
                      <a:r>
                        <a:rPr sz="1300">
                          <a:solidFill>
                            <a:srgbClr val="222222"/>
                          </a:solidFill>
                        </a:rPr>
                        <a:t>2.3 %</a:t>
                      </a:r>
                    </a:p>
                  </a:txBody>
                  <a:tcPr marL="54864" marR="54864" marT="18288" marB="18288">
                    <a:solidFill>
                      <a:srgbClr val="FFFFFF"/>
                    </a:solidFill>
                  </a:tcPr>
                </a:tc>
                <a:tc>
                  <a:txBody>
                    <a:bodyPr/>
                    <a:lstStyle/>
                    <a:p>
                      <a:pPr algn="ctr"/>
                      <a:r>
                        <a:rPr sz="1300">
                          <a:solidFill>
                            <a:srgbClr val="222222"/>
                          </a:solidFill>
                        </a:rPr>
                        <a:t>0.483</a:t>
                      </a:r>
                    </a:p>
                  </a:txBody>
                  <a:tcPr marL="54864" marR="54864" marT="18288" marB="18288">
                    <a:solidFill>
                      <a:srgbClr val="FFFFFF"/>
                    </a:solidFill>
                  </a:tcPr>
                </a:tc>
                <a:tc>
                  <a:txBody>
                    <a:bodyPr/>
                    <a:lstStyle/>
                    <a:p>
                      <a:pPr algn="ctr"/>
                      <a:r>
                        <a:rPr sz="1300">
                          <a:solidFill>
                            <a:srgbClr val="222222"/>
                          </a:solidFill>
                        </a:rPr>
                        <a:t>0.655</a:t>
                      </a:r>
                    </a:p>
                  </a:txBody>
                  <a:tcPr marL="54864" marR="54864" marT="18288" marB="18288">
                    <a:solidFill>
                      <a:srgbClr val="FFFFFF"/>
                    </a:solidFill>
                  </a:tcPr>
                </a:tc>
                <a:tc>
                  <a:txBody>
                    <a:bodyPr/>
                    <a:lstStyle/>
                    <a:p>
                      <a:pPr algn="ctr"/>
                      <a:r>
                        <a:rPr sz="1300">
                          <a:solidFill>
                            <a:srgbClr val="222222"/>
                          </a:solidFill>
                        </a:rPr>
                        <a:t>0.479</a:t>
                      </a:r>
                    </a:p>
                  </a:txBody>
                  <a:tcPr marL="54864" marR="54864" marT="18288" marB="18288">
                    <a:solidFill>
                      <a:srgbClr val="FFFFFF"/>
                    </a:solidFill>
                  </a:tcPr>
                </a:tc>
              </a:tr>
            </a:tbl>
          </a:graphicData>
        </a:graphic>
      </p:graphicFrame>
      <p:sp>
        <p:nvSpPr>
          <p:cNvPr id="5" name="TextBox 4"/>
          <p:cNvSpPr txBox="1"/>
          <p:nvPr/>
        </p:nvSpPr>
        <p:spPr>
          <a:xfrm>
            <a:off x="502920" y="4800600"/>
            <a:ext cx="11185855" cy="4297680"/>
          </a:xfrm>
          <a:prstGeom prst="rect">
            <a:avLst/>
          </a:prstGeom>
          <a:noFill/>
        </p:spPr>
        <p:txBody>
          <a:bodyPr wrap="square">
            <a:spAutoFit/>
          </a:bodyPr>
          <a:lstStyle/>
          <a:p>
            <a:pPr>
              <a:spcAft>
                <a:spcPts val="600"/>
              </a:spcAft>
            </a:pPr>
            <a:r>
              <a:rPr sz="1300">
                <a:solidFill>
                  <a:srgbClr val="1A1A1A"/>
                </a:solidFill>
              </a:rPr>
              <a:t>•  Removes the generic-cause harm: generic-true 0.552 -&gt; 0.655 = prior/oracle parity, at ~0 cost to specifics.</a:t>
            </a:r>
          </a:p>
          <a:p>
            <a:pPr>
              <a:spcAft>
                <a:spcPts val="600"/>
              </a:spcAft>
            </a:pPr>
            <a:r>
              <a:rPr sz="1300">
                <a:solidFill>
                  <a:srgbClr val="1A1A1A"/>
                </a:solidFill>
              </a:rPr>
              <a:t>•  Honest caveat: it does NOT beat ungated overall. Harm regime is only ~2.3% of incidents, so even an oracle gate ceilings at +0.2 pp. Gating's value is SAFETY (never worse than the prior), not accuracy.</a:t>
            </a:r>
          </a:p>
          <a:p>
            <a:pPr lvl="1">
              <a:spcAft>
                <a:spcPts val="600"/>
              </a:spcAft>
            </a:pPr>
            <a:r>
              <a:rPr sz="1100">
                <a:solidFill>
                  <a:srgbClr val="444444"/>
                </a:solidFill>
              </a:rPr>
              <a:t>–  (The earlier '-20.7 pp' generic harm was partly a hash-seed tie-break artefact; real harm ~ -10 pp.)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Robustness: does the lift survive rough, real-world queries?</a:t>
            </a:r>
          </a:p>
          <a:p>
            <a:r>
              <a:rPr sz="1500">
                <a:solidFill>
                  <a:srgbClr val="CFDDEE"/>
                </a:solidFill>
              </a:rPr>
              <a:t>Clean-narrative baseline lift on this subsample = +3.8 pp top-1 / +0.044 MRR</a:t>
            </a:r>
          </a:p>
        </p:txBody>
      </p:sp>
      <p:pic>
        <p:nvPicPr>
          <p:cNvPr id="3" name="Picture 2" descr="query_robustness.png"/>
          <p:cNvPicPr>
            <a:picLocks noChangeAspect="1"/>
          </p:cNvPicPr>
          <p:nvPr/>
        </p:nvPicPr>
        <p:blipFill>
          <a:blip r:embed="rId2"/>
          <a:stretch>
            <a:fillRect/>
          </a:stretch>
        </p:blipFill>
        <p:spPr>
          <a:xfrm>
            <a:off x="365760" y="2199640"/>
            <a:ext cx="5577840" cy="3098799"/>
          </a:xfrm>
          <a:prstGeom prst="rect">
            <a:avLst/>
          </a:prstGeom>
          <a:ln w="9525">
            <a:solidFill>
              <a:srgbClr val="BBC7D4"/>
            </a:solidFill>
          </a:ln>
        </p:spPr>
      </p:pic>
      <p:graphicFrame>
        <p:nvGraphicFramePr>
          <p:cNvPr id="4" name="Table 3"/>
          <p:cNvGraphicFramePr>
            <a:graphicFrameLocks noGrp="1"/>
          </p:cNvGraphicFramePr>
          <p:nvPr/>
        </p:nvGraphicFramePr>
        <p:xfrm>
          <a:off x="6126480" y="1325880"/>
          <a:ext cx="5669280" cy="2468880"/>
        </p:xfrm>
        <a:graphic>
          <a:graphicData uri="http://schemas.openxmlformats.org/drawingml/2006/table">
            <a:tbl>
              <a:tblPr firstRow="1" bandRow="1">
                <a:tableStyleId>{5C22544A-7EE6-4342-B048-85BDC9FD1C3A}</a:tableStyleId>
              </a:tblPr>
              <a:tblGrid>
                <a:gridCol w="2194560"/>
                <a:gridCol w="914400"/>
                <a:gridCol w="914400"/>
                <a:gridCol w="822960"/>
                <a:gridCol w="822960"/>
              </a:tblGrid>
              <a:tr h="411480">
                <a:tc>
                  <a:txBody>
                    <a:bodyPr/>
                    <a:lstStyle/>
                    <a:p>
                      <a:r>
                        <a:rPr sz="1100" b="1">
                          <a:solidFill>
                            <a:srgbClr val="FFFFFF"/>
                          </a:solidFill>
                        </a:rPr>
                        <a:t>Query form</a:t>
                      </a:r>
                    </a:p>
                  </a:txBody>
                  <a:tcPr marL="54864" marR="54864" marT="18288" marB="18288">
                    <a:solidFill>
                      <a:srgbClr val="1F6FB2"/>
                    </a:solidFill>
                  </a:tcPr>
                </a:tc>
                <a:tc>
                  <a:txBody>
                    <a:bodyPr/>
                    <a:lstStyle/>
                    <a:p>
                      <a:pPr algn="ctr"/>
                      <a:r>
                        <a:rPr sz="1100" b="1">
                          <a:solidFill>
                            <a:srgbClr val="FFFFFF"/>
                          </a:solidFill>
                        </a:rPr>
                        <a:t>top-1
lift</a:t>
                      </a:r>
                    </a:p>
                  </a:txBody>
                  <a:tcPr marL="54864" marR="54864" marT="18288" marB="18288">
                    <a:solidFill>
                      <a:srgbClr val="1F6FB2"/>
                    </a:solidFill>
                  </a:tcPr>
                </a:tc>
                <a:tc>
                  <a:txBody>
                    <a:bodyPr/>
                    <a:lstStyle/>
                    <a:p>
                      <a:pPr algn="ctr"/>
                      <a:r>
                        <a:rPr sz="1100" b="1">
                          <a:solidFill>
                            <a:srgbClr val="FFFFFF"/>
                          </a:solidFill>
                        </a:rPr>
                        <a:t>MRR
lift</a:t>
                      </a:r>
                    </a:p>
                  </a:txBody>
                  <a:tcPr marL="54864" marR="54864" marT="18288" marB="18288">
                    <a:solidFill>
                      <a:srgbClr val="1F6FB2"/>
                    </a:solidFill>
                  </a:tcPr>
                </a:tc>
                <a:tc>
                  <a:txBody>
                    <a:bodyPr/>
                    <a:lstStyle/>
                    <a:p>
                      <a:pPr algn="ctr"/>
                      <a:r>
                        <a:rPr sz="1100" b="1">
                          <a:solidFill>
                            <a:srgbClr val="FFFFFF"/>
                          </a:solidFill>
                        </a:rPr>
                        <a:t>% top-1
survives</a:t>
                      </a:r>
                    </a:p>
                  </a:txBody>
                  <a:tcPr marL="54864" marR="54864" marT="18288" marB="18288">
                    <a:solidFill>
                      <a:srgbClr val="1F6FB2"/>
                    </a:solidFill>
                  </a:tcPr>
                </a:tc>
                <a:tc>
                  <a:txBody>
                    <a:bodyPr/>
                    <a:lstStyle/>
                    <a:p>
                      <a:pPr algn="ctr"/>
                      <a:r>
                        <a:rPr sz="1100" b="1">
                          <a:solidFill>
                            <a:srgbClr val="FFFFFF"/>
                          </a:solidFill>
                        </a:rPr>
                        <a:t>% MRR
survives</a:t>
                      </a:r>
                    </a:p>
                  </a:txBody>
                  <a:tcPr marL="54864" marR="54864" marT="18288" marB="18288">
                    <a:solidFill>
                      <a:srgbClr val="1F6FB2"/>
                    </a:solidFill>
                  </a:tcPr>
                </a:tc>
              </a:tr>
              <a:tr h="411480">
                <a:tc>
                  <a:txBody>
                    <a:bodyPr/>
                    <a:lstStyle/>
                    <a:p>
                      <a:r>
                        <a:rPr sz="1100">
                          <a:solidFill>
                            <a:srgbClr val="222222"/>
                          </a:solidFill>
                        </a:rPr>
                        <a:t>clean factual (baseline)</a:t>
                      </a:r>
                    </a:p>
                  </a:txBody>
                  <a:tcPr marL="54864" marR="54864" marT="18288" marB="18288">
                    <a:solidFill>
                      <a:srgbClr val="F4F7FA"/>
                    </a:solidFill>
                  </a:tcPr>
                </a:tc>
                <a:tc>
                  <a:txBody>
                    <a:bodyPr/>
                    <a:lstStyle/>
                    <a:p>
                      <a:pPr algn="ctr"/>
                      <a:r>
                        <a:rPr sz="1100">
                          <a:solidFill>
                            <a:srgbClr val="222222"/>
                          </a:solidFill>
                        </a:rPr>
                        <a:t>+0.038</a:t>
                      </a:r>
                    </a:p>
                  </a:txBody>
                  <a:tcPr marL="54864" marR="54864" marT="18288" marB="18288">
                    <a:solidFill>
                      <a:srgbClr val="F4F7FA"/>
                    </a:solidFill>
                  </a:tcPr>
                </a:tc>
                <a:tc>
                  <a:txBody>
                    <a:bodyPr/>
                    <a:lstStyle/>
                    <a:p>
                      <a:pPr algn="ctr"/>
                      <a:r>
                        <a:rPr sz="1100">
                          <a:solidFill>
                            <a:srgbClr val="222222"/>
                          </a:solidFill>
                        </a:rPr>
                        <a:t>+0.044</a:t>
                      </a:r>
                    </a:p>
                  </a:txBody>
                  <a:tcPr marL="54864" marR="54864" marT="18288" marB="18288">
                    <a:solidFill>
                      <a:srgbClr val="F4F7FA"/>
                    </a:solidFill>
                  </a:tcPr>
                </a:tc>
                <a:tc>
                  <a:txBody>
                    <a:bodyPr/>
                    <a:lstStyle/>
                    <a:p>
                      <a:pPr algn="ctr"/>
                      <a:r>
                        <a:rPr sz="1100">
                          <a:solidFill>
                            <a:srgbClr val="222222"/>
                          </a:solidFill>
                        </a:rPr>
                        <a:t>100 %</a:t>
                      </a:r>
                    </a:p>
                  </a:txBody>
                  <a:tcPr marL="54864" marR="54864" marT="18288" marB="18288">
                    <a:solidFill>
                      <a:srgbClr val="F4F7FA"/>
                    </a:solidFill>
                  </a:tcPr>
                </a:tc>
                <a:tc>
                  <a:txBody>
                    <a:bodyPr/>
                    <a:lstStyle/>
                    <a:p>
                      <a:pPr algn="ctr"/>
                      <a:r>
                        <a:rPr sz="1100">
                          <a:solidFill>
                            <a:srgbClr val="222222"/>
                          </a:solidFill>
                        </a:rPr>
                        <a:t>100 %</a:t>
                      </a:r>
                    </a:p>
                  </a:txBody>
                  <a:tcPr marL="54864" marR="54864" marT="18288" marB="18288">
                    <a:solidFill>
                      <a:srgbClr val="F4F7FA"/>
                    </a:solidFill>
                  </a:tcPr>
                </a:tc>
              </a:tr>
              <a:tr h="411480">
                <a:tc>
                  <a:txBody>
                    <a:bodyPr/>
                    <a:lstStyle/>
                    <a:p>
                      <a:r>
                        <a:rPr sz="1100">
                          <a:solidFill>
                            <a:srgbClr val="222222"/>
                          </a:solidFill>
                        </a:rPr>
                        <a:t>keyword-only</a:t>
                      </a:r>
                    </a:p>
                  </a:txBody>
                  <a:tcPr marL="54864" marR="54864" marT="18288" marB="18288">
                    <a:solidFill>
                      <a:srgbClr val="FFFFFF"/>
                    </a:solidFill>
                  </a:tcPr>
                </a:tc>
                <a:tc>
                  <a:txBody>
                    <a:bodyPr/>
                    <a:lstStyle/>
                    <a:p>
                      <a:pPr algn="ctr"/>
                      <a:r>
                        <a:rPr sz="1100">
                          <a:solidFill>
                            <a:srgbClr val="222222"/>
                          </a:solidFill>
                        </a:rPr>
                        <a:t>+0.040</a:t>
                      </a:r>
                    </a:p>
                  </a:txBody>
                  <a:tcPr marL="54864" marR="54864" marT="18288" marB="18288">
                    <a:solidFill>
                      <a:srgbClr val="FFFFFF"/>
                    </a:solidFill>
                  </a:tcPr>
                </a:tc>
                <a:tc>
                  <a:txBody>
                    <a:bodyPr/>
                    <a:lstStyle/>
                    <a:p>
                      <a:pPr algn="ctr"/>
                      <a:r>
                        <a:rPr sz="1100">
                          <a:solidFill>
                            <a:srgbClr val="222222"/>
                          </a:solidFill>
                        </a:rPr>
                        <a:t>+0.043</a:t>
                      </a:r>
                    </a:p>
                  </a:txBody>
                  <a:tcPr marL="54864" marR="54864" marT="18288" marB="18288">
                    <a:solidFill>
                      <a:srgbClr val="FFFFFF"/>
                    </a:solidFill>
                  </a:tcPr>
                </a:tc>
                <a:tc>
                  <a:txBody>
                    <a:bodyPr/>
                    <a:lstStyle/>
                    <a:p>
                      <a:pPr algn="ctr"/>
                      <a:r>
                        <a:rPr sz="1100">
                          <a:solidFill>
                            <a:srgbClr val="222222"/>
                          </a:solidFill>
                        </a:rPr>
                        <a:t>104 %</a:t>
                      </a:r>
                    </a:p>
                  </a:txBody>
                  <a:tcPr marL="54864" marR="54864" marT="18288" marB="18288">
                    <a:solidFill>
                      <a:srgbClr val="FFFFFF"/>
                    </a:solidFill>
                  </a:tcPr>
                </a:tc>
                <a:tc>
                  <a:txBody>
                    <a:bodyPr/>
                    <a:lstStyle/>
                    <a:p>
                      <a:pPr algn="ctr"/>
                      <a:r>
                        <a:rPr sz="1100">
                          <a:solidFill>
                            <a:srgbClr val="222222"/>
                          </a:solidFill>
                        </a:rPr>
                        <a:t>97 %</a:t>
                      </a:r>
                    </a:p>
                  </a:txBody>
                  <a:tcPr marL="54864" marR="54864" marT="18288" marB="18288">
                    <a:solidFill>
                      <a:srgbClr val="FFFFFF"/>
                    </a:solidFill>
                  </a:tcPr>
                </a:tc>
              </a:tr>
              <a:tr h="411480">
                <a:tc>
                  <a:txBody>
                    <a:bodyPr/>
                    <a:lstStyle/>
                    <a:p>
                      <a:r>
                        <a:rPr sz="1100">
                          <a:solidFill>
                            <a:srgbClr val="222222"/>
                          </a:solidFill>
                        </a:rPr>
                        <a:t>LLM lay paraphrase</a:t>
                      </a:r>
                    </a:p>
                  </a:txBody>
                  <a:tcPr marL="54864" marR="54864" marT="18288" marB="18288">
                    <a:solidFill>
                      <a:srgbClr val="F4F7FA"/>
                    </a:solidFill>
                  </a:tcPr>
                </a:tc>
                <a:tc>
                  <a:txBody>
                    <a:bodyPr/>
                    <a:lstStyle/>
                    <a:p>
                      <a:pPr algn="ctr"/>
                      <a:r>
                        <a:rPr sz="1100">
                          <a:solidFill>
                            <a:srgbClr val="222222"/>
                          </a:solidFill>
                        </a:rPr>
                        <a:t>+0.042</a:t>
                      </a:r>
                    </a:p>
                  </a:txBody>
                  <a:tcPr marL="54864" marR="54864" marT="18288" marB="18288">
                    <a:solidFill>
                      <a:srgbClr val="F4F7FA"/>
                    </a:solidFill>
                  </a:tcPr>
                </a:tc>
                <a:tc>
                  <a:txBody>
                    <a:bodyPr/>
                    <a:lstStyle/>
                    <a:p>
                      <a:pPr algn="ctr"/>
                      <a:r>
                        <a:rPr sz="1100">
                          <a:solidFill>
                            <a:srgbClr val="222222"/>
                          </a:solidFill>
                        </a:rPr>
                        <a:t>+0.034</a:t>
                      </a:r>
                    </a:p>
                  </a:txBody>
                  <a:tcPr marL="54864" marR="54864" marT="18288" marB="18288">
                    <a:solidFill>
                      <a:srgbClr val="F4F7FA"/>
                    </a:solidFill>
                  </a:tcPr>
                </a:tc>
                <a:tc>
                  <a:txBody>
                    <a:bodyPr/>
                    <a:lstStyle/>
                    <a:p>
                      <a:pPr algn="ctr"/>
                      <a:r>
                        <a:rPr sz="1100">
                          <a:solidFill>
                            <a:srgbClr val="222222"/>
                          </a:solidFill>
                        </a:rPr>
                        <a:t>109 %</a:t>
                      </a:r>
                    </a:p>
                  </a:txBody>
                  <a:tcPr marL="54864" marR="54864" marT="18288" marB="18288">
                    <a:solidFill>
                      <a:srgbClr val="F4F7FA"/>
                    </a:solidFill>
                  </a:tcPr>
                </a:tc>
                <a:tc>
                  <a:txBody>
                    <a:bodyPr/>
                    <a:lstStyle/>
                    <a:p>
                      <a:pPr algn="ctr"/>
                      <a:r>
                        <a:rPr sz="1100">
                          <a:solidFill>
                            <a:srgbClr val="222222"/>
                          </a:solidFill>
                        </a:rPr>
                        <a:t>77 %</a:t>
                      </a:r>
                    </a:p>
                  </a:txBody>
                  <a:tcPr marL="54864" marR="54864" marT="18288" marB="18288">
                    <a:solidFill>
                      <a:srgbClr val="F4F7FA"/>
                    </a:solidFill>
                  </a:tcPr>
                </a:tc>
              </a:tr>
              <a:tr h="411480">
                <a:tc>
                  <a:txBody>
                    <a:bodyPr/>
                    <a:lstStyle/>
                    <a:p>
                      <a:r>
                        <a:rPr sz="1100">
                          <a:solidFill>
                            <a:srgbClr val="222222"/>
                          </a:solidFill>
                        </a:rPr>
                        <a:t>+ irrelevant noise</a:t>
                      </a:r>
                    </a:p>
                  </a:txBody>
                  <a:tcPr marL="54864" marR="54864" marT="18288" marB="18288">
                    <a:solidFill>
                      <a:srgbClr val="FFFFFF"/>
                    </a:solidFill>
                  </a:tcPr>
                </a:tc>
                <a:tc>
                  <a:txBody>
                    <a:bodyPr/>
                    <a:lstStyle/>
                    <a:p>
                      <a:pPr algn="ctr"/>
                      <a:r>
                        <a:rPr sz="1100">
                          <a:solidFill>
                            <a:srgbClr val="222222"/>
                          </a:solidFill>
                        </a:rPr>
                        <a:t>+0.055</a:t>
                      </a:r>
                    </a:p>
                  </a:txBody>
                  <a:tcPr marL="54864" marR="54864" marT="18288" marB="18288">
                    <a:solidFill>
                      <a:srgbClr val="FFFFFF"/>
                    </a:solidFill>
                  </a:tcPr>
                </a:tc>
                <a:tc>
                  <a:txBody>
                    <a:bodyPr/>
                    <a:lstStyle/>
                    <a:p>
                      <a:pPr algn="ctr"/>
                      <a:r>
                        <a:rPr sz="1100">
                          <a:solidFill>
                            <a:srgbClr val="222222"/>
                          </a:solidFill>
                        </a:rPr>
                        <a:t>+0.056</a:t>
                      </a:r>
                    </a:p>
                  </a:txBody>
                  <a:tcPr marL="54864" marR="54864" marT="18288" marB="18288">
                    <a:solidFill>
                      <a:srgbClr val="FFFFFF"/>
                    </a:solidFill>
                  </a:tcPr>
                </a:tc>
                <a:tc>
                  <a:txBody>
                    <a:bodyPr/>
                    <a:lstStyle/>
                    <a:p>
                      <a:pPr algn="ctr"/>
                      <a:r>
                        <a:rPr sz="1100">
                          <a:solidFill>
                            <a:srgbClr val="222222"/>
                          </a:solidFill>
                        </a:rPr>
                        <a:t>143 %</a:t>
                      </a:r>
                    </a:p>
                  </a:txBody>
                  <a:tcPr marL="54864" marR="54864" marT="18288" marB="18288">
                    <a:solidFill>
                      <a:srgbClr val="FFFFFF"/>
                    </a:solidFill>
                  </a:tcPr>
                </a:tc>
                <a:tc>
                  <a:txBody>
                    <a:bodyPr/>
                    <a:lstStyle/>
                    <a:p>
                      <a:pPr algn="ctr"/>
                      <a:r>
                        <a:rPr sz="1100">
                          <a:solidFill>
                            <a:srgbClr val="222222"/>
                          </a:solidFill>
                        </a:rPr>
                        <a:t>128 %</a:t>
                      </a:r>
                    </a:p>
                  </a:txBody>
                  <a:tcPr marL="54864" marR="54864" marT="18288" marB="18288">
                    <a:solidFill>
                      <a:srgbClr val="FFFFFF"/>
                    </a:solidFill>
                  </a:tcPr>
                </a:tc>
              </a:tr>
              <a:tr h="411480">
                <a:tc>
                  <a:txBody>
                    <a:bodyPr/>
                    <a:lstStyle/>
                    <a:p>
                      <a:r>
                        <a:rPr sz="1100" b="1">
                          <a:solidFill>
                            <a:srgbClr val="222222"/>
                          </a:solidFill>
                        </a:rPr>
                        <a:t>first-sentence only</a:t>
                      </a:r>
                    </a:p>
                  </a:txBody>
                  <a:tcPr marL="54864" marR="54864" marT="18288" marB="18288">
                    <a:solidFill>
                      <a:srgbClr val="E6F4EA"/>
                    </a:solidFill>
                  </a:tcPr>
                </a:tc>
                <a:tc>
                  <a:txBody>
                    <a:bodyPr/>
                    <a:lstStyle/>
                    <a:p>
                      <a:pPr algn="ctr"/>
                      <a:r>
                        <a:rPr sz="1100" b="1">
                          <a:solidFill>
                            <a:srgbClr val="222222"/>
                          </a:solidFill>
                        </a:rPr>
                        <a:t>+0.025</a:t>
                      </a:r>
                    </a:p>
                  </a:txBody>
                  <a:tcPr marL="54864" marR="54864" marT="18288" marB="18288">
                    <a:solidFill>
                      <a:srgbClr val="E6F4EA"/>
                    </a:solidFill>
                  </a:tcPr>
                </a:tc>
                <a:tc>
                  <a:txBody>
                    <a:bodyPr/>
                    <a:lstStyle/>
                    <a:p>
                      <a:pPr algn="ctr"/>
                      <a:r>
                        <a:rPr sz="1100" b="1">
                          <a:solidFill>
                            <a:srgbClr val="222222"/>
                          </a:solidFill>
                        </a:rPr>
                        <a:t>+0.012</a:t>
                      </a:r>
                    </a:p>
                  </a:txBody>
                  <a:tcPr marL="54864" marR="54864" marT="18288" marB="18288">
                    <a:solidFill>
                      <a:srgbClr val="E6F4EA"/>
                    </a:solidFill>
                  </a:tcPr>
                </a:tc>
                <a:tc>
                  <a:txBody>
                    <a:bodyPr/>
                    <a:lstStyle/>
                    <a:p>
                      <a:pPr algn="ctr"/>
                      <a:r>
                        <a:rPr sz="1100" b="1">
                          <a:solidFill>
                            <a:srgbClr val="222222"/>
                          </a:solidFill>
                        </a:rPr>
                        <a:t>65 %</a:t>
                      </a:r>
                    </a:p>
                  </a:txBody>
                  <a:tcPr marL="54864" marR="54864" marT="18288" marB="18288">
                    <a:solidFill>
                      <a:srgbClr val="E6F4EA"/>
                    </a:solidFill>
                  </a:tcPr>
                </a:tc>
                <a:tc>
                  <a:txBody>
                    <a:bodyPr/>
                    <a:lstStyle/>
                    <a:p>
                      <a:pPr algn="ctr"/>
                      <a:r>
                        <a:rPr sz="1100" b="1">
                          <a:solidFill>
                            <a:srgbClr val="222222"/>
                          </a:solidFill>
                        </a:rPr>
                        <a:t>27 %</a:t>
                      </a:r>
                    </a:p>
                  </a:txBody>
                  <a:tcPr marL="54864" marR="54864" marT="18288" marB="18288">
                    <a:solidFill>
                      <a:srgbClr val="E6F4EA"/>
                    </a:solidFill>
                  </a:tcPr>
                </a:tc>
              </a:tr>
            </a:tbl>
          </a:graphicData>
        </a:graphic>
      </p:graphicFrame>
      <p:sp>
        <p:nvSpPr>
          <p:cNvPr id="5" name="TextBox 4"/>
          <p:cNvSpPr txBox="1"/>
          <p:nvPr/>
        </p:nvSpPr>
        <p:spPr>
          <a:xfrm>
            <a:off x="6035040" y="3977639"/>
            <a:ext cx="5852160" cy="4297680"/>
          </a:xfrm>
          <a:prstGeom prst="rect">
            <a:avLst/>
          </a:prstGeom>
          <a:noFill/>
        </p:spPr>
        <p:txBody>
          <a:bodyPr wrap="square">
            <a:spAutoFit/>
          </a:bodyPr>
          <a:lstStyle/>
          <a:p>
            <a:pPr>
              <a:spcAft>
                <a:spcPts val="600"/>
              </a:spcAft>
            </a:pPr>
            <a:r>
              <a:rPr sz="1200">
                <a:solidFill>
                  <a:srgbClr val="1A1A1A"/>
                </a:solidFill>
              </a:rPr>
              <a:t>•  Survives keyword-only, lay paraphrase, and added noise (all ~100%+).</a:t>
            </a:r>
          </a:p>
          <a:p>
            <a:pPr>
              <a:spcAft>
                <a:spcPts val="600"/>
              </a:spcAft>
            </a:pPr>
            <a:r>
              <a:rPr sz="1200">
                <a:solidFill>
                  <a:srgbClr val="1A1A1A"/>
                </a:solidFill>
              </a:rPr>
              <a:t>•  Only ultra-terse single-sentence truncation materially erodes it (65% top-1 / 27% MRR).</a:t>
            </a:r>
          </a:p>
          <a:p>
            <a:pPr>
              <a:spcAft>
                <a:spcPts val="600"/>
              </a:spcAft>
            </a:pPr>
            <a:r>
              <a:rPr sz="1200">
                <a:solidFill>
                  <a:srgbClr val="1A1A1A"/>
                </a:solidFill>
              </a:rPr>
              <a:t>•  Strongest real-world evidence = the paraphrase: a cause-free lay rewrite KEEPS the lift -&gt; not relying on NTSB phrasing or leakage.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Arming for Maha's hard questions  (the honest answers)</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'Is this actually better than Zhang?' -&gt; On the population numbers Zhang scopes we MATCH him exactly. On per-incident conditioning (which Zhang never validates) we show a significant, leakage-controlled lift over the no-narrative baseline. Two distinct wins.</a:t>
            </a:r>
          </a:p>
          <a:p>
            <a:pPr>
              <a:spcAft>
                <a:spcPts val="600"/>
              </a:spcAft>
            </a:pPr>
            <a:r>
              <a:rPr sz="1800">
                <a:solidFill>
                  <a:srgbClr val="1A1A1A"/>
                </a:solidFill>
              </a:rPr>
              <a:t>•  '47% sounds low.' -&gt; Correct, and we lead with LIFT, not absolute accuracy. ~47% is a data ceiling (catch-all coding); the claim is the reliable improvement (+5.2 pp / +0.052 MRR, p~1e-11).</a:t>
            </a:r>
          </a:p>
          <a:p>
            <a:pPr>
              <a:spcAft>
                <a:spcPts val="600"/>
              </a:spcAft>
            </a:pPr>
            <a:r>
              <a:rPr sz="1800">
                <a:solidFill>
                  <a:srgbClr val="1A1A1A"/>
                </a:solidFill>
              </a:rPr>
              <a:t>•  'Isn't this just leakage?' -&gt; No. Honest A-clean (+0.052) ~ leaky B (+0.050); if it were leakage, B would dominate. Plus a cause-free paraphrase keeps the lift.</a:t>
            </a:r>
          </a:p>
          <a:p>
            <a:pPr>
              <a:spcAft>
                <a:spcPts val="600"/>
              </a:spcAft>
            </a:pPr>
            <a:r>
              <a:rPr sz="1800">
                <a:solidFill>
                  <a:srgbClr val="1A1A1A"/>
                </a:solidFill>
              </a:rPr>
              <a:t>•  'What about a vague user query?' -&gt; Robust to keywords, paraphrase, and noise (~100%+). Only ultra-terse one-liners lose most of the ranking lift (top-1 still beats the prior).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Status &amp; next steps</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Diagnosis reproduction: done / solid.</a:t>
            </a:r>
          </a:p>
          <a:p>
            <a:pPr lvl="1">
              <a:spcAft>
                <a:spcPts val="600"/>
              </a:spcAft>
            </a:pPr>
            <a:r>
              <a:rPr sz="1600">
                <a:solidFill>
                  <a:srgbClr val="444444"/>
                </a:solidFill>
              </a:rPr>
              <a:t>–  Prior + Table 7 reproduced exactly; method generalized; conditional + confidence-aware modes added. The credibility result.</a:t>
            </a:r>
          </a:p>
          <a:p>
            <a:pPr>
              <a:spcAft>
                <a:spcPts val="600"/>
              </a:spcAft>
            </a:pPr>
            <a:r>
              <a:rPr sz="1800">
                <a:solidFill>
                  <a:srgbClr val="1A1A1A"/>
                </a:solidFill>
              </a:rPr>
              <a:t>•  TWO validated contributions:</a:t>
            </a:r>
          </a:p>
          <a:p>
            <a:pPr lvl="1">
              <a:spcAft>
                <a:spcPts val="600"/>
              </a:spcAft>
            </a:pPr>
            <a:r>
              <a:rPr sz="1600">
                <a:solidFill>
                  <a:srgbClr val="444444"/>
                </a:solidFill>
              </a:rPr>
              <a:t>–  Query-conditioning (Part 3): a narrative-specific win — beats the no-narrative baseline +5.2 pp top-1 / +0.052 MRR (p~1e-11), leakage-controlled, not a concentration artefact.</a:t>
            </a:r>
          </a:p>
          <a:p>
            <a:pPr lvl="1">
              <a:spcAft>
                <a:spcPts val="600"/>
              </a:spcAft>
            </a:pPr>
            <a:r>
              <a:rPr sz="1600">
                <a:solidFill>
                  <a:srgbClr val="444444"/>
                </a:solidFill>
              </a:rPr>
              <a:t>–  Sparse-cell robustness (Part 2): semantic smoothing fixes Zhang's fragility — strictly beats his Beta-CDF, most accurate/stable where he is weakest (n &lt;= 5).</a:t>
            </a:r>
          </a:p>
          <a:p>
            <a:pPr>
              <a:spcAft>
                <a:spcPts val="600"/>
              </a:spcAft>
            </a:pPr>
            <a:r>
              <a:rPr sz="1800">
                <a:solidFill>
                  <a:srgbClr val="1A1A1A"/>
                </a:solidFill>
              </a:rPr>
              <a:t>•  The conditioning method is now hardened: calibrated (ECE ~0.059 -&gt; 0.038 via a one-dial temperature fix), gated (a safety switch — never worse than the prior), and robust to rough real-world queries.</a:t>
            </a:r>
          </a:p>
          <a:p>
            <a:pPr>
              <a:spcAft>
                <a:spcPts val="600"/>
              </a:spcAft>
            </a:pPr>
            <a:r>
              <a:rPr sz="1800">
                <a:solidFill>
                  <a:srgbClr val="1A1A1A"/>
                </a:solidFill>
              </a:rPr>
              <a:t>•  Honest open caveats (each travels with its claim): absolute accuracy modest (~47%); gating is safety not accuracy (harm regime ~2.3%); ultra-terse one-liners lose most of the ranking lift; sparse win is not blanket (raw count wins at n &gt;~ 10) -&gt; a hybrid is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