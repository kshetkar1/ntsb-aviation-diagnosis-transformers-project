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Fifteen-minute plan: one slide on what you flagged last week, one slide on the whole process end to end, then for each thing we changed — the numbers we were getting before, why they weren't close to Zhang's, and what we changed to fix that. Then one complete worked example, and the live app if we have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of Tuesday. You made three points: evacuation isn't a cause of fire — diagnosis and prognosis were mixed; the sparse slide needed clearer explanations; and for Table 4 we agreed to build a real example for the paper. All three are closed — and you approved Beta-CDF, which is now the default. While fixing those we found two more issues ourselves, which I'll show with before-and-after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same process I've been showing you, start to finish, with one change in the middle. The user enters a query — 'engine caught fire during takeoff.' We detect the outcome — fire — and that's our root. And that root is the same 102 fire accidents as your Table 7. We embed the query and find the similar incidents, like before. Then we get our clusters — the 102 fires are grouped into fifteen clusters of similar accidents: cabin fires, electrical fires, engine fires. Every fire is in exactly one cluster. Then the law of total probability, same as I've shown you: probability of a cause given the query is the sum over clusters of probability of the cause given the cluster, times the probability of the cluster given the query. HERE'S THE ONE THING THAT CHANGED since last week: inside that formula, the probability of a cause given a cluster is now computed with exactly your Table 7 counting — same labels, same rules, same denominator. Before, we had our own counting in there, and that's why our numbers weren't close to yours. Now, when the query gives no information, the formula gives your Table 7 back exactly — and when the query does carry information, the difference from Table 7 is exactly what the narrative added. And then we build the tree from that, which I'll show you in a minute. [PAUSE HERE: 'Does this picture make sense before I go into what we 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table for everything we've changed, oldest to newest. The first three you've seen: the fire count was 38 because pre-2006 occurrence files were never merged — fixed, 102 exact; the prior and all 85 Table 7 cells now match to the digit. Row four is your point from Tuesday: evacuation and emergency procedure were showing up as causes — they're consequences — now excluded. Row five, highlighted, is the big one from this week: our chain-rule layer used its own counting inside clusters, so for a fire query it gave airframe zero-point-zero-five-nine when Zhang's table says zero-point-three-one — an L1 distance of 1.96 out of a max of 2. We changed the inside of the chain rule to Zhang's own Table 7 counting, and now it recovers his table exactly — provably, not approximately. Row six: nineteen fires had no cluster because they're legacy records with no narrative; we backfilled them from their structured findings. Everything re-validated after each fix.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before-and-after on the chain-rule layer in detail, same query. Old LTP, first column: airframe at zero-point-zero-five-nine — five times too small — and consequences like evacuation ranked as causes. The fix: keep your chain rule, but compute probability of cause given cluster with Zhang's exact Table 7 estimator inside each cluster. With neutral weights — no query information — the decomposition provably collapses to Zhang's published table: L1 is ten to the minus sixteen, every one of the 85 causes. Then with similarity weights, the engine query pulls weight toward the engine-fire clusters, so loss of engine power rises from 0.088 to 0.110 — and we can show exactly which cluster did that. So his table is now the zero-information special case of our method — we're not near Zhang, we contain Zhang.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end of the pipeline for the same query — the tree. The root is fire over all 102 accidents. Level one is literally Table 7: wiring nine out of 102, loss of engine power nine out of 102, fluid-fuel six, APU five. Level two recurses — causes of causes, like circuit breaker behind wiring. Every edge shows its probability, its support, and the running path probability, so nothing is a black box. And per your correction: no evacuation, no emergency procedure — responses are excluded from diagnosis now.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Table 4 example we agreed on. Probability of fire given wiring and fuel — four cells, real counts. The both-present cell has exactly one incident, so you can see the 0.95 sparse cap engage right there. The neither cell is the four percent base rate — not two times ten to the minus nine. And the toy 0.99 and 0.93 are unreachable from real counts, which confirms the table in the paper was illustrative. This real one goes in our paper.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scoreboard. Every quantity in Zhang's paper that comes from counting or curve-fitting, we reproduce exactly — thirteen out of thirteen numeric targets, zero failures. The two highlighted rows are the new ones: the chain rule provably recovers Table 7, and on the held-out prediction task — guess a hidden incident's cause from its narrative — our method beats the counting baseline on every metric with very strong significance. That's the 'actually better, with comparisons' evidence. So the ask: the build phase is done and validated — I'd like to start the paper, with a draft outline by our next meeting. And if we have time, I can show the live app — every number on these slides is a click 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731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728655" cy="3291840"/>
          </a:xfrm>
          <a:prstGeom prst="rect">
            <a:avLst/>
          </a:prstGeom>
          <a:noFill/>
        </p:spPr>
        <p:txBody>
          <a:bodyPr wrap="square">
            <a:spAutoFit/>
          </a:bodyPr>
          <a:lstStyle/>
          <a:p>
            <a:r>
              <a:rPr sz="4000" b="1">
                <a:solidFill>
                  <a:srgbClr val="FFFFFF"/>
                </a:solidFill>
              </a:rPr>
              <a:t>NTSB Bayesian Network — Friday Update</a:t>
            </a:r>
          </a:p>
          <a:p>
            <a:r>
              <a:rPr sz="2200">
                <a:solidFill>
                  <a:srgbClr val="CFDDEE"/>
                </a:solidFill>
              </a:rPr>
              <a:t>Your feedback → what we changed → the full pipeline, start to finish</a:t>
            </a:r>
          </a:p>
          <a:p>
            <a:pPr>
              <a:spcBef>
                <a:spcPts val="2200"/>
              </a:spcBef>
            </a:pPr>
            <a:r>
              <a:rPr sz="1600">
                <a:solidFill>
                  <a:srgbClr val="FFFFFF"/>
                </a:solidFill>
              </a:rPr>
              <a:t>Presenter: Kanu Shetkar    •    Advisor: Dr. Mahadevan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Last week — what you flagged, and status</a:t>
            </a:r>
          </a:p>
          <a:p>
            <a:r>
              <a:rPr sz="1400">
                <a:solidFill>
                  <a:srgbClr val="CFDDEE"/>
                </a:solidFill>
              </a:rPr>
              <a:t>Every point from Tuesday's discussion has a closed fix</a:t>
            </a:r>
          </a:p>
        </p:txBody>
      </p:sp>
      <p:graphicFrame>
        <p:nvGraphicFramePr>
          <p:cNvPr id="3" name="Table 2"/>
          <p:cNvGraphicFramePr>
            <a:graphicFrameLocks noGrp="1"/>
          </p:cNvGraphicFramePr>
          <p:nvPr/>
        </p:nvGraphicFramePr>
        <p:xfrm>
          <a:off x="502920" y="1463040"/>
          <a:ext cx="11155680" cy="3108960"/>
        </p:xfrm>
        <a:graphic>
          <a:graphicData uri="http://schemas.openxmlformats.org/drawingml/2006/table">
            <a:tbl>
              <a:tblPr firstRow="1" bandRow="1">
                <a:tableStyleId>{5C22544A-7EE6-4342-B048-85BDC9FD1C3A}</a:tableStyleId>
              </a:tblPr>
              <a:tblGrid>
                <a:gridCol w="5669280"/>
                <a:gridCol w="1280160"/>
                <a:gridCol w="4206240"/>
              </a:tblGrid>
              <a:tr h="621792">
                <a:tc>
                  <a:txBody>
                    <a:bodyPr/>
                    <a:lstStyle/>
                    <a:p>
                      <a:r>
                        <a:rPr sz="1400" b="1">
                          <a:solidFill>
                            <a:srgbClr val="FFFFFF"/>
                          </a:solidFill>
                        </a:rPr>
                        <a:t>Your point (last week)</a:t>
                      </a:r>
                    </a:p>
                  </a:txBody>
                  <a:tcPr marL="54864" marR="54864" marT="18288" marB="18288">
                    <a:solidFill>
                      <a:srgbClr val="1F6FB2"/>
                    </a:solidFill>
                  </a:tcPr>
                </a:tc>
                <a:tc>
                  <a:txBody>
                    <a:bodyPr/>
                    <a:lstStyle/>
                    <a:p>
                      <a:pPr algn="ctr"/>
                      <a:r>
                        <a:rPr sz="1400" b="1">
                          <a:solidFill>
                            <a:srgbClr val="FFFFFF"/>
                          </a:solidFill>
                        </a:rPr>
                        <a:t>Status</a:t>
                      </a:r>
                    </a:p>
                  </a:txBody>
                  <a:tcPr marL="54864" marR="54864" marT="18288" marB="18288">
                    <a:solidFill>
                      <a:srgbClr val="1F6FB2"/>
                    </a:solidFill>
                  </a:tcPr>
                </a:tc>
                <a:tc>
                  <a:txBody>
                    <a:bodyPr/>
                    <a:lstStyle/>
                    <a:p>
                      <a:pPr algn="ctr"/>
                      <a:r>
                        <a:rPr sz="1400" b="1">
                          <a:solidFill>
                            <a:srgbClr val="FFFFFF"/>
                          </a:solidFill>
                        </a:rPr>
                        <a:t>Where it's fixed</a:t>
                      </a:r>
                    </a:p>
                  </a:txBody>
                  <a:tcPr marL="54864" marR="54864" marT="18288" marB="18288">
                    <a:solidFill>
                      <a:srgbClr val="1F6FB2"/>
                    </a:solidFill>
                  </a:tcPr>
                </a:tc>
              </a:tr>
              <a:tr h="621792">
                <a:tc>
                  <a:txBody>
                    <a:bodyPr/>
                    <a:lstStyle/>
                    <a:p>
                      <a:r>
                        <a:rPr sz="1400" b="1">
                          <a:solidFill>
                            <a:srgbClr val="222222"/>
                          </a:solidFill>
                        </a:rPr>
                        <a:t>“Evacuation is not a cause for fire — diagnosis and prognosis are mixed up”</a:t>
                      </a:r>
                    </a:p>
                  </a:txBody>
                  <a:tcPr marL="54864" marR="54864" marT="18288" marB="18288">
                    <a:solidFill>
                      <a:srgbClr val="E6F4EA"/>
                    </a:solidFill>
                  </a:tcPr>
                </a:tc>
                <a:tc>
                  <a:txBody>
                    <a:bodyPr/>
                    <a:lstStyle/>
                    <a:p>
                      <a:pPr algn="ctr"/>
                      <a:r>
                        <a:rPr sz="1400" b="1">
                          <a:solidFill>
                            <a:srgbClr val="222222"/>
                          </a:solidFill>
                        </a:rPr>
                        <a:t>FIXED</a:t>
                      </a:r>
                    </a:p>
                  </a:txBody>
                  <a:tcPr marL="54864" marR="54864" marT="18288" marB="18288">
                    <a:solidFill>
                      <a:srgbClr val="E6F4EA"/>
                    </a:solidFill>
                  </a:tcPr>
                </a:tc>
                <a:tc>
                  <a:txBody>
                    <a:bodyPr/>
                    <a:lstStyle/>
                    <a:p>
                      <a:pPr algn="ctr"/>
                      <a:r>
                        <a:rPr sz="1400" b="1">
                          <a:solidFill>
                            <a:srgbClr val="222222"/>
                          </a:solidFill>
                        </a:rPr>
                        <a:t>Response events excluded from diagnosis; trees fully separated</a:t>
                      </a:r>
                    </a:p>
                  </a:txBody>
                  <a:tcPr marL="54864" marR="54864" marT="18288" marB="18288">
                    <a:solidFill>
                      <a:srgbClr val="E6F4EA"/>
                    </a:solidFill>
                  </a:tcPr>
                </a:tc>
              </a:tr>
              <a:tr h="621792">
                <a:tc>
                  <a:txBody>
                    <a:bodyPr/>
                    <a:lstStyle/>
                    <a:p>
                      <a:r>
                        <a:rPr sz="1400" b="1">
                          <a:solidFill>
                            <a:srgbClr val="222222"/>
                          </a:solidFill>
                        </a:rPr>
                        <a:t>Sparse-data slide was hard to follow — “revise it with all the explanations”</a:t>
                      </a:r>
                    </a:p>
                  </a:txBody>
                  <a:tcPr marL="54864" marR="54864" marT="18288" marB="18288">
                    <a:solidFill>
                      <a:srgbClr val="E6F4EA"/>
                    </a:solidFill>
                  </a:tcPr>
                </a:tc>
                <a:tc>
                  <a:txBody>
                    <a:bodyPr/>
                    <a:lstStyle/>
                    <a:p>
                      <a:pPr algn="ctr"/>
                      <a:r>
                        <a:rPr sz="1400" b="1">
                          <a:solidFill>
                            <a:srgbClr val="222222"/>
                          </a:solidFill>
                        </a:rPr>
                        <a:t>REVISED</a:t>
                      </a:r>
                    </a:p>
                  </a:txBody>
                  <a:tcPr marL="54864" marR="54864" marT="18288" marB="18288">
                    <a:solidFill>
                      <a:srgbClr val="E6F4EA"/>
                    </a:solidFill>
                  </a:tcPr>
                </a:tc>
                <a:tc>
                  <a:txBody>
                    <a:bodyPr/>
                    <a:lstStyle/>
                    <a:p>
                      <a:pPr algn="ctr"/>
                      <a:r>
                        <a:rPr sz="1400" b="1">
                          <a:solidFill>
                            <a:srgbClr val="222222"/>
                          </a:solidFill>
                        </a:rPr>
                        <a:t>Every term (pair, n, subsamples, held-out) defined on the slide</a:t>
                      </a:r>
                    </a:p>
                  </a:txBody>
                  <a:tcPr marL="54864" marR="54864" marT="18288" marB="18288">
                    <a:solidFill>
                      <a:srgbClr val="E6F4EA"/>
                    </a:solidFill>
                  </a:tcPr>
                </a:tc>
              </a:tr>
              <a:tr h="621792">
                <a:tc>
                  <a:txBody>
                    <a:bodyPr/>
                    <a:lstStyle/>
                    <a:p>
                      <a:r>
                        <a:rPr sz="1400" b="1">
                          <a:solidFill>
                            <a:srgbClr val="222222"/>
                          </a:solidFill>
                        </a:rPr>
                        <a:t>Table 4: “we will only put the real example in the paper”</a:t>
                      </a:r>
                    </a:p>
                  </a:txBody>
                  <a:tcPr marL="54864" marR="54864" marT="18288" marB="18288">
                    <a:solidFill>
                      <a:srgbClr val="E6F4EA"/>
                    </a:solidFill>
                  </a:tcPr>
                </a:tc>
                <a:tc>
                  <a:txBody>
                    <a:bodyPr/>
                    <a:lstStyle/>
                    <a:p>
                      <a:pPr algn="ctr"/>
                      <a:r>
                        <a:rPr sz="1400" b="1">
                          <a:solidFill>
                            <a:srgbClr val="222222"/>
                          </a:solidFill>
                        </a:rPr>
                        <a:t>BUILT</a:t>
                      </a:r>
                    </a:p>
                  </a:txBody>
                  <a:tcPr marL="54864" marR="54864" marT="18288" marB="18288">
                    <a:solidFill>
                      <a:srgbClr val="E6F4EA"/>
                    </a:solidFill>
                  </a:tcPr>
                </a:tc>
                <a:tc>
                  <a:txBody>
                    <a:bodyPr/>
                    <a:lstStyle/>
                    <a:p>
                      <a:pPr algn="ctr"/>
                      <a:r>
                        <a:rPr sz="1400" b="1">
                          <a:solidFill>
                            <a:srgbClr val="222222"/>
                          </a:solidFill>
                        </a:rPr>
                        <a:t>Real CPT P(fire | wiring, fuel) from 1,742 accidents (slide 7)</a:t>
                      </a:r>
                    </a:p>
                  </a:txBody>
                  <a:tcPr marL="54864" marR="54864" marT="18288" marB="18288">
                    <a:solidFill>
                      <a:srgbClr val="E6F4EA"/>
                    </a:solidFill>
                  </a:tcPr>
                </a:tc>
              </a:tr>
              <a:tr h="621792">
                <a:tc>
                  <a:txBody>
                    <a:bodyPr/>
                    <a:lstStyle/>
                    <a:p>
                      <a:r>
                        <a:rPr sz="1400" b="1">
                          <a:solidFill>
                            <a:srgbClr val="222222"/>
                          </a:solidFill>
                        </a:rPr>
                        <a:t>Beta-CDF: “if it works fine, we can just go with that”</a:t>
                      </a:r>
                    </a:p>
                  </a:txBody>
                  <a:tcPr marL="54864" marR="54864" marT="18288" marB="18288">
                    <a:solidFill>
                      <a:srgbClr val="E6F4EA"/>
                    </a:solidFill>
                  </a:tcPr>
                </a:tc>
                <a:tc>
                  <a:txBody>
                    <a:bodyPr/>
                    <a:lstStyle/>
                    <a:p>
                      <a:pPr algn="ctr"/>
                      <a:r>
                        <a:rPr sz="1400" b="1">
                          <a:solidFill>
                            <a:srgbClr val="222222"/>
                          </a:solidFill>
                        </a:rPr>
                        <a:t>ADOPTED</a:t>
                      </a:r>
                    </a:p>
                  </a:txBody>
                  <a:tcPr marL="54864" marR="54864" marT="18288" marB="18288">
                    <a:solidFill>
                      <a:srgbClr val="E6F4EA"/>
                    </a:solidFill>
                  </a:tcPr>
                </a:tc>
                <a:tc>
                  <a:txBody>
                    <a:bodyPr/>
                    <a:lstStyle/>
                    <a:p>
                      <a:pPr algn="ctr"/>
                      <a:r>
                        <a:rPr sz="1400" b="1">
                          <a:solidFill>
                            <a:srgbClr val="222222"/>
                          </a:solidFill>
                        </a:rPr>
                        <a:t>Default for sparse forward cells (decision documented)</a:t>
                      </a:r>
                    </a:p>
                  </a:txBody>
                  <a:tcPr marL="54864" marR="54864" marT="18288" marB="18288">
                    <a:solidFill>
                      <a:srgbClr val="E6F4EA"/>
                    </a:solidFill>
                  </a:tcPr>
                </a:tc>
              </a:tr>
            </a:tbl>
          </a:graphicData>
        </a:graphic>
      </p:graphicFrame>
      <p:sp>
        <p:nvSpPr>
          <p:cNvPr id="4" name="TextBox 3"/>
          <p:cNvSpPr txBox="1"/>
          <p:nvPr/>
        </p:nvSpPr>
        <p:spPr>
          <a:xfrm>
            <a:off x="502920" y="4892040"/>
            <a:ext cx="11185855" cy="4297680"/>
          </a:xfrm>
          <a:prstGeom prst="rect">
            <a:avLst/>
          </a:prstGeom>
          <a:noFill/>
        </p:spPr>
        <p:txBody>
          <a:bodyPr wrap="square">
            <a:spAutoFit/>
          </a:bodyPr>
          <a:lstStyle/>
          <a:p>
            <a:pPr>
              <a:spcAft>
                <a:spcPts val="600"/>
              </a:spcAft>
            </a:pPr>
            <a:r>
              <a:rPr sz="1500">
                <a:solidFill>
                  <a:srgbClr val="1A1A1A"/>
                </a:solidFill>
              </a:rPr>
              <a:t>•  Plus two things we found ourselves this week — both fixed and re-validated (slides 4–6).</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The whole process — start to finish</a:t>
            </a:r>
          </a:p>
          <a:p>
            <a:r>
              <a:rPr sz="1400">
                <a:solidFill>
                  <a:srgbClr val="CFDDEE"/>
                </a:solidFill>
              </a:rPr>
              <a:t>Query in → diagnosis out. Zhang's counting is INSIDE every step.</a:t>
            </a:r>
          </a:p>
        </p:txBody>
      </p:sp>
      <p:graphicFrame>
        <p:nvGraphicFramePr>
          <p:cNvPr id="3" name="Table 2"/>
          <p:cNvGraphicFramePr>
            <a:graphicFrameLocks noGrp="1"/>
          </p:cNvGraphicFramePr>
          <p:nvPr/>
        </p:nvGraphicFramePr>
        <p:xfrm>
          <a:off x="365760" y="1371600"/>
          <a:ext cx="11430000" cy="4480560"/>
        </p:xfrm>
        <a:graphic>
          <a:graphicData uri="http://schemas.openxmlformats.org/drawingml/2006/table">
            <a:tbl>
              <a:tblPr firstRow="1" bandRow="1">
                <a:tableStyleId>{5C22544A-7EE6-4342-B048-85BDC9FD1C3A}</a:tableStyleId>
              </a:tblPr>
              <a:tblGrid>
                <a:gridCol w="1828800"/>
                <a:gridCol w="4206240"/>
                <a:gridCol w="5394960"/>
              </a:tblGrid>
              <a:tr h="560070">
                <a:tc>
                  <a:txBody>
                    <a:bodyPr/>
                    <a:lstStyle/>
                    <a:p>
                      <a:r>
                        <a:rPr sz="1300" b="1">
                          <a:solidFill>
                            <a:srgbClr val="FFFFFF"/>
                          </a:solidFill>
                        </a:rPr>
                        <a:t>Step</a:t>
                      </a:r>
                    </a:p>
                  </a:txBody>
                  <a:tcPr marL="54864" marR="54864" marT="18288" marB="18288">
                    <a:solidFill>
                      <a:srgbClr val="1F6FB2"/>
                    </a:solidFill>
                  </a:tcPr>
                </a:tc>
                <a:tc>
                  <a:txBody>
                    <a:bodyPr/>
                    <a:lstStyle/>
                    <a:p>
                      <a:pPr algn="ctr"/>
                      <a:r>
                        <a:rPr sz="1300" b="1">
                          <a:solidFill>
                            <a:srgbClr val="FFFFFF"/>
                          </a:solidFill>
                        </a:rPr>
                        <a:t>What happens</a:t>
                      </a:r>
                    </a:p>
                  </a:txBody>
                  <a:tcPr marL="54864" marR="54864" marT="18288" marB="18288">
                    <a:solidFill>
                      <a:srgbClr val="1F6FB2"/>
                    </a:solidFill>
                  </a:tcPr>
                </a:tc>
                <a:tc>
                  <a:txBody>
                    <a:bodyPr/>
                    <a:lstStyle/>
                    <a:p>
                      <a:pPr algn="ctr"/>
                      <a:r>
                        <a:rPr sz="1300" b="1">
                          <a:solidFill>
                            <a:srgbClr val="FFFFFF"/>
                          </a:solidFill>
                        </a:rPr>
                        <a:t>Example: “engine caught fire during takeoff”</a:t>
                      </a:r>
                    </a:p>
                  </a:txBody>
                  <a:tcPr marL="54864" marR="54864" marT="18288" marB="18288">
                    <a:solidFill>
                      <a:srgbClr val="1F6FB2"/>
                    </a:solidFill>
                  </a:tcPr>
                </a:tc>
              </a:tr>
              <a:tr h="560070">
                <a:tc>
                  <a:txBody>
                    <a:bodyPr/>
                    <a:lstStyle/>
                    <a:p>
                      <a:r>
                        <a:rPr sz="1300">
                          <a:solidFill>
                            <a:srgbClr val="222222"/>
                          </a:solidFill>
                        </a:rPr>
                        <a:t>1. Detect outcome</a:t>
                      </a:r>
                    </a:p>
                  </a:txBody>
                  <a:tcPr marL="54864" marR="54864" marT="18288" marB="18288">
                    <a:solidFill>
                      <a:srgbClr val="F4F7FA"/>
                    </a:solidFill>
                  </a:tcPr>
                </a:tc>
                <a:tc>
                  <a:txBody>
                    <a:bodyPr/>
                    <a:lstStyle/>
                    <a:p>
                      <a:pPr algn="ctr"/>
                      <a:r>
                        <a:rPr sz="1300">
                          <a:solidFill>
                            <a:srgbClr val="222222"/>
                          </a:solidFill>
                        </a:rPr>
                        <a:t>Parse the query for an NTSB occurrence</a:t>
                      </a:r>
                    </a:p>
                  </a:txBody>
                  <a:tcPr marL="54864" marR="54864" marT="18288" marB="18288">
                    <a:solidFill>
                      <a:srgbClr val="F4F7FA"/>
                    </a:solidFill>
                  </a:tcPr>
                </a:tc>
                <a:tc>
                  <a:txBody>
                    <a:bodyPr/>
                    <a:lstStyle/>
                    <a:p>
                      <a:pPr algn="ctr"/>
                      <a:r>
                        <a:rPr sz="1300">
                          <a:solidFill>
                            <a:srgbClr val="222222"/>
                          </a:solidFill>
                        </a:rPr>
                        <a:t>“fire” → 102 fire accidents (Zhang's Table 7 denominator)</a:t>
                      </a:r>
                    </a:p>
                  </a:txBody>
                  <a:tcPr marL="54864" marR="54864" marT="18288" marB="18288">
                    <a:solidFill>
                      <a:srgbClr val="F4F7FA"/>
                    </a:solidFill>
                  </a:tcPr>
                </a:tc>
              </a:tr>
              <a:tr h="560070">
                <a:tc>
                  <a:txBody>
                    <a:bodyPr/>
                    <a:lstStyle/>
                    <a:p>
                      <a:r>
                        <a:rPr sz="1300">
                          <a:solidFill>
                            <a:srgbClr val="222222"/>
                          </a:solidFill>
                        </a:rPr>
                        <a:t>2. Embed + retrieve</a:t>
                      </a:r>
                    </a:p>
                  </a:txBody>
                  <a:tcPr marL="54864" marR="54864" marT="18288" marB="18288">
                    <a:solidFill>
                      <a:srgbClr val="FFFFFF"/>
                    </a:solidFill>
                  </a:tcPr>
                </a:tc>
                <a:tc>
                  <a:txBody>
                    <a:bodyPr/>
                    <a:lstStyle/>
                    <a:p>
                      <a:pPr algn="ctr"/>
                      <a:r>
                        <a:rPr sz="1300">
                          <a:solidFill>
                            <a:srgbClr val="222222"/>
                          </a:solidFill>
                        </a:rPr>
                        <a:t>Embed query; rank all incidents by similarity</a:t>
                      </a:r>
                    </a:p>
                  </a:txBody>
                  <a:tcPr marL="54864" marR="54864" marT="18288" marB="18288">
                    <a:solidFill>
                      <a:srgbClr val="FFFFFF"/>
                    </a:solidFill>
                  </a:tcPr>
                </a:tc>
                <a:tc>
                  <a:txBody>
                    <a:bodyPr/>
                    <a:lstStyle/>
                    <a:p>
                      <a:pPr algn="ctr"/>
                      <a:r>
                        <a:rPr sz="1300">
                          <a:solidFill>
                            <a:srgbClr val="222222"/>
                          </a:solidFill>
                        </a:rPr>
                        <a:t>top-400 most similar incidents, with scores</a:t>
                      </a:r>
                    </a:p>
                  </a:txBody>
                  <a:tcPr marL="54864" marR="54864" marT="18288" marB="18288">
                    <a:solidFill>
                      <a:srgbClr val="FFFFFF"/>
                    </a:solidFill>
                  </a:tcPr>
                </a:tc>
              </a:tr>
              <a:tr h="560070">
                <a:tc>
                  <a:txBody>
                    <a:bodyPr/>
                    <a:lstStyle/>
                    <a:p>
                      <a:r>
                        <a:rPr sz="1300">
                          <a:solidFill>
                            <a:srgbClr val="222222"/>
                          </a:solidFill>
                        </a:rPr>
                        <a:t>3. Partition</a:t>
                      </a:r>
                    </a:p>
                  </a:txBody>
                  <a:tcPr marL="54864" marR="54864" marT="18288" marB="18288">
                    <a:solidFill>
                      <a:srgbClr val="F4F7FA"/>
                    </a:solidFill>
                  </a:tcPr>
                </a:tc>
                <a:tc>
                  <a:txBody>
                    <a:bodyPr/>
                    <a:lstStyle/>
                    <a:p>
                      <a:pPr algn="ctr"/>
                      <a:r>
                        <a:rPr sz="1300">
                          <a:solidFill>
                            <a:srgbClr val="222222"/>
                          </a:solidFill>
                        </a:rPr>
                        <a:t>Split the 102 fires into precomputed clusters</a:t>
                      </a:r>
                    </a:p>
                  </a:txBody>
                  <a:tcPr marL="54864" marR="54864" marT="18288" marB="18288">
                    <a:solidFill>
                      <a:srgbClr val="F4F7FA"/>
                    </a:solidFill>
                  </a:tcPr>
                </a:tc>
                <a:tc>
                  <a:txBody>
                    <a:bodyPr/>
                    <a:lstStyle/>
                    <a:p>
                      <a:pPr algn="ctr"/>
                      <a:r>
                        <a:rPr sz="1300">
                          <a:solidFill>
                            <a:srgbClr val="222222"/>
                          </a:solidFill>
                        </a:rPr>
                        <a:t>15 clusters: Cabin Fire (32), Electrical (21), Engine Fire (16)…</a:t>
                      </a:r>
                    </a:p>
                  </a:txBody>
                  <a:tcPr marL="54864" marR="54864" marT="18288" marB="18288">
                    <a:solidFill>
                      <a:srgbClr val="F4F7FA"/>
                    </a:solidFill>
                  </a:tcPr>
                </a:tc>
              </a:tr>
              <a:tr h="560070">
                <a:tc>
                  <a:txBody>
                    <a:bodyPr/>
                    <a:lstStyle/>
                    <a:p>
                      <a:r>
                        <a:rPr sz="1300">
                          <a:solidFill>
                            <a:srgbClr val="222222"/>
                          </a:solidFill>
                        </a:rPr>
                        <a:t>4. P(cause | K)</a:t>
                      </a:r>
                    </a:p>
                  </a:txBody>
                  <a:tcPr marL="54864" marR="54864" marT="18288" marB="18288">
                    <a:solidFill>
                      <a:srgbClr val="FFFFFF"/>
                    </a:solidFill>
                  </a:tcPr>
                </a:tc>
                <a:tc>
                  <a:txBody>
                    <a:bodyPr/>
                    <a:lstStyle/>
                    <a:p>
                      <a:pPr algn="ctr"/>
                      <a:r>
                        <a:rPr sz="1300">
                          <a:solidFill>
                            <a:srgbClr val="222222"/>
                          </a:solidFill>
                        </a:rPr>
                        <a:t>Zhang's Table-7 counting INSIDE each cluster</a:t>
                      </a:r>
                    </a:p>
                  </a:txBody>
                  <a:tcPr marL="54864" marR="54864" marT="18288" marB="18288">
                    <a:solidFill>
                      <a:srgbClr val="FFFFFF"/>
                    </a:solidFill>
                  </a:tcPr>
                </a:tc>
                <a:tc>
                  <a:txBody>
                    <a:bodyPr/>
                    <a:lstStyle/>
                    <a:p>
                      <a:pPr algn="ctr"/>
                      <a:r>
                        <a:rPr sz="1300">
                          <a:solidFill>
                            <a:srgbClr val="222222"/>
                          </a:solidFill>
                        </a:rPr>
                        <a:t>same labels, same edge rules, same denominator convention</a:t>
                      </a:r>
                    </a:p>
                  </a:txBody>
                  <a:tcPr marL="54864" marR="54864" marT="18288" marB="18288">
                    <a:solidFill>
                      <a:srgbClr val="FFFFFF"/>
                    </a:solidFill>
                  </a:tcPr>
                </a:tc>
              </a:tr>
              <a:tr h="560070">
                <a:tc>
                  <a:txBody>
                    <a:bodyPr/>
                    <a:lstStyle/>
                    <a:p>
                      <a:r>
                        <a:rPr sz="1300">
                          <a:solidFill>
                            <a:srgbClr val="222222"/>
                          </a:solidFill>
                        </a:rPr>
                        <a:t>5. P(K | query)</a:t>
                      </a:r>
                    </a:p>
                  </a:txBody>
                  <a:tcPr marL="54864" marR="54864" marT="18288" marB="18288">
                    <a:solidFill>
                      <a:srgbClr val="F4F7FA"/>
                    </a:solidFill>
                  </a:tcPr>
                </a:tc>
                <a:tc>
                  <a:txBody>
                    <a:bodyPr/>
                    <a:lstStyle/>
                    <a:p>
                      <a:pPr algn="ctr"/>
                      <a:r>
                        <a:rPr sz="1300">
                          <a:solidFill>
                            <a:srgbClr val="222222"/>
                          </a:solidFill>
                        </a:rPr>
                        <a:t>Cluster weights — the ONLY place the query enters</a:t>
                      </a:r>
                    </a:p>
                  </a:txBody>
                  <a:tcPr marL="54864" marR="54864" marT="18288" marB="18288">
                    <a:solidFill>
                      <a:srgbClr val="F4F7FA"/>
                    </a:solidFill>
                  </a:tcPr>
                </a:tc>
                <a:tc>
                  <a:txBody>
                    <a:bodyPr/>
                    <a:lstStyle/>
                    <a:p>
                      <a:pPr algn="ctr"/>
                      <a:r>
                        <a:rPr sz="1300">
                          <a:solidFill>
                            <a:srgbClr val="222222"/>
                          </a:solidFill>
                        </a:rPr>
                        <a:t>neutral: N_K/102   •   similarity: retrieval mass per cluster</a:t>
                      </a:r>
                    </a:p>
                  </a:txBody>
                  <a:tcPr marL="54864" marR="54864" marT="18288" marB="18288">
                    <a:solidFill>
                      <a:srgbClr val="F4F7FA"/>
                    </a:solidFill>
                  </a:tcPr>
                </a:tc>
              </a:tr>
              <a:tr h="560070">
                <a:tc>
                  <a:txBody>
                    <a:bodyPr/>
                    <a:lstStyle/>
                    <a:p>
                      <a:r>
                        <a:rPr sz="1300" b="1">
                          <a:solidFill>
                            <a:srgbClr val="222222"/>
                          </a:solidFill>
                        </a:rPr>
                        <a:t>6. Chain rule (LTP)</a:t>
                      </a:r>
                    </a:p>
                  </a:txBody>
                  <a:tcPr marL="54864" marR="54864" marT="18288" marB="18288">
                    <a:solidFill>
                      <a:srgbClr val="E6F4EA"/>
                    </a:solidFill>
                  </a:tcPr>
                </a:tc>
                <a:tc>
                  <a:txBody>
                    <a:bodyPr/>
                    <a:lstStyle/>
                    <a:p>
                      <a:pPr algn="ctr"/>
                      <a:r>
                        <a:rPr sz="1300" b="1">
                          <a:solidFill>
                            <a:srgbClr val="222222"/>
                          </a:solidFill>
                        </a:rPr>
                        <a:t>P(cause|Q) = Σ_K P(cause|K)·P(K|Q)</a:t>
                      </a:r>
                    </a:p>
                  </a:txBody>
                  <a:tcPr marL="54864" marR="54864" marT="18288" marB="18288">
                    <a:solidFill>
                      <a:srgbClr val="E6F4EA"/>
                    </a:solidFill>
                  </a:tcPr>
                </a:tc>
                <a:tc>
                  <a:txBody>
                    <a:bodyPr/>
                    <a:lstStyle/>
                    <a:p>
                      <a:pPr algn="ctr"/>
                      <a:r>
                        <a:rPr sz="1300" b="1">
                          <a:solidFill>
                            <a:srgbClr val="222222"/>
                          </a:solidFill>
                        </a:rPr>
                        <a:t>neutral → Table 7 EXACTLY; similarity → explainable tilt</a:t>
                      </a:r>
                    </a:p>
                  </a:txBody>
                  <a:tcPr marL="54864" marR="54864" marT="18288" marB="18288">
                    <a:solidFill>
                      <a:srgbClr val="E6F4EA"/>
                    </a:solidFill>
                  </a:tcPr>
                </a:tc>
              </a:tr>
              <a:tr h="560070">
                <a:tc>
                  <a:txBody>
                    <a:bodyPr/>
                    <a:lstStyle/>
                    <a:p>
                      <a:r>
                        <a:rPr sz="1300">
                          <a:solidFill>
                            <a:srgbClr val="222222"/>
                          </a:solidFill>
                        </a:rPr>
                        <a:t>7. Build tree</a:t>
                      </a:r>
                    </a:p>
                  </a:txBody>
                  <a:tcPr marL="54864" marR="54864" marT="18288" marB="18288">
                    <a:solidFill>
                      <a:srgbClr val="F4F7FA"/>
                    </a:solidFill>
                  </a:tcPr>
                </a:tc>
                <a:tc>
                  <a:txBody>
                    <a:bodyPr/>
                    <a:lstStyle/>
                    <a:p>
                      <a:pPr algn="ctr"/>
                      <a:r>
                        <a:rPr sz="1300">
                          <a:solidFill>
                            <a:srgbClr val="222222"/>
                          </a:solidFill>
                        </a:rPr>
                        <a:t>Recurse: causes of causes, path probabilities</a:t>
                      </a:r>
                    </a:p>
                  </a:txBody>
                  <a:tcPr marL="54864" marR="54864" marT="18288" marB="18288">
                    <a:solidFill>
                      <a:srgbClr val="F4F7FA"/>
                    </a:solidFill>
                  </a:tcPr>
                </a:tc>
                <a:tc>
                  <a:txBody>
                    <a:bodyPr/>
                    <a:lstStyle/>
                    <a:p>
                      <a:pPr algn="ctr"/>
                      <a:r>
                        <a:rPr sz="1300">
                          <a:solidFill>
                            <a:srgbClr val="222222"/>
                          </a:solidFill>
                        </a:rPr>
                        <a:t>diagnosis tree, upstream causes only (slide 8)</a:t>
                      </a:r>
                    </a:p>
                  </a:txBody>
                  <a:tcPr marL="54864" marR="54864" marT="18288" marB="18288">
                    <a:solidFill>
                      <a:srgbClr val="F4F7FA"/>
                    </a:solidFill>
                  </a:tcPr>
                </a:tc>
              </a:tr>
            </a:tbl>
          </a:graphicData>
        </a:graphic>
      </p:graphicFrame>
      <p:sp>
        <p:nvSpPr>
          <p:cNvPr id="4" name="TextBox 3"/>
          <p:cNvSpPr txBox="1"/>
          <p:nvPr/>
        </p:nvSpPr>
        <p:spPr>
          <a:xfrm>
            <a:off x="502920" y="5989320"/>
            <a:ext cx="11185855" cy="4297680"/>
          </a:xfrm>
          <a:prstGeom prst="rect">
            <a:avLst/>
          </a:prstGeom>
          <a:noFill/>
        </p:spPr>
        <p:txBody>
          <a:bodyPr wrap="square">
            <a:spAutoFit/>
          </a:bodyPr>
          <a:lstStyle/>
          <a:p>
            <a:pPr>
              <a:spcAft>
                <a:spcPts val="600"/>
              </a:spcAft>
            </a:pPr>
            <a:r>
              <a:rPr sz="1200">
                <a:solidFill>
                  <a:srgbClr val="1A1A1A"/>
                </a:solidFill>
              </a:rPr>
              <a:t>•  “Clusters” = the 102 fires grouped into 15 sets of similar accidents (cabin fires, electrical fires, engine fires…); every fire is in exactly one group.</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Everything we changed — before vs after</a:t>
            </a:r>
          </a:p>
          <a:p>
            <a:r>
              <a:rPr sz="1400">
                <a:solidFill>
                  <a:srgbClr val="CFDDEE"/>
                </a:solidFill>
              </a:rPr>
              <a:t>What we were getting, why it wasn't close to Zhang, what we changed</a:t>
            </a:r>
          </a:p>
        </p:txBody>
      </p:sp>
      <p:graphicFrame>
        <p:nvGraphicFramePr>
          <p:cNvPr id="3" name="Table 2"/>
          <p:cNvGraphicFramePr>
            <a:graphicFrameLocks noGrp="1"/>
          </p:cNvGraphicFramePr>
          <p:nvPr/>
        </p:nvGraphicFramePr>
        <p:xfrm>
          <a:off x="320040" y="1371600"/>
          <a:ext cx="11567160" cy="4206240"/>
        </p:xfrm>
        <a:graphic>
          <a:graphicData uri="http://schemas.openxmlformats.org/drawingml/2006/table">
            <a:tbl>
              <a:tblPr firstRow="1" bandRow="1">
                <a:tableStyleId>{5C22544A-7EE6-4342-B048-85BDC9FD1C3A}</a:tableStyleId>
              </a:tblPr>
              <a:tblGrid>
                <a:gridCol w="1554480"/>
                <a:gridCol w="3291840"/>
                <a:gridCol w="3474720"/>
                <a:gridCol w="3246120"/>
              </a:tblGrid>
              <a:tr h="600891">
                <a:tc>
                  <a:txBody>
                    <a:bodyPr/>
                    <a:lstStyle/>
                    <a:p>
                      <a:r>
                        <a:rPr sz="1250" b="1">
                          <a:solidFill>
                            <a:srgbClr val="FFFFFF"/>
                          </a:solidFill>
                        </a:rPr>
                        <a:t>Part</a:t>
                      </a:r>
                    </a:p>
                  </a:txBody>
                  <a:tcPr marL="54864" marR="54864" marT="18288" marB="18288">
                    <a:solidFill>
                      <a:srgbClr val="1F6FB2"/>
                    </a:solidFill>
                  </a:tcPr>
                </a:tc>
                <a:tc>
                  <a:txBody>
                    <a:bodyPr/>
                    <a:lstStyle/>
                    <a:p>
                      <a:pPr algn="ctr"/>
                      <a:r>
                        <a:rPr sz="1250" b="1">
                          <a:solidFill>
                            <a:srgbClr val="FFFFFF"/>
                          </a:solidFill>
                        </a:rPr>
                        <a:t>BEFORE (our numbers)</a:t>
                      </a:r>
                    </a:p>
                  </a:txBody>
                  <a:tcPr marL="54864" marR="54864" marT="18288" marB="18288">
                    <a:solidFill>
                      <a:srgbClr val="1F6FB2"/>
                    </a:solidFill>
                  </a:tcPr>
                </a:tc>
                <a:tc>
                  <a:txBody>
                    <a:bodyPr/>
                    <a:lstStyle/>
                    <a:p>
                      <a:pPr algn="ctr"/>
                      <a:r>
                        <a:rPr sz="1250" b="1">
                          <a:solidFill>
                            <a:srgbClr val="FFFFFF"/>
                          </a:solidFill>
                        </a:rPr>
                        <a:t>Problem vs Zhang</a:t>
                      </a:r>
                    </a:p>
                  </a:txBody>
                  <a:tcPr marL="54864" marR="54864" marT="18288" marB="18288">
                    <a:solidFill>
                      <a:srgbClr val="1F6FB2"/>
                    </a:solidFill>
                  </a:tcPr>
                </a:tc>
                <a:tc>
                  <a:txBody>
                    <a:bodyPr/>
                    <a:lstStyle/>
                    <a:p>
                      <a:pPr algn="ctr"/>
                      <a:r>
                        <a:rPr sz="1250" b="1">
                          <a:solidFill>
                            <a:srgbClr val="FFFFFF"/>
                          </a:solidFill>
                        </a:rPr>
                        <a:t>AFTER (the fix)</a:t>
                      </a:r>
                    </a:p>
                  </a:txBody>
                  <a:tcPr marL="54864" marR="54864" marT="18288" marB="18288">
                    <a:solidFill>
                      <a:srgbClr val="1F6FB2"/>
                    </a:solidFill>
                  </a:tcPr>
                </a:tc>
              </a:tr>
              <a:tr h="600891">
                <a:tc>
                  <a:txBody>
                    <a:bodyPr/>
                    <a:lstStyle/>
                    <a:p>
                      <a:r>
                        <a:rPr sz="1250">
                          <a:solidFill>
                            <a:srgbClr val="222222"/>
                          </a:solidFill>
                        </a:rPr>
                        <a:t>Fire count</a:t>
                      </a:r>
                    </a:p>
                  </a:txBody>
                  <a:tcPr marL="54864" marR="54864" marT="18288" marB="18288">
                    <a:solidFill>
                      <a:srgbClr val="F4F7FA"/>
                    </a:solidFill>
                  </a:tcPr>
                </a:tc>
                <a:tc>
                  <a:txBody>
                    <a:bodyPr/>
                    <a:lstStyle/>
                    <a:p>
                      <a:pPr algn="ctr"/>
                      <a:r>
                        <a:rPr sz="1250">
                          <a:solidFill>
                            <a:srgbClr val="222222"/>
                          </a:solidFill>
                        </a:rPr>
                        <a:t>38 fires</a:t>
                      </a:r>
                    </a:p>
                  </a:txBody>
                  <a:tcPr marL="54864" marR="54864" marT="18288" marB="18288">
                    <a:solidFill>
                      <a:srgbClr val="F4F7FA"/>
                    </a:solidFill>
                  </a:tcPr>
                </a:tc>
                <a:tc>
                  <a:txBody>
                    <a:bodyPr/>
                    <a:lstStyle/>
                    <a:p>
                      <a:pPr algn="ctr"/>
                      <a:r>
                        <a:rPr sz="1250">
                          <a:solidFill>
                            <a:srgbClr val="222222"/>
                          </a:solidFill>
                        </a:rPr>
                        <a:t>Zhang: 102 — pre-2006 occurrence files never merged</a:t>
                      </a:r>
                    </a:p>
                  </a:txBody>
                  <a:tcPr marL="54864" marR="54864" marT="18288" marB="18288">
                    <a:solidFill>
                      <a:srgbClr val="F4F7FA"/>
                    </a:solidFill>
                  </a:tcPr>
                </a:tc>
                <a:tc>
                  <a:txBody>
                    <a:bodyPr/>
                    <a:lstStyle/>
                    <a:p>
                      <a:pPr algn="ctr"/>
                      <a:r>
                        <a:rPr sz="1250">
                          <a:solidFill>
                            <a:srgbClr val="222222"/>
                          </a:solidFill>
                        </a:rPr>
                        <a:t>102 exact (files merged)</a:t>
                      </a:r>
                    </a:p>
                  </a:txBody>
                  <a:tcPr marL="54864" marR="54864" marT="18288" marB="18288">
                    <a:solidFill>
                      <a:srgbClr val="F4F7FA"/>
                    </a:solidFill>
                  </a:tcPr>
                </a:tc>
              </a:tr>
              <a:tr h="600891">
                <a:tc>
                  <a:txBody>
                    <a:bodyPr/>
                    <a:lstStyle/>
                    <a:p>
                      <a:r>
                        <a:rPr sz="1250">
                          <a:solidFill>
                            <a:srgbClr val="222222"/>
                          </a:solidFill>
                        </a:rPr>
                        <a:t>Prior P(fire)</a:t>
                      </a:r>
                    </a:p>
                  </a:txBody>
                  <a:tcPr marL="54864" marR="54864" marT="18288" marB="18288">
                    <a:solidFill>
                      <a:srgbClr val="FFFFFF"/>
                    </a:solidFill>
                  </a:tcPr>
                </a:tc>
                <a:tc>
                  <a:txBody>
                    <a:bodyPr/>
                    <a:lstStyle/>
                    <a:p>
                      <a:pPr algn="ctr"/>
                      <a:r>
                        <a:rPr sz="1250">
                          <a:solidFill>
                            <a:srgbClr val="222222"/>
                          </a:solidFill>
                        </a:rPr>
                        <a:t>wrong denominator</a:t>
                      </a:r>
                    </a:p>
                  </a:txBody>
                  <a:tcPr marL="54864" marR="54864" marT="18288" marB="18288">
                    <a:solidFill>
                      <a:srgbClr val="FFFFFF"/>
                    </a:solidFill>
                  </a:tcPr>
                </a:tc>
                <a:tc>
                  <a:txBody>
                    <a:bodyPr/>
                    <a:lstStyle/>
                    <a:p>
                      <a:pPr algn="ctr"/>
                      <a:r>
                        <a:rPr sz="1250">
                          <a:solidFill>
                            <a:srgbClr val="222222"/>
                          </a:solidFill>
                        </a:rPr>
                        <a:t>Zhang: 5.53e-7 via BTS interpolation</a:t>
                      </a:r>
                    </a:p>
                  </a:txBody>
                  <a:tcPr marL="54864" marR="54864" marT="18288" marB="18288">
                    <a:solidFill>
                      <a:srgbClr val="FFFFFF"/>
                    </a:solidFill>
                  </a:tcPr>
                </a:tc>
                <a:tc>
                  <a:txBody>
                    <a:bodyPr/>
                    <a:lstStyle/>
                    <a:p>
                      <a:pPr algn="ctr"/>
                      <a:r>
                        <a:rPr sz="1250">
                          <a:solidFill>
                            <a:srgbClr val="222222"/>
                          </a:solidFill>
                        </a:rPr>
                        <a:t>5.53e-7 exact (12 decimals)</a:t>
                      </a:r>
                    </a:p>
                  </a:txBody>
                  <a:tcPr marL="54864" marR="54864" marT="18288" marB="18288">
                    <a:solidFill>
                      <a:srgbClr val="FFFFFF"/>
                    </a:solidFill>
                  </a:tcPr>
                </a:tc>
              </a:tr>
              <a:tr h="600891">
                <a:tc>
                  <a:txBody>
                    <a:bodyPr/>
                    <a:lstStyle/>
                    <a:p>
                      <a:r>
                        <a:rPr sz="1250">
                          <a:solidFill>
                            <a:srgbClr val="222222"/>
                          </a:solidFill>
                        </a:rPr>
                        <a:t>Table 7</a:t>
                      </a:r>
                    </a:p>
                  </a:txBody>
                  <a:tcPr marL="54864" marR="54864" marT="18288" marB="18288">
                    <a:solidFill>
                      <a:srgbClr val="F4F7FA"/>
                    </a:solidFill>
                  </a:tcPr>
                </a:tc>
                <a:tc>
                  <a:txBody>
                    <a:bodyPr/>
                    <a:lstStyle/>
                    <a:p>
                      <a:pPr algn="ctr"/>
                      <a:r>
                        <a:rPr sz="1250">
                          <a:solidFill>
                            <a:srgbClr val="222222"/>
                          </a:solidFill>
                        </a:rPr>
                        <a:t>partial / mismatched cells</a:t>
                      </a:r>
                    </a:p>
                  </a:txBody>
                  <a:tcPr marL="54864" marR="54864" marT="18288" marB="18288">
                    <a:solidFill>
                      <a:srgbClr val="F4F7FA"/>
                    </a:solidFill>
                  </a:tcPr>
                </a:tc>
                <a:tc>
                  <a:txBody>
                    <a:bodyPr/>
                    <a:lstStyle/>
                    <a:p>
                      <a:pPr algn="ctr"/>
                      <a:r>
                        <a:rPr sz="1250">
                          <a:solidFill>
                            <a:srgbClr val="222222"/>
                          </a:solidFill>
                        </a:rPr>
                        <a:t>Zhang: 85 causes, count/102</a:t>
                      </a:r>
                    </a:p>
                  </a:txBody>
                  <a:tcPr marL="54864" marR="54864" marT="18288" marB="18288">
                    <a:solidFill>
                      <a:srgbClr val="F4F7FA"/>
                    </a:solidFill>
                  </a:tcPr>
                </a:tc>
                <a:tc>
                  <a:txBody>
                    <a:bodyPr/>
                    <a:lstStyle/>
                    <a:p>
                      <a:pPr algn="ctr"/>
                      <a:r>
                        <a:rPr sz="1250">
                          <a:solidFill>
                            <a:srgbClr val="222222"/>
                          </a:solidFill>
                        </a:rPr>
                        <a:t>85/85 exact (±0.0006)</a:t>
                      </a:r>
                    </a:p>
                  </a:txBody>
                  <a:tcPr marL="54864" marR="54864" marT="18288" marB="18288">
                    <a:solidFill>
                      <a:srgbClr val="F4F7FA"/>
                    </a:solidFill>
                  </a:tcPr>
                </a:tc>
              </a:tr>
              <a:tr h="600891">
                <a:tc>
                  <a:txBody>
                    <a:bodyPr/>
                    <a:lstStyle/>
                    <a:p>
                      <a:r>
                        <a:rPr sz="1250">
                          <a:solidFill>
                            <a:srgbClr val="222222"/>
                          </a:solidFill>
                        </a:rPr>
                        <a:t>Diagnosis tree</a:t>
                      </a:r>
                    </a:p>
                  </a:txBody>
                  <a:tcPr marL="54864" marR="54864" marT="18288" marB="18288">
                    <a:solidFill>
                      <a:srgbClr val="FFFFFF"/>
                    </a:solidFill>
                  </a:tcPr>
                </a:tc>
                <a:tc>
                  <a:txBody>
                    <a:bodyPr/>
                    <a:lstStyle/>
                    <a:p>
                      <a:pPr algn="ctr"/>
                      <a:r>
                        <a:rPr sz="1250">
                          <a:solidFill>
                            <a:srgbClr val="222222"/>
                          </a:solidFill>
                        </a:rPr>
                        <a:t>“Evacuation”, “Emergency procedure” as causes</a:t>
                      </a:r>
                    </a:p>
                  </a:txBody>
                  <a:tcPr marL="54864" marR="54864" marT="18288" marB="18288">
                    <a:solidFill>
                      <a:srgbClr val="FFFFFF"/>
                    </a:solidFill>
                  </a:tcPr>
                </a:tc>
                <a:tc>
                  <a:txBody>
                    <a:bodyPr/>
                    <a:lstStyle/>
                    <a:p>
                      <a:pPr algn="ctr"/>
                      <a:r>
                        <a:rPr sz="1250">
                          <a:solidFill>
                            <a:srgbClr val="222222"/>
                          </a:solidFill>
                        </a:rPr>
                        <a:t>those are CONSEQUENCES (your point)</a:t>
                      </a:r>
                    </a:p>
                  </a:txBody>
                  <a:tcPr marL="54864" marR="54864" marT="18288" marB="18288">
                    <a:solidFill>
                      <a:srgbClr val="FFFFFF"/>
                    </a:solidFill>
                  </a:tcPr>
                </a:tc>
                <a:tc>
                  <a:txBody>
                    <a:bodyPr/>
                    <a:lstStyle/>
                    <a:p>
                      <a:pPr algn="ctr"/>
                      <a:r>
                        <a:rPr sz="1250">
                          <a:solidFill>
                            <a:srgbClr val="222222"/>
                          </a:solidFill>
                        </a:rPr>
                        <a:t>response events excluded; causes only</a:t>
                      </a:r>
                    </a:p>
                  </a:txBody>
                  <a:tcPr marL="54864" marR="54864" marT="18288" marB="18288">
                    <a:solidFill>
                      <a:srgbClr val="FFFFFF"/>
                    </a:solidFill>
                  </a:tcPr>
                </a:tc>
              </a:tr>
              <a:tr h="600891">
                <a:tc>
                  <a:txBody>
                    <a:bodyPr/>
                    <a:lstStyle/>
                    <a:p>
                      <a:r>
                        <a:rPr sz="1250" b="1">
                          <a:solidFill>
                            <a:srgbClr val="222222"/>
                          </a:solidFill>
                        </a:rPr>
                        <a:t>LTP layer</a:t>
                      </a:r>
                    </a:p>
                  </a:txBody>
                  <a:tcPr marL="54864" marR="54864" marT="18288" marB="18288">
                    <a:solidFill>
                      <a:srgbClr val="E6F4EA"/>
                    </a:solidFill>
                  </a:tcPr>
                </a:tc>
                <a:tc>
                  <a:txBody>
                    <a:bodyPr/>
                    <a:lstStyle/>
                    <a:p>
                      <a:pPr algn="ctr"/>
                      <a:r>
                        <a:rPr sz="1250" b="1">
                          <a:solidFill>
                            <a:srgbClr val="222222"/>
                          </a:solidFill>
                        </a:rPr>
                        <a:t>airframe 0.059; L1 to Table 7 = 1.96 (max 2.0)</a:t>
                      </a:r>
                    </a:p>
                  </a:txBody>
                  <a:tcPr marL="54864" marR="54864" marT="18288" marB="18288">
                    <a:solidFill>
                      <a:srgbClr val="E6F4EA"/>
                    </a:solidFill>
                  </a:tcPr>
                </a:tc>
                <a:tc>
                  <a:txBody>
                    <a:bodyPr/>
                    <a:lstStyle/>
                    <a:p>
                      <a:pPr algn="ctr"/>
                      <a:r>
                        <a:rPr sz="1250" b="1">
                          <a:solidFill>
                            <a:srgbClr val="222222"/>
                          </a:solidFill>
                        </a:rPr>
                        <a:t>own counting inside clusters ≠ Zhang's</a:t>
                      </a:r>
                    </a:p>
                  </a:txBody>
                  <a:tcPr marL="54864" marR="54864" marT="18288" marB="18288">
                    <a:solidFill>
                      <a:srgbClr val="E6F4EA"/>
                    </a:solidFill>
                  </a:tcPr>
                </a:tc>
                <a:tc>
                  <a:txBody>
                    <a:bodyPr/>
                    <a:lstStyle/>
                    <a:p>
                      <a:pPr algn="ctr"/>
                      <a:r>
                        <a:rPr sz="1250" b="1">
                          <a:solidFill>
                            <a:srgbClr val="222222"/>
                          </a:solidFill>
                        </a:rPr>
                        <a:t>Zhang counting inside clusters → L1 = 0 (exact)</a:t>
                      </a:r>
                    </a:p>
                  </a:txBody>
                  <a:tcPr marL="54864" marR="54864" marT="18288" marB="18288">
                    <a:solidFill>
                      <a:srgbClr val="E6F4EA"/>
                    </a:solidFill>
                  </a:tcPr>
                </a:tc>
              </a:tr>
              <a:tr h="600894">
                <a:tc>
                  <a:txBody>
                    <a:bodyPr/>
                    <a:lstStyle/>
                    <a:p>
                      <a:r>
                        <a:rPr sz="1250">
                          <a:solidFill>
                            <a:srgbClr val="222222"/>
                          </a:solidFill>
                        </a:rPr>
                        <a:t>Clusters</a:t>
                      </a:r>
                    </a:p>
                  </a:txBody>
                  <a:tcPr marL="54864" marR="54864" marT="18288" marB="18288">
                    <a:solidFill>
                      <a:srgbClr val="FFFFFF"/>
                    </a:solidFill>
                  </a:tcPr>
                </a:tc>
                <a:tc>
                  <a:txBody>
                    <a:bodyPr/>
                    <a:lstStyle/>
                    <a:p>
                      <a:pPr algn="ctr"/>
                      <a:r>
                        <a:rPr sz="1250">
                          <a:solidFill>
                            <a:srgbClr val="222222"/>
                          </a:solidFill>
                        </a:rPr>
                        <a:t>19 of 102 fires had NO cluster</a:t>
                      </a:r>
                    </a:p>
                  </a:txBody>
                  <a:tcPr marL="54864" marR="54864" marT="18288" marB="18288">
                    <a:solidFill>
                      <a:srgbClr val="FFFFFF"/>
                    </a:solidFill>
                  </a:tcPr>
                </a:tc>
                <a:tc>
                  <a:txBody>
                    <a:bodyPr/>
                    <a:lstStyle/>
                    <a:p>
                      <a:pPr algn="ctr"/>
                      <a:r>
                        <a:rPr sz="1250">
                          <a:solidFill>
                            <a:srgbClr val="222222"/>
                          </a:solidFill>
                        </a:rPr>
                        <a:t>legacy records w/o narrative never embedded</a:t>
                      </a:r>
                    </a:p>
                  </a:txBody>
                  <a:tcPr marL="54864" marR="54864" marT="18288" marB="18288">
                    <a:solidFill>
                      <a:srgbClr val="FFFFFF"/>
                    </a:solidFill>
                  </a:tcPr>
                </a:tc>
                <a:tc>
                  <a:txBody>
                    <a:bodyPr/>
                    <a:lstStyle/>
                    <a:p>
                      <a:pPr algn="ctr"/>
                      <a:r>
                        <a:rPr sz="1250">
                          <a:solidFill>
                            <a:srgbClr val="222222"/>
                          </a:solidFill>
                        </a:rPr>
                        <a:t>backfilled from structured data → 102/102</a:t>
                      </a:r>
                    </a:p>
                  </a:txBody>
                  <a:tcPr marL="54864" marR="54864" marT="18288" marB="18288">
                    <a:solidFill>
                      <a:srgbClr val="FFFFFF"/>
                    </a:solidFill>
                  </a:tcPr>
                </a:tc>
              </a:tr>
            </a:tbl>
          </a:graphicData>
        </a:graphic>
      </p:graphicFrame>
      <p:sp>
        <p:nvSpPr>
          <p:cNvPr id="4" name="TextBox 3"/>
          <p:cNvSpPr txBox="1"/>
          <p:nvPr/>
        </p:nvSpPr>
        <p:spPr>
          <a:xfrm>
            <a:off x="502920" y="5806440"/>
            <a:ext cx="11185855" cy="4297680"/>
          </a:xfrm>
          <a:prstGeom prst="rect">
            <a:avLst/>
          </a:prstGeom>
          <a:noFill/>
        </p:spPr>
        <p:txBody>
          <a:bodyPr wrap="square">
            <a:spAutoFit/>
          </a:bodyPr>
          <a:lstStyle/>
          <a:p>
            <a:pPr>
              <a:spcAft>
                <a:spcPts val="600"/>
              </a:spcAft>
            </a:pPr>
            <a:r>
              <a:rPr sz="1200">
                <a:solidFill>
                  <a:srgbClr val="1A1A1A"/>
                </a:solidFill>
              </a:rPr>
              <a:t>•  L1 = total absolute difference between two probability distributions: 0 = identical, 2 = as far apart as mathematically possible.</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The main fix — chain rule now provably matches Zhang</a:t>
            </a:r>
          </a:p>
          <a:p>
            <a:r>
              <a:rPr sz="1400">
                <a:solidFill>
                  <a:srgbClr val="CFDDEE"/>
                </a:solidFill>
              </a:rPr>
              <a:t>P(cause|Q) = Σ_K P(cause|K) · P(K|Q)  with Zhang's counting inside each cluster</a:t>
            </a:r>
          </a:p>
        </p:txBody>
      </p:sp>
      <p:graphicFrame>
        <p:nvGraphicFramePr>
          <p:cNvPr id="3" name="Table 2"/>
          <p:cNvGraphicFramePr>
            <a:graphicFrameLocks noGrp="1"/>
          </p:cNvGraphicFramePr>
          <p:nvPr/>
        </p:nvGraphicFramePr>
        <p:xfrm>
          <a:off x="365760" y="1417320"/>
          <a:ext cx="11430000" cy="3108960"/>
        </p:xfrm>
        <a:graphic>
          <a:graphicData uri="http://schemas.openxmlformats.org/drawingml/2006/table">
            <a:tbl>
              <a:tblPr firstRow="1" bandRow="1">
                <a:tableStyleId>{5C22544A-7EE6-4342-B048-85BDC9FD1C3A}</a:tableStyleId>
              </a:tblPr>
              <a:tblGrid>
                <a:gridCol w="4206240"/>
                <a:gridCol w="1828800"/>
                <a:gridCol w="1828800"/>
                <a:gridCol w="1645920"/>
                <a:gridCol w="1920240"/>
              </a:tblGrid>
              <a:tr h="444137">
                <a:tc>
                  <a:txBody>
                    <a:bodyPr/>
                    <a:lstStyle/>
                    <a:p>
                      <a:r>
                        <a:rPr sz="1300" b="1">
                          <a:solidFill>
                            <a:srgbClr val="FFFFFF"/>
                          </a:solidFill>
                        </a:rPr>
                        <a:t>Top causes, query = “engine caught fire during takeoff”</a:t>
                      </a:r>
                    </a:p>
                  </a:txBody>
                  <a:tcPr marL="54864" marR="54864" marT="18288" marB="18288">
                    <a:solidFill>
                      <a:srgbClr val="1F6FB2"/>
                    </a:solidFill>
                  </a:tcPr>
                </a:tc>
                <a:tc>
                  <a:txBody>
                    <a:bodyPr/>
                    <a:lstStyle/>
                    <a:p>
                      <a:pPr algn="ctr"/>
                      <a:r>
                        <a:rPr sz="1300" b="1">
                          <a:solidFill>
                            <a:srgbClr val="FFFFFF"/>
                          </a:solidFill>
                        </a:rPr>
                        <a:t>OLD LTP</a:t>
                      </a:r>
                    </a:p>
                  </a:txBody>
                  <a:tcPr marL="54864" marR="54864" marT="18288" marB="18288">
                    <a:solidFill>
                      <a:srgbClr val="1F6FB2"/>
                    </a:solidFill>
                  </a:tcPr>
                </a:tc>
                <a:tc>
                  <a:txBody>
                    <a:bodyPr/>
                    <a:lstStyle/>
                    <a:p>
                      <a:pPr algn="ctr"/>
                      <a:r>
                        <a:rPr sz="1300" b="1">
                          <a:solidFill>
                            <a:srgbClr val="FFFFFF"/>
                          </a:solidFill>
                        </a:rPr>
                        <a:t>NEW neutral</a:t>
                      </a:r>
                    </a:p>
                  </a:txBody>
                  <a:tcPr marL="54864" marR="54864" marT="18288" marB="18288">
                    <a:solidFill>
                      <a:srgbClr val="1F6FB2"/>
                    </a:solidFill>
                  </a:tcPr>
                </a:tc>
                <a:tc>
                  <a:txBody>
                    <a:bodyPr/>
                    <a:lstStyle/>
                    <a:p>
                      <a:pPr algn="ctr"/>
                      <a:r>
                        <a:rPr sz="1300" b="1">
                          <a:solidFill>
                            <a:srgbClr val="FFFFFF"/>
                          </a:solidFill>
                        </a:rPr>
                        <a:t>Zhang T7</a:t>
                      </a:r>
                    </a:p>
                  </a:txBody>
                  <a:tcPr marL="54864" marR="54864" marT="18288" marB="18288">
                    <a:solidFill>
                      <a:srgbClr val="1F6FB2"/>
                    </a:solidFill>
                  </a:tcPr>
                </a:tc>
                <a:tc>
                  <a:txBody>
                    <a:bodyPr/>
                    <a:lstStyle/>
                    <a:p>
                      <a:pPr algn="ctr"/>
                      <a:r>
                        <a:rPr sz="1300" b="1">
                          <a:solidFill>
                            <a:srgbClr val="FFFFFF"/>
                          </a:solidFill>
                        </a:rPr>
                        <a:t>NEW similarity</a:t>
                      </a:r>
                    </a:p>
                  </a:txBody>
                  <a:tcPr marL="54864" marR="54864" marT="18288" marB="18288">
                    <a:solidFill>
                      <a:srgbClr val="1F6FB2"/>
                    </a:solidFill>
                  </a:tcPr>
                </a:tc>
              </a:tr>
              <a:tr h="444137">
                <a:tc>
                  <a:txBody>
                    <a:bodyPr/>
                    <a:lstStyle/>
                    <a:p>
                      <a:r>
                        <a:rPr sz="1300">
                          <a:solidFill>
                            <a:srgbClr val="222222"/>
                          </a:solidFill>
                        </a:rPr>
                        <a:t>Airframe/component/system failure</a:t>
                      </a:r>
                    </a:p>
                  </a:txBody>
                  <a:tcPr marL="54864" marR="54864" marT="18288" marB="18288">
                    <a:solidFill>
                      <a:srgbClr val="F4F7FA"/>
                    </a:solidFill>
                  </a:tcPr>
                </a:tc>
                <a:tc>
                  <a:txBody>
                    <a:bodyPr/>
                    <a:lstStyle/>
                    <a:p>
                      <a:pPr algn="ctr"/>
                      <a:r>
                        <a:rPr sz="1300">
                          <a:solidFill>
                            <a:srgbClr val="222222"/>
                          </a:solidFill>
                        </a:rPr>
                        <a:t>0.059</a:t>
                      </a:r>
                    </a:p>
                  </a:txBody>
                  <a:tcPr marL="54864" marR="54864" marT="18288" marB="18288">
                    <a:solidFill>
                      <a:srgbClr val="F4F7FA"/>
                    </a:solidFill>
                  </a:tcPr>
                </a:tc>
                <a:tc>
                  <a:txBody>
                    <a:bodyPr/>
                    <a:lstStyle/>
                    <a:p>
                      <a:pPr algn="ctr"/>
                      <a:r>
                        <a:rPr sz="1300">
                          <a:solidFill>
                            <a:srgbClr val="222222"/>
                          </a:solidFill>
                        </a:rPr>
                        <a:t>0.3137</a:t>
                      </a:r>
                    </a:p>
                  </a:txBody>
                  <a:tcPr marL="54864" marR="54864" marT="18288" marB="18288">
                    <a:solidFill>
                      <a:srgbClr val="F4F7FA"/>
                    </a:solidFill>
                  </a:tcPr>
                </a:tc>
                <a:tc>
                  <a:txBody>
                    <a:bodyPr/>
                    <a:lstStyle/>
                    <a:p>
                      <a:pPr algn="ctr"/>
                      <a:r>
                        <a:rPr sz="1300">
                          <a:solidFill>
                            <a:srgbClr val="222222"/>
                          </a:solidFill>
                        </a:rPr>
                        <a:t>0.3137</a:t>
                      </a:r>
                    </a:p>
                  </a:txBody>
                  <a:tcPr marL="54864" marR="54864" marT="18288" marB="18288">
                    <a:solidFill>
                      <a:srgbClr val="F4F7FA"/>
                    </a:solidFill>
                  </a:tcPr>
                </a:tc>
                <a:tc>
                  <a:txBody>
                    <a:bodyPr/>
                    <a:lstStyle/>
                    <a:p>
                      <a:pPr algn="ctr"/>
                      <a:r>
                        <a:rPr sz="1300">
                          <a:solidFill>
                            <a:srgbClr val="222222"/>
                          </a:solidFill>
                        </a:rPr>
                        <a:t>0.3012</a:t>
                      </a:r>
                    </a:p>
                  </a:txBody>
                  <a:tcPr marL="54864" marR="54864" marT="18288" marB="18288">
                    <a:solidFill>
                      <a:srgbClr val="F4F7FA"/>
                    </a:solidFill>
                  </a:tcPr>
                </a:tc>
              </a:tr>
              <a:tr h="444137">
                <a:tc>
                  <a:txBody>
                    <a:bodyPr/>
                    <a:lstStyle/>
                    <a:p>
                      <a:r>
                        <a:rPr sz="1300">
                          <a:solidFill>
                            <a:srgbClr val="222222"/>
                          </a:solidFill>
                        </a:rPr>
                        <a:t>Electrical system, electric wiring</a:t>
                      </a:r>
                    </a:p>
                  </a:txBody>
                  <a:tcPr marL="54864" marR="54864" marT="18288" marB="18288">
                    <a:solidFill>
                      <a:srgbClr val="FFFFFF"/>
                    </a:solidFill>
                  </a:tcPr>
                </a:tc>
                <a:tc>
                  <a:txBody>
                    <a:bodyPr/>
                    <a:lstStyle/>
                    <a:p>
                      <a:pPr algn="ctr"/>
                      <a:r>
                        <a:rPr sz="1300">
                          <a:solidFill>
                            <a:srgbClr val="222222"/>
                          </a:solidFill>
                        </a:rPr>
                        <a:t>—</a:t>
                      </a:r>
                    </a:p>
                  </a:txBody>
                  <a:tcPr marL="54864" marR="54864" marT="18288" marB="18288">
                    <a:solidFill>
                      <a:srgbClr val="FFFFFF"/>
                    </a:solidFill>
                  </a:tcPr>
                </a:tc>
                <a:tc>
                  <a:txBody>
                    <a:bodyPr/>
                    <a:lstStyle/>
                    <a:p>
                      <a:pPr algn="ctr"/>
                      <a:r>
                        <a:rPr sz="1300">
                          <a:solidFill>
                            <a:srgbClr val="222222"/>
                          </a:solidFill>
                        </a:rPr>
                        <a:t>0.0882</a:t>
                      </a:r>
                    </a:p>
                  </a:txBody>
                  <a:tcPr marL="54864" marR="54864" marT="18288" marB="18288">
                    <a:solidFill>
                      <a:srgbClr val="FFFFFF"/>
                    </a:solidFill>
                  </a:tcPr>
                </a:tc>
                <a:tc>
                  <a:txBody>
                    <a:bodyPr/>
                    <a:lstStyle/>
                    <a:p>
                      <a:pPr algn="ctr"/>
                      <a:r>
                        <a:rPr sz="1300">
                          <a:solidFill>
                            <a:srgbClr val="222222"/>
                          </a:solidFill>
                        </a:rPr>
                        <a:t>0.0882</a:t>
                      </a:r>
                    </a:p>
                  </a:txBody>
                  <a:tcPr marL="54864" marR="54864" marT="18288" marB="18288">
                    <a:solidFill>
                      <a:srgbClr val="FFFFFF"/>
                    </a:solidFill>
                  </a:tcPr>
                </a:tc>
                <a:tc>
                  <a:txBody>
                    <a:bodyPr/>
                    <a:lstStyle/>
                    <a:p>
                      <a:pPr algn="ctr"/>
                      <a:r>
                        <a:rPr sz="1300">
                          <a:solidFill>
                            <a:srgbClr val="222222"/>
                          </a:solidFill>
                        </a:rPr>
                        <a:t>0.0789</a:t>
                      </a:r>
                    </a:p>
                  </a:txBody>
                  <a:tcPr marL="54864" marR="54864" marT="18288" marB="18288">
                    <a:solidFill>
                      <a:srgbClr val="FFFFFF"/>
                    </a:solidFill>
                  </a:tcPr>
                </a:tc>
              </a:tr>
              <a:tr h="444137">
                <a:tc>
                  <a:txBody>
                    <a:bodyPr/>
                    <a:lstStyle/>
                    <a:p>
                      <a:r>
                        <a:rPr sz="1300">
                          <a:solidFill>
                            <a:srgbClr val="222222"/>
                          </a:solidFill>
                        </a:rPr>
                        <a:t>Loss of engine power (total) — mech.</a:t>
                      </a:r>
                    </a:p>
                  </a:txBody>
                  <a:tcPr marL="54864" marR="54864" marT="18288" marB="18288">
                    <a:solidFill>
                      <a:srgbClr val="F4F7FA"/>
                    </a:solidFill>
                  </a:tcPr>
                </a:tc>
                <a:tc>
                  <a:txBody>
                    <a:bodyPr/>
                    <a:lstStyle/>
                    <a:p>
                      <a:pPr algn="ctr"/>
                      <a:r>
                        <a:rPr sz="1300">
                          <a:solidFill>
                            <a:srgbClr val="222222"/>
                          </a:solidFill>
                        </a:rPr>
                        <a:t>0.036</a:t>
                      </a:r>
                    </a:p>
                  </a:txBody>
                  <a:tcPr marL="54864" marR="54864" marT="18288" marB="18288">
                    <a:solidFill>
                      <a:srgbClr val="F4F7FA"/>
                    </a:solidFill>
                  </a:tcPr>
                </a:tc>
                <a:tc>
                  <a:txBody>
                    <a:bodyPr/>
                    <a:lstStyle/>
                    <a:p>
                      <a:pPr algn="ctr"/>
                      <a:r>
                        <a:rPr sz="1300">
                          <a:solidFill>
                            <a:srgbClr val="222222"/>
                          </a:solidFill>
                        </a:rPr>
                        <a:t>0.0882</a:t>
                      </a:r>
                    </a:p>
                  </a:txBody>
                  <a:tcPr marL="54864" marR="54864" marT="18288" marB="18288">
                    <a:solidFill>
                      <a:srgbClr val="F4F7FA"/>
                    </a:solidFill>
                  </a:tcPr>
                </a:tc>
                <a:tc>
                  <a:txBody>
                    <a:bodyPr/>
                    <a:lstStyle/>
                    <a:p>
                      <a:pPr algn="ctr"/>
                      <a:r>
                        <a:rPr sz="1300">
                          <a:solidFill>
                            <a:srgbClr val="222222"/>
                          </a:solidFill>
                        </a:rPr>
                        <a:t>0.0882</a:t>
                      </a:r>
                    </a:p>
                  </a:txBody>
                  <a:tcPr marL="54864" marR="54864" marT="18288" marB="18288">
                    <a:solidFill>
                      <a:srgbClr val="F4F7FA"/>
                    </a:solidFill>
                  </a:tcPr>
                </a:tc>
                <a:tc>
                  <a:txBody>
                    <a:bodyPr/>
                    <a:lstStyle/>
                    <a:p>
                      <a:pPr algn="ctr"/>
                      <a:r>
                        <a:rPr sz="1300">
                          <a:solidFill>
                            <a:srgbClr val="222222"/>
                          </a:solidFill>
                        </a:rPr>
                        <a:t>0.1098</a:t>
                      </a:r>
                    </a:p>
                  </a:txBody>
                  <a:tcPr marL="54864" marR="54864" marT="18288" marB="18288">
                    <a:solidFill>
                      <a:srgbClr val="F4F7FA"/>
                    </a:solidFill>
                  </a:tcPr>
                </a:tc>
              </a:tr>
              <a:tr h="444137">
                <a:tc>
                  <a:txBody>
                    <a:bodyPr/>
                    <a:lstStyle/>
                    <a:p>
                      <a:r>
                        <a:rPr sz="1300">
                          <a:solidFill>
                            <a:srgbClr val="222222"/>
                          </a:solidFill>
                        </a:rPr>
                        <a:t>Fluid, fuel</a:t>
                      </a:r>
                    </a:p>
                  </a:txBody>
                  <a:tcPr marL="54864" marR="54864" marT="18288" marB="18288">
                    <a:solidFill>
                      <a:srgbClr val="FFFFFF"/>
                    </a:solidFill>
                  </a:tcPr>
                </a:tc>
                <a:tc>
                  <a:txBody>
                    <a:bodyPr/>
                    <a:lstStyle/>
                    <a:p>
                      <a:pPr algn="ctr"/>
                      <a:r>
                        <a:rPr sz="1300">
                          <a:solidFill>
                            <a:srgbClr val="222222"/>
                          </a:solidFill>
                        </a:rPr>
                        <a:t>—</a:t>
                      </a:r>
                    </a:p>
                  </a:txBody>
                  <a:tcPr marL="54864" marR="54864" marT="18288" marB="18288">
                    <a:solidFill>
                      <a:srgbClr val="FFFFFF"/>
                    </a:solidFill>
                  </a:tcPr>
                </a:tc>
                <a:tc>
                  <a:txBody>
                    <a:bodyPr/>
                    <a:lstStyle/>
                    <a:p>
                      <a:pPr algn="ctr"/>
                      <a:r>
                        <a:rPr sz="1300">
                          <a:solidFill>
                            <a:srgbClr val="222222"/>
                          </a:solidFill>
                        </a:rPr>
                        <a:t>0.0588</a:t>
                      </a:r>
                    </a:p>
                  </a:txBody>
                  <a:tcPr marL="54864" marR="54864" marT="18288" marB="18288">
                    <a:solidFill>
                      <a:srgbClr val="FFFFFF"/>
                    </a:solidFill>
                  </a:tcPr>
                </a:tc>
                <a:tc>
                  <a:txBody>
                    <a:bodyPr/>
                    <a:lstStyle/>
                    <a:p>
                      <a:pPr algn="ctr"/>
                      <a:r>
                        <a:rPr sz="1300">
                          <a:solidFill>
                            <a:srgbClr val="222222"/>
                          </a:solidFill>
                        </a:rPr>
                        <a:t>0.0588</a:t>
                      </a:r>
                    </a:p>
                  </a:txBody>
                  <a:tcPr marL="54864" marR="54864" marT="18288" marB="18288">
                    <a:solidFill>
                      <a:srgbClr val="FFFFFF"/>
                    </a:solidFill>
                  </a:tcPr>
                </a:tc>
                <a:tc>
                  <a:txBody>
                    <a:bodyPr/>
                    <a:lstStyle/>
                    <a:p>
                      <a:pPr algn="ctr"/>
                      <a:r>
                        <a:rPr sz="1300">
                          <a:solidFill>
                            <a:srgbClr val="222222"/>
                          </a:solidFill>
                        </a:rPr>
                        <a:t>0.0559</a:t>
                      </a:r>
                    </a:p>
                  </a:txBody>
                  <a:tcPr marL="54864" marR="54864" marT="18288" marB="18288">
                    <a:solidFill>
                      <a:srgbClr val="FFFFFF"/>
                    </a:solidFill>
                  </a:tcPr>
                </a:tc>
              </a:tr>
              <a:tr h="444137">
                <a:tc>
                  <a:txBody>
                    <a:bodyPr/>
                    <a:lstStyle/>
                    <a:p>
                      <a:r>
                        <a:rPr sz="1300">
                          <a:solidFill>
                            <a:srgbClr val="222222"/>
                          </a:solidFill>
                        </a:rPr>
                        <a:t>“Evacuation” / “Emergency procedure”</a:t>
                      </a:r>
                    </a:p>
                  </a:txBody>
                  <a:tcPr marL="54864" marR="54864" marT="18288" marB="18288">
                    <a:solidFill>
                      <a:srgbClr val="F4F7FA"/>
                    </a:solidFill>
                  </a:tcPr>
                </a:tc>
                <a:tc>
                  <a:txBody>
                    <a:bodyPr/>
                    <a:lstStyle/>
                    <a:p>
                      <a:pPr algn="ctr"/>
                      <a:r>
                        <a:rPr sz="1300">
                          <a:solidFill>
                            <a:srgbClr val="222222"/>
                          </a:solidFill>
                        </a:rPr>
                        <a:t>ranked as causes</a:t>
                      </a:r>
                    </a:p>
                  </a:txBody>
                  <a:tcPr marL="54864" marR="54864" marT="18288" marB="18288">
                    <a:solidFill>
                      <a:srgbClr val="F4F7FA"/>
                    </a:solidFill>
                  </a:tcPr>
                </a:tc>
                <a:tc>
                  <a:txBody>
                    <a:bodyPr/>
                    <a:lstStyle/>
                    <a:p>
                      <a:pPr algn="ctr"/>
                      <a:r>
                        <a:rPr sz="1300">
                          <a:solidFill>
                            <a:srgbClr val="222222"/>
                          </a:solidFill>
                        </a:rPr>
                        <a:t>excluded</a:t>
                      </a:r>
                    </a:p>
                  </a:txBody>
                  <a:tcPr marL="54864" marR="54864" marT="18288" marB="18288">
                    <a:solidFill>
                      <a:srgbClr val="F4F7FA"/>
                    </a:solidFill>
                  </a:tcPr>
                </a:tc>
                <a:tc>
                  <a:txBody>
                    <a:bodyPr/>
                    <a:lstStyle/>
                    <a:p>
                      <a:pPr algn="ctr"/>
                      <a:r>
                        <a:rPr sz="1300">
                          <a:solidFill>
                            <a:srgbClr val="222222"/>
                          </a:solidFill>
                        </a:rPr>
                        <a:t>not in T7</a:t>
                      </a:r>
                    </a:p>
                  </a:txBody>
                  <a:tcPr marL="54864" marR="54864" marT="18288" marB="18288">
                    <a:solidFill>
                      <a:srgbClr val="F4F7FA"/>
                    </a:solidFill>
                  </a:tcPr>
                </a:tc>
                <a:tc>
                  <a:txBody>
                    <a:bodyPr/>
                    <a:lstStyle/>
                    <a:p>
                      <a:pPr algn="ctr"/>
                      <a:r>
                        <a:rPr sz="1300">
                          <a:solidFill>
                            <a:srgbClr val="222222"/>
                          </a:solidFill>
                        </a:rPr>
                        <a:t>excluded</a:t>
                      </a:r>
                    </a:p>
                  </a:txBody>
                  <a:tcPr marL="54864" marR="54864" marT="18288" marB="18288">
                    <a:solidFill>
                      <a:srgbClr val="F4F7FA"/>
                    </a:solidFill>
                  </a:tcPr>
                </a:tc>
              </a:tr>
              <a:tr h="444138">
                <a:tc>
                  <a:txBody>
                    <a:bodyPr/>
                    <a:lstStyle/>
                    <a:p>
                      <a:r>
                        <a:rPr sz="1300" b="1">
                          <a:solidFill>
                            <a:srgbClr val="222222"/>
                          </a:solidFill>
                        </a:rPr>
                        <a:t>L1 distance to Zhang Table 7</a:t>
                      </a:r>
                    </a:p>
                  </a:txBody>
                  <a:tcPr marL="54864" marR="54864" marT="18288" marB="18288">
                    <a:solidFill>
                      <a:srgbClr val="E6F4EA"/>
                    </a:solidFill>
                  </a:tcPr>
                </a:tc>
                <a:tc>
                  <a:txBody>
                    <a:bodyPr/>
                    <a:lstStyle/>
                    <a:p>
                      <a:pPr algn="ctr"/>
                      <a:r>
                        <a:rPr sz="1300" b="1">
                          <a:solidFill>
                            <a:srgbClr val="222222"/>
                          </a:solidFill>
                        </a:rPr>
                        <a:t>1.96 (of max 2.0)</a:t>
                      </a:r>
                    </a:p>
                  </a:txBody>
                  <a:tcPr marL="54864" marR="54864" marT="18288" marB="18288">
                    <a:solidFill>
                      <a:srgbClr val="E6F4EA"/>
                    </a:solidFill>
                  </a:tcPr>
                </a:tc>
                <a:tc>
                  <a:txBody>
                    <a:bodyPr/>
                    <a:lstStyle/>
                    <a:p>
                      <a:pPr algn="ctr"/>
                      <a:r>
                        <a:rPr sz="1300" b="1">
                          <a:solidFill>
                            <a:srgbClr val="222222"/>
                          </a:solidFill>
                        </a:rPr>
                        <a:t>0 (machine precision)</a:t>
                      </a:r>
                    </a:p>
                  </a:txBody>
                  <a:tcPr marL="54864" marR="54864" marT="18288" marB="18288">
                    <a:solidFill>
                      <a:srgbClr val="E6F4EA"/>
                    </a:solidFill>
                  </a:tcPr>
                </a:tc>
                <a:tc>
                  <a:txBody>
                    <a:bodyPr/>
                    <a:lstStyle/>
                    <a:p>
                      <a:pPr algn="ctr"/>
                      <a:r>
                        <a:rPr sz="1300" b="1">
                          <a:solidFill>
                            <a:srgbClr val="222222"/>
                          </a:solidFill>
                        </a:rPr>
                        <a:t>—</a:t>
                      </a:r>
                    </a:p>
                  </a:txBody>
                  <a:tcPr marL="54864" marR="54864" marT="18288" marB="18288">
                    <a:solidFill>
                      <a:srgbClr val="E6F4EA"/>
                    </a:solidFill>
                  </a:tcPr>
                </a:tc>
                <a:tc>
                  <a:txBody>
                    <a:bodyPr/>
                    <a:lstStyle/>
                    <a:p>
                      <a:pPr algn="ctr"/>
                      <a:r>
                        <a:rPr sz="1300" b="1">
                          <a:solidFill>
                            <a:srgbClr val="222222"/>
                          </a:solidFill>
                        </a:rPr>
                        <a:t>0.33 = the query signal</a:t>
                      </a:r>
                    </a:p>
                  </a:txBody>
                  <a:tcPr marL="54864" marR="54864" marT="18288" marB="18288">
                    <a:solidFill>
                      <a:srgbClr val="E6F4EA"/>
                    </a:solidFill>
                  </a:tcPr>
                </a:tc>
              </a:tr>
            </a:tbl>
          </a:graphicData>
        </a:graphic>
      </p:graphicFrame>
      <p:sp>
        <p:nvSpPr>
          <p:cNvPr id="4" name="TextBox 3"/>
          <p:cNvSpPr txBox="1"/>
          <p:nvPr/>
        </p:nvSpPr>
        <p:spPr>
          <a:xfrm>
            <a:off x="502920" y="4617720"/>
            <a:ext cx="11185855" cy="4297680"/>
          </a:xfrm>
          <a:prstGeom prst="rect">
            <a:avLst/>
          </a:prstGeom>
          <a:noFill/>
        </p:spPr>
        <p:txBody>
          <a:bodyPr wrap="square">
            <a:spAutoFit/>
          </a:bodyPr>
          <a:lstStyle/>
          <a:p>
            <a:pPr>
              <a:spcAft>
                <a:spcPts val="600"/>
              </a:spcAft>
            </a:pPr>
            <a:r>
              <a:rPr sz="1300">
                <a:solidFill>
                  <a:srgbClr val="1A1A1A"/>
                </a:solidFill>
              </a:rPr>
              <a:t>•  NEUTRAL = the query gives no information, so each cluster is weighted by its size (cabin fires: 32/102). SIMILARITY = clusters that resemble the query get more weight.</a:t>
            </a:r>
          </a:p>
          <a:p>
            <a:pPr>
              <a:spcAft>
                <a:spcPts val="600"/>
              </a:spcAft>
            </a:pPr>
            <a:r>
              <a:rPr sz="1300">
                <a:solidFill>
                  <a:srgbClr val="1A1A1A"/>
                </a:solidFill>
              </a:rPr>
              <a:t>•  Neutral → the clusters cancel algebraically → Table 7 EXACTLY, all 85 causes (not approximately — the algebra cancels; proven by an offline test).</a:t>
            </a:r>
          </a:p>
          <a:p>
            <a:pPr>
              <a:spcAft>
                <a:spcPts val="600"/>
              </a:spcAft>
            </a:pPr>
            <a:r>
              <a:rPr sz="1300">
                <a:solidFill>
                  <a:srgbClr val="1A1A1A"/>
                </a:solidFill>
              </a:rPr>
              <a:t>•  Similarity → engine query up-weights engine clusters (0.157→0.199) → LOEP rises 0.088→0.110. The deviation IS the narrative signal — auditable per cluster.</a:t>
            </a:r>
          </a:p>
          <a:p>
            <a:pPr>
              <a:spcAft>
                <a:spcPts val="600"/>
              </a:spcAft>
            </a:pPr>
            <a:r>
              <a:rPr sz="1300">
                <a:solidFill>
                  <a:srgbClr val="1A1A1A"/>
                </a:solidFill>
              </a:rPr>
              <a:t>•  Zhang's Table 7 is now the zero-information special case of our method.</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Full worked example — the diagnosis tree</a:t>
            </a:r>
          </a:p>
          <a:p>
            <a:r>
              <a:rPr sz="1400">
                <a:solidFill>
                  <a:srgbClr val="CFDDEE"/>
                </a:solidFill>
              </a:rPr>
              <a:t>Query: “engine caught fire during takeoff” — upstream causes only, N=102</a:t>
            </a:r>
          </a:p>
        </p:txBody>
      </p:sp>
      <p:pic>
        <p:nvPicPr>
          <p:cNvPr id="3" name="Picture 2" descr="tree_diagnosis_fire.png"/>
          <p:cNvPicPr>
            <a:picLocks noChangeAspect="1"/>
          </p:cNvPicPr>
          <p:nvPr/>
        </p:nvPicPr>
        <p:blipFill>
          <a:blip r:embed="rId2"/>
          <a:stretch>
            <a:fillRect/>
          </a:stretch>
        </p:blipFill>
        <p:spPr>
          <a:xfrm>
            <a:off x="425171" y="1280160"/>
            <a:ext cx="7653577" cy="5029200"/>
          </a:xfrm>
          <a:prstGeom prst="rect">
            <a:avLst/>
          </a:prstGeom>
          <a:ln w="9525">
            <a:solidFill>
              <a:srgbClr val="BBC7D4"/>
            </a:solidFill>
          </a:ln>
        </p:spPr>
      </p:pic>
      <p:sp>
        <p:nvSpPr>
          <p:cNvPr id="4" name="TextBox 3"/>
          <p:cNvSpPr txBox="1"/>
          <p:nvPr/>
        </p:nvSpPr>
        <p:spPr>
          <a:xfrm>
            <a:off x="8321040" y="1417320"/>
            <a:ext cx="3611880" cy="4297680"/>
          </a:xfrm>
          <a:prstGeom prst="rect">
            <a:avLst/>
          </a:prstGeom>
          <a:noFill/>
        </p:spPr>
        <p:txBody>
          <a:bodyPr wrap="square">
            <a:spAutoFit/>
          </a:bodyPr>
          <a:lstStyle/>
          <a:p>
            <a:pPr>
              <a:spcAft>
                <a:spcPts val="600"/>
              </a:spcAft>
            </a:pPr>
            <a:r>
              <a:rPr sz="1300">
                <a:solidFill>
                  <a:srgbClr val="1A1A1A"/>
                </a:solidFill>
              </a:rPr>
              <a:t>•  Root: fire, all 102 accidents (Table 7 denominator).</a:t>
            </a:r>
          </a:p>
          <a:p>
            <a:pPr>
              <a:spcAft>
                <a:spcPts val="600"/>
              </a:spcAft>
            </a:pPr>
            <a:r>
              <a:rPr sz="1300">
                <a:solidFill>
                  <a:srgbClr val="1A1A1A"/>
                </a:solidFill>
              </a:rPr>
              <a:t>•  Level 1 = Table 7 cells: wiring 9/102 = 0.088, LOEP 9/102 = 0.088, fluid/fuel 6/102 = 0.059, APU 5/102 = 0.049.</a:t>
            </a:r>
          </a:p>
          <a:p>
            <a:pPr>
              <a:spcAft>
                <a:spcPts val="600"/>
              </a:spcAft>
            </a:pPr>
            <a:r>
              <a:rPr sz="1300">
                <a:solidFill>
                  <a:srgbClr val="1A1A1A"/>
                </a:solidFill>
              </a:rPr>
              <a:t>•  Level 2 = causes of causes: e.g. wiring ← circuit breaker 2/14, maintenance/installation 2/14.</a:t>
            </a:r>
          </a:p>
          <a:p>
            <a:pPr>
              <a:spcAft>
                <a:spcPts val="600"/>
              </a:spcAft>
            </a:pPr>
            <a:r>
              <a:rPr sz="1300">
                <a:solidFill>
                  <a:srgbClr val="1A1A1A"/>
                </a:solidFill>
              </a:rPr>
              <a:t>•  Each edge: probability, support n/denom, cumulative path probability.</a:t>
            </a:r>
          </a:p>
          <a:p>
            <a:pPr>
              <a:spcAft>
                <a:spcPts val="600"/>
              </a:spcAft>
            </a:pPr>
            <a:r>
              <a:rPr sz="1300">
                <a:solidFill>
                  <a:srgbClr val="1A1A1A"/>
                </a:solidFill>
              </a:rPr>
              <a:t>•  No evacuation, no emergency procedure — responses excluded per your correction.</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Table 4 — the real data-derived example (as agreed)</a:t>
            </a:r>
          </a:p>
          <a:p>
            <a:r>
              <a:rPr sz="1400">
                <a:solidFill>
                  <a:srgbClr val="CFDDEE"/>
                </a:solidFill>
              </a:rPr>
              <a:t>Same format as Zhang's toy Table 4, populated from real NTSB counts</a:t>
            </a:r>
          </a:p>
        </p:txBody>
      </p:sp>
      <p:graphicFrame>
        <p:nvGraphicFramePr>
          <p:cNvPr id="3" name="Table 2"/>
          <p:cNvGraphicFramePr>
            <a:graphicFrameLocks noGrp="1"/>
          </p:cNvGraphicFramePr>
          <p:nvPr/>
        </p:nvGraphicFramePr>
        <p:xfrm>
          <a:off x="457200" y="1554480"/>
          <a:ext cx="9144000" cy="2011680"/>
        </p:xfrm>
        <a:graphic>
          <a:graphicData uri="http://schemas.openxmlformats.org/drawingml/2006/table">
            <a:tbl>
              <a:tblPr firstRow="1" bandRow="1">
                <a:tableStyleId>{5C22544A-7EE6-4342-B048-85BDC9FD1C3A}</a:tableStyleId>
              </a:tblPr>
              <a:tblGrid>
                <a:gridCol w="914400"/>
                <a:gridCol w="914400"/>
                <a:gridCol w="1371600"/>
                <a:gridCol w="1097280"/>
                <a:gridCol w="1280160"/>
                <a:gridCol w="2011680"/>
                <a:gridCol w="1554480"/>
              </a:tblGrid>
              <a:tr h="402336">
                <a:tc>
                  <a:txBody>
                    <a:bodyPr/>
                    <a:lstStyle/>
                    <a:p>
                      <a:r>
                        <a:rPr sz="1300" b="1">
                          <a:solidFill>
                            <a:srgbClr val="FFFFFF"/>
                          </a:solidFill>
                        </a:rPr>
                        <a:t>wiring</a:t>
                      </a:r>
                    </a:p>
                  </a:txBody>
                  <a:tcPr marL="54864" marR="54864" marT="18288" marB="18288">
                    <a:solidFill>
                      <a:srgbClr val="1F6FB2"/>
                    </a:solidFill>
                  </a:tcPr>
                </a:tc>
                <a:tc>
                  <a:txBody>
                    <a:bodyPr/>
                    <a:lstStyle/>
                    <a:p>
                      <a:pPr algn="ctr"/>
                      <a:r>
                        <a:rPr sz="1300" b="1">
                          <a:solidFill>
                            <a:srgbClr val="FFFFFF"/>
                          </a:solidFill>
                        </a:rPr>
                        <a:t>fuel</a:t>
                      </a:r>
                    </a:p>
                  </a:txBody>
                  <a:tcPr marL="54864" marR="54864" marT="18288" marB="18288">
                    <a:solidFill>
                      <a:srgbClr val="1F6FB2"/>
                    </a:solidFill>
                  </a:tcPr>
                </a:tc>
                <a:tc>
                  <a:txBody>
                    <a:bodyPr/>
                    <a:lstStyle/>
                    <a:p>
                      <a:pPr algn="ctr"/>
                      <a:r>
                        <a:rPr sz="1300" b="1">
                          <a:solidFill>
                            <a:srgbClr val="FFFFFF"/>
                          </a:solidFill>
                        </a:rPr>
                        <a:t>n / denom</a:t>
                      </a:r>
                    </a:p>
                  </a:txBody>
                  <a:tcPr marL="54864" marR="54864" marT="18288" marB="18288">
                    <a:solidFill>
                      <a:srgbClr val="1F6FB2"/>
                    </a:solidFill>
                  </a:tcPr>
                </a:tc>
                <a:tc>
                  <a:txBody>
                    <a:bodyPr/>
                    <a:lstStyle/>
                    <a:p>
                      <a:pPr algn="ctr"/>
                      <a:r>
                        <a:rPr sz="1300" b="1">
                          <a:solidFill>
                            <a:srgbClr val="FFFFFF"/>
                          </a:solidFill>
                        </a:rPr>
                        <a:t>raw</a:t>
                      </a:r>
                    </a:p>
                  </a:txBody>
                  <a:tcPr marL="54864" marR="54864" marT="18288" marB="18288">
                    <a:solidFill>
                      <a:srgbClr val="1F6FB2"/>
                    </a:solidFill>
                  </a:tcPr>
                </a:tc>
                <a:tc>
                  <a:txBody>
                    <a:bodyPr/>
                    <a:lstStyle/>
                    <a:p>
                      <a:pPr algn="ctr"/>
                      <a:r>
                        <a:rPr sz="1300" b="1">
                          <a:solidFill>
                            <a:srgbClr val="FFFFFF"/>
                          </a:solidFill>
                        </a:rPr>
                        <a:t>Beta-CDF</a:t>
                      </a:r>
                    </a:p>
                  </a:txBody>
                  <a:tcPr marL="54864" marR="54864" marT="18288" marB="18288">
                    <a:solidFill>
                      <a:srgbClr val="1F6FB2"/>
                    </a:solidFill>
                  </a:tcPr>
                </a:tc>
                <a:tc>
                  <a:txBody>
                    <a:bodyPr/>
                    <a:lstStyle/>
                    <a:p>
                      <a:pPr algn="ctr"/>
                      <a:r>
                        <a:rPr sz="1300" b="1">
                          <a:solidFill>
                            <a:srgbClr val="FFFFFF"/>
                          </a:solidFill>
                        </a:rPr>
                        <a:t>final (0.95 cap)</a:t>
                      </a:r>
                    </a:p>
                  </a:txBody>
                  <a:tcPr marL="54864" marR="54864" marT="18288" marB="18288">
                    <a:solidFill>
                      <a:srgbClr val="1F6FB2"/>
                    </a:solidFill>
                  </a:tcPr>
                </a:tc>
                <a:tc>
                  <a:txBody>
                    <a:bodyPr/>
                    <a:lstStyle/>
                    <a:p>
                      <a:pPr algn="ctr"/>
                      <a:r>
                        <a:rPr sz="1300" b="1">
                          <a:solidFill>
                            <a:srgbClr val="FFFFFF"/>
                          </a:solidFill>
                        </a:rPr>
                        <a:t>Zhang T4 (toy)</a:t>
                      </a:r>
                    </a:p>
                  </a:txBody>
                  <a:tcPr marL="54864" marR="54864" marT="18288" marB="18288">
                    <a:solidFill>
                      <a:srgbClr val="1F6FB2"/>
                    </a:solidFill>
                  </a:tcPr>
                </a:tc>
              </a:tr>
              <a:tr h="402336">
                <a:tc>
                  <a:txBody>
                    <a:bodyPr/>
                    <a:lstStyle/>
                    <a:p>
                      <a:r>
                        <a:rPr sz="1300" b="1">
                          <a:solidFill>
                            <a:srgbClr val="222222"/>
                          </a:solidFill>
                        </a:rPr>
                        <a:t>Yes</a:t>
                      </a:r>
                    </a:p>
                  </a:txBody>
                  <a:tcPr marL="54864" marR="54864" marT="18288" marB="18288">
                    <a:solidFill>
                      <a:srgbClr val="E6F4EA"/>
                    </a:solidFill>
                  </a:tcPr>
                </a:tc>
                <a:tc>
                  <a:txBody>
                    <a:bodyPr/>
                    <a:lstStyle/>
                    <a:p>
                      <a:pPr algn="ctr"/>
                      <a:r>
                        <a:rPr sz="1300" b="1">
                          <a:solidFill>
                            <a:srgbClr val="222222"/>
                          </a:solidFill>
                        </a:rPr>
                        <a:t>Yes</a:t>
                      </a:r>
                    </a:p>
                  </a:txBody>
                  <a:tcPr marL="54864" marR="54864" marT="18288" marB="18288">
                    <a:solidFill>
                      <a:srgbClr val="E6F4EA"/>
                    </a:solidFill>
                  </a:tcPr>
                </a:tc>
                <a:tc>
                  <a:txBody>
                    <a:bodyPr/>
                    <a:lstStyle/>
                    <a:p>
                      <a:pPr algn="ctr"/>
                      <a:r>
                        <a:rPr sz="1300" b="1">
                          <a:solidFill>
                            <a:srgbClr val="222222"/>
                          </a:solidFill>
                        </a:rPr>
                        <a:t>1 / 1</a:t>
                      </a:r>
                    </a:p>
                  </a:txBody>
                  <a:tcPr marL="54864" marR="54864" marT="18288" marB="18288">
                    <a:solidFill>
                      <a:srgbClr val="E6F4EA"/>
                    </a:solidFill>
                  </a:tcPr>
                </a:tc>
                <a:tc>
                  <a:txBody>
                    <a:bodyPr/>
                    <a:lstStyle/>
                    <a:p>
                      <a:pPr algn="ctr"/>
                      <a:r>
                        <a:rPr sz="1300" b="1">
                          <a:solidFill>
                            <a:srgbClr val="222222"/>
                          </a:solidFill>
                        </a:rPr>
                        <a:t>1.000</a:t>
                      </a:r>
                    </a:p>
                  </a:txBody>
                  <a:tcPr marL="54864" marR="54864" marT="18288" marB="18288">
                    <a:solidFill>
                      <a:srgbClr val="E6F4EA"/>
                    </a:solidFill>
                  </a:tcPr>
                </a:tc>
                <a:tc>
                  <a:txBody>
                    <a:bodyPr/>
                    <a:lstStyle/>
                    <a:p>
                      <a:pPr algn="ctr"/>
                      <a:r>
                        <a:rPr sz="1300" b="1">
                          <a:solidFill>
                            <a:srgbClr val="222222"/>
                          </a:solidFill>
                        </a:rPr>
                        <a:t>1.000</a:t>
                      </a:r>
                    </a:p>
                  </a:txBody>
                  <a:tcPr marL="54864" marR="54864" marT="18288" marB="18288">
                    <a:solidFill>
                      <a:srgbClr val="E6F4EA"/>
                    </a:solidFill>
                  </a:tcPr>
                </a:tc>
                <a:tc>
                  <a:txBody>
                    <a:bodyPr/>
                    <a:lstStyle/>
                    <a:p>
                      <a:pPr algn="ctr"/>
                      <a:r>
                        <a:rPr sz="1300" b="1">
                          <a:solidFill>
                            <a:srgbClr val="222222"/>
                          </a:solidFill>
                        </a:rPr>
                        <a:t>0.950  (sparse)</a:t>
                      </a:r>
                    </a:p>
                  </a:txBody>
                  <a:tcPr marL="54864" marR="54864" marT="18288" marB="18288">
                    <a:solidFill>
                      <a:srgbClr val="E6F4EA"/>
                    </a:solidFill>
                  </a:tcPr>
                </a:tc>
                <a:tc>
                  <a:txBody>
                    <a:bodyPr/>
                    <a:lstStyle/>
                    <a:p>
                      <a:pPr algn="ctr"/>
                      <a:r>
                        <a:rPr sz="1300" b="1">
                          <a:solidFill>
                            <a:srgbClr val="222222"/>
                          </a:solidFill>
                        </a:rPr>
                        <a:t>0.99</a:t>
                      </a:r>
                    </a:p>
                  </a:txBody>
                  <a:tcPr marL="54864" marR="54864" marT="18288" marB="18288">
                    <a:solidFill>
                      <a:srgbClr val="E6F4EA"/>
                    </a:solidFill>
                  </a:tcPr>
                </a:tc>
              </a:tr>
              <a:tr h="402336">
                <a:tc>
                  <a:txBody>
                    <a:bodyPr/>
                    <a:lstStyle/>
                    <a:p>
                      <a:r>
                        <a:rPr sz="1300">
                          <a:solidFill>
                            <a:srgbClr val="222222"/>
                          </a:solidFill>
                        </a:rPr>
                        <a:t>Yes</a:t>
                      </a:r>
                    </a:p>
                  </a:txBody>
                  <a:tcPr marL="54864" marR="54864" marT="18288" marB="18288">
                    <a:solidFill>
                      <a:srgbClr val="FFFFFF"/>
                    </a:solidFill>
                  </a:tcPr>
                </a:tc>
                <a:tc>
                  <a:txBody>
                    <a:bodyPr/>
                    <a:lstStyle/>
                    <a:p>
                      <a:pPr algn="ctr"/>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10 / 21</a:t>
                      </a:r>
                    </a:p>
                  </a:txBody>
                  <a:tcPr marL="54864" marR="54864" marT="18288" marB="18288">
                    <a:solidFill>
                      <a:srgbClr val="FFFFFF"/>
                    </a:solidFill>
                  </a:tcPr>
                </a:tc>
                <a:tc>
                  <a:txBody>
                    <a:bodyPr/>
                    <a:lstStyle/>
                    <a:p>
                      <a:pPr algn="ctr"/>
                      <a:r>
                        <a:rPr sz="1300">
                          <a:solidFill>
                            <a:srgbClr val="222222"/>
                          </a:solidFill>
                        </a:rPr>
                        <a:t>0.476</a:t>
                      </a:r>
                    </a:p>
                  </a:txBody>
                  <a:tcPr marL="54864" marR="54864" marT="18288" marB="18288">
                    <a:solidFill>
                      <a:srgbClr val="FFFFFF"/>
                    </a:solidFill>
                  </a:tcPr>
                </a:tc>
                <a:tc>
                  <a:txBody>
                    <a:bodyPr/>
                    <a:lstStyle/>
                    <a:p>
                      <a:pPr algn="ctr"/>
                      <a:r>
                        <a:rPr sz="1300">
                          <a:solidFill>
                            <a:srgbClr val="222222"/>
                          </a:solidFill>
                        </a:rPr>
                        <a:t>0.717</a:t>
                      </a:r>
                    </a:p>
                  </a:txBody>
                  <a:tcPr marL="54864" marR="54864" marT="18288" marB="18288">
                    <a:solidFill>
                      <a:srgbClr val="FFFFFF"/>
                    </a:solidFill>
                  </a:tcPr>
                </a:tc>
                <a:tc>
                  <a:txBody>
                    <a:bodyPr/>
                    <a:lstStyle/>
                    <a:p>
                      <a:pPr algn="ctr"/>
                      <a:r>
                        <a:rPr sz="1300">
                          <a:solidFill>
                            <a:srgbClr val="222222"/>
                          </a:solidFill>
                        </a:rPr>
                        <a:t>0.476</a:t>
                      </a:r>
                    </a:p>
                  </a:txBody>
                  <a:tcPr marL="54864" marR="54864" marT="18288" marB="18288">
                    <a:solidFill>
                      <a:srgbClr val="FFFFFF"/>
                    </a:solidFill>
                  </a:tcPr>
                </a:tc>
                <a:tc>
                  <a:txBody>
                    <a:bodyPr/>
                    <a:lstStyle/>
                    <a:p>
                      <a:pPr algn="ctr"/>
                      <a:r>
                        <a:rPr sz="1300">
                          <a:solidFill>
                            <a:srgbClr val="222222"/>
                          </a:solidFill>
                        </a:rPr>
                        <a:t>0.93</a:t>
                      </a:r>
                    </a:p>
                  </a:txBody>
                  <a:tcPr marL="54864" marR="54864" marT="18288" marB="18288">
                    <a:solidFill>
                      <a:srgbClr val="FFFFFF"/>
                    </a:solidFill>
                  </a:tcPr>
                </a:tc>
              </a:tr>
              <a:tr h="402336">
                <a:tc>
                  <a:txBody>
                    <a:bodyPr/>
                    <a:lstStyle/>
                    <a:p>
                      <a:r>
                        <a:rPr sz="1300">
                          <a:solidFill>
                            <a:srgbClr val="222222"/>
                          </a:solidFill>
                        </a:rPr>
                        <a:t>No</a:t>
                      </a:r>
                    </a:p>
                  </a:txBody>
                  <a:tcPr marL="54864" marR="54864" marT="18288" marB="18288">
                    <a:solidFill>
                      <a:srgbClr val="F4F7FA"/>
                    </a:solidFill>
                  </a:tcPr>
                </a:tc>
                <a:tc>
                  <a:txBody>
                    <a:bodyPr/>
                    <a:lstStyle/>
                    <a:p>
                      <a:pPr algn="ctr"/>
                      <a:r>
                        <a:rPr sz="1300">
                          <a:solidFill>
                            <a:srgbClr val="222222"/>
                          </a:solidFill>
                        </a:rPr>
                        <a:t>Yes</a:t>
                      </a:r>
                    </a:p>
                  </a:txBody>
                  <a:tcPr marL="54864" marR="54864" marT="18288" marB="18288">
                    <a:solidFill>
                      <a:srgbClr val="F4F7FA"/>
                    </a:solidFill>
                  </a:tcPr>
                </a:tc>
                <a:tc>
                  <a:txBody>
                    <a:bodyPr/>
                    <a:lstStyle/>
                    <a:p>
                      <a:pPr algn="ctr"/>
                      <a:r>
                        <a:rPr sz="1300">
                          <a:solidFill>
                            <a:srgbClr val="222222"/>
                          </a:solidFill>
                        </a:rPr>
                        <a:t>23 / 45</a:t>
                      </a:r>
                    </a:p>
                  </a:txBody>
                  <a:tcPr marL="54864" marR="54864" marT="18288" marB="18288">
                    <a:solidFill>
                      <a:srgbClr val="F4F7FA"/>
                    </a:solidFill>
                  </a:tcPr>
                </a:tc>
                <a:tc>
                  <a:txBody>
                    <a:bodyPr/>
                    <a:lstStyle/>
                    <a:p>
                      <a:pPr algn="ctr"/>
                      <a:r>
                        <a:rPr sz="1300">
                          <a:solidFill>
                            <a:srgbClr val="222222"/>
                          </a:solidFill>
                        </a:rPr>
                        <a:t>0.511</a:t>
                      </a:r>
                    </a:p>
                  </a:txBody>
                  <a:tcPr marL="54864" marR="54864" marT="18288" marB="18288">
                    <a:solidFill>
                      <a:srgbClr val="F4F7FA"/>
                    </a:solidFill>
                  </a:tcPr>
                </a:tc>
                <a:tc>
                  <a:txBody>
                    <a:bodyPr/>
                    <a:lstStyle/>
                    <a:p>
                      <a:pPr algn="ctr"/>
                      <a:r>
                        <a:rPr sz="1300">
                          <a:solidFill>
                            <a:srgbClr val="222222"/>
                          </a:solidFill>
                        </a:rPr>
                        <a:t>0.753</a:t>
                      </a:r>
                    </a:p>
                  </a:txBody>
                  <a:tcPr marL="54864" marR="54864" marT="18288" marB="18288">
                    <a:solidFill>
                      <a:srgbClr val="F4F7FA"/>
                    </a:solidFill>
                  </a:tcPr>
                </a:tc>
                <a:tc>
                  <a:txBody>
                    <a:bodyPr/>
                    <a:lstStyle/>
                    <a:p>
                      <a:pPr algn="ctr"/>
                      <a:r>
                        <a:rPr sz="1300">
                          <a:solidFill>
                            <a:srgbClr val="222222"/>
                          </a:solidFill>
                        </a:rPr>
                        <a:t>0.511</a:t>
                      </a:r>
                    </a:p>
                  </a:txBody>
                  <a:tcPr marL="54864" marR="54864" marT="18288" marB="18288">
                    <a:solidFill>
                      <a:srgbClr val="F4F7FA"/>
                    </a:solidFill>
                  </a:tcPr>
                </a:tc>
                <a:tc>
                  <a:txBody>
                    <a:bodyPr/>
                    <a:lstStyle/>
                    <a:p>
                      <a:pPr algn="ctr"/>
                      <a:r>
                        <a:rPr sz="1300">
                          <a:solidFill>
                            <a:srgbClr val="222222"/>
                          </a:solidFill>
                        </a:rPr>
                        <a:t>0.95</a:t>
                      </a:r>
                    </a:p>
                  </a:txBody>
                  <a:tcPr marL="54864" marR="54864" marT="18288" marB="18288">
                    <a:solidFill>
                      <a:srgbClr val="F4F7FA"/>
                    </a:solidFill>
                  </a:tcPr>
                </a:tc>
              </a:tr>
              <a:tr h="402336">
                <a:tc>
                  <a:txBody>
                    <a:bodyPr/>
                    <a:lstStyle/>
                    <a:p>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68 / 1675</a:t>
                      </a:r>
                    </a:p>
                  </a:txBody>
                  <a:tcPr marL="54864" marR="54864" marT="18288" marB="18288">
                    <a:solidFill>
                      <a:srgbClr val="FFFFFF"/>
                    </a:solidFill>
                  </a:tcPr>
                </a:tc>
                <a:tc>
                  <a:txBody>
                    <a:bodyPr/>
                    <a:lstStyle/>
                    <a:p>
                      <a:pPr algn="ctr"/>
                      <a:r>
                        <a:rPr sz="1300">
                          <a:solidFill>
                            <a:srgbClr val="222222"/>
                          </a:solidFill>
                        </a:rPr>
                        <a:t>0.041</a:t>
                      </a:r>
                    </a:p>
                  </a:txBody>
                  <a:tcPr marL="54864" marR="54864" marT="18288" marB="18288">
                    <a:solidFill>
                      <a:srgbClr val="FFFFFF"/>
                    </a:solidFill>
                  </a:tcPr>
                </a:tc>
                <a:tc>
                  <a:txBody>
                    <a:bodyPr/>
                    <a:lstStyle/>
                    <a:p>
                      <a:pPr algn="ctr"/>
                      <a:r>
                        <a:rPr sz="1300">
                          <a:solidFill>
                            <a:srgbClr val="222222"/>
                          </a:solidFill>
                        </a:rPr>
                        <a:t>0.071</a:t>
                      </a:r>
                    </a:p>
                  </a:txBody>
                  <a:tcPr marL="54864" marR="54864" marT="18288" marB="18288">
                    <a:solidFill>
                      <a:srgbClr val="FFFFFF"/>
                    </a:solidFill>
                  </a:tcPr>
                </a:tc>
                <a:tc>
                  <a:txBody>
                    <a:bodyPr/>
                    <a:lstStyle/>
                    <a:p>
                      <a:pPr algn="ctr"/>
                      <a:r>
                        <a:rPr sz="1300">
                          <a:solidFill>
                            <a:srgbClr val="222222"/>
                          </a:solidFill>
                        </a:rPr>
                        <a:t>0.041</a:t>
                      </a:r>
                    </a:p>
                  </a:txBody>
                  <a:tcPr marL="54864" marR="54864" marT="18288" marB="18288">
                    <a:solidFill>
                      <a:srgbClr val="FFFFFF"/>
                    </a:solidFill>
                  </a:tcPr>
                </a:tc>
                <a:tc>
                  <a:txBody>
                    <a:bodyPr/>
                    <a:lstStyle/>
                    <a:p>
                      <a:pPr algn="ctr"/>
                      <a:r>
                        <a:rPr sz="1300">
                          <a:solidFill>
                            <a:srgbClr val="222222"/>
                          </a:solidFill>
                        </a:rPr>
                        <a:t>2e-9</a:t>
                      </a:r>
                    </a:p>
                  </a:txBody>
                  <a:tcPr marL="54864" marR="54864" marT="18288" marB="18288">
                    <a:solidFill>
                      <a:srgbClr val="FFFFFF"/>
                    </a:solidFill>
                  </a:tcPr>
                </a:tc>
              </a:tr>
            </a:tbl>
          </a:graphicData>
        </a:graphic>
      </p:graphicFrame>
      <p:sp>
        <p:nvSpPr>
          <p:cNvPr id="4" name="TextBox 3"/>
          <p:cNvSpPr txBox="1"/>
          <p:nvPr/>
        </p:nvSpPr>
        <p:spPr>
          <a:xfrm>
            <a:off x="502920" y="3794760"/>
            <a:ext cx="11185855" cy="4297680"/>
          </a:xfrm>
          <a:prstGeom prst="rect">
            <a:avLst/>
          </a:prstGeom>
          <a:noFill/>
        </p:spPr>
        <p:txBody>
          <a:bodyPr wrap="square">
            <a:spAutoFit/>
          </a:bodyPr>
          <a:lstStyle/>
          <a:p>
            <a:pPr>
              <a:spcAft>
                <a:spcPts val="600"/>
              </a:spcAft>
            </a:pPr>
            <a:r>
              <a:rPr sz="1400">
                <a:solidFill>
                  <a:srgbClr val="1A1A1A"/>
                </a:solidFill>
              </a:rPr>
              <a:t>•  P(fire | electrical wiring, fuel system) — all four cells from the 1,742-accident window.</a:t>
            </a:r>
          </a:p>
          <a:p>
            <a:pPr>
              <a:spcAft>
                <a:spcPts val="600"/>
              </a:spcAft>
            </a:pPr>
            <a:r>
              <a:rPr sz="1400">
                <a:solidFill>
                  <a:srgbClr val="1A1A1A"/>
                </a:solidFill>
              </a:rPr>
              <a:t>•  The 1/1 sparse cell is where the 0.95 cap / Beta-CDF machinery engages — a live demonstration of the sparse-data problem.</a:t>
            </a:r>
          </a:p>
          <a:p>
            <a:pPr>
              <a:spcAft>
                <a:spcPts val="600"/>
              </a:spcAft>
            </a:pPr>
            <a:r>
              <a:rPr sz="1400">
                <a:solidFill>
                  <a:srgbClr val="1A1A1A"/>
                </a:solidFill>
              </a:rPr>
              <a:t>•  Toy values (0.99/0.93) are unreachable from real counts — confirming Table 4 was illustrative, as you said. THIS table is what goes in the paper.</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Validation scoreboard — and the ask</a:t>
            </a:r>
          </a:p>
          <a:p>
            <a:r>
              <a:rPr sz="1400">
                <a:solidFill>
                  <a:srgbClr val="CFDDEE"/>
                </a:solidFill>
              </a:rPr>
              <a:t>Every numeric target in Zhang's paper that CAN be reproduced, IS — plus a predictive win</a:t>
            </a:r>
          </a:p>
        </p:txBody>
      </p:sp>
      <p:graphicFrame>
        <p:nvGraphicFramePr>
          <p:cNvPr id="3" name="Table 2"/>
          <p:cNvGraphicFramePr>
            <a:graphicFrameLocks noGrp="1"/>
          </p:cNvGraphicFramePr>
          <p:nvPr/>
        </p:nvGraphicFramePr>
        <p:xfrm>
          <a:off x="640080" y="1371600"/>
          <a:ext cx="8778240" cy="3840480"/>
        </p:xfrm>
        <a:graphic>
          <a:graphicData uri="http://schemas.openxmlformats.org/drawingml/2006/table">
            <a:tbl>
              <a:tblPr firstRow="1" bandRow="1">
                <a:tableStyleId>{5C22544A-7EE6-4342-B048-85BDC9FD1C3A}</a:tableStyleId>
              </a:tblPr>
              <a:tblGrid>
                <a:gridCol w="4937760"/>
                <a:gridCol w="3840480"/>
              </a:tblGrid>
              <a:tr h="480060">
                <a:tc>
                  <a:txBody>
                    <a:bodyPr/>
                    <a:lstStyle/>
                    <a:p>
                      <a:r>
                        <a:rPr sz="1400" b="1">
                          <a:solidFill>
                            <a:srgbClr val="FFFFFF"/>
                          </a:solidFill>
                        </a:rPr>
                        <a:t>Check</a:t>
                      </a:r>
                    </a:p>
                  </a:txBody>
                  <a:tcPr marL="54864" marR="54864" marT="18288" marB="18288">
                    <a:solidFill>
                      <a:srgbClr val="1F6FB2"/>
                    </a:solidFill>
                  </a:tcPr>
                </a:tc>
                <a:tc>
                  <a:txBody>
                    <a:bodyPr/>
                    <a:lstStyle/>
                    <a:p>
                      <a:pPr algn="ctr"/>
                      <a:r>
                        <a:rPr sz="1400" b="1">
                          <a:solidFill>
                            <a:srgbClr val="FFFFFF"/>
                          </a:solidFill>
                        </a:rPr>
                        <a:t>Result</a:t>
                      </a:r>
                    </a:p>
                  </a:txBody>
                  <a:tcPr marL="54864" marR="54864" marT="18288" marB="18288">
                    <a:solidFill>
                      <a:srgbClr val="1F6FB2"/>
                    </a:solidFill>
                  </a:tcPr>
                </a:tc>
              </a:tr>
              <a:tr h="480060">
                <a:tc>
                  <a:txBody>
                    <a:bodyPr/>
                    <a:lstStyle/>
                    <a:p>
                      <a:r>
                        <a:rPr sz="1400">
                          <a:solidFill>
                            <a:srgbClr val="222222"/>
                          </a:solidFill>
                        </a:rPr>
                        <a:t>Table 7 (85 causes, denom 102)</a:t>
                      </a:r>
                    </a:p>
                  </a:txBody>
                  <a:tcPr marL="54864" marR="54864" marT="18288" marB="18288">
                    <a:solidFill>
                      <a:srgbClr val="F4F7FA"/>
                    </a:solidFill>
                  </a:tcPr>
                </a:tc>
                <a:tc>
                  <a:txBody>
                    <a:bodyPr/>
                    <a:lstStyle/>
                    <a:p>
                      <a:pPr algn="ctr"/>
                      <a:r>
                        <a:rPr sz="1400">
                          <a:solidFill>
                            <a:srgbClr val="222222"/>
                          </a:solidFill>
                        </a:rPr>
                        <a:t>85/85 exact</a:t>
                      </a:r>
                    </a:p>
                  </a:txBody>
                  <a:tcPr marL="54864" marR="54864" marT="18288" marB="18288">
                    <a:solidFill>
                      <a:srgbClr val="F4F7FA"/>
                    </a:solidFill>
                  </a:tcPr>
                </a:tc>
              </a:tr>
              <a:tr h="480060">
                <a:tc>
                  <a:txBody>
                    <a:bodyPr/>
                    <a:lstStyle/>
                    <a:p>
                      <a:r>
                        <a:rPr sz="1400">
                          <a:solidFill>
                            <a:srgbClr val="222222"/>
                          </a:solidFill>
                        </a:rPr>
                        <a:t>Prior P(fire), BTS denominator</a:t>
                      </a:r>
                    </a:p>
                  </a:txBody>
                  <a:tcPr marL="54864" marR="54864" marT="18288" marB="18288">
                    <a:solidFill>
                      <a:srgbClr val="FFFFFF"/>
                    </a:solidFill>
                  </a:tcPr>
                </a:tc>
                <a:tc>
                  <a:txBody>
                    <a:bodyPr/>
                    <a:lstStyle/>
                    <a:p>
                      <a:pPr algn="ctr"/>
                      <a:r>
                        <a:rPr sz="1400">
                          <a:solidFill>
                            <a:srgbClr val="222222"/>
                          </a:solidFill>
                        </a:rPr>
                        <a:t>5.53e-7 exact (12 decimals)</a:t>
                      </a:r>
                    </a:p>
                  </a:txBody>
                  <a:tcPr marL="54864" marR="54864" marT="18288" marB="18288">
                    <a:solidFill>
                      <a:srgbClr val="FFFFFF"/>
                    </a:solidFill>
                  </a:tcPr>
                </a:tc>
              </a:tr>
              <a:tr h="480060">
                <a:tc>
                  <a:txBody>
                    <a:bodyPr/>
                    <a:lstStyle/>
                    <a:p>
                      <a:r>
                        <a:rPr sz="1400">
                          <a:solidFill>
                            <a:srgbClr val="222222"/>
                          </a:solidFill>
                        </a:rPr>
                        <a:t>Beta-CDF calibration (α, β, MSE)</a:t>
                      </a:r>
                    </a:p>
                  </a:txBody>
                  <a:tcPr marL="54864" marR="54864" marT="18288" marB="18288">
                    <a:solidFill>
                      <a:srgbClr val="F4F7FA"/>
                    </a:solidFill>
                  </a:tcPr>
                </a:tc>
                <a:tc>
                  <a:txBody>
                    <a:bodyPr/>
                    <a:lstStyle/>
                    <a:p>
                      <a:pPr algn="ctr"/>
                      <a:r>
                        <a:rPr sz="1400">
                          <a:solidFill>
                            <a:srgbClr val="222222"/>
                          </a:solidFill>
                        </a:rPr>
                        <a:t>1.046 / 2.026 / 3.4e-7 exact</a:t>
                      </a:r>
                    </a:p>
                  </a:txBody>
                  <a:tcPr marL="54864" marR="54864" marT="18288" marB="18288">
                    <a:solidFill>
                      <a:srgbClr val="F4F7FA"/>
                    </a:solidFill>
                  </a:tcPr>
                </a:tc>
              </a:tr>
              <a:tr h="480060">
                <a:tc>
                  <a:txBody>
                    <a:bodyPr/>
                    <a:lstStyle/>
                    <a:p>
                      <a:r>
                        <a:rPr sz="1400">
                          <a:solidFill>
                            <a:srgbClr val="222222"/>
                          </a:solidFill>
                        </a:rPr>
                        <a:t>Table 9 forward edges</a:t>
                      </a:r>
                    </a:p>
                  </a:txBody>
                  <a:tcPr marL="54864" marR="54864" marT="18288" marB="18288">
                    <a:solidFill>
                      <a:srgbClr val="FFFFFF"/>
                    </a:solidFill>
                  </a:tcPr>
                </a:tc>
                <a:tc>
                  <a:txBody>
                    <a:bodyPr/>
                    <a:lstStyle/>
                    <a:p>
                      <a:pPr algn="ctr"/>
                      <a:r>
                        <a:rPr sz="1400">
                          <a:solidFill>
                            <a:srgbClr val="222222"/>
                          </a:solidFill>
                        </a:rPr>
                        <a:t>0.95 / 0.50 / 0.95 / 0.1429 exact</a:t>
                      </a:r>
                    </a:p>
                  </a:txBody>
                  <a:tcPr marL="54864" marR="54864" marT="18288" marB="18288">
                    <a:solidFill>
                      <a:srgbClr val="FFFFFF"/>
                    </a:solidFill>
                  </a:tcPr>
                </a:tc>
              </a:tr>
              <a:tr h="480060">
                <a:tc>
                  <a:txBody>
                    <a:bodyPr/>
                    <a:lstStyle/>
                    <a:p>
                      <a:r>
                        <a:rPr sz="1400">
                          <a:solidFill>
                            <a:srgbClr val="222222"/>
                          </a:solidFill>
                        </a:rPr>
                        <a:t>Full parity suite (offline)</a:t>
                      </a:r>
                    </a:p>
                  </a:txBody>
                  <a:tcPr marL="54864" marR="54864" marT="18288" marB="18288">
                    <a:solidFill>
                      <a:srgbClr val="F4F7FA"/>
                    </a:solidFill>
                  </a:tcPr>
                </a:tc>
                <a:tc>
                  <a:txBody>
                    <a:bodyPr/>
                    <a:lstStyle/>
                    <a:p>
                      <a:pPr algn="ctr"/>
                      <a:r>
                        <a:rPr sz="1400">
                          <a:solidFill>
                            <a:srgbClr val="222222"/>
                          </a:solidFill>
                        </a:rPr>
                        <a:t>13 PASS / 0 FAIL</a:t>
                      </a:r>
                    </a:p>
                  </a:txBody>
                  <a:tcPr marL="54864" marR="54864" marT="18288" marB="18288">
                    <a:solidFill>
                      <a:srgbClr val="F4F7FA"/>
                    </a:solidFill>
                  </a:tcPr>
                </a:tc>
              </a:tr>
              <a:tr h="480060">
                <a:tc>
                  <a:txBody>
                    <a:bodyPr/>
                    <a:lstStyle/>
                    <a:p>
                      <a:r>
                        <a:rPr sz="1400" b="1">
                          <a:solidFill>
                            <a:srgbClr val="222222"/>
                          </a:solidFill>
                        </a:rPr>
                        <a:t>Chain rule → Table 7 (neutral)</a:t>
                      </a:r>
                    </a:p>
                  </a:txBody>
                  <a:tcPr marL="54864" marR="54864" marT="18288" marB="18288">
                    <a:solidFill>
                      <a:srgbClr val="E6F4EA"/>
                    </a:solidFill>
                  </a:tcPr>
                </a:tc>
                <a:tc>
                  <a:txBody>
                    <a:bodyPr/>
                    <a:lstStyle/>
                    <a:p>
                      <a:pPr algn="ctr"/>
                      <a:r>
                        <a:rPr sz="1400" b="1">
                          <a:solidFill>
                            <a:srgbClr val="222222"/>
                          </a:solidFill>
                        </a:rPr>
                        <a:t>EXACT — proven, tested</a:t>
                      </a:r>
                    </a:p>
                  </a:txBody>
                  <a:tcPr marL="54864" marR="54864" marT="18288" marB="18288">
                    <a:solidFill>
                      <a:srgbClr val="E6F4EA"/>
                    </a:solidFill>
                  </a:tcPr>
                </a:tc>
              </a:tr>
              <a:tr h="480060">
                <a:tc>
                  <a:txBody>
                    <a:bodyPr/>
                    <a:lstStyle/>
                    <a:p>
                      <a:r>
                        <a:rPr sz="1400" b="1">
                          <a:solidFill>
                            <a:srgbClr val="222222"/>
                          </a:solidFill>
                        </a:rPr>
                        <a:t>Held-out diagnosis vs Zhang counting</a:t>
                      </a:r>
                    </a:p>
                  </a:txBody>
                  <a:tcPr marL="54864" marR="54864" marT="18288" marB="18288">
                    <a:solidFill>
                      <a:srgbClr val="E6F4EA"/>
                    </a:solidFill>
                  </a:tcPr>
                </a:tc>
                <a:tc>
                  <a:txBody>
                    <a:bodyPr/>
                    <a:lstStyle/>
                    <a:p>
                      <a:pPr algn="ctr"/>
                      <a:r>
                        <a:rPr sz="1400" b="1">
                          <a:solidFill>
                            <a:srgbClr val="222222"/>
                          </a:solidFill>
                        </a:rPr>
                        <a:t>BETTER on every metric: top-1 +5.6pp, log-loss −0.23 (p ≤ 1e-8)</a:t>
                      </a:r>
                    </a:p>
                  </a:txBody>
                  <a:tcPr marL="54864" marR="54864" marT="18288" marB="18288">
                    <a:solidFill>
                      <a:srgbClr val="E6F4EA"/>
                    </a:solidFill>
                  </a:tcPr>
                </a:tc>
              </a:tr>
            </a:tbl>
          </a:graphicData>
        </a:graphic>
      </p:graphicFrame>
      <p:sp>
        <p:nvSpPr>
          <p:cNvPr id="4" name="TextBox 3"/>
          <p:cNvSpPr txBox="1"/>
          <p:nvPr/>
        </p:nvSpPr>
        <p:spPr>
          <a:xfrm>
            <a:off x="502920" y="5257800"/>
            <a:ext cx="11185855" cy="4297680"/>
          </a:xfrm>
          <a:prstGeom prst="rect">
            <a:avLst/>
          </a:prstGeom>
          <a:noFill/>
        </p:spPr>
        <p:txBody>
          <a:bodyPr wrap="square">
            <a:spAutoFit/>
          </a:bodyPr>
          <a:lstStyle/>
          <a:p>
            <a:pPr>
              <a:spcAft>
                <a:spcPts val="600"/>
              </a:spcAft>
            </a:pPr>
            <a:r>
              <a:rPr sz="1300">
                <a:solidFill>
                  <a:srgbClr val="1A1A1A"/>
                </a:solidFill>
              </a:rPr>
              <a:t>•  Held-out test in plain terms: hide each incident's answer, give both methods only the narrative, ask them to guess the cause — ours guesses right more often, with better-calibrated confidence, far beyond chance.</a:t>
            </a:r>
          </a:p>
          <a:p>
            <a:pPr>
              <a:spcAft>
                <a:spcPts val="600"/>
              </a:spcAft>
            </a:pPr>
            <a:r>
              <a:rPr sz="1300">
                <a:solidFill>
                  <a:srgbClr val="1A1A1A"/>
                </a:solidFill>
              </a:rPr>
              <a:t>•  Ask: the build phase is validated end to end — I'd like to start writing the paper (draft outline by next meeting).</a:t>
            </a:r>
          </a:p>
          <a:p>
            <a:pPr>
              <a:spcAft>
                <a:spcPts val="600"/>
              </a:spcAft>
            </a:pPr>
            <a:r>
              <a:rPr sz="1300">
                <a:solidFill>
                  <a:srgbClr val="1A1A1A"/>
                </a:solidFill>
              </a:rPr>
              <a:t>•  Live demo available: the Streamlit app shows every step of this pipeline interactively.</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