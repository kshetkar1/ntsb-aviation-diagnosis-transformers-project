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8" r:id="rId10"/>
    <p:sldId id="262" r:id="rId11"/>
    <p:sldId id="263" r:id="rId12"/>
    <p:sldId id="264" r:id="rId13"/>
  </p:sldIdLst>
  <p:sldSz cx="12192000" cy="6858000"/>
  <p:notesSz cx="7315200" cy="9601200"/>
  <p:embeddedFontLst>
    <p:embeddedFont>
      <p:font typeface="Arial Narrow" panose="020B0604020202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YmLYUP/gi5GMFGGJ0fy9g1HDH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74504F-1B09-4FFA-8A9C-1B817F76BD0B}">
  <a:tblStyle styleId="{B174504F-1B09-4FFA-8A9C-1B817F76BD0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84"/>
    <p:restoredTop sz="96932"/>
  </p:normalViewPr>
  <p:slideViewPr>
    <p:cSldViewPr snapToGrid="0">
      <p:cViewPr>
        <p:scale>
          <a:sx n="100" d="100"/>
          <a:sy n="100" d="100"/>
        </p:scale>
        <p:origin x="32" y="1248"/>
      </p:cViewPr>
      <p:guideLst>
        <p:guide orient="horz" pos="2160"/>
        <p:guide pos="38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8" cy="479425"/>
          </a:xfrm>
          <a:prstGeom prst="rect">
            <a:avLst/>
          </a:prstGeom>
          <a:noFill/>
          <a:ln>
            <a:noFill/>
          </a:ln>
        </p:spPr>
        <p:txBody>
          <a:bodyPr spcFirstLastPara="1" wrap="square" lIns="99050" tIns="49525" rIns="99050" bIns="4952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4144963" y="0"/>
            <a:ext cx="3170237" cy="479425"/>
          </a:xfrm>
          <a:prstGeom prst="rect">
            <a:avLst/>
          </a:prstGeom>
          <a:noFill/>
          <a:ln>
            <a:noFill/>
          </a:ln>
        </p:spPr>
        <p:txBody>
          <a:bodyPr spcFirstLastPara="1" wrap="square" lIns="99050" tIns="49525" rIns="99050" bIns="495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458788" y="720725"/>
            <a:ext cx="6397625"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0"/>
            <a:headEnd type="none" w="sm" len="sm"/>
            <a:tailEnd type="none" w="sm" len="sm"/>
          </a:ln>
        </p:spPr>
        <p:txBody>
          <a:bodyPr/>
          <a:lstStyle/>
          <a:p>
            <a:endParaRPr lang="en-US"/>
          </a:p>
        </p:txBody>
      </p:sp>
      <p:sp>
        <p:nvSpPr>
          <p:cNvPr id="6" name="Google Shape;6;n"/>
          <p:cNvSpPr txBox="1">
            <a:spLocks noGrp="1"/>
          </p:cNvSpPr>
          <p:nvPr>
            <p:ph type="body" idx="1"/>
          </p:nvPr>
        </p:nvSpPr>
        <p:spPr>
          <a:xfrm>
            <a:off x="976313" y="4559300"/>
            <a:ext cx="5362575" cy="4321175"/>
          </a:xfrm>
          <a:prstGeom prst="rect">
            <a:avLst/>
          </a:prstGeom>
          <a:noFill/>
          <a:ln>
            <a:noFill/>
          </a:ln>
        </p:spPr>
        <p:txBody>
          <a:bodyPr spcFirstLastPara="1" wrap="square" lIns="99050" tIns="49525" rIns="99050" bIns="49525"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21775"/>
            <a:ext cx="3170238" cy="479425"/>
          </a:xfrm>
          <a:prstGeom prst="rect">
            <a:avLst/>
          </a:prstGeom>
          <a:noFill/>
          <a:ln>
            <a:noFill/>
          </a:ln>
        </p:spPr>
        <p:txBody>
          <a:bodyPr spcFirstLastPara="1" wrap="square" lIns="99050" tIns="49525" rIns="99050" bIns="4952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4144963" y="9121775"/>
            <a:ext cx="3170237" cy="479425"/>
          </a:xfrm>
          <a:prstGeom prst="rect">
            <a:avLst/>
          </a:prstGeom>
          <a:noFill/>
          <a:ln>
            <a:noFill/>
          </a:ln>
        </p:spPr>
        <p:txBody>
          <a:bodyPr spcFirstLastPara="1" wrap="square" lIns="99050" tIns="49525" rIns="99050"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Times"/>
                <a:ea typeface="Times"/>
                <a:cs typeface="Times"/>
                <a:sym typeface="Times"/>
              </a:rPr>
              <a:t>‹#›</a:t>
            </a:fld>
            <a:endParaRPr sz="13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dirty="0"/>
              <a:t>Close out the Table 4 questions from last week first, then the two changes in the pipeline, then the live demo, then the road to Friday.</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lang="en-US" dirty="0"/>
              <a:t>1. </a:t>
            </a:r>
            <a:endParaRPr dirty="0"/>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pPr>
              <a:buFontTx/>
              <a:buChar char="-"/>
            </a:pPr>
            <a:r>
              <a:rPr lang="en-US" dirty="0"/>
              <a:t>My counts didn’t match, so I looked where his numbers could come from</a:t>
            </a:r>
          </a:p>
          <a:p>
            <a:pPr>
              <a:buFontTx/>
              <a:buChar char="-"/>
            </a:pPr>
            <a:r>
              <a:rPr lang="en-US" dirty="0"/>
              <a:t>Frist the papers own math, Equation 9 on page 8 computes this exact conditional – fire given wiring overheating – and gets 1 over 102, about 0.01. Table 4 prints 0.95 for the same thing. So the paper disagrees with itself</a:t>
            </a:r>
          </a:p>
          <a:p>
            <a:pPr>
              <a:buFontTx/>
              <a:buChar char="-"/>
            </a:pPr>
            <a:r>
              <a:rPr lang="en-US" dirty="0"/>
              <a:t>Second, the papers own words. Page 7 says there is no record of wiring overheating and break wear happening together in the dataset, so the key cell literally has nothing to count and I verified that its empty </a:t>
            </a:r>
          </a:p>
          <a:p>
            <a:pPr>
              <a:buFontTx/>
              <a:buChar char="-"/>
            </a:pPr>
            <a:r>
              <a:rPr lang="en-US" dirty="0"/>
              <a:t>If you take table 3,4,5 and apply bayes rule, you reproduce every number in figure 3 exactly. That is what table 4 is for. The input to the section 3 teaching walkthrough, not an output from the data</a:t>
            </a:r>
          </a:p>
          <a:p>
            <a:pPr>
              <a:buFontTx/>
              <a:buChar char="-"/>
            </a:pPr>
            <a:r>
              <a:rPr lang="en-US" dirty="0"/>
              <a:t>Wherever the paper counts, my counts match to the digit, but table 4 was never counted </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pPr>
              <a:buFontTx/>
              <a:buChar char="-"/>
            </a:pPr>
            <a:r>
              <a:rPr lang="en-US" dirty="0"/>
              <a:t>This is the same format at Zhang’s Table 4 with every cell counted from the NTSB data</a:t>
            </a:r>
          </a:p>
          <a:p>
            <a:pPr>
              <a:buFontTx/>
              <a:buChar char="-"/>
            </a:pPr>
            <a:r>
              <a:rPr lang="en-US" dirty="0"/>
              <a:t>And I computed 2 independent ways. </a:t>
            </a:r>
          </a:p>
          <a:p>
            <a:pPr lvl="1">
              <a:buFontTx/>
              <a:buChar char="-"/>
            </a:pPr>
            <a:r>
              <a:rPr lang="en-US" dirty="0"/>
              <a:t>The left column is direct counting. </a:t>
            </a:r>
          </a:p>
          <a:p>
            <a:pPr lvl="2">
              <a:buFontTx/>
              <a:buChar char="-"/>
            </a:pPr>
            <a:r>
              <a:rPr lang="en-US" dirty="0"/>
              <a:t>For each combination, how many incidents had fire, divided by how many incidents had that combination</a:t>
            </a:r>
          </a:p>
          <a:p>
            <a:pPr lvl="1">
              <a:buFontTx/>
              <a:buChar char="-"/>
            </a:pPr>
            <a:r>
              <a:rPr lang="en-US" dirty="0"/>
              <a:t>The right column is Zhang’s own Section 4.3 way that I implemented his equation 9 rations, his beta </a:t>
            </a:r>
            <a:r>
              <a:rPr lang="en-US" dirty="0" err="1"/>
              <a:t>cdf</a:t>
            </a:r>
            <a:r>
              <a:rPr lang="en-US" dirty="0"/>
              <a:t> and his 0.5 cap</a:t>
            </a:r>
          </a:p>
          <a:p>
            <a:pPr lvl="1">
              <a:buFontTx/>
              <a:buChar char="-"/>
            </a:pPr>
            <a:endParaRPr lang="en-US" dirty="0"/>
          </a:p>
          <a:p>
            <a:pPr lvl="1">
              <a:buFontTx/>
              <a:buChar char="-"/>
            </a:pPr>
            <a:r>
              <a:rPr lang="en-US" dirty="0"/>
              <a:t>The 1/1 cell shows a live example of sparse data problem which is what we have the beta </a:t>
            </a:r>
            <a:r>
              <a:rPr lang="en-US" dirty="0" err="1"/>
              <a:t>cdf</a:t>
            </a:r>
            <a:r>
              <a:rPr lang="en-US" dirty="0"/>
              <a:t> for</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lang="en-US" dirty="0"/>
              <a:t>- </a:t>
            </a:r>
            <a:r>
              <a:rPr lang="en-US" sz="1200" b="0" i="0" u="none" strike="noStrike" cap="none" dirty="0">
                <a:solidFill>
                  <a:schemeClr val="dk1"/>
                </a:solidFill>
                <a:effectLst/>
                <a:latin typeface="Times"/>
                <a:ea typeface="Times"/>
                <a:cs typeface="Times"/>
                <a:sym typeface="Times"/>
              </a:rPr>
              <a:t>Let me walk you through the whole process on one real example, start to finish. Imagine an investigator types in: engine caught fire during takeoff.</a:t>
            </a:r>
          </a:p>
          <a:p>
            <a:r>
              <a:rPr lang="en-US" sz="1200" b="0" i="0" u="none" strike="noStrike" cap="none" dirty="0">
                <a:solidFill>
                  <a:schemeClr val="dk1"/>
                </a:solidFill>
                <a:effectLst/>
                <a:latin typeface="Times"/>
                <a:ea typeface="Times"/>
                <a:cs typeface="Times"/>
                <a:sym typeface="Times"/>
              </a:rPr>
              <a:t>First, the system reads that query and detects the outcome — fire. And here's the anchor: that maps to the exact same 102 fire accidents as your Table 7. Not a similar set — the same 102. Everything downstream is built on that population.</a:t>
            </a:r>
          </a:p>
          <a:p>
            <a:r>
              <a:rPr lang="en-US" sz="1200" b="0" i="0" u="none" strike="noStrike" cap="none" dirty="0">
                <a:solidFill>
                  <a:schemeClr val="dk1"/>
                </a:solidFill>
                <a:effectLst/>
                <a:latin typeface="Times"/>
                <a:ea typeface="Times"/>
                <a:cs typeface="Times"/>
                <a:sym typeface="Times"/>
              </a:rPr>
              <a:t>Second, we embed the query — turn it into a vector — and score EVERY incident in the dataset by similarity to it. Not a top-400 cutoff — every incident gets a score. That's the ranked list you see in the app: each row is one past accident, its score, and a snippet of its narrative. So for our query, the top of the list is full of engine-fire accidents, as you'd expect.</a:t>
            </a:r>
          </a:p>
          <a:p>
            <a:r>
              <a:rPr lang="en-US" sz="1200" b="0" i="0" u="none" strike="noStrike" cap="none" dirty="0">
                <a:solidFill>
                  <a:schemeClr val="dk1"/>
                </a:solidFill>
                <a:effectLst/>
                <a:latin typeface="Times"/>
                <a:ea typeface="Times"/>
                <a:cs typeface="Times"/>
                <a:sym typeface="Times"/>
              </a:rPr>
              <a:t>Third — the partition, and this is the first thing we changed. The 102 fires are already grouped into fifteen clusters of similar accidents: for example, cabin fires is the biggest with 32 accidents, electrical fires has 21, engine fires has 16. Every fire belongs to exactly one cluster — no overlaps, no gaps. The fix was the gaps: nineteen fires used to have no cluster at all. Now it's 102 out of 102 — I'll show that on the next slide.</a:t>
            </a:r>
          </a:p>
          <a:p>
            <a:r>
              <a:rPr lang="en-US" sz="1200" b="0" i="0" u="none" strike="noStrike" cap="none" dirty="0">
                <a:solidFill>
                  <a:schemeClr val="dk1"/>
                </a:solidFill>
                <a:effectLst/>
                <a:latin typeface="Times"/>
                <a:ea typeface="Times"/>
                <a:cs typeface="Times"/>
                <a:sym typeface="Times"/>
              </a:rPr>
              <a:t>Fourth — the second change, and the important one. Inside each cluster we ask: given an accident in this cluster, what were the causes? So inside the electrical cluster, wiring shows up at a high rate; inside the engine cluster, loss of engine power does. Before, I computed these with my own counting rules. Now it is exactly your Table 7 counting — same cause labels, same contributory-factor rule, same denominator convention — just restricted to the cluster.</a:t>
            </a:r>
          </a:p>
          <a:p>
            <a:r>
              <a:rPr lang="en-US" sz="1200" b="0" i="0" u="none" strike="noStrike" cap="none" dirty="0">
                <a:solidFill>
                  <a:schemeClr val="dk1"/>
                </a:solidFill>
                <a:effectLst/>
                <a:latin typeface="Times"/>
                <a:ea typeface="Times"/>
                <a:cs typeface="Times"/>
                <a:sym typeface="Times"/>
              </a:rPr>
              <a:t>Fifth — the cluster weights. This is the ONLY place the query enters the math. Two modes. Neutral: the query adds nothing, each cluster is weighted by its size — cabin fires gets 32 over 102, about 31 percent. Similarity: each cluster is weighted by how much similarity score its members got — so for our engine query, the engine-fire clusters get extra weight.</a:t>
            </a:r>
          </a:p>
          <a:p>
            <a:r>
              <a:rPr lang="en-US" sz="1200" b="0" i="0" u="none" strike="noStrike" cap="none" dirty="0">
                <a:solidFill>
                  <a:schemeClr val="dk1"/>
                </a:solidFill>
                <a:effectLst/>
                <a:latin typeface="Times"/>
                <a:ea typeface="Times"/>
                <a:cs typeface="Times"/>
                <a:sym typeface="Times"/>
              </a:rPr>
              <a:t>Sixth — the law of total probability puts it together: the probability of a cause given the query is the sum, over the fifteen clusters, of the probability of the cause within the cluster, times the weight of the cluster. And this is the guarantee: with neutral weights the algebra collapses and you get your published Table 7 back exactly — airframe 0.3137, wiring 0.0882, all 85 causes. With similarity weights, the answer tilts toward the query — loss of engine power rises from 0.088 to 0.110 for this query — and that difference IS what the narrative added.</a:t>
            </a:r>
          </a:p>
          <a:p>
            <a:r>
              <a:rPr lang="en-US" sz="1200" b="0" i="0" u="none" strike="noStrike" cap="none" dirty="0">
                <a:solidFill>
                  <a:schemeClr val="dk1"/>
                </a:solidFill>
                <a:effectLst/>
                <a:latin typeface="Times"/>
                <a:ea typeface="Times"/>
                <a:cs typeface="Times"/>
                <a:sym typeface="Times"/>
              </a:rPr>
              <a:t>And seventh, from that distribution we build the diagnosis tree — causes of causes — and the prognosis tree, which I'll show you live.</a:t>
            </a:r>
          </a:p>
          <a:p>
            <a:endParaRPr dirty="0"/>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dirty="0"/>
              <a:t>A real mathematical boundary, not a gap in my implementation. Already exact by counting alone: Table 7 (85/85), P(fire) prior, Table 9 forward edges (0.95/0.50/0.1429), Beta-CDF fit. If asked how the BN is looking: 'Promising — some published posteriors already reproduce — but I want to show it properly with slides on Friday.' Then stop.</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dirty="0"/>
              <a:t>Wrap up: Table 4 closed (counted, explained, real version built), two pipeline changes proven, panel explained, demo shown. BN is the last piece — ask Maha what to prioritize for Friday.</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lang="en-US" dirty="0"/>
              <a:t>- </a:t>
            </a:r>
            <a:r>
              <a:rPr lang="en-US" sz="1200" b="0" i="0" u="none" strike="noStrike" cap="none" dirty="0">
                <a:solidFill>
                  <a:schemeClr val="dk1"/>
                </a:solidFill>
                <a:effectLst/>
                <a:latin typeface="Times"/>
                <a:ea typeface="Times"/>
                <a:cs typeface="Times"/>
                <a:sym typeface="Times"/>
              </a:rPr>
              <a:t>So the first change. This one we found ourselves, while validating.</a:t>
            </a:r>
          </a:p>
          <a:p>
            <a:r>
              <a:rPr lang="en-US" sz="1200" b="0" i="0" u="none" strike="noStrike" cap="none" dirty="0">
                <a:solidFill>
                  <a:schemeClr val="dk1"/>
                </a:solidFill>
                <a:effectLst/>
                <a:latin typeface="Times"/>
                <a:ea typeface="Times"/>
                <a:cs typeface="Times"/>
                <a:sym typeface="Times"/>
              </a:rPr>
              <a:t>When I audited the clusters, I found that nineteen of the 102 fire accidents had no cluster at all. They were invisible to the law-of-total-probability step — the math was running on 83 fires and silently ignoring nineteen.</a:t>
            </a:r>
          </a:p>
          <a:p>
            <a:r>
              <a:rPr lang="en-US" sz="1200" b="0" i="0" u="none" strike="noStrike" cap="none" dirty="0">
                <a:solidFill>
                  <a:schemeClr val="dk1"/>
                </a:solidFill>
                <a:effectLst/>
                <a:latin typeface="Times"/>
                <a:ea typeface="Times"/>
                <a:cs typeface="Times"/>
                <a:sym typeface="Times"/>
              </a:rPr>
              <a:t>Why did that happen? Those nineteen are older records. They have all the investigator-coded data — the occurrence codes, the findings — but no written narrative text. And the original pipeline created clusters by embedding the narrative. No narrative, nothing to embed, no cluster.</a:t>
            </a:r>
          </a:p>
          <a:p>
            <a:r>
              <a:rPr lang="en-US" sz="1200" b="0" i="0" u="none" strike="noStrike" cap="none" dirty="0">
                <a:solidFill>
                  <a:schemeClr val="dk1"/>
                </a:solidFill>
                <a:effectLst/>
                <a:latin typeface="Times"/>
                <a:ea typeface="Times"/>
                <a:cs typeface="Times"/>
                <a:sym typeface="Times"/>
              </a:rPr>
              <a:t>Why does it matter? Because the guarantee I'm about to show you on the next slide — getting your Table 7 back exactly — requires the clusters to cover all 102 fires. It's a partition argument: every fire in exactly one bucket. If nineteen fires are in no bucket, the algebra has a hole in it.</a:t>
            </a:r>
          </a:p>
          <a:p>
            <a:r>
              <a:rPr lang="en-US" sz="1200" b="0" i="0" u="none" strike="noStrike" cap="none" dirty="0">
                <a:solidFill>
                  <a:schemeClr val="dk1"/>
                </a:solidFill>
                <a:effectLst/>
                <a:latin typeface="Times"/>
                <a:ea typeface="Times"/>
                <a:cs typeface="Times"/>
                <a:sym typeface="Times"/>
              </a:rPr>
              <a:t>The fix: for those nineteen records, I build a short pseudo-narrative from the data they </a:t>
            </a:r>
            <a:r>
              <a:rPr lang="en-US" sz="1200" b="0" i="1" u="none" strike="noStrike" cap="none" dirty="0">
                <a:solidFill>
                  <a:schemeClr val="dk1"/>
                </a:solidFill>
                <a:effectLst/>
                <a:latin typeface="Times"/>
                <a:ea typeface="Times"/>
                <a:cs typeface="Times"/>
                <a:sym typeface="Times"/>
              </a:rPr>
              <a:t>do</a:t>
            </a:r>
            <a:r>
              <a:rPr lang="en-US" sz="1200" b="0" i="0" u="none" strike="noStrike" cap="none" dirty="0">
                <a:solidFill>
                  <a:schemeClr val="dk1"/>
                </a:solidFill>
                <a:effectLst/>
                <a:latin typeface="Times"/>
                <a:ea typeface="Times"/>
                <a:cs typeface="Times"/>
                <a:sym typeface="Times"/>
              </a:rPr>
              <a:t> have — their coded occurrence sequence and their findings — embed that with the same model as everyone else, and assign each one to its nearest existing cluster. No new information is invented — it's the same investigator-coded facts, just made visible to the same embedding step.</a:t>
            </a:r>
          </a:p>
          <a:p>
            <a:r>
              <a:rPr lang="en-US" sz="1200" b="0" i="0" u="none" strike="noStrike" cap="none" dirty="0">
                <a:solidFill>
                  <a:schemeClr val="dk1"/>
                </a:solidFill>
                <a:effectLst/>
                <a:latin typeface="Times"/>
                <a:ea typeface="Times"/>
                <a:cs typeface="Times"/>
                <a:sym typeface="Times"/>
              </a:rPr>
              <a:t>So now: 102 out of 102. And I re-ran every validation after this change — everything still passes."</a:t>
            </a:r>
          </a:p>
          <a:p>
            <a:endParaRPr dirty="0"/>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cap="none" dirty="0">
                <a:solidFill>
                  <a:schemeClr val="dk1"/>
                </a:solidFill>
                <a:effectLst/>
                <a:latin typeface="Times"/>
                <a:ea typeface="Times"/>
                <a:cs typeface="Times"/>
                <a:sym typeface="Times"/>
              </a:rPr>
              <a:t>Now the second change — the important one. This goes straight back to the question you asked me: are your probabilities actually close to Zhang's?</a:t>
            </a:r>
          </a:p>
          <a:p>
            <a:r>
              <a:rPr lang="en-US" sz="1200" b="0" i="0" u="none" strike="noStrike" cap="none" dirty="0">
                <a:solidFill>
                  <a:schemeClr val="dk1"/>
                </a:solidFill>
                <a:effectLst/>
                <a:latin typeface="Times"/>
                <a:ea typeface="Times"/>
                <a:cs typeface="Times"/>
                <a:sym typeface="Times"/>
              </a:rPr>
              <a:t>Honest answer: before, they weren't. The structure was right — I was already using the law of total probability over clusters, exactly as we discussed. But </a:t>
            </a:r>
            <a:r>
              <a:rPr lang="en-US" sz="1200" b="0" i="1" u="none" strike="noStrike" cap="none" dirty="0">
                <a:solidFill>
                  <a:schemeClr val="dk1"/>
                </a:solidFill>
                <a:effectLst/>
                <a:latin typeface="Times"/>
                <a:ea typeface="Times"/>
                <a:cs typeface="Times"/>
                <a:sym typeface="Times"/>
              </a:rPr>
              <a:t>inside</a:t>
            </a:r>
            <a:r>
              <a:rPr lang="en-US" sz="1200" b="0" i="0" u="none" strike="noStrike" cap="none" dirty="0">
                <a:solidFill>
                  <a:schemeClr val="dk1"/>
                </a:solidFill>
                <a:effectLst/>
                <a:latin typeface="Times"/>
                <a:ea typeface="Times"/>
                <a:cs typeface="Times"/>
                <a:sym typeface="Times"/>
              </a:rPr>
              <a:t> each cluster, I was counting causes with my own rules. Different label handling, different denominator. And the result was — [point at the table] — for a fire query, my method gave airframe 0.059. Your published table says 0.314. Across the whole distribution, the distance was 1.96 out of a maximum possible 2. So: not close, and worse, no reason it </a:t>
            </a:r>
            <a:r>
              <a:rPr lang="en-US" sz="1200" b="0" i="1" u="none" strike="noStrike" cap="none" dirty="0">
                <a:solidFill>
                  <a:schemeClr val="dk1"/>
                </a:solidFill>
                <a:effectLst/>
                <a:latin typeface="Times"/>
                <a:ea typeface="Times"/>
                <a:cs typeface="Times"/>
                <a:sym typeface="Times"/>
              </a:rPr>
              <a:t>should</a:t>
            </a:r>
            <a:r>
              <a:rPr lang="en-US" sz="1200" b="0" i="0" u="none" strike="noStrike" cap="none" dirty="0">
                <a:solidFill>
                  <a:schemeClr val="dk1"/>
                </a:solidFill>
                <a:effectLst/>
                <a:latin typeface="Times"/>
                <a:ea typeface="Times"/>
                <a:cs typeface="Times"/>
                <a:sym typeface="Times"/>
              </a:rPr>
              <a:t> be close.</a:t>
            </a:r>
          </a:p>
          <a:p>
            <a:r>
              <a:rPr lang="en-US" sz="1200" b="0" i="0" u="none" strike="noStrike" cap="none" dirty="0">
                <a:solidFill>
                  <a:schemeClr val="dk1"/>
                </a:solidFill>
                <a:effectLst/>
                <a:latin typeface="Times"/>
                <a:ea typeface="Times"/>
                <a:cs typeface="Times"/>
                <a:sym typeface="Times"/>
              </a:rPr>
              <a:t>Here's the realization. The law-of-total-probability decomposition was never the problem. The problem was what was inside it. So we kept the structure and swapped the inside: the probability of a cause given a cluster is now computed with exactly your Table 7 estimator — same cause labels, same contributory-factor rule, same denominator — just restricted to that cluster's accidents.</a:t>
            </a:r>
          </a:p>
          <a:p>
            <a:r>
              <a:rPr lang="en-US" sz="1200" b="0" i="0" u="none" strike="noStrike" cap="none" dirty="0">
                <a:solidFill>
                  <a:schemeClr val="dk1"/>
                </a:solidFill>
                <a:effectLst/>
                <a:latin typeface="Times"/>
                <a:ea typeface="Times"/>
                <a:cs typeface="Times"/>
                <a:sym typeface="Times"/>
              </a:rPr>
              <a:t>And that buys something I can prove, not just claim. When the query carries no information — neutral weights — the cluster sizes cancel algebraically, and the output is your published Table 7, exactly. L1 distance zero, machine precision, all 85 causes. There's an offline test that checks every cause, and it passes.</a:t>
            </a:r>
          </a:p>
          <a:p>
            <a:r>
              <a:rPr lang="en-US" sz="1200" b="0" i="0" u="none" strike="noStrike" cap="none" dirty="0">
                <a:solidFill>
                  <a:schemeClr val="dk1"/>
                </a:solidFill>
                <a:effectLst/>
                <a:latin typeface="Times"/>
                <a:ea typeface="Times"/>
                <a:cs typeface="Times"/>
                <a:sym typeface="Times"/>
              </a:rPr>
              <a:t>And when the query </a:t>
            </a:r>
            <a:r>
              <a:rPr lang="en-US" sz="1200" b="0" i="1" u="none" strike="noStrike" cap="none" dirty="0">
                <a:solidFill>
                  <a:schemeClr val="dk1"/>
                </a:solidFill>
                <a:effectLst/>
                <a:latin typeface="Times"/>
                <a:ea typeface="Times"/>
                <a:cs typeface="Times"/>
                <a:sym typeface="Times"/>
              </a:rPr>
              <a:t>does</a:t>
            </a:r>
            <a:r>
              <a:rPr lang="en-US" sz="1200" b="0" i="0" u="none" strike="noStrike" cap="none" dirty="0">
                <a:solidFill>
                  <a:schemeClr val="dk1"/>
                </a:solidFill>
                <a:effectLst/>
                <a:latin typeface="Times"/>
                <a:ea typeface="Times"/>
                <a:cs typeface="Times"/>
                <a:sym typeface="Times"/>
              </a:rPr>
              <a:t> carry information — similarity weights — the output moves away from Table 7, and that movement is meaningful. For the engine-fire query it's 0.33, and I can decompose it cluster by cluster: the engine clusters got more weight, so loss of engine power rose from 0.088 to 0.110.</a:t>
            </a:r>
          </a:p>
          <a:p>
            <a:r>
              <a:rPr lang="en-US" sz="1200" b="0" i="0" u="none" strike="noStrike" cap="none" dirty="0">
                <a:solidFill>
                  <a:schemeClr val="dk1"/>
                </a:solidFill>
                <a:effectLst/>
                <a:latin typeface="Times"/>
                <a:ea typeface="Times"/>
                <a:cs typeface="Times"/>
                <a:sym typeface="Times"/>
              </a:rPr>
              <a:t>So the way I'd summarize it: your Table 7 is now the zero-information special case of our method. When the narrative says nothing, we give your table back exactly. When it says something, we show precisely what it added and where."</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cap="none" dirty="0">
                <a:solidFill>
                  <a:schemeClr val="dk1"/>
                </a:solidFill>
                <a:effectLst/>
                <a:latin typeface="Times"/>
                <a:ea typeface="Times"/>
                <a:cs typeface="Times"/>
                <a:sym typeface="Times"/>
              </a:rPr>
              <a:t>Last time I showed you this panel and it wasn't clear what the numbers meant, so let me tell it properly this time. The whole panel exists to answer one question: </a:t>
            </a:r>
            <a:r>
              <a:rPr lang="en-US" sz="1200" b="1" i="0" u="none" strike="noStrike" cap="none" dirty="0">
                <a:solidFill>
                  <a:schemeClr val="dk1"/>
                </a:solidFill>
                <a:effectLst/>
                <a:latin typeface="Times"/>
                <a:ea typeface="Times"/>
                <a:cs typeface="Times"/>
                <a:sym typeface="Times"/>
              </a:rPr>
              <a:t>what did the narrative add?</a:t>
            </a:r>
            <a:endParaRPr lang="en-US" sz="1200" b="0" i="0" u="none" strike="noStrike" cap="none" dirty="0">
              <a:solidFill>
                <a:schemeClr val="dk1"/>
              </a:solidFill>
              <a:effectLst/>
              <a:latin typeface="Times"/>
              <a:ea typeface="Times"/>
              <a:cs typeface="Times"/>
              <a:sym typeface="Times"/>
            </a:endParaRPr>
          </a:p>
          <a:p>
            <a:r>
              <a:rPr lang="en-US" sz="1200" b="0" i="0" u="none" strike="noStrike" cap="none" dirty="0">
                <a:solidFill>
                  <a:schemeClr val="dk1"/>
                </a:solidFill>
                <a:effectLst/>
                <a:latin typeface="Times"/>
                <a:ea typeface="Times"/>
                <a:cs typeface="Times"/>
                <a:sym typeface="Times"/>
              </a:rPr>
              <a:t>When I run the query, the panel puts the answers side by side: your published Table 7, the plain retrieval counting, and our law-of-total-probability answer.</a:t>
            </a:r>
          </a:p>
          <a:p>
            <a:r>
              <a:rPr lang="en-US" sz="1200" b="0" i="0" u="none" strike="noStrike" cap="none" dirty="0">
                <a:solidFill>
                  <a:schemeClr val="dk1"/>
                </a:solidFill>
                <a:effectLst/>
                <a:latin typeface="Times"/>
                <a:ea typeface="Times"/>
                <a:cs typeface="Times"/>
                <a:sym typeface="Times"/>
              </a:rPr>
              <a:t>Now watch what happens when I flip the toggle to </a:t>
            </a:r>
            <a:r>
              <a:rPr lang="en-US" sz="1200" b="1" i="0" u="none" strike="noStrike" cap="none" dirty="0">
                <a:solidFill>
                  <a:schemeClr val="dk1"/>
                </a:solidFill>
                <a:effectLst/>
                <a:latin typeface="Times"/>
                <a:ea typeface="Times"/>
                <a:cs typeface="Times"/>
                <a:sym typeface="Times"/>
              </a:rPr>
              <a:t>neutral</a:t>
            </a:r>
            <a:r>
              <a:rPr lang="en-US" sz="1200" b="0" i="0" u="none" strike="noStrike" cap="none" dirty="0">
                <a:solidFill>
                  <a:schemeClr val="dk1"/>
                </a:solidFill>
                <a:effectLst/>
                <a:latin typeface="Times"/>
                <a:ea typeface="Times"/>
                <a:cs typeface="Times"/>
                <a:sym typeface="Times"/>
              </a:rPr>
              <a:t>. That silences the query — every cluster is weighted only by its size. And our answer becomes </a:t>
            </a:r>
            <a:r>
              <a:rPr lang="en-US" sz="1200" b="0" i="1" u="none" strike="noStrike" cap="none" dirty="0">
                <a:solidFill>
                  <a:schemeClr val="dk1"/>
                </a:solidFill>
                <a:effectLst/>
                <a:latin typeface="Times"/>
                <a:ea typeface="Times"/>
                <a:cs typeface="Times"/>
                <a:sym typeface="Times"/>
              </a:rPr>
              <a:t>identical</a:t>
            </a:r>
            <a:r>
              <a:rPr lang="en-US" sz="1200" b="0" i="0" u="none" strike="noStrike" cap="none" dirty="0">
                <a:solidFill>
                  <a:schemeClr val="dk1"/>
                </a:solidFill>
                <a:effectLst/>
                <a:latin typeface="Times"/>
                <a:ea typeface="Times"/>
                <a:cs typeface="Times"/>
                <a:sym typeface="Times"/>
              </a:rPr>
              <a:t> to your Table 7 — the L1 distance reads 0.000. That's the calibration check: when the narrative says nothing, we say exactly what your table says. If that number were anything but zero, something would be broken.</a:t>
            </a:r>
          </a:p>
          <a:p>
            <a:r>
              <a:rPr lang="en-US" sz="1200" b="0" i="0" u="none" strike="noStrike" cap="none" dirty="0">
                <a:solidFill>
                  <a:schemeClr val="dk1"/>
                </a:solidFill>
                <a:effectLst/>
                <a:latin typeface="Times"/>
                <a:ea typeface="Times"/>
                <a:cs typeface="Times"/>
                <a:sym typeface="Times"/>
              </a:rPr>
              <a:t>Then I flip it to </a:t>
            </a:r>
            <a:r>
              <a:rPr lang="en-US" sz="1200" b="1" i="0" u="none" strike="noStrike" cap="none" dirty="0">
                <a:solidFill>
                  <a:schemeClr val="dk1"/>
                </a:solidFill>
                <a:effectLst/>
                <a:latin typeface="Times"/>
                <a:ea typeface="Times"/>
                <a:cs typeface="Times"/>
                <a:sym typeface="Times"/>
              </a:rPr>
              <a:t>similarity</a:t>
            </a:r>
            <a:r>
              <a:rPr lang="en-US" sz="1200" b="0" i="0" u="none" strike="noStrike" cap="none" dirty="0">
                <a:solidFill>
                  <a:schemeClr val="dk1"/>
                </a:solidFill>
                <a:effectLst/>
                <a:latin typeface="Times"/>
                <a:ea typeface="Times"/>
                <a:cs typeface="Times"/>
                <a:sym typeface="Times"/>
              </a:rPr>
              <a:t>, and the query gets to speak. The clusters that look like our engine-fire story gain weight, and the answer tilts — the L1 to Table 7 becomes 0.33. That 0.33 </a:t>
            </a:r>
            <a:r>
              <a:rPr lang="en-US" sz="1200" b="0" i="1" u="none" strike="noStrike" cap="none" dirty="0">
                <a:solidFill>
                  <a:schemeClr val="dk1"/>
                </a:solidFill>
                <a:effectLst/>
                <a:latin typeface="Times"/>
                <a:ea typeface="Times"/>
                <a:cs typeface="Times"/>
                <a:sym typeface="Times"/>
              </a:rPr>
              <a:t>is</a:t>
            </a:r>
            <a:r>
              <a:rPr lang="en-US" sz="1200" b="0" i="0" u="none" strike="noStrike" cap="none" dirty="0">
                <a:solidFill>
                  <a:schemeClr val="dk1"/>
                </a:solidFill>
                <a:effectLst/>
                <a:latin typeface="Times"/>
                <a:ea typeface="Times"/>
                <a:cs typeface="Times"/>
                <a:sym typeface="Times"/>
              </a:rPr>
              <a:t> the narrative signal. It's not error — it's the measured amount the story changed the answer. And I can show where it went: the engine clusters gained weight, so loss of engine power rose from 0.088 to 0.110.</a:t>
            </a:r>
          </a:p>
          <a:p>
            <a:r>
              <a:rPr lang="en-US" sz="1200" b="0" i="0" u="none" strike="noStrike" cap="none" dirty="0">
                <a:solidFill>
                  <a:schemeClr val="dk1"/>
                </a:solidFill>
                <a:effectLst/>
                <a:latin typeface="Times"/>
                <a:ea typeface="Times"/>
                <a:cs typeface="Times"/>
                <a:sym typeface="Times"/>
              </a:rPr>
              <a:t>And a sanity check on the side: all the lanes still agree on the top five causes — five out of five. The tilt re-weights; it doesn't invent new causes.</a:t>
            </a:r>
          </a:p>
          <a:p>
            <a:r>
              <a:rPr lang="en-US" sz="1200" b="0" i="0" u="none" strike="noStrike" cap="none" dirty="0">
                <a:solidFill>
                  <a:schemeClr val="dk1"/>
                </a:solidFill>
                <a:effectLst/>
                <a:latin typeface="Times"/>
                <a:ea typeface="Times"/>
                <a:cs typeface="Times"/>
                <a:sym typeface="Times"/>
              </a:rPr>
              <a:t>So one sentence for the whole panel: </a:t>
            </a:r>
            <a:r>
              <a:rPr lang="en-US" sz="1200" b="1" i="0" u="none" strike="noStrike" cap="none" dirty="0">
                <a:solidFill>
                  <a:schemeClr val="dk1"/>
                </a:solidFill>
                <a:effectLst/>
                <a:latin typeface="Times"/>
                <a:ea typeface="Times"/>
                <a:cs typeface="Times"/>
                <a:sym typeface="Times"/>
              </a:rPr>
              <a:t>your Table 7 is the zero-information special case of our method — and the distance from it is exactly what the narrative contributed.</a:t>
            </a:r>
            <a:endParaRPr lang="en-US" sz="1200" b="0" i="0" u="none" strike="noStrike" cap="none" dirty="0">
              <a:solidFill>
                <a:schemeClr val="dk1"/>
              </a:solidFill>
              <a:effectLst/>
              <a:latin typeface="Times"/>
              <a:ea typeface="Times"/>
              <a:cs typeface="Times"/>
              <a:sym typeface="Times"/>
            </a:endParaRP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609600" y="1752600"/>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17" name="Google Shape;17;p4"/>
          <p:cNvSpPr txBox="1">
            <a:spLocks noGrp="1"/>
          </p:cNvSpPr>
          <p:nvPr>
            <p:ph type="subTitle" idx="1"/>
          </p:nvPr>
        </p:nvSpPr>
        <p:spPr>
          <a:xfrm>
            <a:off x="1828800" y="3352800"/>
            <a:ext cx="85344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1600"/>
              </a:spcBef>
              <a:spcAft>
                <a:spcPts val="0"/>
              </a:spcAft>
              <a:buClr>
                <a:srgbClr val="24459C"/>
              </a:buClr>
              <a:buSzPts val="3520"/>
              <a:buFont typeface="Times"/>
              <a:buNone/>
              <a:defRPr sz="3200" b="0" i="0" u="none" strike="noStrike" cap="none">
                <a:solidFill>
                  <a:schemeClr val="dk1"/>
                </a:solidFill>
                <a:latin typeface="Arial"/>
                <a:ea typeface="Arial"/>
                <a:cs typeface="Arial"/>
                <a:sym typeface="Arial"/>
              </a:defRPr>
            </a:lvl1pPr>
            <a:lvl2pPr marR="0" lvl="1"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R="0" lvl="2"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R="0" lvl="3"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R="0" lvl="4"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R="0" lvl="5"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609601" y="274639"/>
            <a:ext cx="9682348" cy="69913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0" name="Google Shape;20;p5"/>
          <p:cNvSpPr txBox="1">
            <a:spLocks noGrp="1"/>
          </p:cNvSpPr>
          <p:nvPr>
            <p:ph type="body" idx="1"/>
          </p:nvPr>
        </p:nvSpPr>
        <p:spPr>
          <a:xfrm>
            <a:off x="609600" y="1092531"/>
            <a:ext cx="10972800" cy="503363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chemeClr val="dk1"/>
              </a:buClr>
              <a:buSzPts val="264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Narrow"/>
                <a:ea typeface="Arial Narrow"/>
                <a:cs typeface="Arial Narrow"/>
                <a:sym typeface="Arial Narrow"/>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3" name="Google Shape;23;p6"/>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000"/>
              </a:spcBef>
              <a:spcAft>
                <a:spcPts val="0"/>
              </a:spcAft>
              <a:buClr>
                <a:srgbClr val="24459C"/>
              </a:buClr>
              <a:buSzPts val="2200"/>
              <a:buFont typeface="Times"/>
              <a:buNone/>
              <a:defRPr sz="2000" b="0" i="0" u="none" strike="noStrike" cap="none">
                <a:solidFill>
                  <a:schemeClr val="dk1"/>
                </a:solidFill>
                <a:latin typeface="Arial"/>
                <a:ea typeface="Arial"/>
                <a:cs typeface="Arial"/>
                <a:sym typeface="Arial"/>
              </a:defRPr>
            </a:lvl1pPr>
            <a:lvl2pPr marL="914400" marR="0" lvl="1" indent="-228600" algn="l" rtl="0">
              <a:lnSpc>
                <a:spcPct val="100000"/>
              </a:lnSpc>
              <a:spcBef>
                <a:spcPts val="180"/>
              </a:spcBef>
              <a:spcAft>
                <a:spcPts val="0"/>
              </a:spcAft>
              <a:buClr>
                <a:schemeClr val="dk1"/>
              </a:buClr>
              <a:buSzPts val="1800"/>
              <a:buFont typeface="Times"/>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160"/>
              </a:spcBef>
              <a:spcAft>
                <a:spcPts val="0"/>
              </a:spcAft>
              <a:buClr>
                <a:schemeClr val="dk1"/>
              </a:buClr>
              <a:buSzPts val="1600"/>
              <a:buFont typeface="Times"/>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5pPr>
            <a:lvl6pPr marL="2743200" marR="0" lvl="5"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6pPr>
            <a:lvl7pPr marL="3200400" marR="0" lvl="6"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7pPr>
            <a:lvl8pPr marL="3657600" marR="0" lvl="7"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8pPr>
            <a:lvl9pPr marL="4114800" marR="0" lvl="8"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609601" y="274638"/>
            <a:ext cx="9682348"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6" name="Google Shape;26;p7"/>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24180" algn="l" rtl="0">
              <a:lnSpc>
                <a:spcPct val="100000"/>
              </a:lnSpc>
              <a:spcBef>
                <a:spcPts val="1400"/>
              </a:spcBef>
              <a:spcAft>
                <a:spcPts val="0"/>
              </a:spcAft>
              <a:buClr>
                <a:srgbClr val="24459C"/>
              </a:buClr>
              <a:buSzPts val="3080"/>
              <a:buFont typeface="Times"/>
              <a:buChar char="•"/>
              <a:defRPr sz="2800" b="0" i="0" u="none" strike="noStrike" cap="none">
                <a:solidFill>
                  <a:schemeClr val="dk1"/>
                </a:solidFill>
                <a:latin typeface="Arial"/>
                <a:ea typeface="Arial"/>
                <a:cs typeface="Arial"/>
                <a:sym typeface="Arial"/>
              </a:defRPr>
            </a:lvl1pPr>
            <a:lvl2pPr marL="914400" marR="0" lvl="1"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7" name="Google Shape;27;p7"/>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24180" algn="l" rtl="0">
              <a:lnSpc>
                <a:spcPct val="100000"/>
              </a:lnSpc>
              <a:spcBef>
                <a:spcPts val="1400"/>
              </a:spcBef>
              <a:spcAft>
                <a:spcPts val="0"/>
              </a:spcAft>
              <a:buClr>
                <a:srgbClr val="24459C"/>
              </a:buClr>
              <a:buSzPts val="3080"/>
              <a:buFont typeface="Times"/>
              <a:buChar char="•"/>
              <a:defRPr sz="2800" b="0" i="0" u="none" strike="noStrike" cap="none">
                <a:solidFill>
                  <a:schemeClr val="dk1"/>
                </a:solidFill>
                <a:latin typeface="Arial"/>
                <a:ea typeface="Arial"/>
                <a:cs typeface="Arial"/>
                <a:sym typeface="Arial"/>
              </a:defRPr>
            </a:lvl1pPr>
            <a:lvl2pPr marL="914400" marR="0" lvl="1"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30" name="Google Shape;30;p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200"/>
              </a:spcBef>
              <a:spcAft>
                <a:spcPts val="0"/>
              </a:spcAft>
              <a:buClr>
                <a:srgbClr val="24459C"/>
              </a:buClr>
              <a:buSzPts val="2640"/>
              <a:buFont typeface="Times"/>
              <a:buNone/>
              <a:defRPr sz="24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2000"/>
              <a:buFont typeface="Times"/>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
              </a:spcBef>
              <a:spcAft>
                <a:spcPts val="0"/>
              </a:spcAft>
              <a:buClr>
                <a:schemeClr val="dk1"/>
              </a:buClr>
              <a:buSzPts val="1800"/>
              <a:buFont typeface="Times"/>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9pPr>
          </a:lstStyle>
          <a:p>
            <a:endParaRPr/>
          </a:p>
        </p:txBody>
      </p:sp>
      <p:sp>
        <p:nvSpPr>
          <p:cNvPr id="31" name="Google Shape;31;p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32" name="Google Shape;32;p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200"/>
              </a:spcBef>
              <a:spcAft>
                <a:spcPts val="0"/>
              </a:spcAft>
              <a:buClr>
                <a:srgbClr val="24459C"/>
              </a:buClr>
              <a:buSzPts val="2640"/>
              <a:buFont typeface="Times"/>
              <a:buNone/>
              <a:defRPr sz="24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2000"/>
              <a:buFont typeface="Times"/>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
              </a:spcBef>
              <a:spcAft>
                <a:spcPts val="0"/>
              </a:spcAft>
              <a:buClr>
                <a:schemeClr val="dk1"/>
              </a:buClr>
              <a:buSzPts val="1800"/>
              <a:buFont typeface="Times"/>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9pPr>
          </a:lstStyle>
          <a:p>
            <a:endParaRPr/>
          </a:p>
        </p:txBody>
      </p:sp>
      <p:sp>
        <p:nvSpPr>
          <p:cNvPr id="33" name="Google Shape;33;p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609600" y="274638"/>
            <a:ext cx="9508176"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7"/>
        <p:cNvGrpSpPr/>
        <p:nvPr/>
      </p:nvGrpSpPr>
      <p:grpSpPr>
        <a:xfrm>
          <a:off x="0" y="0"/>
          <a:ext cx="0" cy="0"/>
          <a:chOff x="0" y="0"/>
          <a:chExt cx="0" cy="0"/>
        </a:xfrm>
      </p:grpSpPr>
      <p:sp>
        <p:nvSpPr>
          <p:cNvPr id="38" name="Google Shape;38;p11"/>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39" name="Google Shape;39;p11"/>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52120" algn="l" rtl="0">
              <a:lnSpc>
                <a:spcPct val="100000"/>
              </a:lnSpc>
              <a:spcBef>
                <a:spcPts val="1600"/>
              </a:spcBef>
              <a:spcAft>
                <a:spcPts val="0"/>
              </a:spcAft>
              <a:buClr>
                <a:srgbClr val="24459C"/>
              </a:buClr>
              <a:buSzPts val="3520"/>
              <a:buFont typeface="Times"/>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280"/>
              </a:spcBef>
              <a:spcAft>
                <a:spcPts val="0"/>
              </a:spcAft>
              <a:buClr>
                <a:schemeClr val="dk1"/>
              </a:buClr>
              <a:buSzPts val="2800"/>
              <a:buFont typeface="Times"/>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Google Shape;40;p1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00"/>
              </a:spcBef>
              <a:spcAft>
                <a:spcPts val="0"/>
              </a:spcAft>
              <a:buClr>
                <a:srgbClr val="24459C"/>
              </a:buClr>
              <a:buSzPts val="1540"/>
              <a:buFont typeface="Times"/>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120"/>
              </a:spcBef>
              <a:spcAft>
                <a:spcPts val="0"/>
              </a:spcAft>
              <a:buClr>
                <a:schemeClr val="dk1"/>
              </a:buClr>
              <a:buSzPts val="1200"/>
              <a:buFont typeface="Times"/>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1000"/>
              <a:buFont typeface="Times"/>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4pPr>
            <a:lvl5pPr marL="2286000" marR="0" lvl="4"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5pPr>
            <a:lvl6pPr marL="2743200" marR="0" lvl="5"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6pPr>
            <a:lvl7pPr marL="3200400" marR="0" lvl="6"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7pPr>
            <a:lvl8pPr marL="3657600" marR="0" lvl="7"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8pPr>
            <a:lvl9pPr marL="4114800" marR="0" lvl="8"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12"/>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rgbClr val="24459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43" name="Google Shape;43;p12"/>
          <p:cNvSpPr>
            <a:spLocks noGrp="1"/>
          </p:cNvSpPr>
          <p:nvPr>
            <p:ph type="pic" idx="2"/>
          </p:nvPr>
        </p:nvSpPr>
        <p:spPr>
          <a:xfrm>
            <a:off x="2389717" y="612775"/>
            <a:ext cx="7315200" cy="4114800"/>
          </a:xfrm>
          <a:prstGeom prst="rect">
            <a:avLst/>
          </a:prstGeom>
          <a:noFill/>
          <a:ln>
            <a:noFill/>
          </a:ln>
        </p:spPr>
        <p:txBody>
          <a:bodyPr/>
          <a:lstStyle/>
          <a:p>
            <a:endParaRPr lang="en-US"/>
          </a:p>
        </p:txBody>
      </p:sp>
      <p:sp>
        <p:nvSpPr>
          <p:cNvPr id="44" name="Google Shape;44;p12"/>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00"/>
              </a:spcBef>
              <a:spcAft>
                <a:spcPts val="0"/>
              </a:spcAft>
              <a:buClr>
                <a:srgbClr val="24459C"/>
              </a:buClr>
              <a:buSzPts val="1540"/>
              <a:buFont typeface="Times"/>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120"/>
              </a:spcBef>
              <a:spcAft>
                <a:spcPts val="0"/>
              </a:spcAft>
              <a:buClr>
                <a:schemeClr val="dk1"/>
              </a:buClr>
              <a:buSzPts val="1200"/>
              <a:buFont typeface="Times"/>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1000"/>
              <a:buFont typeface="Times"/>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4pPr>
            <a:lvl5pPr marL="2286000" marR="0" lvl="4"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5pPr>
            <a:lvl6pPr marL="2743200" marR="0" lvl="5"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6pPr>
            <a:lvl7pPr marL="3200400" marR="0" lvl="6"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7pPr>
            <a:lvl8pPr marL="3657600" marR="0" lvl="7"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8pPr>
            <a:lvl9pPr marL="4114800" marR="0" lvl="8"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47" name="Google Shape;47;p13"/>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50" name="Google Shape;50;p1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51"/>
        <p:cNvGrpSpPr/>
        <p:nvPr/>
      </p:nvGrpSpPr>
      <p:grpSpPr>
        <a:xfrm>
          <a:off x="0" y="0"/>
          <a:ext cx="0" cy="0"/>
          <a:chOff x="0" y="0"/>
          <a:chExt cx="0" cy="0"/>
        </a:xfrm>
      </p:grpSpPr>
      <p:sp>
        <p:nvSpPr>
          <p:cNvPr id="52" name="Google Shape;52;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53" name="Google Shape;53;p1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4" name="Google Shape;54;p1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p:nvPr/>
        </p:nvSpPr>
        <p:spPr>
          <a:xfrm>
            <a:off x="-1" y="6448426"/>
            <a:ext cx="5054601" cy="409575"/>
          </a:xfrm>
          <a:prstGeom prst="rect">
            <a:avLst/>
          </a:prstGeom>
          <a:solidFill>
            <a:srgbClr val="FFC000"/>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Helvetica Neue"/>
              <a:ea typeface="Helvetica Neue"/>
              <a:cs typeface="Helvetica Neue"/>
              <a:sym typeface="Helvetica Neue"/>
            </a:endParaRPr>
          </a:p>
        </p:txBody>
      </p:sp>
      <p:pic>
        <p:nvPicPr>
          <p:cNvPr id="11" name="Google Shape;11;p3" descr="VU.png"/>
          <p:cNvPicPr preferRelativeResize="0"/>
          <p:nvPr/>
        </p:nvPicPr>
        <p:blipFill rotWithShape="1">
          <a:blip r:embed="rId14">
            <a:alphaModFix/>
          </a:blip>
          <a:srcRect/>
          <a:stretch/>
        </p:blipFill>
        <p:spPr>
          <a:xfrm>
            <a:off x="11239928" y="71898"/>
            <a:ext cx="877430" cy="1131885"/>
          </a:xfrm>
          <a:prstGeom prst="rect">
            <a:avLst/>
          </a:prstGeom>
          <a:noFill/>
          <a:ln>
            <a:noFill/>
          </a:ln>
        </p:spPr>
      </p:pic>
      <p:sp>
        <p:nvSpPr>
          <p:cNvPr id="12" name="Google Shape;12;p3"/>
          <p:cNvSpPr/>
          <p:nvPr/>
        </p:nvSpPr>
        <p:spPr>
          <a:xfrm>
            <a:off x="5054601" y="6448426"/>
            <a:ext cx="1945216" cy="409575"/>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accent1"/>
                </a:solidFill>
                <a:latin typeface="Helvetica Neue"/>
                <a:ea typeface="Helvetica Neue"/>
                <a:cs typeface="Helvetica Neue"/>
                <a:sym typeface="Helvetica Neue"/>
              </a:rPr>
              <a:t>Slide </a:t>
            </a:r>
            <a:fld id="{00000000-1234-1234-1234-123412341234}" type="slidenum">
              <a:rPr lang="en-US" sz="1400" b="1" i="0" u="none" strike="noStrike" cap="none">
                <a:solidFill>
                  <a:schemeClr val="accent1"/>
                </a:solidFill>
                <a:latin typeface="Helvetica Neue"/>
                <a:ea typeface="Helvetica Neue"/>
                <a:cs typeface="Helvetica Neue"/>
                <a:sym typeface="Helvetica Neue"/>
              </a:rPr>
              <a:t>‹#›</a:t>
            </a:fld>
            <a:endParaRPr sz="1400" b="1" i="0" u="none" strike="noStrike" cap="none">
              <a:solidFill>
                <a:schemeClr val="accent1"/>
              </a:solidFill>
              <a:latin typeface="Helvetica Neue"/>
              <a:ea typeface="Helvetica Neue"/>
              <a:cs typeface="Helvetica Neue"/>
              <a:sym typeface="Helvetica Neue"/>
            </a:endParaRPr>
          </a:p>
        </p:txBody>
      </p:sp>
      <p:sp>
        <p:nvSpPr>
          <p:cNvPr id="13" name="Google Shape;13;p3"/>
          <p:cNvSpPr/>
          <p:nvPr/>
        </p:nvSpPr>
        <p:spPr>
          <a:xfrm>
            <a:off x="6999818" y="6448426"/>
            <a:ext cx="5192183" cy="409575"/>
          </a:xfrm>
          <a:prstGeom prst="rect">
            <a:avLst/>
          </a:prstGeom>
          <a:solidFill>
            <a:srgbClr val="FFC000"/>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Helvetica Neue"/>
                <a:ea typeface="Helvetica Neue"/>
                <a:cs typeface="Helvetica Neue"/>
                <a:sym typeface="Helvetica Neue"/>
              </a:rPr>
              <a:t>Vanderbilt University</a:t>
            </a:r>
            <a:endParaRPr sz="1400" b="0" i="0" u="none" strike="noStrike" cap="none">
              <a:solidFill>
                <a:srgbClr val="000000"/>
              </a:solidFill>
              <a:latin typeface="Arial"/>
              <a:ea typeface="Arial"/>
              <a:cs typeface="Arial"/>
              <a:sym typeface="Arial"/>
            </a:endParaRPr>
          </a:p>
        </p:txBody>
      </p:sp>
      <p:pic>
        <p:nvPicPr>
          <p:cNvPr id="14" name="Google Shape;14;p3" descr="Image preview"/>
          <p:cNvPicPr preferRelativeResize="0"/>
          <p:nvPr/>
        </p:nvPicPr>
        <p:blipFill rotWithShape="1">
          <a:blip r:embed="rId15">
            <a:alphaModFix/>
          </a:blip>
          <a:srcRect/>
          <a:stretch/>
        </p:blipFill>
        <p:spPr>
          <a:xfrm>
            <a:off x="9943734" y="71898"/>
            <a:ext cx="1123178" cy="113188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NTSB Project Update July 14th, 2026</a:t>
            </a:r>
          </a:p>
        </p:txBody>
      </p:sp>
      <p:sp>
        <p:nvSpPr>
          <p:cNvPr id="3" name="Subtitle 2"/>
          <p:cNvSpPr>
            <a:spLocks noGrp="1"/>
          </p:cNvSpPr>
          <p:nvPr>
            <p:ph type="subTitle" idx="1"/>
          </p:nvPr>
        </p:nvSpPr>
        <p:spPr/>
        <p:txBody>
          <a:bodyPr/>
          <a:lstStyle/>
          <a:p>
            <a:r>
              <a:rPr lang="en-US" dirty="0"/>
              <a:t>Kanu Shetkar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Previous Meeting</a:t>
            </a:r>
          </a:p>
        </p:txBody>
      </p:sp>
      <p:sp>
        <p:nvSpPr>
          <p:cNvPr id="3" name="Text Placeholder 2"/>
          <p:cNvSpPr>
            <a:spLocks noGrp="1"/>
          </p:cNvSpPr>
          <p:nvPr>
            <p:ph type="body" idx="1"/>
          </p:nvPr>
        </p:nvSpPr>
        <p:spPr/>
        <p:txBody>
          <a:bodyPr/>
          <a:lstStyle/>
          <a:p>
            <a:r>
              <a:rPr lang="en-US" dirty="0"/>
              <a:t>T</a:t>
            </a:r>
            <a:r>
              <a:rPr dirty="0"/>
              <a:t>able 4 </a:t>
            </a:r>
            <a:endParaRPr lang="en-US" sz="2000" dirty="0"/>
          </a:p>
          <a:p>
            <a:r>
              <a:rPr lang="en-US" dirty="0"/>
              <a:t>Streamlit App</a:t>
            </a:r>
            <a:endParaRPr dirty="0"/>
          </a:p>
          <a:p>
            <a:pPr marL="60960" indent="0">
              <a:buNone/>
            </a:pPr>
            <a:r>
              <a:rPr b="1" dirty="0"/>
              <a:t>Today’s Meeting</a:t>
            </a:r>
          </a:p>
          <a:p>
            <a:r>
              <a:rPr dirty="0"/>
              <a:t>Table 4 → counted every cell + why they don’t match</a:t>
            </a:r>
            <a:endParaRPr lang="en-US" dirty="0"/>
          </a:p>
          <a:p>
            <a:r>
              <a:rPr dirty="0"/>
              <a:t>What we changed </a:t>
            </a:r>
            <a:endParaRPr lang="en-US" dirty="0"/>
          </a:p>
          <a:p>
            <a:r>
              <a:rPr dirty="0"/>
              <a:t>Why the remaining tables need a Bayesian network </a:t>
            </a:r>
            <a:r>
              <a:rPr lang="en-US" dirty="0"/>
              <a:t>(Show full work Friday)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4  P(fire | brake wear, wiring overheating)  counted</a:t>
            </a:r>
          </a:p>
        </p:txBody>
      </p:sp>
      <p:sp>
        <p:nvSpPr>
          <p:cNvPr id="3" name="Text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pPr marL="60960" indent="0">
              <a:buNone/>
            </a:pPr>
            <a:endParaRPr dirty="0"/>
          </a:p>
        </p:txBody>
      </p:sp>
      <p:graphicFrame>
        <p:nvGraphicFramePr>
          <p:cNvPr id="4" name="Table 3"/>
          <p:cNvGraphicFramePr>
            <a:graphicFrameLocks noGrp="1"/>
          </p:cNvGraphicFramePr>
          <p:nvPr>
            <p:extLst>
              <p:ext uri="{D42A27DB-BD31-4B8C-83A1-F6EECF244321}">
                <p14:modId xmlns:p14="http://schemas.microsoft.com/office/powerpoint/2010/main" val="2142811023"/>
              </p:ext>
            </p:extLst>
          </p:nvPr>
        </p:nvGraphicFramePr>
        <p:xfrm>
          <a:off x="731519" y="1371600"/>
          <a:ext cx="9560429" cy="2670050"/>
        </p:xfrm>
        <a:graphic>
          <a:graphicData uri="http://schemas.openxmlformats.org/drawingml/2006/table">
            <a:tbl>
              <a:tblPr firstRow="1" bandRow="1">
                <a:tableStyleId>{5C22544A-7EE6-4342-B048-85BDC9FD1C3A}</a:tableStyleId>
              </a:tblPr>
              <a:tblGrid>
                <a:gridCol w="1350930">
                  <a:extLst>
                    <a:ext uri="{9D8B030D-6E8A-4147-A177-3AD203B41FA5}">
                      <a16:colId xmlns:a16="http://schemas.microsoft.com/office/drawing/2014/main" val="20000"/>
                    </a:ext>
                  </a:extLst>
                </a:gridCol>
                <a:gridCol w="1350930">
                  <a:extLst>
                    <a:ext uri="{9D8B030D-6E8A-4147-A177-3AD203B41FA5}">
                      <a16:colId xmlns:a16="http://schemas.microsoft.com/office/drawing/2014/main" val="20001"/>
                    </a:ext>
                  </a:extLst>
                </a:gridCol>
                <a:gridCol w="1662683">
                  <a:extLst>
                    <a:ext uri="{9D8B030D-6E8A-4147-A177-3AD203B41FA5}">
                      <a16:colId xmlns:a16="http://schemas.microsoft.com/office/drawing/2014/main" val="20002"/>
                    </a:ext>
                  </a:extLst>
                </a:gridCol>
                <a:gridCol w="2909696">
                  <a:extLst>
                    <a:ext uri="{9D8B030D-6E8A-4147-A177-3AD203B41FA5}">
                      <a16:colId xmlns:a16="http://schemas.microsoft.com/office/drawing/2014/main" val="20003"/>
                    </a:ext>
                  </a:extLst>
                </a:gridCol>
                <a:gridCol w="2286190">
                  <a:extLst>
                    <a:ext uri="{9D8B030D-6E8A-4147-A177-3AD203B41FA5}">
                      <a16:colId xmlns:a16="http://schemas.microsoft.com/office/drawing/2014/main" val="20004"/>
                    </a:ext>
                  </a:extLst>
                </a:gridCol>
              </a:tblGrid>
              <a:tr h="534010">
                <a:tc>
                  <a:txBody>
                    <a:bodyPr/>
                    <a:lstStyle/>
                    <a:p>
                      <a:r>
                        <a:rPr sz="1400" b="1" dirty="0">
                          <a:solidFill>
                            <a:srgbClr val="000000"/>
                          </a:solidFill>
                        </a:rPr>
                        <a:t>brake</a:t>
                      </a:r>
                    </a:p>
                  </a:txBody>
                  <a:tcPr/>
                </a:tc>
                <a:tc>
                  <a:txBody>
                    <a:bodyPr/>
                    <a:lstStyle/>
                    <a:p>
                      <a:r>
                        <a:rPr sz="1400" b="1">
                          <a:solidFill>
                            <a:srgbClr val="000000"/>
                          </a:solidFill>
                        </a:rPr>
                        <a:t>wiring</a:t>
                      </a:r>
                    </a:p>
                  </a:txBody>
                  <a:tcPr/>
                </a:tc>
                <a:tc>
                  <a:txBody>
                    <a:bodyPr/>
                    <a:lstStyle/>
                    <a:p>
                      <a:r>
                        <a:rPr sz="1400" b="1">
                          <a:solidFill>
                            <a:srgbClr val="000000"/>
                          </a:solidFill>
                        </a:rPr>
                        <a:t>n/N</a:t>
                      </a:r>
                    </a:p>
                  </a:txBody>
                  <a:tcPr/>
                </a:tc>
                <a:tc>
                  <a:txBody>
                    <a:bodyPr/>
                    <a:lstStyle/>
                    <a:p>
                      <a:r>
                        <a:rPr sz="1400" b="1">
                          <a:solidFill>
                            <a:srgbClr val="000000"/>
                          </a:solidFill>
                        </a:rPr>
                        <a:t>Counted P</a:t>
                      </a:r>
                    </a:p>
                  </a:txBody>
                  <a:tcPr/>
                </a:tc>
                <a:tc>
                  <a:txBody>
                    <a:bodyPr/>
                    <a:lstStyle/>
                    <a:p>
                      <a:r>
                        <a:rPr sz="1400" b="1" dirty="0">
                          <a:solidFill>
                            <a:srgbClr val="000000"/>
                          </a:solidFill>
                        </a:rPr>
                        <a:t>Zhang Table 4</a:t>
                      </a:r>
                    </a:p>
                  </a:txBody>
                  <a:tcPr/>
                </a:tc>
                <a:extLst>
                  <a:ext uri="{0D108BD9-81ED-4DB2-BD59-A6C34878D82A}">
                    <a16:rowId xmlns:a16="http://schemas.microsoft.com/office/drawing/2014/main" val="10000"/>
                  </a:ext>
                </a:extLst>
              </a:tr>
              <a:tr h="534010">
                <a:tc>
                  <a:txBody>
                    <a:bodyPr/>
                    <a:lstStyle/>
                    <a:p>
                      <a:r>
                        <a:rPr sz="1400">
                          <a:solidFill>
                            <a:srgbClr val="000000"/>
                          </a:solidFill>
                        </a:rPr>
                        <a:t>YES</a:t>
                      </a:r>
                    </a:p>
                  </a:txBody>
                  <a:tcPr/>
                </a:tc>
                <a:tc>
                  <a:txBody>
                    <a:bodyPr/>
                    <a:lstStyle/>
                    <a:p>
                      <a:r>
                        <a:rPr sz="1400">
                          <a:solidFill>
                            <a:srgbClr val="000000"/>
                          </a:solidFill>
                        </a:rPr>
                        <a:t>YES</a:t>
                      </a:r>
                    </a:p>
                  </a:txBody>
                  <a:tcPr/>
                </a:tc>
                <a:tc>
                  <a:txBody>
                    <a:bodyPr/>
                    <a:lstStyle/>
                    <a:p>
                      <a:r>
                        <a:rPr sz="1400">
                          <a:solidFill>
                            <a:srgbClr val="000000"/>
                          </a:solidFill>
                        </a:rPr>
                        <a:t>1/1</a:t>
                      </a:r>
                    </a:p>
                  </a:txBody>
                  <a:tcPr/>
                </a:tc>
                <a:tc>
                  <a:txBody>
                    <a:bodyPr/>
                    <a:lstStyle/>
                    <a:p>
                      <a:r>
                        <a:rPr sz="1400">
                          <a:solidFill>
                            <a:srgbClr val="000000"/>
                          </a:solidFill>
                        </a:rPr>
                        <a:t>0.950 (sparse → capped)</a:t>
                      </a:r>
                    </a:p>
                  </a:txBody>
                  <a:tcPr/>
                </a:tc>
                <a:tc>
                  <a:txBody>
                    <a:bodyPr/>
                    <a:lstStyle/>
                    <a:p>
                      <a:r>
                        <a:rPr sz="1400" dirty="0">
                          <a:solidFill>
                            <a:srgbClr val="000000"/>
                          </a:solidFill>
                        </a:rPr>
                        <a:t>0.99</a:t>
                      </a:r>
                    </a:p>
                  </a:txBody>
                  <a:tcPr/>
                </a:tc>
                <a:extLst>
                  <a:ext uri="{0D108BD9-81ED-4DB2-BD59-A6C34878D82A}">
                    <a16:rowId xmlns:a16="http://schemas.microsoft.com/office/drawing/2014/main" val="10001"/>
                  </a:ext>
                </a:extLst>
              </a:tr>
              <a:tr h="534010">
                <a:tc>
                  <a:txBody>
                    <a:bodyPr/>
                    <a:lstStyle/>
                    <a:p>
                      <a:r>
                        <a:rPr sz="1400">
                          <a:solidFill>
                            <a:srgbClr val="000000"/>
                          </a:solidFill>
                        </a:rPr>
                        <a:t>YES</a:t>
                      </a:r>
                    </a:p>
                  </a:txBody>
                  <a:tcPr/>
                </a:tc>
                <a:tc>
                  <a:txBody>
                    <a:bodyPr/>
                    <a:lstStyle/>
                    <a:p>
                      <a:r>
                        <a:rPr sz="1400">
                          <a:solidFill>
                            <a:srgbClr val="000000"/>
                          </a:solidFill>
                        </a:rPr>
                        <a:t>NO</a:t>
                      </a:r>
                    </a:p>
                  </a:txBody>
                  <a:tcPr/>
                </a:tc>
                <a:tc>
                  <a:txBody>
                    <a:bodyPr/>
                    <a:lstStyle/>
                    <a:p>
                      <a:r>
                        <a:rPr sz="1400" dirty="0">
                          <a:solidFill>
                            <a:srgbClr val="000000"/>
                          </a:solidFill>
                        </a:rPr>
                        <a:t>2/9</a:t>
                      </a:r>
                    </a:p>
                  </a:txBody>
                  <a:tcPr/>
                </a:tc>
                <a:tc>
                  <a:txBody>
                    <a:bodyPr/>
                    <a:lstStyle/>
                    <a:p>
                      <a:r>
                        <a:rPr sz="1400">
                          <a:solidFill>
                            <a:srgbClr val="000000"/>
                          </a:solidFill>
                        </a:rPr>
                        <a:t>0.222</a:t>
                      </a:r>
                    </a:p>
                  </a:txBody>
                  <a:tcPr/>
                </a:tc>
                <a:tc>
                  <a:txBody>
                    <a:bodyPr/>
                    <a:lstStyle/>
                    <a:p>
                      <a:r>
                        <a:rPr sz="1400" dirty="0">
                          <a:solidFill>
                            <a:srgbClr val="000000"/>
                          </a:solidFill>
                        </a:rPr>
                        <a:t>0.93</a:t>
                      </a:r>
                    </a:p>
                  </a:txBody>
                  <a:tcPr/>
                </a:tc>
                <a:extLst>
                  <a:ext uri="{0D108BD9-81ED-4DB2-BD59-A6C34878D82A}">
                    <a16:rowId xmlns:a16="http://schemas.microsoft.com/office/drawing/2014/main" val="10002"/>
                  </a:ext>
                </a:extLst>
              </a:tr>
              <a:tr h="534010">
                <a:tc>
                  <a:txBody>
                    <a:bodyPr/>
                    <a:lstStyle/>
                    <a:p>
                      <a:r>
                        <a:rPr sz="1400">
                          <a:solidFill>
                            <a:srgbClr val="000000"/>
                          </a:solidFill>
                        </a:rPr>
                        <a:t>NO</a:t>
                      </a:r>
                    </a:p>
                  </a:txBody>
                  <a:tcPr/>
                </a:tc>
                <a:tc>
                  <a:txBody>
                    <a:bodyPr/>
                    <a:lstStyle/>
                    <a:p>
                      <a:r>
                        <a:rPr sz="1400">
                          <a:solidFill>
                            <a:srgbClr val="000000"/>
                          </a:solidFill>
                        </a:rPr>
                        <a:t>YES</a:t>
                      </a:r>
                    </a:p>
                  </a:txBody>
                  <a:tcPr/>
                </a:tc>
                <a:tc>
                  <a:txBody>
                    <a:bodyPr/>
                    <a:lstStyle/>
                    <a:p>
                      <a:r>
                        <a:rPr sz="1400">
                          <a:solidFill>
                            <a:srgbClr val="000000"/>
                          </a:solidFill>
                        </a:rPr>
                        <a:t>10/21</a:t>
                      </a:r>
                    </a:p>
                  </a:txBody>
                  <a:tcPr/>
                </a:tc>
                <a:tc>
                  <a:txBody>
                    <a:bodyPr/>
                    <a:lstStyle/>
                    <a:p>
                      <a:r>
                        <a:rPr sz="1400">
                          <a:solidFill>
                            <a:srgbClr val="000000"/>
                          </a:solidFill>
                        </a:rPr>
                        <a:t>0.476</a:t>
                      </a:r>
                    </a:p>
                  </a:txBody>
                  <a:tcPr/>
                </a:tc>
                <a:tc>
                  <a:txBody>
                    <a:bodyPr/>
                    <a:lstStyle/>
                    <a:p>
                      <a:r>
                        <a:rPr sz="1400" dirty="0">
                          <a:solidFill>
                            <a:srgbClr val="000000"/>
                          </a:solidFill>
                        </a:rPr>
                        <a:t>0.95</a:t>
                      </a:r>
                    </a:p>
                  </a:txBody>
                  <a:tcPr/>
                </a:tc>
                <a:extLst>
                  <a:ext uri="{0D108BD9-81ED-4DB2-BD59-A6C34878D82A}">
                    <a16:rowId xmlns:a16="http://schemas.microsoft.com/office/drawing/2014/main" val="10003"/>
                  </a:ext>
                </a:extLst>
              </a:tr>
              <a:tr h="534010">
                <a:tc>
                  <a:txBody>
                    <a:bodyPr/>
                    <a:lstStyle/>
                    <a:p>
                      <a:r>
                        <a:rPr sz="1400">
                          <a:solidFill>
                            <a:srgbClr val="000000"/>
                          </a:solidFill>
                        </a:rPr>
                        <a:t>NO</a:t>
                      </a:r>
                    </a:p>
                  </a:txBody>
                  <a:tcPr/>
                </a:tc>
                <a:tc>
                  <a:txBody>
                    <a:bodyPr/>
                    <a:lstStyle/>
                    <a:p>
                      <a:r>
                        <a:rPr sz="1400">
                          <a:solidFill>
                            <a:srgbClr val="000000"/>
                          </a:solidFill>
                        </a:rPr>
                        <a:t>NO</a:t>
                      </a:r>
                    </a:p>
                  </a:txBody>
                  <a:tcPr/>
                </a:tc>
                <a:tc>
                  <a:txBody>
                    <a:bodyPr/>
                    <a:lstStyle/>
                    <a:p>
                      <a:r>
                        <a:rPr sz="1400">
                          <a:solidFill>
                            <a:srgbClr val="000000"/>
                          </a:solidFill>
                        </a:rPr>
                        <a:t>89/1,711</a:t>
                      </a:r>
                    </a:p>
                  </a:txBody>
                  <a:tcPr/>
                </a:tc>
                <a:tc>
                  <a:txBody>
                    <a:bodyPr/>
                    <a:lstStyle/>
                    <a:p>
                      <a:r>
                        <a:rPr sz="1400" dirty="0">
                          <a:solidFill>
                            <a:srgbClr val="000000"/>
                          </a:solidFill>
                        </a:rPr>
                        <a:t>0.052</a:t>
                      </a:r>
                    </a:p>
                  </a:txBody>
                  <a:tcPr/>
                </a:tc>
                <a:tc>
                  <a:txBody>
                    <a:bodyPr/>
                    <a:lstStyle/>
                    <a:p>
                      <a:r>
                        <a:rPr sz="1400" dirty="0">
                          <a:solidFill>
                            <a:srgbClr val="000000"/>
                          </a:solidFill>
                        </a:rPr>
                        <a:t>2 x 10^-9</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731519" y="4160403"/>
            <a:ext cx="10424160" cy="1938992"/>
          </a:xfrm>
          <a:prstGeom prst="rect">
            <a:avLst/>
          </a:prstGeom>
          <a:noFill/>
        </p:spPr>
        <p:txBody>
          <a:bodyPr wrap="square">
            <a:spAutoFit/>
          </a:bodyPr>
          <a:lstStyle/>
          <a:p>
            <a:pPr marL="342900" indent="-342900">
              <a:buFont typeface="Arial" panose="020B0604020202020204" pitchFamily="34" charset="0"/>
              <a:buChar char="•"/>
            </a:pPr>
            <a:r>
              <a:rPr lang="en-US" sz="2400" dirty="0"/>
              <a:t>Here is the table with what we counted and Zhang’s numbers, using his exact two parents</a:t>
            </a:r>
          </a:p>
          <a:p>
            <a:pPr marL="342900" indent="-342900">
              <a:buFont typeface="Arial" panose="020B0604020202020204" pitchFamily="34" charset="0"/>
              <a:buChar char="•"/>
            </a:pPr>
            <a:r>
              <a:rPr lang="en-US" sz="2400" dirty="0"/>
              <a:t>You can see that the first one is close, but the other three are not close at all</a:t>
            </a:r>
          </a:p>
          <a:p>
            <a:pPr marL="342900" indent="-342900">
              <a:buFont typeface="Arial" panose="020B0604020202020204" pitchFamily="34" charset="0"/>
              <a:buChar char="•"/>
            </a:pPr>
            <a:r>
              <a:rPr lang="en-US" sz="2400" dirty="0"/>
              <a:t>So, the natural question is why? </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they don’t match</a:t>
            </a:r>
          </a:p>
        </p:txBody>
      </p:sp>
      <p:sp>
        <p:nvSpPr>
          <p:cNvPr id="3" name="Text Placeholder 2"/>
          <p:cNvSpPr>
            <a:spLocks noGrp="1"/>
          </p:cNvSpPr>
          <p:nvPr>
            <p:ph type="body" idx="1"/>
          </p:nvPr>
        </p:nvSpPr>
        <p:spPr/>
        <p:txBody>
          <a:bodyPr/>
          <a:lstStyle/>
          <a:p>
            <a:r>
              <a:rPr lang="en-US" dirty="0"/>
              <a:t>My counts don’t match, so we looked at the paper again </a:t>
            </a:r>
          </a:p>
          <a:p>
            <a:r>
              <a:rPr lang="en-US" dirty="0"/>
              <a:t>The papers own math (Eq 9, pg.8) computes this same conditional:</a:t>
            </a:r>
          </a:p>
          <a:p>
            <a:pPr lvl="1"/>
            <a:r>
              <a:rPr lang="en-US" dirty="0"/>
              <a:t>P(Fire | wiring overheating) = 1/102 = 0.0098, but table 4 prints 0.95 </a:t>
            </a:r>
          </a:p>
          <a:p>
            <a:r>
              <a:rPr lang="en-US" dirty="0"/>
              <a:t>The papers says this (part 7, pg.7):</a:t>
            </a:r>
          </a:p>
          <a:p>
            <a:pPr lvl="1"/>
            <a:r>
              <a:rPr lang="en-US" dirty="0"/>
              <a:t>No record about the joint occurrence of overheating of electric wiring and landing gear brake system wear out </a:t>
            </a:r>
            <a:r>
              <a:rPr lang="en-US" dirty="0">
                <a:sym typeface="Wingdings" pitchFamily="2" charset="2"/>
              </a:rPr>
              <a:t> nothing to count for the key cell</a:t>
            </a:r>
            <a:endParaRPr lang="en-US" dirty="0"/>
          </a:p>
          <a:p>
            <a:r>
              <a:rPr lang="en-US" dirty="0"/>
              <a:t>The paper shows (Figure 3):</a:t>
            </a:r>
          </a:p>
          <a:p>
            <a:pPr lvl="1"/>
            <a:r>
              <a:rPr lang="en-US" dirty="0"/>
              <a:t>Table 3,4, 5 and bayes rule reproduce every Figure 4 number exactly, Table 4 is the INPUT to the section 3 walkthrough</a:t>
            </a:r>
          </a:p>
          <a:p>
            <a:r>
              <a:rPr lang="en-US" dirty="0"/>
              <a:t>Wherever the paper counts, my counts matches </a:t>
            </a:r>
            <a:r>
              <a:rPr lang="en-US" dirty="0">
                <a:sym typeface="Wingdings" pitchFamily="2" charset="2"/>
              </a:rPr>
              <a:t> Table 4 never counted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real Table 4  P(fire | wiring, fuel) </a:t>
            </a:r>
          </a:p>
        </p:txBody>
      </p:sp>
      <p:sp>
        <p:nvSpPr>
          <p:cNvPr id="3" name="Text Placeholder 2"/>
          <p:cNvSpPr>
            <a:spLocks noGrp="1"/>
          </p:cNvSpPr>
          <p:nvPr>
            <p:ph type="body" idx="1"/>
          </p:nvPr>
        </p:nvSpPr>
        <p:spPr/>
        <p:txBody>
          <a:bodyPr/>
          <a:lstStyle/>
          <a:p>
            <a:endParaRPr dirty="0"/>
          </a:p>
        </p:txBody>
      </p:sp>
      <p:graphicFrame>
        <p:nvGraphicFramePr>
          <p:cNvPr id="4" name="Table 3"/>
          <p:cNvGraphicFramePr>
            <a:graphicFrameLocks noGrp="1"/>
          </p:cNvGraphicFramePr>
          <p:nvPr>
            <p:extLst>
              <p:ext uri="{D42A27DB-BD31-4B8C-83A1-F6EECF244321}">
                <p14:modId xmlns:p14="http://schemas.microsoft.com/office/powerpoint/2010/main" val="2769997906"/>
              </p:ext>
            </p:extLst>
          </p:nvPr>
        </p:nvGraphicFramePr>
        <p:xfrm>
          <a:off x="731520" y="1371600"/>
          <a:ext cx="9509760" cy="23774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475488">
                <a:tc>
                  <a:txBody>
                    <a:bodyPr/>
                    <a:lstStyle/>
                    <a:p>
                      <a:r>
                        <a:rPr sz="1400" b="1">
                          <a:solidFill>
                            <a:srgbClr val="000000"/>
                          </a:solidFill>
                        </a:rPr>
                        <a:t>wiring</a:t>
                      </a:r>
                    </a:p>
                  </a:txBody>
                  <a:tcPr/>
                </a:tc>
                <a:tc>
                  <a:txBody>
                    <a:bodyPr/>
                    <a:lstStyle/>
                    <a:p>
                      <a:r>
                        <a:rPr sz="1400" b="1">
                          <a:solidFill>
                            <a:srgbClr val="000000"/>
                          </a:solidFill>
                        </a:rPr>
                        <a:t>fuel</a:t>
                      </a:r>
                    </a:p>
                  </a:txBody>
                  <a:tcPr/>
                </a:tc>
                <a:tc>
                  <a:txBody>
                    <a:bodyPr/>
                    <a:lstStyle/>
                    <a:p>
                      <a:r>
                        <a:rPr sz="1400" b="1">
                          <a:solidFill>
                            <a:srgbClr val="000000"/>
                          </a:solidFill>
                        </a:rPr>
                        <a:t>n/N</a:t>
                      </a:r>
                    </a:p>
                  </a:txBody>
                  <a:tcPr/>
                </a:tc>
                <a:tc>
                  <a:txBody>
                    <a:bodyPr/>
                    <a:lstStyle/>
                    <a:p>
                      <a:r>
                        <a:rPr sz="1400" b="1">
                          <a:solidFill>
                            <a:srgbClr val="000000"/>
                          </a:solidFill>
                        </a:rPr>
                        <a:t>Direct counting</a:t>
                      </a:r>
                    </a:p>
                  </a:txBody>
                  <a:tcPr/>
                </a:tc>
                <a:tc>
                  <a:txBody>
                    <a:bodyPr/>
                    <a:lstStyle/>
                    <a:p>
                      <a:r>
                        <a:rPr sz="1400" b="1" dirty="0">
                          <a:solidFill>
                            <a:srgbClr val="000000"/>
                          </a:solidFill>
                        </a:rPr>
                        <a:t>Zhang’s </a:t>
                      </a:r>
                      <a:r>
                        <a:rPr lang="en-US" sz="1400" b="1" dirty="0">
                          <a:solidFill>
                            <a:srgbClr val="000000"/>
                          </a:solidFill>
                        </a:rPr>
                        <a:t>method section</a:t>
                      </a:r>
                      <a:r>
                        <a:rPr sz="1400" b="1" dirty="0">
                          <a:solidFill>
                            <a:srgbClr val="000000"/>
                          </a:solidFill>
                        </a:rPr>
                        <a:t> 4.3</a:t>
                      </a:r>
                    </a:p>
                  </a:txBody>
                  <a:tcPr/>
                </a:tc>
                <a:extLst>
                  <a:ext uri="{0D108BD9-81ED-4DB2-BD59-A6C34878D82A}">
                    <a16:rowId xmlns:a16="http://schemas.microsoft.com/office/drawing/2014/main" val="10000"/>
                  </a:ext>
                </a:extLst>
              </a:tr>
              <a:tr h="475488">
                <a:tc>
                  <a:txBody>
                    <a:bodyPr/>
                    <a:lstStyle/>
                    <a:p>
                      <a:r>
                        <a:rPr sz="1400">
                          <a:solidFill>
                            <a:srgbClr val="000000"/>
                          </a:solidFill>
                        </a:rPr>
                        <a:t>YES</a:t>
                      </a:r>
                    </a:p>
                  </a:txBody>
                  <a:tcPr/>
                </a:tc>
                <a:tc>
                  <a:txBody>
                    <a:bodyPr/>
                    <a:lstStyle/>
                    <a:p>
                      <a:r>
                        <a:rPr sz="1400">
                          <a:solidFill>
                            <a:srgbClr val="000000"/>
                          </a:solidFill>
                        </a:rPr>
                        <a:t>YES</a:t>
                      </a:r>
                    </a:p>
                  </a:txBody>
                  <a:tcPr/>
                </a:tc>
                <a:tc>
                  <a:txBody>
                    <a:bodyPr/>
                    <a:lstStyle/>
                    <a:p>
                      <a:r>
                        <a:rPr sz="1400">
                          <a:solidFill>
                            <a:srgbClr val="000000"/>
                          </a:solidFill>
                        </a:rPr>
                        <a:t>1/1</a:t>
                      </a:r>
                    </a:p>
                  </a:txBody>
                  <a:tcPr/>
                </a:tc>
                <a:tc>
                  <a:txBody>
                    <a:bodyPr/>
                    <a:lstStyle/>
                    <a:p>
                      <a:r>
                        <a:rPr sz="1400">
                          <a:solidFill>
                            <a:srgbClr val="000000"/>
                          </a:solidFill>
                        </a:rPr>
                        <a:t>0.950 (sparse → capped)</a:t>
                      </a:r>
                    </a:p>
                  </a:txBody>
                  <a:tcPr/>
                </a:tc>
                <a:tc>
                  <a:txBody>
                    <a:bodyPr/>
                    <a:lstStyle/>
                    <a:p>
                      <a:r>
                        <a:rPr sz="1400">
                          <a:solidFill>
                            <a:srgbClr val="000000"/>
                          </a:solidFill>
                        </a:rPr>
                        <a:t>0.393</a:t>
                      </a:r>
                    </a:p>
                  </a:txBody>
                  <a:tcPr/>
                </a:tc>
                <a:extLst>
                  <a:ext uri="{0D108BD9-81ED-4DB2-BD59-A6C34878D82A}">
                    <a16:rowId xmlns:a16="http://schemas.microsoft.com/office/drawing/2014/main" val="10001"/>
                  </a:ext>
                </a:extLst>
              </a:tr>
              <a:tr h="475488">
                <a:tc>
                  <a:txBody>
                    <a:bodyPr/>
                    <a:lstStyle/>
                    <a:p>
                      <a:r>
                        <a:rPr sz="1400">
                          <a:solidFill>
                            <a:srgbClr val="000000"/>
                          </a:solidFill>
                        </a:rPr>
                        <a:t>YES</a:t>
                      </a:r>
                    </a:p>
                  </a:txBody>
                  <a:tcPr/>
                </a:tc>
                <a:tc>
                  <a:txBody>
                    <a:bodyPr/>
                    <a:lstStyle/>
                    <a:p>
                      <a:r>
                        <a:rPr sz="1400">
                          <a:solidFill>
                            <a:srgbClr val="000000"/>
                          </a:solidFill>
                        </a:rPr>
                        <a:t>NO</a:t>
                      </a:r>
                    </a:p>
                  </a:txBody>
                  <a:tcPr/>
                </a:tc>
                <a:tc>
                  <a:txBody>
                    <a:bodyPr/>
                    <a:lstStyle/>
                    <a:p>
                      <a:r>
                        <a:rPr sz="1400">
                          <a:solidFill>
                            <a:srgbClr val="000000"/>
                          </a:solidFill>
                        </a:rPr>
                        <a:t>10/21</a:t>
                      </a:r>
                    </a:p>
                  </a:txBody>
                  <a:tcPr/>
                </a:tc>
                <a:tc>
                  <a:txBody>
                    <a:bodyPr/>
                    <a:lstStyle/>
                    <a:p>
                      <a:r>
                        <a:rPr sz="1400">
                          <a:solidFill>
                            <a:srgbClr val="000000"/>
                          </a:solidFill>
                        </a:rPr>
                        <a:t>0.476</a:t>
                      </a:r>
                    </a:p>
                  </a:txBody>
                  <a:tcPr/>
                </a:tc>
                <a:tc>
                  <a:txBody>
                    <a:bodyPr/>
                    <a:lstStyle/>
                    <a:p>
                      <a:r>
                        <a:rPr sz="1400">
                          <a:solidFill>
                            <a:srgbClr val="000000"/>
                          </a:solidFill>
                        </a:rPr>
                        <a:t>0.393</a:t>
                      </a:r>
                    </a:p>
                  </a:txBody>
                  <a:tcPr/>
                </a:tc>
                <a:extLst>
                  <a:ext uri="{0D108BD9-81ED-4DB2-BD59-A6C34878D82A}">
                    <a16:rowId xmlns:a16="http://schemas.microsoft.com/office/drawing/2014/main" val="10002"/>
                  </a:ext>
                </a:extLst>
              </a:tr>
              <a:tr h="475488">
                <a:tc>
                  <a:txBody>
                    <a:bodyPr/>
                    <a:lstStyle/>
                    <a:p>
                      <a:r>
                        <a:rPr sz="1400">
                          <a:solidFill>
                            <a:srgbClr val="000000"/>
                          </a:solidFill>
                        </a:rPr>
                        <a:t>NO</a:t>
                      </a:r>
                    </a:p>
                  </a:txBody>
                  <a:tcPr/>
                </a:tc>
                <a:tc>
                  <a:txBody>
                    <a:bodyPr/>
                    <a:lstStyle/>
                    <a:p>
                      <a:r>
                        <a:rPr sz="1400">
                          <a:solidFill>
                            <a:srgbClr val="000000"/>
                          </a:solidFill>
                        </a:rPr>
                        <a:t>YES</a:t>
                      </a:r>
                    </a:p>
                  </a:txBody>
                  <a:tcPr/>
                </a:tc>
                <a:tc>
                  <a:txBody>
                    <a:bodyPr/>
                    <a:lstStyle/>
                    <a:p>
                      <a:r>
                        <a:rPr sz="1400">
                          <a:solidFill>
                            <a:srgbClr val="000000"/>
                          </a:solidFill>
                        </a:rPr>
                        <a:t>23/45</a:t>
                      </a:r>
                    </a:p>
                  </a:txBody>
                  <a:tcPr/>
                </a:tc>
                <a:tc>
                  <a:txBody>
                    <a:bodyPr/>
                    <a:lstStyle/>
                    <a:p>
                      <a:r>
                        <a:rPr sz="1400">
                          <a:solidFill>
                            <a:srgbClr val="000000"/>
                          </a:solidFill>
                        </a:rPr>
                        <a:t>0.511</a:t>
                      </a:r>
                    </a:p>
                  </a:txBody>
                  <a:tcPr/>
                </a:tc>
                <a:tc>
                  <a:txBody>
                    <a:bodyPr/>
                    <a:lstStyle/>
                    <a:p>
                      <a:r>
                        <a:rPr sz="1400">
                          <a:solidFill>
                            <a:srgbClr val="000000"/>
                          </a:solidFill>
                        </a:rPr>
                        <a:t>0.353</a:t>
                      </a:r>
                    </a:p>
                  </a:txBody>
                  <a:tcPr/>
                </a:tc>
                <a:extLst>
                  <a:ext uri="{0D108BD9-81ED-4DB2-BD59-A6C34878D82A}">
                    <a16:rowId xmlns:a16="http://schemas.microsoft.com/office/drawing/2014/main" val="10003"/>
                  </a:ext>
                </a:extLst>
              </a:tr>
              <a:tr h="475488">
                <a:tc>
                  <a:txBody>
                    <a:bodyPr/>
                    <a:lstStyle/>
                    <a:p>
                      <a:r>
                        <a:rPr sz="1400">
                          <a:solidFill>
                            <a:srgbClr val="000000"/>
                          </a:solidFill>
                        </a:rPr>
                        <a:t>NO</a:t>
                      </a:r>
                    </a:p>
                  </a:txBody>
                  <a:tcPr/>
                </a:tc>
                <a:tc>
                  <a:txBody>
                    <a:bodyPr/>
                    <a:lstStyle/>
                    <a:p>
                      <a:r>
                        <a:rPr sz="1400">
                          <a:solidFill>
                            <a:srgbClr val="000000"/>
                          </a:solidFill>
                        </a:rPr>
                        <a:t>NO</a:t>
                      </a:r>
                    </a:p>
                  </a:txBody>
                  <a:tcPr/>
                </a:tc>
                <a:tc>
                  <a:txBody>
                    <a:bodyPr/>
                    <a:lstStyle/>
                    <a:p>
                      <a:r>
                        <a:rPr sz="1400" dirty="0">
                          <a:solidFill>
                            <a:srgbClr val="000000"/>
                          </a:solidFill>
                        </a:rPr>
                        <a:t>68/1,675</a:t>
                      </a:r>
                    </a:p>
                  </a:txBody>
                  <a:tcPr/>
                </a:tc>
                <a:tc>
                  <a:txBody>
                    <a:bodyPr/>
                    <a:lstStyle/>
                    <a:p>
                      <a:r>
                        <a:rPr sz="1400">
                          <a:solidFill>
                            <a:srgbClr val="000000"/>
                          </a:solidFill>
                        </a:rPr>
                        <a:t>0.041</a:t>
                      </a:r>
                    </a:p>
                  </a:txBody>
                  <a:tcPr/>
                </a:tc>
                <a:tc>
                  <a:txBody>
                    <a:bodyPr/>
                    <a:lstStyle/>
                    <a:p>
                      <a:r>
                        <a:rPr sz="1400" dirty="0">
                          <a:solidFill>
                            <a:srgbClr val="000000"/>
                          </a:solidFill>
                        </a:rPr>
                        <a:t>0.000</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731520" y="3867793"/>
            <a:ext cx="10424160" cy="584775"/>
          </a:xfrm>
          <a:prstGeom prst="rect">
            <a:avLst/>
          </a:prstGeom>
          <a:noFill/>
        </p:spPr>
        <p:txBody>
          <a:bodyPr wrap="square">
            <a:spAutoFit/>
          </a:bodyPr>
          <a:lstStyle/>
          <a:p>
            <a:pPr marL="285750" indent="-285750">
              <a:buFont typeface="Arial" panose="020B0604020202020204" pitchFamily="34" charset="0"/>
              <a:buChar char="•"/>
            </a:pPr>
            <a:r>
              <a:rPr lang="en-US" sz="1600" dirty="0"/>
              <a:t>Same format as Zhang’s Table 4, every cell counted from real NTSB data (1,742 accidents)</a:t>
            </a:r>
          </a:p>
          <a:p>
            <a:pPr marL="285750" indent="-285750">
              <a:buFont typeface="Arial" panose="020B0604020202020204" pitchFamily="34" charset="0"/>
              <a:buChar char="•"/>
            </a:pPr>
            <a:r>
              <a:rPr lang="en-US" sz="1600" dirty="0"/>
              <a:t>Two independent methods agree, direct counting and Zhang’s out Section 4.3 (equation 9 and </a:t>
            </a:r>
            <a:r>
              <a:rPr lang="en-US" sz="1600" dirty="0" err="1"/>
              <a:t>BetaCDF</a:t>
            </a:r>
            <a:r>
              <a:rPr lang="en-US" sz="16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Whole Process</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2812152426"/>
              </p:ext>
            </p:extLst>
          </p:nvPr>
        </p:nvGraphicFramePr>
        <p:xfrm>
          <a:off x="502920" y="1097280"/>
          <a:ext cx="11155680" cy="43891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548640">
                <a:tc>
                  <a:txBody>
                    <a:bodyPr/>
                    <a:lstStyle/>
                    <a:p>
                      <a:endParaRPr/>
                    </a:p>
                  </a:txBody>
                  <a:tcPr/>
                </a:tc>
                <a:tc>
                  <a:txBody>
                    <a:bodyPr/>
                    <a:lstStyle/>
                    <a:p>
                      <a:r>
                        <a:rPr sz="1200" b="1">
                          <a:solidFill>
                            <a:srgbClr val="000000"/>
                          </a:solidFill>
                        </a:rPr>
                        <a:t>What happens</a:t>
                      </a:r>
                    </a:p>
                  </a:txBody>
                  <a:tcPr/>
                </a:tc>
                <a:tc>
                  <a:txBody>
                    <a:bodyPr/>
                    <a:lstStyle/>
                    <a:p>
                      <a:r>
                        <a:rPr sz="1200" b="1">
                          <a:solidFill>
                            <a:srgbClr val="000000"/>
                          </a:solidFill>
                        </a:rPr>
                        <a:t>Ex: “engine caught fire during takeoff”</a:t>
                      </a:r>
                    </a:p>
                  </a:txBody>
                  <a:tcPr/>
                </a:tc>
                <a:extLst>
                  <a:ext uri="{0D108BD9-81ED-4DB2-BD59-A6C34878D82A}">
                    <a16:rowId xmlns:a16="http://schemas.microsoft.com/office/drawing/2014/main" val="10000"/>
                  </a:ext>
                </a:extLst>
              </a:tr>
              <a:tr h="548640">
                <a:tc>
                  <a:txBody>
                    <a:bodyPr/>
                    <a:lstStyle/>
                    <a:p>
                      <a:r>
                        <a:rPr sz="1200">
                          <a:solidFill>
                            <a:srgbClr val="000000"/>
                          </a:solidFill>
                        </a:rPr>
                        <a:t>1. Detect outcome</a:t>
                      </a:r>
                    </a:p>
                  </a:txBody>
                  <a:tcPr/>
                </a:tc>
                <a:tc>
                  <a:txBody>
                    <a:bodyPr/>
                    <a:lstStyle/>
                    <a:p>
                      <a:r>
                        <a:rPr sz="1200">
                          <a:solidFill>
                            <a:srgbClr val="000000"/>
                          </a:solidFill>
                        </a:rPr>
                        <a:t>Parse the query for an NTSB occurrence</a:t>
                      </a:r>
                    </a:p>
                  </a:txBody>
                  <a:tcPr/>
                </a:tc>
                <a:tc>
                  <a:txBody>
                    <a:bodyPr/>
                    <a:lstStyle/>
                    <a:p>
                      <a:r>
                        <a:rPr sz="1200">
                          <a:solidFill>
                            <a:srgbClr val="000000"/>
                          </a:solidFill>
                        </a:rPr>
                        <a:t>fire → 102 fire accidents (Zhang’s Table 7 denominator)</a:t>
                      </a:r>
                    </a:p>
                  </a:txBody>
                  <a:tcPr/>
                </a:tc>
                <a:extLst>
                  <a:ext uri="{0D108BD9-81ED-4DB2-BD59-A6C34878D82A}">
                    <a16:rowId xmlns:a16="http://schemas.microsoft.com/office/drawing/2014/main" val="10001"/>
                  </a:ext>
                </a:extLst>
              </a:tr>
              <a:tr h="548640">
                <a:tc>
                  <a:txBody>
                    <a:bodyPr/>
                    <a:lstStyle/>
                    <a:p>
                      <a:r>
                        <a:rPr sz="1200">
                          <a:solidFill>
                            <a:srgbClr val="000000"/>
                          </a:solidFill>
                        </a:rPr>
                        <a:t>2. Embed + retrieve</a:t>
                      </a:r>
                    </a:p>
                  </a:txBody>
                  <a:tcPr/>
                </a:tc>
                <a:tc>
                  <a:txBody>
                    <a:bodyPr/>
                    <a:lstStyle/>
                    <a:p>
                      <a:r>
                        <a:rPr sz="1200">
                          <a:solidFill>
                            <a:srgbClr val="000000"/>
                          </a:solidFill>
                        </a:rPr>
                        <a:t>Embed query; rank all incidents by similarity</a:t>
                      </a:r>
                    </a:p>
                  </a:txBody>
                  <a:tcPr/>
                </a:tc>
                <a:tc>
                  <a:txBody>
                    <a:bodyPr/>
                    <a:lstStyle/>
                    <a:p>
                      <a:r>
                        <a:rPr lang="en-US" sz="1200" dirty="0">
                          <a:solidFill>
                            <a:srgbClr val="000000"/>
                          </a:solidFill>
                        </a:rPr>
                        <a:t>All of the </a:t>
                      </a:r>
                      <a:r>
                        <a:rPr sz="1200" dirty="0">
                          <a:solidFill>
                            <a:srgbClr val="000000"/>
                          </a:solidFill>
                        </a:rPr>
                        <a:t>similar incidents, with scores</a:t>
                      </a:r>
                    </a:p>
                  </a:txBody>
                  <a:tcPr/>
                </a:tc>
                <a:extLst>
                  <a:ext uri="{0D108BD9-81ED-4DB2-BD59-A6C34878D82A}">
                    <a16:rowId xmlns:a16="http://schemas.microsoft.com/office/drawing/2014/main" val="10002"/>
                  </a:ext>
                </a:extLst>
              </a:tr>
              <a:tr h="548640">
                <a:tc>
                  <a:txBody>
                    <a:bodyPr/>
                    <a:lstStyle/>
                    <a:p>
                      <a:r>
                        <a:rPr sz="1200">
                          <a:solidFill>
                            <a:srgbClr val="000000"/>
                          </a:solidFill>
                        </a:rPr>
                        <a:t>3. Partition  (CHANGED)</a:t>
                      </a:r>
                    </a:p>
                  </a:txBody>
                  <a:tcPr/>
                </a:tc>
                <a:tc>
                  <a:txBody>
                    <a:bodyPr/>
                    <a:lstStyle/>
                    <a:p>
                      <a:r>
                        <a:rPr sz="1200">
                          <a:solidFill>
                            <a:srgbClr val="000000"/>
                          </a:solidFill>
                        </a:rPr>
                        <a:t>Split the 102 fires into precomputed clusters</a:t>
                      </a:r>
                    </a:p>
                  </a:txBody>
                  <a:tcPr/>
                </a:tc>
                <a:tc>
                  <a:txBody>
                    <a:bodyPr/>
                    <a:lstStyle/>
                    <a:p>
                      <a:r>
                        <a:rPr sz="1200" dirty="0">
                          <a:solidFill>
                            <a:srgbClr val="000000"/>
                          </a:solidFill>
                        </a:rPr>
                        <a:t>15 clusters: cabin fire (32), electrical (21), engine fire (16)…</a:t>
                      </a:r>
                      <a:endParaRPr lang="en-US" sz="1200" dirty="0">
                        <a:solidFill>
                          <a:srgbClr val="000000"/>
                        </a:solidFill>
                      </a:endParaRPr>
                    </a:p>
                    <a:p>
                      <a:r>
                        <a:rPr lang="en-US" sz="1200" dirty="0">
                          <a:solidFill>
                            <a:srgbClr val="000000"/>
                          </a:solidFill>
                        </a:rPr>
                        <a:t>(19 didn’t have a cluster we fixed that )</a:t>
                      </a:r>
                      <a:endParaRPr sz="1200" dirty="0">
                        <a:solidFill>
                          <a:srgbClr val="000000"/>
                        </a:solidFill>
                      </a:endParaRPr>
                    </a:p>
                  </a:txBody>
                  <a:tcPr/>
                </a:tc>
                <a:extLst>
                  <a:ext uri="{0D108BD9-81ED-4DB2-BD59-A6C34878D82A}">
                    <a16:rowId xmlns:a16="http://schemas.microsoft.com/office/drawing/2014/main" val="10003"/>
                  </a:ext>
                </a:extLst>
              </a:tr>
              <a:tr h="548640">
                <a:tc>
                  <a:txBody>
                    <a:bodyPr/>
                    <a:lstStyle/>
                    <a:p>
                      <a:r>
                        <a:rPr sz="1200">
                          <a:solidFill>
                            <a:srgbClr val="000000"/>
                          </a:solidFill>
                        </a:rPr>
                        <a:t>4. P(cause | K)  (CHANGED)</a:t>
                      </a:r>
                    </a:p>
                  </a:txBody>
                  <a:tcPr/>
                </a:tc>
                <a:tc>
                  <a:txBody>
                    <a:bodyPr/>
                    <a:lstStyle/>
                    <a:p>
                      <a:r>
                        <a:rPr sz="1200">
                          <a:solidFill>
                            <a:srgbClr val="000000"/>
                          </a:solidFill>
                        </a:rPr>
                        <a:t>Zhang’s Table-7 counting INSIDE each cluster</a:t>
                      </a:r>
                    </a:p>
                  </a:txBody>
                  <a:tcPr/>
                </a:tc>
                <a:tc>
                  <a:txBody>
                    <a:bodyPr/>
                    <a:lstStyle/>
                    <a:p>
                      <a:r>
                        <a:rPr sz="1200" dirty="0">
                          <a:solidFill>
                            <a:srgbClr val="000000"/>
                          </a:solidFill>
                        </a:rPr>
                        <a:t>same labels, same rules, same denominator</a:t>
                      </a:r>
                      <a:r>
                        <a:rPr lang="en-US" sz="1200" dirty="0">
                          <a:solidFill>
                            <a:srgbClr val="000000"/>
                          </a:solidFill>
                        </a:rPr>
                        <a:t> (doing counting like table 7)</a:t>
                      </a:r>
                      <a:endParaRPr sz="1200" dirty="0">
                        <a:solidFill>
                          <a:srgbClr val="000000"/>
                        </a:solidFill>
                      </a:endParaRPr>
                    </a:p>
                  </a:txBody>
                  <a:tcPr/>
                </a:tc>
                <a:extLst>
                  <a:ext uri="{0D108BD9-81ED-4DB2-BD59-A6C34878D82A}">
                    <a16:rowId xmlns:a16="http://schemas.microsoft.com/office/drawing/2014/main" val="10004"/>
                  </a:ext>
                </a:extLst>
              </a:tr>
              <a:tr h="548640">
                <a:tc>
                  <a:txBody>
                    <a:bodyPr/>
                    <a:lstStyle/>
                    <a:p>
                      <a:r>
                        <a:rPr sz="1200">
                          <a:solidFill>
                            <a:srgbClr val="000000"/>
                          </a:solidFill>
                        </a:rPr>
                        <a:t>5. P(K | query)</a:t>
                      </a:r>
                    </a:p>
                  </a:txBody>
                  <a:tcPr/>
                </a:tc>
                <a:tc>
                  <a:txBody>
                    <a:bodyPr/>
                    <a:lstStyle/>
                    <a:p>
                      <a:r>
                        <a:rPr sz="1200" dirty="0">
                          <a:solidFill>
                            <a:srgbClr val="000000"/>
                          </a:solidFill>
                        </a:rPr>
                        <a:t>Cluster weights</a:t>
                      </a:r>
                      <a:r>
                        <a:rPr lang="en-US" sz="1200" dirty="0">
                          <a:solidFill>
                            <a:srgbClr val="000000"/>
                          </a:solidFill>
                        </a:rPr>
                        <a:t>, </a:t>
                      </a:r>
                      <a:r>
                        <a:rPr sz="1200" dirty="0">
                          <a:solidFill>
                            <a:srgbClr val="000000"/>
                          </a:solidFill>
                        </a:rPr>
                        <a:t>the only place the query enters</a:t>
                      </a:r>
                    </a:p>
                  </a:txBody>
                  <a:tcPr/>
                </a:tc>
                <a:tc>
                  <a:txBody>
                    <a:bodyPr/>
                    <a:lstStyle/>
                    <a:p>
                      <a:r>
                        <a:rPr sz="1200" dirty="0">
                          <a:solidFill>
                            <a:srgbClr val="000000"/>
                          </a:solidFill>
                        </a:rPr>
                        <a:t>neutral: N_K/102 </a:t>
                      </a:r>
                      <a:r>
                        <a:rPr lang="en-US" sz="1200" dirty="0">
                          <a:solidFill>
                            <a:srgbClr val="000000"/>
                          </a:solidFill>
                        </a:rPr>
                        <a:t>(query doesn’t add anything) </a:t>
                      </a:r>
                    </a:p>
                    <a:p>
                      <a:r>
                        <a:rPr sz="1200" dirty="0">
                          <a:solidFill>
                            <a:srgbClr val="000000"/>
                          </a:solidFill>
                        </a:rPr>
                        <a:t> similarity: </a:t>
                      </a:r>
                      <a:r>
                        <a:rPr lang="en-US" sz="1200" dirty="0">
                          <a:solidFill>
                            <a:srgbClr val="000000"/>
                          </a:solidFill>
                        </a:rPr>
                        <a:t>adding more weight to the cluster because of the query </a:t>
                      </a:r>
                      <a:endParaRPr sz="1200" dirty="0">
                        <a:solidFill>
                          <a:srgbClr val="000000"/>
                        </a:solidFill>
                      </a:endParaRPr>
                    </a:p>
                  </a:txBody>
                  <a:tcPr/>
                </a:tc>
                <a:extLst>
                  <a:ext uri="{0D108BD9-81ED-4DB2-BD59-A6C34878D82A}">
                    <a16:rowId xmlns:a16="http://schemas.microsoft.com/office/drawing/2014/main" val="10005"/>
                  </a:ext>
                </a:extLst>
              </a:tr>
              <a:tr h="548640">
                <a:tc>
                  <a:txBody>
                    <a:bodyPr/>
                    <a:lstStyle/>
                    <a:p>
                      <a:r>
                        <a:rPr sz="1200" dirty="0">
                          <a:solidFill>
                            <a:srgbClr val="000000"/>
                          </a:solidFill>
                        </a:rPr>
                        <a:t>6. </a:t>
                      </a:r>
                      <a:r>
                        <a:rPr lang="en-US" sz="1200" dirty="0">
                          <a:solidFill>
                            <a:srgbClr val="000000"/>
                          </a:solidFill>
                        </a:rPr>
                        <a:t>Law of total Probability </a:t>
                      </a:r>
                      <a:endParaRPr sz="1200" dirty="0">
                        <a:solidFill>
                          <a:srgbClr val="000000"/>
                        </a:solidFill>
                      </a:endParaRPr>
                    </a:p>
                  </a:txBody>
                  <a:tcPr/>
                </a:tc>
                <a:tc>
                  <a:txBody>
                    <a:bodyPr/>
                    <a:lstStyle/>
                    <a:p>
                      <a:r>
                        <a:rPr sz="1200">
                          <a:solidFill>
                            <a:srgbClr val="000000"/>
                          </a:solidFill>
                        </a:rPr>
                        <a:t>P(cause|Q) = Σ_K P(cause|K)·P(K|Q)</a:t>
                      </a:r>
                    </a:p>
                  </a:txBody>
                  <a:tcPr/>
                </a:tc>
                <a:tc>
                  <a:txBody>
                    <a:bodyPr/>
                    <a:lstStyle/>
                    <a:p>
                      <a:r>
                        <a:rPr sz="1200" dirty="0">
                          <a:solidFill>
                            <a:srgbClr val="000000"/>
                          </a:solidFill>
                        </a:rPr>
                        <a:t>neutral → Table 7 EXACTLY; similarity → </a:t>
                      </a:r>
                      <a:r>
                        <a:rPr lang="en-US" sz="1200" dirty="0">
                          <a:solidFill>
                            <a:srgbClr val="000000"/>
                          </a:solidFill>
                        </a:rPr>
                        <a:t>shows what the narratives add</a:t>
                      </a:r>
                      <a:endParaRPr sz="1200" dirty="0">
                        <a:solidFill>
                          <a:srgbClr val="000000"/>
                        </a:solidFill>
                      </a:endParaRPr>
                    </a:p>
                  </a:txBody>
                  <a:tcPr/>
                </a:tc>
                <a:extLst>
                  <a:ext uri="{0D108BD9-81ED-4DB2-BD59-A6C34878D82A}">
                    <a16:rowId xmlns:a16="http://schemas.microsoft.com/office/drawing/2014/main" val="10006"/>
                  </a:ext>
                </a:extLst>
              </a:tr>
              <a:tr h="548640">
                <a:tc>
                  <a:txBody>
                    <a:bodyPr/>
                    <a:lstStyle/>
                    <a:p>
                      <a:r>
                        <a:rPr sz="1200">
                          <a:solidFill>
                            <a:srgbClr val="000000"/>
                          </a:solidFill>
                        </a:rPr>
                        <a:t>7. Build tree</a:t>
                      </a:r>
                    </a:p>
                  </a:txBody>
                  <a:tcPr/>
                </a:tc>
                <a:tc>
                  <a:txBody>
                    <a:bodyPr/>
                    <a:lstStyle/>
                    <a:p>
                      <a:r>
                        <a:rPr sz="1200">
                          <a:solidFill>
                            <a:srgbClr val="000000"/>
                          </a:solidFill>
                        </a:rPr>
                        <a:t>Recurse: causes of causes, path probabilities</a:t>
                      </a:r>
                    </a:p>
                  </a:txBody>
                  <a:tcPr/>
                </a:tc>
                <a:tc>
                  <a:txBody>
                    <a:bodyPr/>
                    <a:lstStyle/>
                    <a:p>
                      <a:r>
                        <a:rPr sz="1200" dirty="0">
                          <a:solidFill>
                            <a:srgbClr val="000000"/>
                          </a:solidFill>
                        </a:rPr>
                        <a:t>diagnosis / prognosis trees (Streamlit)</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remaining tables need a Bayesian network</a:t>
            </a:r>
          </a:p>
        </p:txBody>
      </p:sp>
      <p:sp>
        <p:nvSpPr>
          <p:cNvPr id="3" name="Text Placeholder 2"/>
          <p:cNvSpPr>
            <a:spLocks noGrp="1"/>
          </p:cNvSpPr>
          <p:nvPr>
            <p:ph type="body" idx="1"/>
          </p:nvPr>
        </p:nvSpPr>
        <p:spPr/>
        <p:txBody>
          <a:bodyPr/>
          <a:lstStyle/>
          <a:p>
            <a:r>
              <a:rPr dirty="0"/>
              <a:t>My trees: follow ONE path at a time, every hop a real count (n/N visible)</a:t>
            </a:r>
          </a:p>
          <a:p>
            <a:r>
              <a:rPr dirty="0"/>
              <a:t>Table 8, lower Table 9, Figs 11–12 need:</a:t>
            </a:r>
          </a:p>
          <a:p>
            <a:pPr lvl="1"/>
            <a:r>
              <a:rPr dirty="0"/>
              <a:t>combine ALL paths between two events at once</a:t>
            </a:r>
          </a:p>
          <a:p>
            <a:pPr lvl="1"/>
            <a:r>
              <a:rPr dirty="0"/>
              <a:t>propagate BACKWARD (observe effect → update causes → re-predict)</a:t>
            </a:r>
          </a:p>
          <a:p>
            <a:pPr lvl="1"/>
            <a:r>
              <a:rPr dirty="0"/>
              <a:t>fuse MULTIPLE evidences at the same time</a:t>
            </a:r>
          </a:p>
          <a:p>
            <a:pPr lvl="1"/>
            <a:r>
              <a:rPr dirty="0"/>
              <a:t>what-ifs: “set this prior to 0.3” → hypothetical, nothing to count</a:t>
            </a:r>
          </a:p>
          <a:p>
            <a:r>
              <a:rPr dirty="0"/>
              <a:t>Those 4 capabilities ARE a Bayesian network (nodes + CPTs + propagation)</a:t>
            </a:r>
          </a:p>
          <a:p>
            <a:r>
              <a:rPr dirty="0"/>
              <a:t>Building it from OUR OWN pipeline probabilities, open-source inference — nothing taken from Zhang’s implementation</a:t>
            </a:r>
          </a:p>
          <a:p>
            <a:r>
              <a:rPr lang="en-US" b="1" dirty="0"/>
              <a:t>Our trees are chains of observed one hop counts, forward, down one path at a time</a:t>
            </a:r>
            <a:endParaRPr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a:t>
            </a:r>
          </a:p>
        </p:txBody>
      </p:sp>
      <p:sp>
        <p:nvSpPr>
          <p:cNvPr id="3" name="Text Placeholder 2"/>
          <p:cNvSpPr>
            <a:spLocks noGrp="1"/>
          </p:cNvSpPr>
          <p:nvPr>
            <p:ph type="body" idx="1"/>
          </p:nvPr>
        </p:nvSpPr>
        <p:spPr/>
        <p:txBody>
          <a:bodyPr/>
          <a:lstStyle/>
          <a:p>
            <a:r>
              <a:rPr dirty="0"/>
              <a:t>Finish the Bayesian network built from our own probabilities</a:t>
            </a:r>
          </a:p>
          <a:p>
            <a:r>
              <a:rPr dirty="0"/>
              <a:t>Friday → full BN construction + Table 8 / Table 9 / Figs 11</a:t>
            </a:r>
            <a:r>
              <a:rPr lang="en-US" dirty="0"/>
              <a:t>-</a:t>
            </a:r>
            <a:r>
              <a:rPr dirty="0"/>
              <a:t>12 comparisons</a:t>
            </a:r>
          </a:p>
          <a:p>
            <a:r>
              <a:rPr dirty="0"/>
              <a:t>Then start </a:t>
            </a:r>
            <a:r>
              <a:rPr lang="en-US" dirty="0"/>
              <a:t>editing</a:t>
            </a:r>
            <a:r>
              <a:rPr dirty="0"/>
              <a:t> the paper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DD0B-172E-FCAD-AACC-D18F547592D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5C13AA7-A474-4F0E-B12B-B97E1525022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2872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we Changed Part A</a:t>
            </a:r>
            <a:r>
              <a:rPr lang="en-US" dirty="0"/>
              <a:t>,</a:t>
            </a:r>
            <a:r>
              <a:rPr dirty="0"/>
              <a:t> cluster coverage</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951311725"/>
              </p:ext>
            </p:extLst>
          </p:nvPr>
        </p:nvGraphicFramePr>
        <p:xfrm>
          <a:off x="502920" y="1280160"/>
          <a:ext cx="11155680" cy="29260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731520">
                <a:tc>
                  <a:txBody>
                    <a:bodyPr/>
                    <a:lstStyle/>
                    <a:p>
                      <a:r>
                        <a:rPr sz="1300" b="1">
                          <a:solidFill>
                            <a:srgbClr val="000000"/>
                          </a:solidFill>
                        </a:rPr>
                        <a:t>What</a:t>
                      </a:r>
                    </a:p>
                  </a:txBody>
                  <a:tcPr/>
                </a:tc>
                <a:tc>
                  <a:txBody>
                    <a:bodyPr/>
                    <a:lstStyle/>
                    <a:p>
                      <a:r>
                        <a:rPr sz="1300" b="1">
                          <a:solidFill>
                            <a:srgbClr val="000000"/>
                          </a:solidFill>
                        </a:rPr>
                        <a:t>June Draft</a:t>
                      </a:r>
                    </a:p>
                  </a:txBody>
                  <a:tcPr/>
                </a:tc>
                <a:tc>
                  <a:txBody>
                    <a:bodyPr/>
                    <a:lstStyle/>
                    <a:p>
                      <a:r>
                        <a:rPr sz="1300" b="1">
                          <a:solidFill>
                            <a:srgbClr val="000000"/>
                          </a:solidFill>
                        </a:rPr>
                        <a:t>Why it was a problem</a:t>
                      </a:r>
                    </a:p>
                  </a:txBody>
                  <a:tcPr/>
                </a:tc>
                <a:tc>
                  <a:txBody>
                    <a:bodyPr/>
                    <a:lstStyle/>
                    <a:p>
                      <a:r>
                        <a:rPr sz="1300" b="1">
                          <a:solidFill>
                            <a:srgbClr val="000000"/>
                          </a:solidFill>
                        </a:rPr>
                        <a:t>Now</a:t>
                      </a:r>
                    </a:p>
                  </a:txBody>
                  <a:tcPr/>
                </a:tc>
                <a:extLst>
                  <a:ext uri="{0D108BD9-81ED-4DB2-BD59-A6C34878D82A}">
                    <a16:rowId xmlns:a16="http://schemas.microsoft.com/office/drawing/2014/main" val="10000"/>
                  </a:ext>
                </a:extLst>
              </a:tr>
              <a:tr h="731520">
                <a:tc>
                  <a:txBody>
                    <a:bodyPr/>
                    <a:lstStyle/>
                    <a:p>
                      <a:r>
                        <a:rPr sz="1300">
                          <a:solidFill>
                            <a:srgbClr val="000000"/>
                          </a:solidFill>
                        </a:rPr>
                        <a:t>Fires with a cluster</a:t>
                      </a:r>
                    </a:p>
                  </a:txBody>
                  <a:tcPr/>
                </a:tc>
                <a:tc>
                  <a:txBody>
                    <a:bodyPr/>
                    <a:lstStyle/>
                    <a:p>
                      <a:r>
                        <a:rPr sz="1300">
                          <a:solidFill>
                            <a:srgbClr val="000000"/>
                          </a:solidFill>
                        </a:rPr>
                        <a:t>83 / 102</a:t>
                      </a:r>
                    </a:p>
                  </a:txBody>
                  <a:tcPr/>
                </a:tc>
                <a:tc>
                  <a:txBody>
                    <a:bodyPr/>
                    <a:lstStyle/>
                    <a:p>
                      <a:r>
                        <a:rPr sz="1300" dirty="0">
                          <a:solidFill>
                            <a:srgbClr val="000000"/>
                          </a:solidFill>
                        </a:rPr>
                        <a:t>19 records have NO narrative text → never embedded → not clustered → invisible to the LTP step</a:t>
                      </a:r>
                    </a:p>
                  </a:txBody>
                  <a:tcPr/>
                </a:tc>
                <a:tc>
                  <a:txBody>
                    <a:bodyPr/>
                    <a:lstStyle/>
                    <a:p>
                      <a:r>
                        <a:rPr sz="1300">
                          <a:solidFill>
                            <a:srgbClr val="000000"/>
                          </a:solidFill>
                        </a:rPr>
                        <a:t>102 / 102</a:t>
                      </a:r>
                    </a:p>
                  </a:txBody>
                  <a:tcPr/>
                </a:tc>
                <a:extLst>
                  <a:ext uri="{0D108BD9-81ED-4DB2-BD59-A6C34878D82A}">
                    <a16:rowId xmlns:a16="http://schemas.microsoft.com/office/drawing/2014/main" val="10001"/>
                  </a:ext>
                </a:extLst>
              </a:tr>
              <a:tr h="731520">
                <a:tc>
                  <a:txBody>
                    <a:bodyPr/>
                    <a:lstStyle/>
                    <a:p>
                      <a:r>
                        <a:rPr sz="1300">
                          <a:solidFill>
                            <a:srgbClr val="000000"/>
                          </a:solidFill>
                        </a:rPr>
                        <a:t>Fix</a:t>
                      </a:r>
                    </a:p>
                  </a:txBody>
                  <a:tcPr/>
                </a:tc>
                <a:tc>
                  <a:txBody>
                    <a:bodyPr/>
                    <a:lstStyle/>
                    <a:p>
                      <a:endParaRPr sz="1300" dirty="0">
                        <a:solidFill>
                          <a:srgbClr val="000000"/>
                        </a:solidFill>
                      </a:endParaRPr>
                    </a:p>
                  </a:txBody>
                  <a:tcPr/>
                </a:tc>
                <a:tc>
                  <a:txBody>
                    <a:bodyPr/>
                    <a:lstStyle/>
                    <a:p>
                      <a:endParaRPr/>
                    </a:p>
                  </a:txBody>
                  <a:tcPr/>
                </a:tc>
                <a:tc>
                  <a:txBody>
                    <a:bodyPr/>
                    <a:lstStyle/>
                    <a:p>
                      <a:r>
                        <a:rPr sz="1300">
                          <a:solidFill>
                            <a:srgbClr val="000000"/>
                          </a:solidFill>
                        </a:rPr>
                        <a:t>pseudo-narrative from coded findings → embedded with same model → nearest cluster</a:t>
                      </a:r>
                    </a:p>
                  </a:txBody>
                  <a:tcPr/>
                </a:tc>
                <a:extLst>
                  <a:ext uri="{0D108BD9-81ED-4DB2-BD59-A6C34878D82A}">
                    <a16:rowId xmlns:a16="http://schemas.microsoft.com/office/drawing/2014/main" val="10002"/>
                  </a:ext>
                </a:extLst>
              </a:tr>
              <a:tr h="731520">
                <a:tc>
                  <a:txBody>
                    <a:bodyPr/>
                    <a:lstStyle/>
                    <a:p>
                      <a:r>
                        <a:rPr sz="1300">
                          <a:solidFill>
                            <a:srgbClr val="000000"/>
                          </a:solidFill>
                        </a:rPr>
                        <a:t>Why it matters</a:t>
                      </a:r>
                    </a:p>
                  </a:txBody>
                  <a:tcPr/>
                </a:tc>
                <a:tc>
                  <a:txBody>
                    <a:bodyPr/>
                    <a:lstStyle/>
                    <a:p>
                      <a:r>
                        <a:rPr sz="1300">
                          <a:solidFill>
                            <a:srgbClr val="000000"/>
                          </a:solidFill>
                        </a:rPr>
                        <a:t>partition had holes</a:t>
                      </a:r>
                    </a:p>
                  </a:txBody>
                  <a:tcPr/>
                </a:tc>
                <a:tc>
                  <a:txBody>
                    <a:bodyPr/>
                    <a:lstStyle/>
                    <a:p>
                      <a:r>
                        <a:rPr sz="1300">
                          <a:solidFill>
                            <a:srgbClr val="000000"/>
                          </a:solidFill>
                        </a:rPr>
                        <a:t>exact recovery (Part B) requires ALL 102 fires covered</a:t>
                      </a:r>
                    </a:p>
                  </a:txBody>
                  <a:tcPr/>
                </a:tc>
                <a:tc>
                  <a:txBody>
                    <a:bodyPr/>
                    <a:lstStyle/>
                    <a:p>
                      <a:r>
                        <a:rPr sz="1300" dirty="0">
                          <a:solidFill>
                            <a:srgbClr val="000000"/>
                          </a:solidFill>
                        </a:rPr>
                        <a:t>partition complete → algebra works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Changed Part B — law of total probability</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nvGraphicFramePr>
        <p:xfrm>
          <a:off x="502920" y="1188720"/>
          <a:ext cx="11155680" cy="36576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731520">
                <a:tc>
                  <a:txBody>
                    <a:bodyPr/>
                    <a:lstStyle/>
                    <a:p>
                      <a:r>
                        <a:rPr sz="1200" b="1">
                          <a:solidFill>
                            <a:srgbClr val="000000"/>
                          </a:solidFill>
                        </a:rPr>
                        <a:t>What</a:t>
                      </a:r>
                    </a:p>
                  </a:txBody>
                  <a:tcPr/>
                </a:tc>
                <a:tc>
                  <a:txBody>
                    <a:bodyPr/>
                    <a:lstStyle/>
                    <a:p>
                      <a:r>
                        <a:rPr sz="1200" b="1">
                          <a:solidFill>
                            <a:srgbClr val="000000"/>
                          </a:solidFill>
                        </a:rPr>
                        <a:t>June Draft</a:t>
                      </a:r>
                    </a:p>
                  </a:txBody>
                  <a:tcPr/>
                </a:tc>
                <a:tc>
                  <a:txBody>
                    <a:bodyPr/>
                    <a:lstStyle/>
                    <a:p>
                      <a:r>
                        <a:rPr sz="1200" b="1">
                          <a:solidFill>
                            <a:srgbClr val="000000"/>
                          </a:solidFill>
                        </a:rPr>
                        <a:t>Why it was a problem</a:t>
                      </a:r>
                    </a:p>
                  </a:txBody>
                  <a:tcPr/>
                </a:tc>
                <a:tc>
                  <a:txBody>
                    <a:bodyPr/>
                    <a:lstStyle/>
                    <a:p>
                      <a:r>
                        <a:rPr sz="1200" b="1">
                          <a:solidFill>
                            <a:srgbClr val="000000"/>
                          </a:solidFill>
                        </a:rPr>
                        <a:t>Now</a:t>
                      </a:r>
                    </a:p>
                  </a:txBody>
                  <a:tcPr/>
                </a:tc>
                <a:extLst>
                  <a:ext uri="{0D108BD9-81ED-4DB2-BD59-A6C34878D82A}">
                    <a16:rowId xmlns:a16="http://schemas.microsoft.com/office/drawing/2014/main" val="10000"/>
                  </a:ext>
                </a:extLst>
              </a:tr>
              <a:tr h="731520">
                <a:tc>
                  <a:txBody>
                    <a:bodyPr/>
                    <a:lstStyle/>
                    <a:p>
                      <a:r>
                        <a:rPr sz="1200">
                          <a:solidFill>
                            <a:srgbClr val="000000"/>
                          </a:solidFill>
                        </a:rPr>
                        <a:t>P(C | K) cause given cluster</a:t>
                      </a:r>
                    </a:p>
                  </a:txBody>
                  <a:tcPr/>
                </a:tc>
                <a:tc>
                  <a:txBody>
                    <a:bodyPr/>
                    <a:lstStyle/>
                    <a:p>
                      <a:r>
                        <a:rPr sz="1200">
                          <a:solidFill>
                            <a:srgbClr val="000000"/>
                          </a:solidFill>
                        </a:rPr>
                        <a:t>our own counting rules</a:t>
                      </a:r>
                    </a:p>
                  </a:txBody>
                  <a:tcPr/>
                </a:tc>
                <a:tc>
                  <a:txBody>
                    <a:bodyPr/>
                    <a:lstStyle/>
                    <a:p>
                      <a:r>
                        <a:rPr sz="1200">
                          <a:solidFill>
                            <a:srgbClr val="000000"/>
                          </a:solidFill>
                        </a:rPr>
                        <a:t>airframe 0.059 vs Zhang’s 0.314 → “sort of close, sometimes”</a:t>
                      </a:r>
                    </a:p>
                  </a:txBody>
                  <a:tcPr/>
                </a:tc>
                <a:tc>
                  <a:txBody>
                    <a:bodyPr/>
                    <a:lstStyle/>
                    <a:p>
                      <a:r>
                        <a:rPr sz="1200">
                          <a:solidFill>
                            <a:srgbClr val="000000"/>
                          </a:solidFill>
                        </a:rPr>
                        <a:t>Zhang’s exact Table-7 counting inside each cluster</a:t>
                      </a:r>
                    </a:p>
                  </a:txBody>
                  <a:tcPr/>
                </a:tc>
                <a:extLst>
                  <a:ext uri="{0D108BD9-81ED-4DB2-BD59-A6C34878D82A}">
                    <a16:rowId xmlns:a16="http://schemas.microsoft.com/office/drawing/2014/main" val="10001"/>
                  </a:ext>
                </a:extLst>
              </a:tr>
              <a:tr h="731520">
                <a:tc>
                  <a:txBody>
                    <a:bodyPr/>
                    <a:lstStyle/>
                    <a:p>
                      <a:r>
                        <a:rPr sz="1200">
                          <a:solidFill>
                            <a:srgbClr val="000000"/>
                          </a:solidFill>
                        </a:rPr>
                        <a:t>P(K | Q) cluster weight</a:t>
                      </a:r>
                    </a:p>
                  </a:txBody>
                  <a:tcPr/>
                </a:tc>
                <a:tc>
                  <a:txBody>
                    <a:bodyPr/>
                    <a:lstStyle/>
                    <a:p>
                      <a:r>
                        <a:rPr sz="1200">
                          <a:solidFill>
                            <a:srgbClr val="000000"/>
                          </a:solidFill>
                        </a:rPr>
                        <a:t>avg similarity x n over total</a:t>
                      </a:r>
                    </a:p>
                  </a:txBody>
                  <a:tcPr/>
                </a:tc>
                <a:tc>
                  <a:txBody>
                    <a:bodyPr/>
                    <a:lstStyle/>
                    <a:p>
                      <a:r>
                        <a:rPr sz="1200">
                          <a:solidFill>
                            <a:srgbClr val="000000"/>
                          </a:solidFill>
                        </a:rPr>
                        <a:t>no anchor → nothing to compare against</a:t>
                      </a:r>
                    </a:p>
                  </a:txBody>
                  <a:tcPr/>
                </a:tc>
                <a:tc>
                  <a:txBody>
                    <a:bodyPr/>
                    <a:lstStyle/>
                    <a:p>
                      <a:r>
                        <a:rPr sz="1200">
                          <a:solidFill>
                            <a:srgbClr val="000000"/>
                          </a:solidFill>
                        </a:rPr>
                        <a:t>neutral (N_K/102)  or  similarity (retrieval mass)</a:t>
                      </a:r>
                    </a:p>
                  </a:txBody>
                  <a:tcPr/>
                </a:tc>
                <a:extLst>
                  <a:ext uri="{0D108BD9-81ED-4DB2-BD59-A6C34878D82A}">
                    <a16:rowId xmlns:a16="http://schemas.microsoft.com/office/drawing/2014/main" val="10002"/>
                  </a:ext>
                </a:extLst>
              </a:tr>
              <a:tr h="731520">
                <a:tc>
                  <a:txBody>
                    <a:bodyPr/>
                    <a:lstStyle/>
                    <a:p>
                      <a:r>
                        <a:rPr sz="1200">
                          <a:solidFill>
                            <a:srgbClr val="000000"/>
                          </a:solidFill>
                        </a:rPr>
                        <a:t>Guarantee</a:t>
                      </a:r>
                    </a:p>
                  </a:txBody>
                  <a:tcPr/>
                </a:tc>
                <a:tc>
                  <a:txBody>
                    <a:bodyPr/>
                    <a:lstStyle/>
                    <a:p>
                      <a:r>
                        <a:rPr sz="1200">
                          <a:solidFill>
                            <a:srgbClr val="000000"/>
                          </a:solidFill>
                        </a:rPr>
                        <a:t>none</a:t>
                      </a:r>
                    </a:p>
                  </a:txBody>
                  <a:tcPr/>
                </a:tc>
                <a:tc>
                  <a:txBody>
                    <a:bodyPr/>
                    <a:lstStyle/>
                    <a:p>
                      <a:r>
                        <a:rPr sz="1200">
                          <a:solidFill>
                            <a:srgbClr val="000000"/>
                          </a:solidFill>
                        </a:rPr>
                        <a:t>our distribution was L1 = 1.96 from Table 7 (max 2.0)</a:t>
                      </a:r>
                    </a:p>
                  </a:txBody>
                  <a:tcPr/>
                </a:tc>
                <a:tc>
                  <a:txBody>
                    <a:bodyPr/>
                    <a:lstStyle/>
                    <a:p>
                      <a:r>
                        <a:rPr sz="1200">
                          <a:solidFill>
                            <a:srgbClr val="000000"/>
                          </a:solidFill>
                        </a:rPr>
                        <a:t>neutral weights → Table 7 EXACTLY (L1 = 0, all 85 causes, tested)</a:t>
                      </a:r>
                    </a:p>
                  </a:txBody>
                  <a:tcPr/>
                </a:tc>
                <a:extLst>
                  <a:ext uri="{0D108BD9-81ED-4DB2-BD59-A6C34878D82A}">
                    <a16:rowId xmlns:a16="http://schemas.microsoft.com/office/drawing/2014/main" val="10003"/>
                  </a:ext>
                </a:extLst>
              </a:tr>
              <a:tr h="731520">
                <a:tc>
                  <a:txBody>
                    <a:bodyPr/>
                    <a:lstStyle/>
                    <a:p>
                      <a:r>
                        <a:rPr sz="1200">
                          <a:solidFill>
                            <a:srgbClr val="000000"/>
                          </a:solidFill>
                        </a:rPr>
                        <a:t>Query signal</a:t>
                      </a:r>
                    </a:p>
                  </a:txBody>
                  <a:tcPr/>
                </a:tc>
                <a:tc>
                  <a:txBody>
                    <a:bodyPr/>
                    <a:lstStyle/>
                    <a:p>
                      <a:r>
                        <a:rPr sz="1200">
                          <a:solidFill>
                            <a:srgbClr val="000000"/>
                          </a:solidFill>
                        </a:rPr>
                        <a:t>not separable</a:t>
                      </a:r>
                    </a:p>
                  </a:txBody>
                  <a:tcPr/>
                </a:tc>
                <a:tc>
                  <a:txBody>
                    <a:bodyPr/>
                    <a:lstStyle/>
                    <a:p>
                      <a:r>
                        <a:rPr sz="1200">
                          <a:solidFill>
                            <a:srgbClr val="000000"/>
                          </a:solidFill>
                        </a:rPr>
                        <a:t>couldn’t say what the narrative added</a:t>
                      </a:r>
                    </a:p>
                  </a:txBody>
                  <a:tcPr/>
                </a:tc>
                <a:tc>
                  <a:txBody>
                    <a:bodyPr/>
                    <a:lstStyle/>
                    <a:p>
                      <a:r>
                        <a:rPr sz="1200">
                          <a:solidFill>
                            <a:srgbClr val="000000"/>
                          </a:solidFill>
                        </a:rPr>
                        <a:t>deviation from Table 7 = the narrative signal (L1 = 0.33 for the fire query)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comparison panel (neutral vs similarity)</a:t>
            </a:r>
          </a:p>
        </p:txBody>
      </p:sp>
      <p:sp>
        <p:nvSpPr>
          <p:cNvPr id="3" name="Text Placeholder 2"/>
          <p:cNvSpPr>
            <a:spLocks noGrp="1"/>
          </p:cNvSpPr>
          <p:nvPr>
            <p:ph type="body" idx="1"/>
          </p:nvPr>
        </p:nvSpPr>
        <p:spPr/>
        <p:txBody>
          <a:bodyPr/>
          <a:lstStyle/>
          <a:p>
            <a:r>
              <a:rPr lang="en-US" dirty="0"/>
              <a:t>Run the query → the panel shows the answers side by side: Zhang's Table 7, retrieval counting, and our law-of-total-probability answer</a:t>
            </a:r>
          </a:p>
          <a:p>
            <a:r>
              <a:rPr lang="en-US" dirty="0"/>
              <a:t>First, flip to NEUTRAL,  the query is silenced:</a:t>
            </a:r>
          </a:p>
          <a:p>
            <a:pPr lvl="1"/>
            <a:r>
              <a:rPr lang="en-US" dirty="0"/>
              <a:t>our answer becomes IDENTICAL to Table 7 → L1 reads 0.000 (the calibration check)</a:t>
            </a:r>
          </a:p>
          <a:p>
            <a:r>
              <a:rPr lang="en-US" dirty="0"/>
              <a:t>Then flip to SIMILARITY, the query speaks:</a:t>
            </a:r>
          </a:p>
          <a:p>
            <a:pPr lvl="1"/>
            <a:r>
              <a:rPr lang="en-US" dirty="0"/>
              <a:t>the answer tilts toward accidents like ours → L1 = 0.33 = what the narrative added</a:t>
            </a:r>
          </a:p>
          <a:p>
            <a:pPr lvl="1"/>
            <a:r>
              <a:rPr lang="en-US" dirty="0"/>
              <a:t>engine query → engine clusters gain weight → loss of engine power rises 0.088 → 0.110</a:t>
            </a:r>
          </a:p>
          <a:p>
            <a:r>
              <a:rPr lang="en-US" dirty="0"/>
              <a:t>Sanity check: all lanes agree on the top-5 causes (5/5)</a:t>
            </a:r>
          </a:p>
          <a:p>
            <a:pPr lvl="1"/>
            <a:r>
              <a:rPr lang="en-US" dirty="0"/>
              <a:t>L1 = distance between two distributions (0 = identical, 2 = opposite)</a:t>
            </a:r>
          </a:p>
          <a:p>
            <a:r>
              <a:rPr lang="en-US" b="1" dirty="0"/>
              <a:t>Zhang's Table 7 = the zero-information special case of our method</a:t>
            </a:r>
            <a:endParaRPr lang="en-US" dirty="0"/>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3000</Words>
  <Application>Microsoft Macintosh PowerPoint</Application>
  <PresentationFormat>Widescreen</PresentationFormat>
  <Paragraphs>207</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Times</vt:lpstr>
      <vt:lpstr>Arial</vt:lpstr>
      <vt:lpstr>Wingdings</vt:lpstr>
      <vt:lpstr>Helvetica Neue</vt:lpstr>
      <vt:lpstr>Calibri</vt:lpstr>
      <vt:lpstr>Arial Narrow</vt:lpstr>
      <vt:lpstr>Blank Presentation</vt:lpstr>
      <vt:lpstr>NTSB Project Update July 14th, 2026</vt:lpstr>
      <vt:lpstr>Previous Meeting</vt:lpstr>
      <vt:lpstr>Table 4  P(fire | brake wear, wiring overheating)  counted</vt:lpstr>
      <vt:lpstr>Why they don’t match</vt:lpstr>
      <vt:lpstr>The real Table 4  P(fire | wiring, fuel) </vt:lpstr>
      <vt:lpstr>The Whole Process</vt:lpstr>
      <vt:lpstr>Why the remaining tables need a Bayesian network</vt:lpstr>
      <vt:lpstr>Next Step</vt:lpstr>
      <vt:lpstr>PowerPoint Presentation</vt:lpstr>
      <vt:lpstr>What we Changed Part A, cluster coverage</vt:lpstr>
      <vt:lpstr>What we Changed Part B — law of total probability</vt:lpstr>
      <vt:lpstr>The comparison panel (neutral vs similarity)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Shankar Sankararaman</dc:creator>
  <cp:lastModifiedBy>Shetkar, Kanu</cp:lastModifiedBy>
  <cp:revision>1</cp:revision>
  <dcterms:created xsi:type="dcterms:W3CDTF">2004-05-06T18:09:09Z</dcterms:created>
  <dcterms:modified xsi:type="dcterms:W3CDTF">2026-07-16T18:24:01Z</dcterms:modified>
</cp:coreProperties>
</file>