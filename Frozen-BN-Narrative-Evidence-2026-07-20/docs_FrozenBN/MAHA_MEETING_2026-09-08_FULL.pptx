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Transition line: "So that's where the paper stands. Which brings me to what I've been reading, and what I want to do next."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"Nobody asked HOW MUCH disagreement there was. That's my question."
Two of those rows are his. The gap sits inside his own line of work, so filling it reads as continuation, not importation. And a gap visible in someone's published method beats any sentence starting "nobody has."
ON THE READING, BE STRAIGHT: "I have a summary understanding of two. The third is closest to what I want to do and I'd rather you look at it before I go deep — if the direction's wrong I don't want to spend a week on it." That is exactly what he asked you to do.
THE BRIDGE — he will ask why you want more BN when slide 4 showed it adds nothing:
"The network adds nothing BECAUSE OF THE STRUCTURE IT HAS — severity sits at the leaves, so evidence can't do anything but pass through. That's Zhang's topology, not Bayesian networks. Cause proves it: 57.7% through the network against 84.2% from retrieval. The structure is what's costing me."
Links: sciencedirect.com/science/article/pii/S0951832020308607 · sciencedirect.com/science/article/abs/pii/S0925753521002344 · papers.ssrn.com/sol3/papers.cfm?abstract_id=6146849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claim is NOT that the method is new. It's what measuring the uncertainty buys you, and what it costs.
Why framing it as a comparison: it sidesteps a literature that keeps partly eroding any "first to do X" claim, and it gives you a control group — you can't show that measuring uncertainty is worth it without a version that doesn't measure it. His suggestion handed you the baseline the experiment needed.
Say the both-ways outcome out loud. A project that produces a result either way is one an advisor can approve without worrying.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things this slide does at once:
1. Removes the "too small for a dissertation" objection by conceding it first.
2. Shows you understand the shape of your own program.
3. Makes the ground-transportation question concrete — if he wants ground transportation, this is where you find out whether he means THIS PROJECT or THE SECOND MODE IN THE DISSERTATION. That distinction changes your next three months.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4 MATTERS MORE THAN IT LOOKS. He gave you a direct criticism. Coming back with "what should I do about it" rather than a defense is the response he's hoping for, and it costs you nothing. Don't let it get trimmed.
Write his answers directly on this slide during the meeting.
WHEN YOU DON'T KNOW SOMETHING: "I found that literature and I haven't worked through it yet. That's on my list." Completely acceptable for a direction check — showing you FOUND things is the assignment. Don't bluff, and especially not on Bayesian networks.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Nothing past slide 12 gets presented.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count, don't display all of it: "About forty-five items. Five change the science, the rest are numbers and wording. Here are the five." Offer the full audit as a handout.
ORDER MATTERS. One and two are methods-integrity and reproducibility — someone reimplementing from the paper builds a different thing than what produced the numbers. For a journal those outrank everything else. Three is a wrong explanation. Four is unresolved. Five is proofreading.
CLOSE WITH: "I've written all forty-five up, I'll send it. And one thing before you read it — on injury the method never predicts fatal or minor. It's really a two-class predictor."
That last sentence is the one to make sure you say.
OPENING LINE FOR THE MEETING, before this slide: "I've got two things — the fixes I found in the draft, and the next project. Which do you want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with the audit, before anything else:
"I re-ran every number in the paper yesterday, and I audited my own draft — about forty-five things to fix. Let me show you the pipeline, then the list."
Then this slide is 20 seconds. Don't read the numbers aloud; they're on the board.
OPENING QUESTION, before any of this: "I've got two things. The audit of my draft — about forty-five items, five that change the science. And the next project. Which do you want first?" Let him choose.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it in about 60 seconds. Land hard on step 5 (redaction) and step 8 (one propagation, tables fixed) — those are the two he'll test.
Register: plain but not simplified. He co-authored this network. Don't build analogies.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 IN RESERVE for Mahadevan. This is really your Thursday slide for Pranav — but bring it out if Maha asks whether the course project and the research project are the same thing.
WHY THIS FRAMING WORKS: the syllabus is on your side. M1b explicitly allows STATISTICAL models, not only mechanistic ones — so a Bayesian network is a legitimate virtual representation. M3c is literally "Bayesian method" under data assimilation. Pillars 2, 3 and 4 are strong.
PILLAR 1 IS THE ARGUABLE ONE. Say it yourself before he says it. Two ways to strengthen it: (a) treat the NTSB investigation process as the measurement instrument and characterise ITS uncertainty — under-reporting, coding error, investigator variability, reporting lag — which fits M2c exactly; (b) add a higher-frequency source such as FAA Service Difficulty Reports, which are far more frequent than accidents and closer to a real data stream. Check availability before promising it.
Also: Pranav co-authors with Mahadevan, so he is a collaborator in this group, not just an instructor. Ask him accordingly.
His office hours are Tuesdays 12:00–1:00 — immediately before your Mahadevan slot.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bullet is the strongest thing in the paper and it's currently buried in §5.7 as "these upgrades help."
Detail if he asks: strict recipe gives P(no injury | combustion liner) = 0.0040 against the published 0.9978, and the prior comes out 6.3e-7 against 0.9999 — because binary severity leaves inherit a per-flight prior and can never approach 1. Four-state brings both to 0.99999, scoring EXACT. Five "no injury" rows, two "serious", two "substantial" all resolve this way.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does the BN add nothing?" — Severity nodes are leaves; the neighbour distribution is applied as a likelihood ratio directly at those nodes; event evidence reaches them only by weaker paths. The network MEDIATES the retrieval signal losslessly — it neither adds nor destroys it. That's a d-separation consequence, not a disappointing result.
"Why did fire fail?" — Structural: fire has 13 ancestors out of 783 nodes, 6 barred by the leak guard, and the only one the parser ever reaches is the generic flightcrew node. It was never d-connected to the evidence.
KEEP THIS SLIDE IN MIND FOR THE PROPOSAL — the first bullet is what he'll throw back at you on slide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VOLUNTEER THIS — DO NOT WAIT TO BE ASKED.
If he finds "0 of 3 fatal" and you didn't know, it's the worst moment of the meeting. If you say it first, it's the best — then hand him the diagnosis on the next slide, which is the part that's actually interesting.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different failures, don't merge them.
Ceiling check: across all 296 accidents P(minor) never exceeds 0.211 and P(fatal) never exceeds 0.168, against 0.91 and 0.98 for the two classes that win. Neither can ever take an argmax.
If he asks "can you fix it": reweighting by base rate recovers fatal but not minor, and the Macro-F1 gain rests on a single accident — too thin to put in the paper, and it would need a validation split carved from 1982–2006, not the test set. Minor injury needs a different signal entirely.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 both this and the previous slide to §10.2 as limitations. The paper currently reports Macro-F1 without ever saying which classes drive it — a reviewer who computes this finds it before you disclose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Expect this question — "Why 3-small and not 3-large?" → "We did not test large." Say it flatly. Then: TF-IDF is in the paper as a pretraining-free baseline, so the result doesn't rest on one encoder.
"Was k tuned?" → This is the one open item. The repo has k=25 and k=99 runs; confirm before the meeting whether they ran before or after k=100 was fixed. If after, they're sensitivity checks and the claim stands.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 is the co-author — Zhang &amp; Mahadevan, RESS 209, 2021. Don't say "Zhang's paper" all meeting; it's his too.
Everything else on this slide can wait for email.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the 2 dead-end cells: four nodes mean "engine lost power"; only one is wired to severity. Fix identified, deliberately not applied before this meeting.
Both are far from the data (2.1% vs 53.7%). Likely the per-flight denominator — ask, don't assert.
Same dead end produces two of our "wins": no injury | comb liner reads 0.99999939, also exactly the prior. Grades EXACT only because 0.9978 is within 1% of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to 30 seconds if it comes up. He knows the setup better than anyone — this slide exists so the two jobs stay separate in the conversation, because the numbers for each get conflated otherwise.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slide listing 45 problems says the draft is a mess. A slide with 5 says you have command of it. Same information, opposite impression.
Offer the full audit as a handout instead of showing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345C"/>
        </a:solidFill>
      </p:bgPr>
    </p:bg>
    <p:spTree>
      <p:nvGrpSpPr>
        <p:cNvPr id="1" name=""/>
        <p:cNvGrpSpPr/>
        <p:nvPr/>
      </p:nvGrpSpPr>
      <p:grpSpPr>
        <a:xfrm>
          <a:off x="0" y="0"/>
          <a:ext cx="0" cy="0"/>
          <a:chOff x="0" y="0"/>
          <a:chExt cx="0" cy="0"/>
        </a:xfrm>
      </p:grpSpPr>
      <p:sp>
        <p:nvSpPr>
          <p:cNvPr id="2" name="Text 0"/>
          <p:cNvSpPr txBox="1"/>
          <p:nvPr/>
        </p:nvSpPr>
        <p:spPr>
          <a:xfrm>
            <a:off x="640080" y="2743200"/>
            <a:ext cx="10908792" cy="731520"/>
          </a:xfrm>
          <a:prstGeom prst="rect">
            <a:avLst/>
          </a:prstGeom>
          <a:noFill/>
          <a:ln/>
        </p:spPr>
        <p:txBody>
          <a:bodyPr wrap="square" lIns="0" tIns="0" rIns="0" bIns="0" rtlCol="0" anchor="ctr"/>
          <a:lstStyle/>
          <a:p>
            <a:pPr indent="0" marL="0">
              <a:buNone/>
            </a:pPr>
            <a:r>
              <a:rPr lang="en-US" sz="3400" b="1" spc="100" kern="0" dirty="0">
                <a:solidFill>
                  <a:srgbClr val="FFFFFF"/>
                </a:solidFill>
                <a:latin typeface="Arial" pitchFamily="34" charset="0"/>
                <a:ea typeface="Arial" pitchFamily="34" charset="-122"/>
                <a:cs typeface="Arial" pitchFamily="34" charset="-120"/>
              </a:rPr>
              <a:t>THE NEXT PROJECT</a:t>
            </a:r>
            <a:endParaRPr lang="en-US" sz="3400" dirty="0"/>
          </a:p>
        </p:txBody>
      </p:sp>
      <p:sp>
        <p:nvSpPr>
          <p:cNvPr id="3" name="Text 1"/>
          <p:cNvSpPr txBox="1"/>
          <p:nvPr/>
        </p:nvSpPr>
        <p:spPr>
          <a:xfrm>
            <a:off x="640080" y="3520440"/>
            <a:ext cx="10908792" cy="457200"/>
          </a:xfrm>
          <a:prstGeom prst="rect">
            <a:avLst/>
          </a:prstGeom>
          <a:noFill/>
          <a:ln/>
        </p:spPr>
        <p:txBody>
          <a:bodyPr wrap="square" lIns="0" tIns="0" rIns="0" bIns="0" rtlCol="0" anchor="ctr"/>
          <a:lstStyle/>
          <a:p>
            <a:pPr indent="0" marL="0">
              <a:buNone/>
            </a:pPr>
            <a:r>
              <a:rPr lang="en-US" sz="1700" dirty="0">
                <a:solidFill>
                  <a:srgbClr val="9FB0C9"/>
                </a:solidFill>
                <a:latin typeface="Arial" pitchFamily="34" charset="0"/>
                <a:ea typeface="Arial" pitchFamily="34" charset="-122"/>
                <a:cs typeface="Arial" pitchFamily="34" charset="-120"/>
              </a:rPr>
              <a:t>Proposal — direction check</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12345C"/>
          </a:solidFill>
          <a:ln/>
        </p:spPr>
      </p:sp>
      <p:sp>
        <p:nvSpPr>
          <p:cNvPr id="3" name="Text 1"/>
          <p:cNvSpPr txBox="1"/>
          <p:nvPr/>
        </p:nvSpPr>
        <p:spPr>
          <a:xfrm>
            <a:off x="640080" y="384048"/>
            <a:ext cx="10908792" cy="566928"/>
          </a:xfrm>
          <a:prstGeom prst="rect">
            <a:avLst/>
          </a:prstGeom>
          <a:noFill/>
          <a:ln/>
        </p:spPr>
        <p:txBody>
          <a:bodyPr wrap="square" lIns="0" tIns="0" rIns="0" bIns="0" rtlCol="0" anchor="t"/>
          <a:lstStyle/>
          <a:p>
            <a:pPr indent="0" marL="0">
              <a:buNone/>
            </a:pPr>
            <a:r>
              <a:rPr lang="en-US" sz="2700" b="1" dirty="0">
                <a:solidFill>
                  <a:srgbClr val="16181D"/>
                </a:solidFill>
                <a:latin typeface="Arial" pitchFamily="34" charset="0"/>
                <a:ea typeface="Arial" pitchFamily="34" charset="-122"/>
                <a:cs typeface="Arial" pitchFamily="34" charset="-120"/>
              </a:rPr>
              <a:t>What's already out there</a:t>
            </a:r>
            <a:endParaRPr lang="en-US" sz="2700" dirty="0"/>
          </a:p>
        </p:txBody>
      </p:sp>
      <p:sp>
        <p:nvSpPr>
          <p:cNvPr id="4" name="Text 2"/>
          <p:cNvSpPr txBox="1"/>
          <p:nvPr/>
        </p:nvSpPr>
        <p:spPr>
          <a:xfrm>
            <a:off x="640080" y="969264"/>
            <a:ext cx="10908792" cy="347472"/>
          </a:xfrm>
          <a:prstGeom prst="rect">
            <a:avLst/>
          </a:prstGeom>
          <a:noFill/>
          <a:ln/>
        </p:spPr>
        <p:txBody>
          <a:bodyPr wrap="square" lIns="0" tIns="0" rIns="0" bIns="0" rtlCol="0" anchor="t"/>
          <a:lstStyle/>
          <a:p>
            <a:pPr indent="0" marL="0">
              <a:buNone/>
            </a:pPr>
            <a:r>
              <a:rPr lang="en-US" sz="1400" dirty="0">
                <a:solidFill>
                  <a:srgbClr val="6B7280"/>
                </a:solidFill>
                <a:latin typeface="Arial" pitchFamily="34" charset="0"/>
                <a:ea typeface="Arial" pitchFamily="34" charset="-122"/>
                <a:cs typeface="Arial" pitchFamily="34" charset="-120"/>
              </a:rPr>
              <a:t>Three papers. Two of them are yours.</a:t>
            </a:r>
            <a:endParaRPr lang="en-US" sz="1400" dirty="0"/>
          </a:p>
        </p:txBody>
      </p:sp>
      <p:sp>
        <p:nvSpPr>
          <p:cNvPr id="5" name="Shape 3"/>
          <p:cNvSpPr/>
          <p:nvPr/>
        </p:nvSpPr>
        <p:spPr>
          <a:xfrm>
            <a:off x="640080" y="1463040"/>
            <a:ext cx="10908792" cy="365760"/>
          </a:xfrm>
          <a:prstGeom prst="rect">
            <a:avLst/>
          </a:prstGeom>
          <a:solidFill>
            <a:srgbClr val="12345C"/>
          </a:solidFill>
          <a:ln w="12700">
            <a:solidFill>
              <a:srgbClr val="12345C"/>
            </a:solidFill>
            <a:prstDash val="solid"/>
          </a:ln>
        </p:spPr>
      </p:sp>
      <p:sp>
        <p:nvSpPr>
          <p:cNvPr id="6" name="Text 4"/>
          <p:cNvSpPr txBox="1"/>
          <p:nvPr/>
        </p:nvSpPr>
        <p:spPr>
          <a:xfrm>
            <a:off x="786384" y="1463040"/>
            <a:ext cx="2980944" cy="36576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Work</a:t>
            </a:r>
            <a:endParaRPr lang="en-US" sz="1150" dirty="0"/>
          </a:p>
        </p:txBody>
      </p:sp>
      <p:sp>
        <p:nvSpPr>
          <p:cNvPr id="7" name="Text 5"/>
          <p:cNvSpPr txBox="1"/>
          <p:nvPr/>
        </p:nvSpPr>
        <p:spPr>
          <a:xfrm>
            <a:off x="3986784" y="1463040"/>
            <a:ext cx="4901184" cy="36576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What it does</a:t>
            </a:r>
            <a:endParaRPr lang="en-US" sz="1150" dirty="0"/>
          </a:p>
        </p:txBody>
      </p:sp>
      <p:sp>
        <p:nvSpPr>
          <p:cNvPr id="8" name="Text 6"/>
          <p:cNvSpPr txBox="1"/>
          <p:nvPr/>
        </p:nvSpPr>
        <p:spPr>
          <a:xfrm>
            <a:off x="9107424" y="1463040"/>
            <a:ext cx="2368296" cy="36576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Structure uncertainty?</a:t>
            </a:r>
            <a:endParaRPr lang="en-US" sz="1150" dirty="0"/>
          </a:p>
        </p:txBody>
      </p:sp>
      <p:sp>
        <p:nvSpPr>
          <p:cNvPr id="9" name="Text 7"/>
          <p:cNvSpPr txBox="1"/>
          <p:nvPr/>
        </p:nvSpPr>
        <p:spPr>
          <a:xfrm>
            <a:off x="786384" y="1828800"/>
            <a:ext cx="2980944" cy="658368"/>
          </a:xfrm>
          <a:prstGeom prst="rect">
            <a:avLst/>
          </a:prstGeom>
          <a:noFill/>
          <a:ln/>
        </p:spPr>
        <p:txBody>
          <a:bodyPr wrap="square" lIns="0" tIns="0" rIns="0" bIns="0" rtlCol="0" anchor="ctr"/>
          <a:lstStyle/>
          <a:p>
            <a:pPr indent="0" marL="0">
              <a:buNone/>
            </a:pPr>
            <a:r>
              <a:rPr lang="en-US" sz="1150" b="1" dirty="0">
                <a:solidFill>
                  <a:srgbClr val="16181D"/>
                </a:solidFill>
                <a:latin typeface="Arial" pitchFamily="34" charset="0"/>
                <a:ea typeface="Arial" pitchFamily="34" charset="-122"/>
                <a:cs typeface="Arial" pitchFamily="34" charset="-120"/>
              </a:rPr>
              <a:t>Paper 1 — Zhang &amp; Mahadevan 2021</a:t>
            </a:r>
            <a:endParaRPr lang="en-US" sz="1150" dirty="0"/>
          </a:p>
        </p:txBody>
      </p:sp>
      <p:sp>
        <p:nvSpPr>
          <p:cNvPr id="10" name="Text 8"/>
          <p:cNvSpPr txBox="1"/>
          <p:nvPr/>
        </p:nvSpPr>
        <p:spPr>
          <a:xfrm>
            <a:off x="3986784" y="1828800"/>
            <a:ext cx="4901184" cy="658368"/>
          </a:xfrm>
          <a:prstGeom prst="rect">
            <a:avLst/>
          </a:prstGeom>
          <a:noFill/>
          <a:ln/>
        </p:spPr>
        <p:txBody>
          <a:bodyPr wrap="square" lIns="0" tIns="0" rIns="0" bIns="0" rtlCol="0" anchor="ctr"/>
          <a:lstStyle/>
          <a:p>
            <a:pPr indent="0" marL="0">
              <a:buNone/>
            </a:pPr>
            <a:r>
              <a:rPr lang="en-US" sz="1150" dirty="0">
                <a:solidFill>
                  <a:srgbClr val="16181D"/>
                </a:solidFill>
                <a:latin typeface="Arial" pitchFamily="34" charset="0"/>
                <a:ea typeface="Arial" pitchFamily="34" charset="-122"/>
                <a:cs typeface="Arial" pitchFamily="34" charset="-120"/>
              </a:rPr>
              <a:t>Bayesian network, structure built by hand</a:t>
            </a:r>
            <a:endParaRPr lang="en-US" sz="1150" dirty="0"/>
          </a:p>
        </p:txBody>
      </p:sp>
      <p:sp>
        <p:nvSpPr>
          <p:cNvPr id="11" name="Text 9"/>
          <p:cNvSpPr txBox="1"/>
          <p:nvPr/>
        </p:nvSpPr>
        <p:spPr>
          <a:xfrm>
            <a:off x="9107424" y="1828800"/>
            <a:ext cx="2368296" cy="658368"/>
          </a:xfrm>
          <a:prstGeom prst="rect">
            <a:avLst/>
          </a:prstGeom>
          <a:noFill/>
          <a:ln/>
        </p:spPr>
        <p:txBody>
          <a:bodyPr wrap="square" lIns="0" tIns="0" rIns="0" bIns="0" rtlCol="0" anchor="ctr"/>
          <a:lstStyle/>
          <a:p>
            <a:pPr indent="0" marL="0">
              <a:buNone/>
            </a:pPr>
            <a:r>
              <a:rPr lang="en-US" sz="1150" b="1" dirty="0">
                <a:solidFill>
                  <a:srgbClr val="B23A2C"/>
                </a:solidFill>
                <a:latin typeface="Arial" pitchFamily="34" charset="0"/>
                <a:ea typeface="Arial" pitchFamily="34" charset="-122"/>
                <a:cs typeface="Arial" pitchFamily="34" charset="-120"/>
              </a:rPr>
              <a:t>No</a:t>
            </a:r>
            <a:endParaRPr lang="en-US" sz="1150" dirty="0"/>
          </a:p>
        </p:txBody>
      </p:sp>
      <p:sp>
        <p:nvSpPr>
          <p:cNvPr id="12" name="Shape 10"/>
          <p:cNvSpPr/>
          <p:nvPr/>
        </p:nvSpPr>
        <p:spPr>
          <a:xfrm>
            <a:off x="640080" y="2487168"/>
            <a:ext cx="10908792" cy="658368"/>
          </a:xfrm>
          <a:prstGeom prst="rect">
            <a:avLst/>
          </a:prstGeom>
          <a:solidFill>
            <a:srgbClr val="F7F8FA"/>
          </a:solidFill>
          <a:ln w="12700">
            <a:solidFill>
              <a:srgbClr val="F7F8FA"/>
            </a:solidFill>
            <a:prstDash val="solid"/>
          </a:ln>
        </p:spPr>
      </p:sp>
      <p:sp>
        <p:nvSpPr>
          <p:cNvPr id="13" name="Text 11"/>
          <p:cNvSpPr txBox="1"/>
          <p:nvPr/>
        </p:nvSpPr>
        <p:spPr>
          <a:xfrm>
            <a:off x="786384" y="2487168"/>
            <a:ext cx="2980944" cy="658368"/>
          </a:xfrm>
          <a:prstGeom prst="rect">
            <a:avLst/>
          </a:prstGeom>
          <a:noFill/>
          <a:ln/>
        </p:spPr>
        <p:txBody>
          <a:bodyPr wrap="square" lIns="0" tIns="0" rIns="0" bIns="0" rtlCol="0" anchor="ctr"/>
          <a:lstStyle/>
          <a:p>
            <a:pPr indent="0" marL="0">
              <a:buNone/>
            </a:pPr>
            <a:r>
              <a:rPr lang="en-US" sz="1150" b="1" dirty="0">
                <a:solidFill>
                  <a:srgbClr val="16181D"/>
                </a:solidFill>
                <a:latin typeface="Arial" pitchFamily="34" charset="0"/>
                <a:ea typeface="Arial" pitchFamily="34" charset="-122"/>
                <a:cs typeface="Arial" pitchFamily="34" charset="-120"/>
              </a:rPr>
              <a:t>Paper 2 — Zhang, Srinivasan &amp; Mahadevan 2021</a:t>
            </a:r>
            <a:endParaRPr lang="en-US" sz="1150" dirty="0"/>
          </a:p>
        </p:txBody>
      </p:sp>
      <p:sp>
        <p:nvSpPr>
          <p:cNvPr id="14" name="Text 12"/>
          <p:cNvSpPr txBox="1"/>
          <p:nvPr/>
        </p:nvSpPr>
        <p:spPr>
          <a:xfrm>
            <a:off x="3986784" y="2487168"/>
            <a:ext cx="4901184" cy="658368"/>
          </a:xfrm>
          <a:prstGeom prst="rect">
            <a:avLst/>
          </a:prstGeom>
          <a:noFill/>
          <a:ln/>
        </p:spPr>
        <p:txBody>
          <a:bodyPr wrap="square" lIns="0" tIns="0" rIns="0" bIns="0" rtlCol="0" anchor="ctr"/>
          <a:lstStyle/>
          <a:p>
            <a:pPr indent="0" marL="0">
              <a:buNone/>
            </a:pPr>
            <a:r>
              <a:rPr lang="en-US" sz="1150" dirty="0">
                <a:solidFill>
                  <a:srgbClr val="16181D"/>
                </a:solidFill>
                <a:latin typeface="Arial" pitchFamily="34" charset="0"/>
                <a:ea typeface="Arial" pitchFamily="34" charset="-122"/>
                <a:cs typeface="Arial" pitchFamily="34" charset="-120"/>
              </a:rPr>
              <a:t>LSTM predicts outcomes from narratives, no causal structure</a:t>
            </a:r>
            <a:endParaRPr lang="en-US" sz="1150" dirty="0"/>
          </a:p>
        </p:txBody>
      </p:sp>
      <p:sp>
        <p:nvSpPr>
          <p:cNvPr id="15" name="Text 13"/>
          <p:cNvSpPr txBox="1"/>
          <p:nvPr/>
        </p:nvSpPr>
        <p:spPr>
          <a:xfrm>
            <a:off x="9107424" y="2487168"/>
            <a:ext cx="2368296" cy="658368"/>
          </a:xfrm>
          <a:prstGeom prst="rect">
            <a:avLst/>
          </a:prstGeom>
          <a:noFill/>
          <a:ln/>
        </p:spPr>
        <p:txBody>
          <a:bodyPr wrap="square" lIns="0" tIns="0" rIns="0" bIns="0" rtlCol="0" anchor="ctr"/>
          <a:lstStyle/>
          <a:p>
            <a:pPr indent="0" marL="0">
              <a:buNone/>
            </a:pPr>
            <a:r>
              <a:rPr lang="en-US" sz="1150" b="1" dirty="0">
                <a:solidFill>
                  <a:srgbClr val="B23A2C"/>
                </a:solidFill>
                <a:latin typeface="Arial" pitchFamily="34" charset="0"/>
                <a:ea typeface="Arial" pitchFamily="34" charset="-122"/>
                <a:cs typeface="Arial" pitchFamily="34" charset="-120"/>
              </a:rPr>
              <a:t>No</a:t>
            </a:r>
            <a:endParaRPr lang="en-US" sz="1150" dirty="0"/>
          </a:p>
        </p:txBody>
      </p:sp>
      <p:sp>
        <p:nvSpPr>
          <p:cNvPr id="16" name="Text 14"/>
          <p:cNvSpPr txBox="1"/>
          <p:nvPr/>
        </p:nvSpPr>
        <p:spPr>
          <a:xfrm>
            <a:off x="786384" y="3145536"/>
            <a:ext cx="2980944" cy="658368"/>
          </a:xfrm>
          <a:prstGeom prst="rect">
            <a:avLst/>
          </a:prstGeom>
          <a:noFill/>
          <a:ln/>
        </p:spPr>
        <p:txBody>
          <a:bodyPr wrap="square" lIns="0" tIns="0" rIns="0" bIns="0" rtlCol="0" anchor="ctr"/>
          <a:lstStyle/>
          <a:p>
            <a:pPr indent="0" marL="0">
              <a:buNone/>
            </a:pPr>
            <a:r>
              <a:rPr lang="en-US" sz="1150" b="1" dirty="0">
                <a:solidFill>
                  <a:srgbClr val="16181D"/>
                </a:solidFill>
                <a:latin typeface="Arial" pitchFamily="34" charset="0"/>
                <a:ea typeface="Arial" pitchFamily="34" charset="-122"/>
                <a:cs typeface="Arial" pitchFamily="34" charset="-120"/>
              </a:rPr>
              <a:t>Paper 3 — Yu et al. (preprint)</a:t>
            </a:r>
            <a:endParaRPr lang="en-US" sz="1150" dirty="0"/>
          </a:p>
        </p:txBody>
      </p:sp>
      <p:sp>
        <p:nvSpPr>
          <p:cNvPr id="17" name="Text 15"/>
          <p:cNvSpPr txBox="1"/>
          <p:nvPr/>
        </p:nvSpPr>
        <p:spPr>
          <a:xfrm>
            <a:off x="3986784" y="3145536"/>
            <a:ext cx="4901184" cy="658368"/>
          </a:xfrm>
          <a:prstGeom prst="rect">
            <a:avLst/>
          </a:prstGeom>
          <a:noFill/>
          <a:ln/>
        </p:spPr>
        <p:txBody>
          <a:bodyPr wrap="square" lIns="0" tIns="0" rIns="0" bIns="0" rtlCol="0" anchor="ctr"/>
          <a:lstStyle/>
          <a:p>
            <a:pPr indent="0" marL="0">
              <a:buNone/>
            </a:pPr>
            <a:r>
              <a:rPr lang="en-US" sz="1150" dirty="0">
                <a:solidFill>
                  <a:srgbClr val="16181D"/>
                </a:solidFill>
                <a:latin typeface="Arial" pitchFamily="34" charset="0"/>
                <a:ea typeface="Arial" pitchFamily="34" charset="-122"/>
                <a:cs typeface="Arial" pitchFamily="34" charset="-120"/>
              </a:rPr>
              <a:t>LLM agent extracts causes, structure learned from ASRS narratives</a:t>
            </a:r>
            <a:endParaRPr lang="en-US" sz="1150" dirty="0"/>
          </a:p>
        </p:txBody>
      </p:sp>
      <p:sp>
        <p:nvSpPr>
          <p:cNvPr id="18" name="Text 16"/>
          <p:cNvSpPr txBox="1"/>
          <p:nvPr/>
        </p:nvSpPr>
        <p:spPr>
          <a:xfrm>
            <a:off x="9107424" y="3145536"/>
            <a:ext cx="2368296" cy="658368"/>
          </a:xfrm>
          <a:prstGeom prst="rect">
            <a:avLst/>
          </a:prstGeom>
          <a:noFill/>
          <a:ln/>
        </p:spPr>
        <p:txBody>
          <a:bodyPr wrap="square" lIns="0" tIns="0" rIns="0" bIns="0" rtlCol="0" anchor="ctr"/>
          <a:lstStyle/>
          <a:p>
            <a:pPr indent="0" marL="0">
              <a:buNone/>
            </a:pPr>
            <a:r>
              <a:rPr lang="en-US" sz="1150" b="1" dirty="0">
                <a:solidFill>
                  <a:srgbClr val="B23A2C"/>
                </a:solidFill>
                <a:latin typeface="Arial" pitchFamily="34" charset="0"/>
                <a:ea typeface="Arial" pitchFamily="34" charset="-122"/>
                <a:cs typeface="Arial" pitchFamily="34" charset="-120"/>
              </a:rPr>
              <a:t>No</a:t>
            </a:r>
            <a:endParaRPr lang="en-US" sz="1150" dirty="0"/>
          </a:p>
        </p:txBody>
      </p:sp>
      <p:sp>
        <p:nvSpPr>
          <p:cNvPr id="19" name="Shape 17"/>
          <p:cNvSpPr/>
          <p:nvPr/>
        </p:nvSpPr>
        <p:spPr>
          <a:xfrm>
            <a:off x="640080" y="3794760"/>
            <a:ext cx="10908792" cy="1828800"/>
          </a:xfrm>
          <a:prstGeom prst="roundRect">
            <a:avLst>
              <a:gd name="adj" fmla="val 2500"/>
            </a:avLst>
          </a:prstGeom>
          <a:solidFill>
            <a:srgbClr val="FDF0EE"/>
          </a:solidFill>
          <a:ln w="12700">
            <a:solidFill>
              <a:srgbClr val="FDF0EE"/>
            </a:solidFill>
            <a:prstDash val="solid"/>
          </a:ln>
        </p:spPr>
      </p:sp>
      <p:sp>
        <p:nvSpPr>
          <p:cNvPr id="20" name="Text 18"/>
          <p:cNvSpPr txBox="1"/>
          <p:nvPr/>
        </p:nvSpPr>
        <p:spPr>
          <a:xfrm>
            <a:off x="841248" y="3931920"/>
            <a:ext cx="10506456" cy="274320"/>
          </a:xfrm>
          <a:prstGeom prst="rect">
            <a:avLst/>
          </a:prstGeom>
          <a:noFill/>
          <a:ln/>
        </p:spPr>
        <p:txBody>
          <a:bodyPr wrap="square" lIns="0" tIns="0" rIns="0" bIns="0" rtlCol="0" anchor="t"/>
          <a:lstStyle/>
          <a:p>
            <a:pPr indent="0" marL="0">
              <a:buNone/>
            </a:pPr>
            <a:r>
              <a:rPr lang="en-US" sz="1300" b="1" dirty="0">
                <a:solidFill>
                  <a:srgbClr val="B23A2C"/>
                </a:solidFill>
                <a:latin typeface="Arial" pitchFamily="34" charset="0"/>
                <a:ea typeface="Arial" pitchFamily="34" charset="-122"/>
                <a:cs typeface="Arial" pitchFamily="34" charset="-120"/>
              </a:rPr>
              <a:t>Yu et al., in their own words:</a:t>
            </a:r>
            <a:endParaRPr lang="en-US" sz="1300" dirty="0"/>
          </a:p>
        </p:txBody>
      </p:sp>
      <p:sp>
        <p:nvSpPr>
          <p:cNvPr id="21" name="Text 19"/>
          <p:cNvSpPr txBox="1"/>
          <p:nvPr/>
        </p:nvSpPr>
        <p:spPr>
          <a:xfrm>
            <a:off x="841248" y="4251960"/>
            <a:ext cx="10506456" cy="1234440"/>
          </a:xfrm>
          <a:prstGeom prst="rect">
            <a:avLst/>
          </a:prstGeom>
          <a:noFill/>
          <a:ln/>
        </p:spPr>
        <p:txBody>
          <a:bodyPr wrap="square" lIns="0" tIns="0" rIns="0" bIns="0" rtlCol="0" anchor="t"/>
          <a:lstStyle/>
          <a:p>
            <a:pPr indent="0" marL="0">
              <a:spcAft>
                <a:spcPts val="300"/>
              </a:spcAft>
              <a:buNone/>
            </a:pPr>
            <a:r>
              <a:rPr lang="en-US" sz="1300" dirty="0">
                <a:solidFill>
                  <a:srgbClr val="16181D"/>
                </a:solidFill>
                <a:latin typeface="Arial" pitchFamily="34" charset="0"/>
                <a:ea typeface="Arial" pitchFamily="34" charset="-122"/>
                <a:cs typeface="Arial" pitchFamily="34" charset="-120"/>
              </a:rPr>
              <a:t>"Disagreements were resolved through discussion, and final sub-state labels were fixed only after unanimous consensus."</a:t>
            </a:r>
            <a:endParaRPr lang="en-US" sz="1300" dirty="0"/>
          </a:p>
          <a:p>
            <a:pPr indent="0" marL="0">
              <a:spcAft>
                <a:spcPts val="300"/>
              </a:spcAft>
              <a:buNone/>
            </a:pPr>
            <a:endParaRPr lang="en-US" sz="1300" dirty="0"/>
          </a:p>
          <a:p>
            <a:pPr indent="0" marL="0">
              <a:spcAft>
                <a:spcPts val="300"/>
              </a:spcAft>
              <a:buNone/>
            </a:pPr>
            <a:r>
              <a:rPr lang="en-US" sz="1300" dirty="0">
                <a:solidFill>
                  <a:srgbClr val="16181D"/>
                </a:solidFill>
                <a:latin typeface="Arial" pitchFamily="34" charset="0"/>
                <a:ea typeface="Arial" pitchFamily="34" charset="-122"/>
                <a:cs typeface="Arial" pitchFamily="34" charset="-120"/>
              </a:rPr>
              <a:t>Two senior experts made the AI's disagreements go away — then one network was built, and the probabilities reported as if the structure were certain.</a:t>
            </a:r>
            <a:endParaRPr lang="en-US" sz="1300" dirty="0"/>
          </a:p>
        </p:txBody>
      </p:sp>
      <p:sp>
        <p:nvSpPr>
          <p:cNvPr id="22" name="Text 20"/>
          <p:cNvSpPr txBox="1"/>
          <p:nvPr/>
        </p:nvSpPr>
        <p:spPr>
          <a:xfrm>
            <a:off x="11155680" y="6355080"/>
            <a:ext cx="822960" cy="274320"/>
          </a:xfrm>
          <a:prstGeom prst="rect">
            <a:avLst/>
          </a:prstGeom>
          <a:noFill/>
          <a:ln/>
        </p:spPr>
        <p:txBody>
          <a:bodyPr wrap="square" lIns="0" tIns="0" rIns="0" bIns="0" rtlCol="0" anchor="ctr"/>
          <a:lstStyle/>
          <a:p>
            <a:pPr algn="r" indent="0" marL="0">
              <a:buNone/>
            </a:pPr>
            <a:r>
              <a:rPr lang="en-US" sz="1100" dirty="0">
                <a:solidFill>
                  <a:srgbClr val="B8BCC4"/>
                </a:solidFill>
                <a:latin typeface="Arial" pitchFamily="34" charset="0"/>
                <a:ea typeface="Arial" pitchFamily="34" charset="-122"/>
                <a:cs typeface="Arial" pitchFamily="34" charset="-120"/>
              </a:rPr>
              <a:t>1</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12345C"/>
          </a:solidFill>
          <a:ln/>
        </p:spPr>
      </p:sp>
      <p:sp>
        <p:nvSpPr>
          <p:cNvPr id="3" name="Text 1"/>
          <p:cNvSpPr txBox="1"/>
          <p:nvPr/>
        </p:nvSpPr>
        <p:spPr>
          <a:xfrm>
            <a:off x="640080" y="384048"/>
            <a:ext cx="10908792" cy="566928"/>
          </a:xfrm>
          <a:prstGeom prst="rect">
            <a:avLst/>
          </a:prstGeom>
          <a:noFill/>
          <a:ln/>
        </p:spPr>
        <p:txBody>
          <a:bodyPr wrap="square" lIns="0" tIns="0" rIns="0" bIns="0" rtlCol="0" anchor="t"/>
          <a:lstStyle/>
          <a:p>
            <a:pPr indent="0" marL="0">
              <a:buNone/>
            </a:pPr>
            <a:r>
              <a:rPr lang="en-US" sz="2700" b="1" dirty="0">
                <a:solidFill>
                  <a:srgbClr val="16181D"/>
                </a:solidFill>
                <a:latin typeface="Arial" pitchFamily="34" charset="0"/>
                <a:ea typeface="Arial" pitchFamily="34" charset="-122"/>
                <a:cs typeface="Arial" pitchFamily="34" charset="-120"/>
              </a:rPr>
              <a:t>Implement theirs, implement ours, compare</a:t>
            </a:r>
            <a:endParaRPr lang="en-US" sz="2700" dirty="0"/>
          </a:p>
        </p:txBody>
      </p:sp>
      <p:sp>
        <p:nvSpPr>
          <p:cNvPr id="4" name="Text 2"/>
          <p:cNvSpPr txBox="1"/>
          <p:nvPr/>
        </p:nvSpPr>
        <p:spPr>
          <a:xfrm>
            <a:off x="640080" y="969264"/>
            <a:ext cx="10908792" cy="347472"/>
          </a:xfrm>
          <a:prstGeom prst="rect">
            <a:avLst/>
          </a:prstGeom>
          <a:noFill/>
          <a:ln/>
        </p:spPr>
        <p:txBody>
          <a:bodyPr wrap="square" lIns="0" tIns="0" rIns="0" bIns="0" rtlCol="0" anchor="t"/>
          <a:lstStyle/>
          <a:p>
            <a:pPr indent="0" marL="0">
              <a:buNone/>
            </a:pPr>
            <a:r>
              <a:rPr lang="en-US" sz="1400" dirty="0">
                <a:solidFill>
                  <a:srgbClr val="6B7280"/>
                </a:solidFill>
                <a:latin typeface="Arial" pitchFamily="34" charset="0"/>
                <a:ea typeface="Arial" pitchFamily="34" charset="-122"/>
                <a:cs typeface="Arial" pitchFamily="34" charset="-120"/>
              </a:rPr>
              <a:t>The comparison you suggested — do their work first, then measure against it.</a:t>
            </a:r>
            <a:endParaRPr lang="en-US" sz="1400" dirty="0"/>
          </a:p>
        </p:txBody>
      </p:sp>
      <p:sp>
        <p:nvSpPr>
          <p:cNvPr id="5" name="Shape 3"/>
          <p:cNvSpPr/>
          <p:nvPr/>
        </p:nvSpPr>
        <p:spPr>
          <a:xfrm>
            <a:off x="640080" y="1508760"/>
            <a:ext cx="3483864" cy="2011680"/>
          </a:xfrm>
          <a:prstGeom prst="roundRect">
            <a:avLst>
              <a:gd name="adj" fmla="val 2273"/>
            </a:avLst>
          </a:prstGeom>
          <a:solidFill>
            <a:srgbClr val="F4F6FA"/>
          </a:solidFill>
          <a:ln w="12700">
            <a:solidFill>
              <a:srgbClr val="F4F6FA"/>
            </a:solidFill>
            <a:prstDash val="solid"/>
          </a:ln>
        </p:spPr>
      </p:sp>
      <p:sp>
        <p:nvSpPr>
          <p:cNvPr id="6" name="Text 4"/>
          <p:cNvSpPr txBox="1"/>
          <p:nvPr/>
        </p:nvSpPr>
        <p:spPr>
          <a:xfrm>
            <a:off x="841248" y="1645920"/>
            <a:ext cx="3081528" cy="274320"/>
          </a:xfrm>
          <a:prstGeom prst="rect">
            <a:avLst/>
          </a:prstGeom>
          <a:noFill/>
          <a:ln/>
        </p:spPr>
        <p:txBody>
          <a:bodyPr wrap="square" lIns="0" tIns="0" rIns="0" bIns="0" rtlCol="0" anchor="t"/>
          <a:lstStyle/>
          <a:p>
            <a:pPr indent="0" marL="0">
              <a:buNone/>
            </a:pPr>
            <a:r>
              <a:rPr lang="en-US" sz="1400" b="1" dirty="0">
                <a:solidFill>
                  <a:srgbClr val="12345C"/>
                </a:solidFill>
                <a:latin typeface="Arial" pitchFamily="34" charset="0"/>
                <a:ea typeface="Arial" pitchFamily="34" charset="-122"/>
                <a:cs typeface="Arial" pitchFamily="34" charset="-120"/>
              </a:rPr>
              <a:t>1  Implement theirs</a:t>
            </a:r>
            <a:endParaRPr lang="en-US" sz="1400" dirty="0"/>
          </a:p>
        </p:txBody>
      </p:sp>
      <p:sp>
        <p:nvSpPr>
          <p:cNvPr id="7" name="Text 5"/>
          <p:cNvSpPr txBox="1"/>
          <p:nvPr/>
        </p:nvSpPr>
        <p:spPr>
          <a:xfrm>
            <a:off x="841248" y="1965960"/>
            <a:ext cx="3081528" cy="1417320"/>
          </a:xfrm>
          <a:prstGeom prst="rect">
            <a:avLst/>
          </a:prstGeom>
          <a:noFill/>
          <a:ln/>
        </p:spPr>
        <p:txBody>
          <a:bodyPr wrap="square" lIns="0" tIns="0" rIns="0" bIns="0" rtlCol="0" anchor="t"/>
          <a:lstStyle/>
          <a:p>
            <a:pPr indent="0" marL="0">
              <a:spcAft>
                <a:spcPts val="300"/>
              </a:spcAft>
              <a:buNone/>
            </a:pPr>
            <a:r>
              <a:rPr lang="en-US" sz="1200" dirty="0">
                <a:solidFill>
                  <a:srgbClr val="16181D"/>
                </a:solidFill>
                <a:latin typeface="Arial" pitchFamily="34" charset="0"/>
                <a:ea typeface="Arial" pitchFamily="34" charset="-122"/>
                <a:cs typeface="Arial" pitchFamily="34" charset="-120"/>
              </a:rPr>
              <a:t>On our data. LLM agent extracts causes, learn one network, report the risk numbers.</a:t>
            </a:r>
            <a:endParaRPr lang="en-US" sz="1200" dirty="0"/>
          </a:p>
        </p:txBody>
      </p:sp>
      <p:sp>
        <p:nvSpPr>
          <p:cNvPr id="8" name="Shape 6"/>
          <p:cNvSpPr/>
          <p:nvPr/>
        </p:nvSpPr>
        <p:spPr>
          <a:xfrm>
            <a:off x="4352544" y="1508760"/>
            <a:ext cx="3483864" cy="2011680"/>
          </a:xfrm>
          <a:prstGeom prst="roundRect">
            <a:avLst>
              <a:gd name="adj" fmla="val 2273"/>
            </a:avLst>
          </a:prstGeom>
          <a:solidFill>
            <a:srgbClr val="F4F6FA"/>
          </a:solidFill>
          <a:ln w="12700">
            <a:solidFill>
              <a:srgbClr val="F4F6FA"/>
            </a:solidFill>
            <a:prstDash val="solid"/>
          </a:ln>
        </p:spPr>
      </p:sp>
      <p:sp>
        <p:nvSpPr>
          <p:cNvPr id="9" name="Text 7"/>
          <p:cNvSpPr txBox="1"/>
          <p:nvPr/>
        </p:nvSpPr>
        <p:spPr>
          <a:xfrm>
            <a:off x="4553712" y="1645920"/>
            <a:ext cx="3081528" cy="274320"/>
          </a:xfrm>
          <a:prstGeom prst="rect">
            <a:avLst/>
          </a:prstGeom>
          <a:noFill/>
          <a:ln/>
        </p:spPr>
        <p:txBody>
          <a:bodyPr wrap="square" lIns="0" tIns="0" rIns="0" bIns="0" rtlCol="0" anchor="t"/>
          <a:lstStyle/>
          <a:p>
            <a:pPr indent="0" marL="0">
              <a:buNone/>
            </a:pPr>
            <a:r>
              <a:rPr lang="en-US" sz="1400" b="1" dirty="0">
                <a:solidFill>
                  <a:srgbClr val="12345C"/>
                </a:solidFill>
                <a:latin typeface="Arial" pitchFamily="34" charset="0"/>
                <a:ea typeface="Arial" pitchFamily="34" charset="-122"/>
                <a:cs typeface="Arial" pitchFamily="34" charset="-120"/>
              </a:rPr>
              <a:t>2  Implement ours</a:t>
            </a:r>
            <a:endParaRPr lang="en-US" sz="1400" dirty="0"/>
          </a:p>
        </p:txBody>
      </p:sp>
      <p:sp>
        <p:nvSpPr>
          <p:cNvPr id="10" name="Text 8"/>
          <p:cNvSpPr txBox="1"/>
          <p:nvPr/>
        </p:nvSpPr>
        <p:spPr>
          <a:xfrm>
            <a:off x="4553712" y="1965960"/>
            <a:ext cx="3081528" cy="1417320"/>
          </a:xfrm>
          <a:prstGeom prst="rect">
            <a:avLst/>
          </a:prstGeom>
          <a:noFill/>
          <a:ln/>
        </p:spPr>
        <p:txBody>
          <a:bodyPr wrap="square" lIns="0" tIns="0" rIns="0" bIns="0" rtlCol="0" anchor="t"/>
          <a:lstStyle/>
          <a:p>
            <a:pPr indent="0" marL="0">
              <a:spcAft>
                <a:spcPts val="300"/>
              </a:spcAft>
              <a:buNone/>
            </a:pPr>
            <a:r>
              <a:rPr lang="en-US" sz="1200" dirty="0">
                <a:solidFill>
                  <a:srgbClr val="16181D"/>
                </a:solidFill>
                <a:latin typeface="Arial" pitchFamily="34" charset="0"/>
                <a:ea typeface="Arial" pitchFamily="34" charset="-122"/>
                <a:cs typeface="Arial" pitchFamily="34" charset="-120"/>
              </a:rPr>
              <a:t>Build the network several different ways instead of once, and measure how much the versions disagree — in structure, and in whether they change the actual risk answers.</a:t>
            </a:r>
            <a:endParaRPr lang="en-US" sz="1200" dirty="0"/>
          </a:p>
        </p:txBody>
      </p:sp>
      <p:sp>
        <p:nvSpPr>
          <p:cNvPr id="11" name="Shape 9"/>
          <p:cNvSpPr/>
          <p:nvPr/>
        </p:nvSpPr>
        <p:spPr>
          <a:xfrm>
            <a:off x="8065008" y="1508760"/>
            <a:ext cx="3483864" cy="2011680"/>
          </a:xfrm>
          <a:prstGeom prst="roundRect">
            <a:avLst>
              <a:gd name="adj" fmla="val 2273"/>
            </a:avLst>
          </a:prstGeom>
          <a:solidFill>
            <a:srgbClr val="F4F6FA"/>
          </a:solidFill>
          <a:ln w="12700">
            <a:solidFill>
              <a:srgbClr val="F4F6FA"/>
            </a:solidFill>
            <a:prstDash val="solid"/>
          </a:ln>
        </p:spPr>
      </p:sp>
      <p:sp>
        <p:nvSpPr>
          <p:cNvPr id="12" name="Text 10"/>
          <p:cNvSpPr txBox="1"/>
          <p:nvPr/>
        </p:nvSpPr>
        <p:spPr>
          <a:xfrm>
            <a:off x="8266176" y="1645920"/>
            <a:ext cx="3081528" cy="274320"/>
          </a:xfrm>
          <a:prstGeom prst="rect">
            <a:avLst/>
          </a:prstGeom>
          <a:noFill/>
          <a:ln/>
        </p:spPr>
        <p:txBody>
          <a:bodyPr wrap="square" lIns="0" tIns="0" rIns="0" bIns="0" rtlCol="0" anchor="t"/>
          <a:lstStyle/>
          <a:p>
            <a:pPr indent="0" marL="0">
              <a:buNone/>
            </a:pPr>
            <a:r>
              <a:rPr lang="en-US" sz="1400" b="1" dirty="0">
                <a:solidFill>
                  <a:srgbClr val="12345C"/>
                </a:solidFill>
                <a:latin typeface="Arial" pitchFamily="34" charset="0"/>
                <a:ea typeface="Arial" pitchFamily="34" charset="-122"/>
                <a:cs typeface="Arial" pitchFamily="34" charset="-120"/>
              </a:rPr>
              <a:t>3  Compare</a:t>
            </a:r>
            <a:endParaRPr lang="en-US" sz="1400" dirty="0"/>
          </a:p>
        </p:txBody>
      </p:sp>
      <p:sp>
        <p:nvSpPr>
          <p:cNvPr id="13" name="Text 11"/>
          <p:cNvSpPr txBox="1"/>
          <p:nvPr/>
        </p:nvSpPr>
        <p:spPr>
          <a:xfrm>
            <a:off x="8266176" y="1965960"/>
            <a:ext cx="3081528" cy="1417320"/>
          </a:xfrm>
          <a:prstGeom prst="rect">
            <a:avLst/>
          </a:prstGeom>
          <a:noFill/>
          <a:ln/>
        </p:spPr>
        <p:txBody>
          <a:bodyPr wrap="square" lIns="0" tIns="0" rIns="0" bIns="0" rtlCol="0" anchor="t"/>
          <a:lstStyle/>
          <a:p>
            <a:pPr indent="0" marL="0">
              <a:spcAft>
                <a:spcPts val="300"/>
              </a:spcAft>
              <a:buNone/>
            </a:pPr>
            <a:r>
              <a:rPr lang="en-US" sz="1200" dirty="0">
                <a:solidFill>
                  <a:srgbClr val="16181D"/>
                </a:solidFill>
                <a:latin typeface="Arial" pitchFamily="34" charset="0"/>
                <a:ea typeface="Arial" pitchFamily="34" charset="-122"/>
                <a:cs typeface="Arial" pitchFamily="34" charset="-120"/>
              </a:rPr>
              <a:t>And see whether disagreement shrinks as more reports are added.</a:t>
            </a:r>
            <a:endParaRPr lang="en-US" sz="1200" dirty="0"/>
          </a:p>
        </p:txBody>
      </p:sp>
      <p:sp>
        <p:nvSpPr>
          <p:cNvPr id="14" name="Shape 12"/>
          <p:cNvSpPr/>
          <p:nvPr/>
        </p:nvSpPr>
        <p:spPr>
          <a:xfrm>
            <a:off x="640080" y="3794760"/>
            <a:ext cx="5257800" cy="1371600"/>
          </a:xfrm>
          <a:prstGeom prst="roundRect">
            <a:avLst>
              <a:gd name="adj" fmla="val 3333"/>
            </a:avLst>
          </a:prstGeom>
          <a:solidFill>
            <a:srgbClr val="F0F6F0"/>
          </a:solidFill>
          <a:ln w="12700">
            <a:solidFill>
              <a:srgbClr val="F0F6F0"/>
            </a:solidFill>
            <a:prstDash val="solid"/>
          </a:ln>
        </p:spPr>
      </p:sp>
      <p:sp>
        <p:nvSpPr>
          <p:cNvPr id="15" name="Text 13"/>
          <p:cNvSpPr txBox="1"/>
          <p:nvPr/>
        </p:nvSpPr>
        <p:spPr>
          <a:xfrm>
            <a:off x="841248" y="3931920"/>
            <a:ext cx="4855464" cy="274320"/>
          </a:xfrm>
          <a:prstGeom prst="rect">
            <a:avLst/>
          </a:prstGeom>
          <a:noFill/>
          <a:ln/>
        </p:spPr>
        <p:txBody>
          <a:bodyPr wrap="square" lIns="0" tIns="0" rIns="0" bIns="0" rtlCol="0" anchor="t"/>
          <a:lstStyle/>
          <a:p>
            <a:pPr indent="0" marL="0">
              <a:buNone/>
            </a:pPr>
            <a:r>
              <a:rPr lang="en-US" sz="1400" b="1" dirty="0">
                <a:solidFill>
                  <a:srgbClr val="2E7D32"/>
                </a:solidFill>
                <a:latin typeface="Arial" pitchFamily="34" charset="0"/>
                <a:ea typeface="Arial" pitchFamily="34" charset="-122"/>
                <a:cs typeface="Arial" pitchFamily="34" charset="-120"/>
              </a:rPr>
              <a:t>Disagreement shrinks</a:t>
            </a:r>
            <a:endParaRPr lang="en-US" sz="1400" dirty="0"/>
          </a:p>
        </p:txBody>
      </p:sp>
      <p:sp>
        <p:nvSpPr>
          <p:cNvPr id="16" name="Text 14"/>
          <p:cNvSpPr txBox="1"/>
          <p:nvPr/>
        </p:nvSpPr>
        <p:spPr>
          <a:xfrm>
            <a:off x="841248" y="4251960"/>
            <a:ext cx="4855464" cy="777240"/>
          </a:xfrm>
          <a:prstGeom prst="rect">
            <a:avLst/>
          </a:prstGeom>
          <a:noFill/>
          <a:ln/>
        </p:spPr>
        <p:txBody>
          <a:bodyPr wrap="square" lIns="0" tIns="0" rIns="0" bIns="0" rtlCol="0" anchor="t"/>
          <a:lstStyle/>
          <a:p>
            <a:pPr indent="0" marL="0">
              <a:spcAft>
                <a:spcPts val="300"/>
              </a:spcAft>
              <a:buNone/>
            </a:pPr>
            <a:r>
              <a:rPr lang="en-US" sz="1250" dirty="0">
                <a:solidFill>
                  <a:srgbClr val="16181D"/>
                </a:solidFill>
                <a:latin typeface="Arial" pitchFamily="34" charset="0"/>
                <a:ea typeface="Arial" pitchFamily="34" charset="-122"/>
                <a:cs typeface="Arial" pitchFamily="34" charset="-120"/>
              </a:rPr>
              <a:t>The narratives are identifying real structure — and I can say how much evidence that takes.</a:t>
            </a:r>
            <a:endParaRPr lang="en-US" sz="1250" dirty="0"/>
          </a:p>
        </p:txBody>
      </p:sp>
      <p:sp>
        <p:nvSpPr>
          <p:cNvPr id="17" name="Shape 15"/>
          <p:cNvSpPr/>
          <p:nvPr/>
        </p:nvSpPr>
        <p:spPr>
          <a:xfrm>
            <a:off x="6263640" y="3794760"/>
            <a:ext cx="5257800" cy="1371600"/>
          </a:xfrm>
          <a:prstGeom prst="roundRect">
            <a:avLst>
              <a:gd name="adj" fmla="val 3333"/>
            </a:avLst>
          </a:prstGeom>
          <a:solidFill>
            <a:srgbClr val="F4F6FA"/>
          </a:solidFill>
          <a:ln w="12700">
            <a:solidFill>
              <a:srgbClr val="F4F6FA"/>
            </a:solidFill>
            <a:prstDash val="solid"/>
          </a:ln>
        </p:spPr>
      </p:sp>
      <p:sp>
        <p:nvSpPr>
          <p:cNvPr id="18" name="Text 16"/>
          <p:cNvSpPr txBox="1"/>
          <p:nvPr/>
        </p:nvSpPr>
        <p:spPr>
          <a:xfrm>
            <a:off x="6464808" y="3931920"/>
            <a:ext cx="4855464" cy="274320"/>
          </a:xfrm>
          <a:prstGeom prst="rect">
            <a:avLst/>
          </a:prstGeom>
          <a:noFill/>
          <a:ln/>
        </p:spPr>
        <p:txBody>
          <a:bodyPr wrap="square" lIns="0" tIns="0" rIns="0" bIns="0" rtlCol="0" anchor="t"/>
          <a:lstStyle/>
          <a:p>
            <a:pPr indent="0" marL="0">
              <a:buNone/>
            </a:pPr>
            <a:r>
              <a:rPr lang="en-US" sz="1400" b="1" dirty="0">
                <a:solidFill>
                  <a:srgbClr val="12345C"/>
                </a:solidFill>
                <a:latin typeface="Arial" pitchFamily="34" charset="0"/>
                <a:ea typeface="Arial" pitchFamily="34" charset="-122"/>
                <a:cs typeface="Arial" pitchFamily="34" charset="-120"/>
              </a:rPr>
              <a:t>Disagreement plateaus</a:t>
            </a:r>
            <a:endParaRPr lang="en-US" sz="1400" dirty="0"/>
          </a:p>
        </p:txBody>
      </p:sp>
      <p:sp>
        <p:nvSpPr>
          <p:cNvPr id="19" name="Text 17"/>
          <p:cNvSpPr txBox="1"/>
          <p:nvPr/>
        </p:nvSpPr>
        <p:spPr>
          <a:xfrm>
            <a:off x="6464808" y="4251960"/>
            <a:ext cx="4855464" cy="777240"/>
          </a:xfrm>
          <a:prstGeom prst="rect">
            <a:avLst/>
          </a:prstGeom>
          <a:noFill/>
          <a:ln/>
        </p:spPr>
        <p:txBody>
          <a:bodyPr wrap="square" lIns="0" tIns="0" rIns="0" bIns="0" rtlCol="0" anchor="t"/>
          <a:lstStyle/>
          <a:p>
            <a:pPr indent="0" marL="0">
              <a:spcAft>
                <a:spcPts val="300"/>
              </a:spcAft>
              <a:buNone/>
            </a:pPr>
            <a:r>
              <a:rPr lang="en-US" sz="1250" dirty="0">
                <a:solidFill>
                  <a:srgbClr val="16181D"/>
                </a:solidFill>
                <a:latin typeface="Arial" pitchFamily="34" charset="0"/>
                <a:ea typeface="Arial" pitchFamily="34" charset="-122"/>
                <a:cs typeface="Arial" pitchFamily="34" charset="-120"/>
              </a:rPr>
              <a:t>Narratives alone can't determine the structure. Worth knowing on its own.</a:t>
            </a:r>
            <a:endParaRPr lang="en-US" sz="1250" dirty="0"/>
          </a:p>
        </p:txBody>
      </p:sp>
      <p:sp>
        <p:nvSpPr>
          <p:cNvPr id="20" name="Shape 18"/>
          <p:cNvSpPr/>
          <p:nvPr/>
        </p:nvSpPr>
        <p:spPr>
          <a:xfrm>
            <a:off x="640080" y="5394960"/>
            <a:ext cx="10908792" cy="594360"/>
          </a:xfrm>
          <a:prstGeom prst="roundRect">
            <a:avLst>
              <a:gd name="adj" fmla="val 7692"/>
            </a:avLst>
          </a:prstGeom>
          <a:solidFill>
            <a:srgbClr val="12345C"/>
          </a:solidFill>
          <a:ln w="12700">
            <a:solidFill>
              <a:srgbClr val="12345C"/>
            </a:solidFill>
            <a:prstDash val="solid"/>
          </a:ln>
        </p:spPr>
      </p:sp>
      <p:sp>
        <p:nvSpPr>
          <p:cNvPr id="21" name="Text 19"/>
          <p:cNvSpPr txBox="1"/>
          <p:nvPr/>
        </p:nvSpPr>
        <p:spPr>
          <a:xfrm>
            <a:off x="914400" y="5468112"/>
            <a:ext cx="10360152" cy="44805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A project that produces a result either way.</a:t>
            </a:r>
            <a:endParaRPr lang="en-US" sz="1400" dirty="0"/>
          </a:p>
        </p:txBody>
      </p:sp>
      <p:sp>
        <p:nvSpPr>
          <p:cNvPr id="22" name="Text 20"/>
          <p:cNvSpPr txBox="1"/>
          <p:nvPr/>
        </p:nvSpPr>
        <p:spPr>
          <a:xfrm>
            <a:off x="11155680" y="6355080"/>
            <a:ext cx="822960" cy="274320"/>
          </a:xfrm>
          <a:prstGeom prst="rect">
            <a:avLst/>
          </a:prstGeom>
          <a:noFill/>
          <a:ln/>
        </p:spPr>
        <p:txBody>
          <a:bodyPr wrap="square" lIns="0" tIns="0" rIns="0" bIns="0" rtlCol="0" anchor="ctr"/>
          <a:lstStyle/>
          <a:p>
            <a:pPr algn="r" indent="0" marL="0">
              <a:buNone/>
            </a:pPr>
            <a:r>
              <a:rPr lang="en-US" sz="1100" dirty="0">
                <a:solidFill>
                  <a:srgbClr val="B8BCC4"/>
                </a:solidFill>
                <a:latin typeface="Arial" pitchFamily="34" charset="0"/>
                <a:ea typeface="Arial" pitchFamily="34" charset="-122"/>
                <a:cs typeface="Arial" pitchFamily="34" charset="-120"/>
              </a:rPr>
              <a:t>2</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12345C"/>
          </a:solidFill>
          <a:ln/>
        </p:spPr>
      </p:sp>
      <p:sp>
        <p:nvSpPr>
          <p:cNvPr id="3" name="Text 1"/>
          <p:cNvSpPr txBox="1"/>
          <p:nvPr/>
        </p:nvSpPr>
        <p:spPr>
          <a:xfrm>
            <a:off x="640080" y="384048"/>
            <a:ext cx="10908792" cy="566928"/>
          </a:xfrm>
          <a:prstGeom prst="rect">
            <a:avLst/>
          </a:prstGeom>
          <a:noFill/>
          <a:ln/>
        </p:spPr>
        <p:txBody>
          <a:bodyPr wrap="square" lIns="0" tIns="0" rIns="0" bIns="0" rtlCol="0" anchor="t"/>
          <a:lstStyle/>
          <a:p>
            <a:pPr indent="0" marL="0">
              <a:buNone/>
            </a:pPr>
            <a:r>
              <a:rPr lang="en-US" sz="2700" b="1" dirty="0">
                <a:solidFill>
                  <a:srgbClr val="16181D"/>
                </a:solidFill>
                <a:latin typeface="Arial" pitchFamily="34" charset="0"/>
                <a:ea typeface="Arial" pitchFamily="34" charset="-122"/>
                <a:cs typeface="Arial" pitchFamily="34" charset="-120"/>
              </a:rPr>
              <a:t>Where this sits</a:t>
            </a:r>
            <a:endParaRPr lang="en-US" sz="2700" dirty="0"/>
          </a:p>
        </p:txBody>
      </p:sp>
      <p:sp>
        <p:nvSpPr>
          <p:cNvPr id="4" name="Text 2"/>
          <p:cNvSpPr txBox="1"/>
          <p:nvPr/>
        </p:nvSpPr>
        <p:spPr>
          <a:xfrm>
            <a:off x="640080" y="969264"/>
            <a:ext cx="10908792" cy="347472"/>
          </a:xfrm>
          <a:prstGeom prst="rect">
            <a:avLst/>
          </a:prstGeom>
          <a:noFill/>
          <a:ln/>
        </p:spPr>
        <p:txBody>
          <a:bodyPr wrap="square" lIns="0" tIns="0" rIns="0" bIns="0" rtlCol="0" anchor="t"/>
          <a:lstStyle/>
          <a:p>
            <a:pPr indent="0" marL="0">
              <a:buNone/>
            </a:pPr>
            <a:r>
              <a:rPr lang="en-US" sz="1400" dirty="0">
                <a:solidFill>
                  <a:srgbClr val="6B7280"/>
                </a:solidFill>
                <a:latin typeface="Arial" pitchFamily="34" charset="0"/>
                <a:ea typeface="Arial" pitchFamily="34" charset="-122"/>
                <a:cs typeface="Arial" pitchFamily="34" charset="-120"/>
              </a:rPr>
              <a:t>This isn't the dissertation. It's what earns the right to propose one.</a:t>
            </a:r>
            <a:endParaRPr lang="en-US" sz="1400" dirty="0"/>
          </a:p>
        </p:txBody>
      </p:sp>
      <p:sp>
        <p:nvSpPr>
          <p:cNvPr id="5" name="Shape 3"/>
          <p:cNvSpPr/>
          <p:nvPr/>
        </p:nvSpPr>
        <p:spPr>
          <a:xfrm>
            <a:off x="640080" y="1554480"/>
            <a:ext cx="2576322" cy="2286000"/>
          </a:xfrm>
          <a:prstGeom prst="roundRect">
            <a:avLst>
              <a:gd name="adj" fmla="val 2000"/>
            </a:avLst>
          </a:prstGeom>
          <a:solidFill>
            <a:srgbClr val="F4F6FA"/>
          </a:solidFill>
          <a:ln w="12700">
            <a:solidFill>
              <a:srgbClr val="F4F6FA"/>
            </a:solidFill>
            <a:prstDash val="solid"/>
          </a:ln>
        </p:spPr>
      </p:sp>
      <p:sp>
        <p:nvSpPr>
          <p:cNvPr id="6" name="Text 4"/>
          <p:cNvSpPr txBox="1"/>
          <p:nvPr/>
        </p:nvSpPr>
        <p:spPr>
          <a:xfrm>
            <a:off x="841248" y="1691640"/>
            <a:ext cx="2173986" cy="274320"/>
          </a:xfrm>
          <a:prstGeom prst="rect">
            <a:avLst/>
          </a:prstGeom>
          <a:noFill/>
          <a:ln/>
        </p:spPr>
        <p:txBody>
          <a:bodyPr wrap="square" lIns="0" tIns="0" rIns="0" bIns="0" rtlCol="0" anchor="t"/>
          <a:lstStyle/>
          <a:p>
            <a:pPr indent="0" marL="0">
              <a:buNone/>
            </a:pPr>
            <a:r>
              <a:rPr lang="en-US" sz="1300" b="1" dirty="0">
                <a:solidFill>
                  <a:srgbClr val="12345C"/>
                </a:solidFill>
                <a:latin typeface="Arial" pitchFamily="34" charset="0"/>
                <a:ea typeface="Arial" pitchFamily="34" charset="-122"/>
                <a:cs typeface="Arial" pitchFamily="34" charset="-120"/>
              </a:rPr>
              <a:t>Paper 1 · under review</a:t>
            </a:r>
            <a:endParaRPr lang="en-US" sz="1300" dirty="0"/>
          </a:p>
        </p:txBody>
      </p:sp>
      <p:sp>
        <p:nvSpPr>
          <p:cNvPr id="7" name="Text 5"/>
          <p:cNvSpPr txBox="1"/>
          <p:nvPr/>
        </p:nvSpPr>
        <p:spPr>
          <a:xfrm>
            <a:off x="841248" y="2011680"/>
            <a:ext cx="2173986" cy="1691640"/>
          </a:xfrm>
          <a:prstGeom prst="rect">
            <a:avLst/>
          </a:prstGeom>
          <a:noFill/>
          <a:ln/>
        </p:spPr>
        <p:txBody>
          <a:bodyPr wrap="square" lIns="0" tIns="0" rIns="0" bIns="0" rtlCol="0" anchor="t"/>
          <a:lstStyle/>
          <a:p>
            <a:pPr indent="0" marL="0">
              <a:spcAft>
                <a:spcPts val="300"/>
              </a:spcAft>
              <a:buNone/>
            </a:pPr>
            <a:r>
              <a:rPr lang="en-US" sz="1150" dirty="0">
                <a:solidFill>
                  <a:srgbClr val="16181D"/>
                </a:solidFill>
                <a:latin typeface="Arial" pitchFamily="34" charset="0"/>
                <a:ea typeface="Arial" pitchFamily="34" charset="-122"/>
                <a:cs typeface="Arial" pitchFamily="34" charset="-120"/>
              </a:rPr>
              <a:t>Narratives as evidence on a fixed network.</a:t>
            </a:r>
            <a:endParaRPr lang="en-US" sz="1150" dirty="0"/>
          </a:p>
        </p:txBody>
      </p:sp>
      <p:sp>
        <p:nvSpPr>
          <p:cNvPr id="8" name="Shape 6"/>
          <p:cNvSpPr/>
          <p:nvPr/>
        </p:nvSpPr>
        <p:spPr>
          <a:xfrm>
            <a:off x="3417570" y="1554480"/>
            <a:ext cx="2576322" cy="2286000"/>
          </a:xfrm>
          <a:prstGeom prst="roundRect">
            <a:avLst>
              <a:gd name="adj" fmla="val 2000"/>
            </a:avLst>
          </a:prstGeom>
          <a:solidFill>
            <a:srgbClr val="FDFAF0"/>
          </a:solidFill>
          <a:ln w="12700">
            <a:solidFill>
              <a:srgbClr val="FDFAF0"/>
            </a:solidFill>
            <a:prstDash val="solid"/>
          </a:ln>
        </p:spPr>
      </p:sp>
      <p:sp>
        <p:nvSpPr>
          <p:cNvPr id="9" name="Text 7"/>
          <p:cNvSpPr txBox="1"/>
          <p:nvPr/>
        </p:nvSpPr>
        <p:spPr>
          <a:xfrm>
            <a:off x="3618738" y="1691640"/>
            <a:ext cx="2173986" cy="274320"/>
          </a:xfrm>
          <a:prstGeom prst="rect">
            <a:avLst/>
          </a:prstGeom>
          <a:noFill/>
          <a:ln/>
        </p:spPr>
        <p:txBody>
          <a:bodyPr wrap="square" lIns="0" tIns="0" rIns="0" bIns="0" rtlCol="0" anchor="t"/>
          <a:lstStyle/>
          <a:p>
            <a:pPr indent="0" marL="0">
              <a:buNone/>
            </a:pPr>
            <a:r>
              <a:rPr lang="en-US" sz="1300" b="1" dirty="0">
                <a:solidFill>
                  <a:srgbClr val="8A6C10"/>
                </a:solidFill>
                <a:latin typeface="Arial" pitchFamily="34" charset="0"/>
                <a:ea typeface="Arial" pitchFamily="34" charset="-122"/>
                <a:cs typeface="Arial" pitchFamily="34" charset="-120"/>
              </a:rPr>
              <a:t>This project · next</a:t>
            </a:r>
            <a:endParaRPr lang="en-US" sz="1300" dirty="0"/>
          </a:p>
        </p:txBody>
      </p:sp>
      <p:sp>
        <p:nvSpPr>
          <p:cNvPr id="10" name="Text 8"/>
          <p:cNvSpPr txBox="1"/>
          <p:nvPr/>
        </p:nvSpPr>
        <p:spPr>
          <a:xfrm>
            <a:off x="3618738" y="2011680"/>
            <a:ext cx="2173986" cy="1691640"/>
          </a:xfrm>
          <a:prstGeom prst="rect">
            <a:avLst/>
          </a:prstGeom>
          <a:noFill/>
          <a:ln/>
        </p:spPr>
        <p:txBody>
          <a:bodyPr wrap="square" lIns="0" tIns="0" rIns="0" bIns="0" rtlCol="0" anchor="t"/>
          <a:lstStyle/>
          <a:p>
            <a:pPr indent="0" marL="0">
              <a:spcAft>
                <a:spcPts val="300"/>
              </a:spcAft>
              <a:buNone/>
            </a:pPr>
            <a:r>
              <a:rPr lang="en-US" sz="1150" dirty="0">
                <a:solidFill>
                  <a:srgbClr val="16181D"/>
                </a:solidFill>
                <a:latin typeface="Arial" pitchFamily="34" charset="0"/>
                <a:ea typeface="Arial" pitchFamily="34" charset="-122"/>
                <a:cs typeface="Arial" pitchFamily="34" charset="-120"/>
              </a:rPr>
              <a:t>Build the structure several ways, measure the disagreement, compare against the single-network approach.</a:t>
            </a:r>
            <a:endParaRPr lang="en-US" sz="1150" dirty="0"/>
          </a:p>
        </p:txBody>
      </p:sp>
      <p:sp>
        <p:nvSpPr>
          <p:cNvPr id="11" name="Shape 9"/>
          <p:cNvSpPr/>
          <p:nvPr/>
        </p:nvSpPr>
        <p:spPr>
          <a:xfrm>
            <a:off x="6195060" y="1554480"/>
            <a:ext cx="2576322" cy="2286000"/>
          </a:xfrm>
          <a:prstGeom prst="roundRect">
            <a:avLst>
              <a:gd name="adj" fmla="val 2000"/>
            </a:avLst>
          </a:prstGeom>
          <a:solidFill>
            <a:srgbClr val="F4F6FA"/>
          </a:solidFill>
          <a:ln w="12700">
            <a:solidFill>
              <a:srgbClr val="F4F6FA"/>
            </a:solidFill>
            <a:prstDash val="solid"/>
          </a:ln>
        </p:spPr>
      </p:sp>
      <p:sp>
        <p:nvSpPr>
          <p:cNvPr id="12" name="Text 10"/>
          <p:cNvSpPr txBox="1"/>
          <p:nvPr/>
        </p:nvSpPr>
        <p:spPr>
          <a:xfrm>
            <a:off x="6396228" y="1691640"/>
            <a:ext cx="2173986" cy="274320"/>
          </a:xfrm>
          <a:prstGeom prst="rect">
            <a:avLst/>
          </a:prstGeom>
          <a:noFill/>
          <a:ln/>
        </p:spPr>
        <p:txBody>
          <a:bodyPr wrap="square" lIns="0" tIns="0" rIns="0" bIns="0" rtlCol="0" anchor="t"/>
          <a:lstStyle/>
          <a:p>
            <a:pPr indent="0" marL="0">
              <a:buNone/>
            </a:pPr>
            <a:r>
              <a:rPr lang="en-US" sz="1300" b="1" dirty="0">
                <a:solidFill>
                  <a:srgbClr val="12345C"/>
                </a:solidFill>
                <a:latin typeface="Arial" pitchFamily="34" charset="0"/>
                <a:ea typeface="Arial" pitchFamily="34" charset="-122"/>
                <a:cs typeface="Arial" pitchFamily="34" charset="-120"/>
              </a:rPr>
              <a:t>Prelim · ~April 2027</a:t>
            </a:r>
            <a:endParaRPr lang="en-US" sz="1300" dirty="0"/>
          </a:p>
        </p:txBody>
      </p:sp>
      <p:sp>
        <p:nvSpPr>
          <p:cNvPr id="13" name="Text 11"/>
          <p:cNvSpPr txBox="1"/>
          <p:nvPr/>
        </p:nvSpPr>
        <p:spPr>
          <a:xfrm>
            <a:off x="6396228" y="2011680"/>
            <a:ext cx="2173986" cy="1691640"/>
          </a:xfrm>
          <a:prstGeom prst="rect">
            <a:avLst/>
          </a:prstGeom>
          <a:noFill/>
          <a:ln/>
        </p:spPr>
        <p:txBody>
          <a:bodyPr wrap="square" lIns="0" tIns="0" rIns="0" bIns="0" rtlCol="0" anchor="t"/>
          <a:lstStyle/>
          <a:p>
            <a:pPr indent="0" marL="0">
              <a:spcAft>
                <a:spcPts val="300"/>
              </a:spcAft>
              <a:buNone/>
            </a:pPr>
            <a:r>
              <a:rPr lang="en-US" sz="1150" dirty="0">
                <a:solidFill>
                  <a:srgbClr val="16181D"/>
                </a:solidFill>
                <a:latin typeface="Arial" pitchFamily="34" charset="0"/>
                <a:ea typeface="Arial" pitchFamily="34" charset="-122"/>
                <a:cs typeface="Arial" pitchFamily="34" charset="-120"/>
              </a:rPr>
              <a:t>Present both papers, and propose the dissertation on the strength of them.</a:t>
            </a:r>
            <a:endParaRPr lang="en-US" sz="1150" dirty="0"/>
          </a:p>
        </p:txBody>
      </p:sp>
      <p:sp>
        <p:nvSpPr>
          <p:cNvPr id="14" name="Shape 12"/>
          <p:cNvSpPr/>
          <p:nvPr/>
        </p:nvSpPr>
        <p:spPr>
          <a:xfrm>
            <a:off x="8972550" y="1554480"/>
            <a:ext cx="2576322" cy="2286000"/>
          </a:xfrm>
          <a:prstGeom prst="roundRect">
            <a:avLst>
              <a:gd name="adj" fmla="val 2000"/>
            </a:avLst>
          </a:prstGeom>
          <a:solidFill>
            <a:srgbClr val="F4F6FA"/>
          </a:solidFill>
          <a:ln w="12700">
            <a:solidFill>
              <a:srgbClr val="F4F6FA"/>
            </a:solidFill>
            <a:prstDash val="solid"/>
          </a:ln>
        </p:spPr>
      </p:sp>
      <p:sp>
        <p:nvSpPr>
          <p:cNvPr id="15" name="Text 13"/>
          <p:cNvSpPr txBox="1"/>
          <p:nvPr/>
        </p:nvSpPr>
        <p:spPr>
          <a:xfrm>
            <a:off x="9173718" y="1691640"/>
            <a:ext cx="2173986" cy="274320"/>
          </a:xfrm>
          <a:prstGeom prst="rect">
            <a:avLst/>
          </a:prstGeom>
          <a:noFill/>
          <a:ln/>
        </p:spPr>
        <p:txBody>
          <a:bodyPr wrap="square" lIns="0" tIns="0" rIns="0" bIns="0" rtlCol="0" anchor="t"/>
          <a:lstStyle/>
          <a:p>
            <a:pPr indent="0" marL="0">
              <a:buNone/>
            </a:pPr>
            <a:r>
              <a:rPr lang="en-US" sz="1300" b="1" dirty="0">
                <a:solidFill>
                  <a:srgbClr val="12345C"/>
                </a:solidFill>
                <a:latin typeface="Arial" pitchFamily="34" charset="0"/>
                <a:ea typeface="Arial" pitchFamily="34" charset="-122"/>
                <a:cs typeface="Arial" pitchFamily="34" charset="-120"/>
              </a:rPr>
              <a:t>Dissertation</a:t>
            </a:r>
            <a:endParaRPr lang="en-US" sz="1300" dirty="0"/>
          </a:p>
        </p:txBody>
      </p:sp>
      <p:sp>
        <p:nvSpPr>
          <p:cNvPr id="16" name="Text 14"/>
          <p:cNvSpPr txBox="1"/>
          <p:nvPr/>
        </p:nvSpPr>
        <p:spPr>
          <a:xfrm>
            <a:off x="9173718" y="2011680"/>
            <a:ext cx="2173986" cy="1691640"/>
          </a:xfrm>
          <a:prstGeom prst="rect">
            <a:avLst/>
          </a:prstGeom>
          <a:noFill/>
          <a:ln/>
        </p:spPr>
        <p:txBody>
          <a:bodyPr wrap="square" lIns="0" tIns="0" rIns="0" bIns="0" rtlCol="0" anchor="t"/>
          <a:lstStyle/>
          <a:p>
            <a:pPr indent="0" marL="0">
              <a:spcAft>
                <a:spcPts val="300"/>
              </a:spcAft>
              <a:buNone/>
            </a:pPr>
            <a:r>
              <a:rPr lang="en-US" sz="1150" dirty="0">
                <a:solidFill>
                  <a:srgbClr val="16181D"/>
                </a:solidFill>
                <a:latin typeface="Arial" pitchFamily="34" charset="0"/>
                <a:ea typeface="Arial" pitchFamily="34" charset="-122"/>
                <a:cs typeface="Arial" pitchFamily="34" charset="-120"/>
              </a:rPr>
              <a:t>Multi-Modal Transportation Safety Agentic Digital Twin System.</a:t>
            </a:r>
            <a:endParaRPr lang="en-US" sz="1150" dirty="0"/>
          </a:p>
        </p:txBody>
      </p:sp>
      <p:sp>
        <p:nvSpPr>
          <p:cNvPr id="17" name="Shape 15"/>
          <p:cNvSpPr/>
          <p:nvPr/>
        </p:nvSpPr>
        <p:spPr>
          <a:xfrm>
            <a:off x="640080" y="4114800"/>
            <a:ext cx="10908792" cy="914400"/>
          </a:xfrm>
          <a:prstGeom prst="roundRect">
            <a:avLst>
              <a:gd name="adj" fmla="val 5000"/>
            </a:avLst>
          </a:prstGeom>
          <a:solidFill>
            <a:srgbClr val="12345C"/>
          </a:solidFill>
          <a:ln w="12700">
            <a:solidFill>
              <a:srgbClr val="12345C"/>
            </a:solidFill>
            <a:prstDash val="solid"/>
          </a:ln>
        </p:spPr>
      </p:sp>
      <p:sp>
        <p:nvSpPr>
          <p:cNvPr id="18" name="Text 16"/>
          <p:cNvSpPr txBox="1"/>
          <p:nvPr/>
        </p:nvSpPr>
        <p:spPr>
          <a:xfrm>
            <a:off x="914400" y="4187952"/>
            <a:ext cx="10360152" cy="768096"/>
          </a:xfrm>
          <a:prstGeom prst="rect">
            <a:avLst/>
          </a:prstGeom>
          <a:noFill/>
          <a:ln/>
        </p:spPr>
        <p:txBody>
          <a:bodyPr wrap="square" lIns="0" tIns="0" rIns="0" bIns="0" rtlCol="0" anchor="ctr"/>
          <a:lstStyle/>
          <a:p>
            <a:pPr indent="0" marL="0">
              <a:buNone/>
            </a:pPr>
            <a:r>
              <a:rPr lang="en-US" sz="1500" dirty="0">
                <a:solidFill>
                  <a:srgbClr val="FFFFFF"/>
                </a:solidFill>
                <a:latin typeface="Arial" pitchFamily="34" charset="0"/>
                <a:ea typeface="Arial" pitchFamily="34" charset="-122"/>
                <a:cs typeface="Arial" pitchFamily="34" charset="-120"/>
              </a:rPr>
              <a:t>It's the second of two projects I take into the prelim — it's what lets me propose multi-modal with results behind it instead of an intention.</a:t>
            </a:r>
            <a:endParaRPr lang="en-US" sz="1500" dirty="0"/>
          </a:p>
        </p:txBody>
      </p:sp>
      <p:sp>
        <p:nvSpPr>
          <p:cNvPr id="19" name="Text 17"/>
          <p:cNvSpPr txBox="1"/>
          <p:nvPr/>
        </p:nvSpPr>
        <p:spPr>
          <a:xfrm>
            <a:off x="640080" y="5212080"/>
            <a:ext cx="10908792" cy="731520"/>
          </a:xfrm>
          <a:prstGeom prst="rect">
            <a:avLst/>
          </a:prstGeom>
          <a:noFill/>
          <a:ln/>
        </p:spPr>
        <p:txBody>
          <a:bodyPr wrap="square" lIns="0" tIns="0" rIns="0" bIns="0" rtlCol="0" anchor="t"/>
          <a:lstStyle/>
          <a:p>
            <a:pPr indent="0" marL="0">
              <a:buNone/>
            </a:pPr>
            <a:r>
              <a:rPr lang="en-US" sz="1200" i="1" dirty="0">
                <a:solidFill>
                  <a:srgbClr val="6B7280"/>
                </a:solidFill>
                <a:latin typeface="Arial" pitchFamily="34" charset="0"/>
                <a:ea typeface="Arial" pitchFamily="34" charset="-122"/>
                <a:cs typeface="Arial" pitchFamily="34" charset="-120"/>
              </a:rPr>
              <a:t>If the prelim argument is "I did this in aviation, so I can propose it across modes," the method has to be built mode-agnostic from the start — with a running list of what's aviation-specific and what's general. That list is the prelim argument.</a:t>
            </a:r>
            <a:endParaRPr lang="en-US" sz="1200" dirty="0"/>
          </a:p>
        </p:txBody>
      </p:sp>
      <p:sp>
        <p:nvSpPr>
          <p:cNvPr id="20" name="Text 18"/>
          <p:cNvSpPr txBox="1"/>
          <p:nvPr/>
        </p:nvSpPr>
        <p:spPr>
          <a:xfrm>
            <a:off x="11155680" y="6355080"/>
            <a:ext cx="822960" cy="274320"/>
          </a:xfrm>
          <a:prstGeom prst="rect">
            <a:avLst/>
          </a:prstGeom>
          <a:noFill/>
          <a:ln/>
        </p:spPr>
        <p:txBody>
          <a:bodyPr wrap="square" lIns="0" tIns="0" rIns="0" bIns="0" rtlCol="0" anchor="ctr"/>
          <a:lstStyle/>
          <a:p>
            <a:pPr algn="r" indent="0" marL="0">
              <a:buNone/>
            </a:pPr>
            <a:r>
              <a:rPr lang="en-US" sz="1100" dirty="0">
                <a:solidFill>
                  <a:srgbClr val="B8BCC4"/>
                </a:solidFill>
                <a:latin typeface="Arial" pitchFamily="34" charset="0"/>
                <a:ea typeface="Arial" pitchFamily="34" charset="-122"/>
                <a:cs typeface="Arial" pitchFamily="34" charset="-120"/>
              </a:rPr>
              <a:t>3</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12345C"/>
          </a:solidFill>
          <a:ln/>
        </p:spPr>
      </p:sp>
      <p:sp>
        <p:nvSpPr>
          <p:cNvPr id="3" name="Text 1"/>
          <p:cNvSpPr txBox="1"/>
          <p:nvPr/>
        </p:nvSpPr>
        <p:spPr>
          <a:xfrm>
            <a:off x="640080" y="384048"/>
            <a:ext cx="10908792" cy="566928"/>
          </a:xfrm>
          <a:prstGeom prst="rect">
            <a:avLst/>
          </a:prstGeom>
          <a:noFill/>
          <a:ln/>
        </p:spPr>
        <p:txBody>
          <a:bodyPr wrap="square" lIns="0" tIns="0" rIns="0" bIns="0" rtlCol="0" anchor="t"/>
          <a:lstStyle/>
          <a:p>
            <a:pPr indent="0" marL="0">
              <a:buNone/>
            </a:pPr>
            <a:r>
              <a:rPr lang="en-US" sz="2700" b="1" dirty="0">
                <a:solidFill>
                  <a:srgbClr val="16181D"/>
                </a:solidFill>
                <a:latin typeface="Arial" pitchFamily="34" charset="0"/>
                <a:ea typeface="Arial" pitchFamily="34" charset="-122"/>
                <a:cs typeface="Arial" pitchFamily="34" charset="-120"/>
              </a:rPr>
              <a:t>What I need from you</a:t>
            </a:r>
            <a:endParaRPr lang="en-US" sz="2700" dirty="0"/>
          </a:p>
        </p:txBody>
      </p:sp>
      <p:sp>
        <p:nvSpPr>
          <p:cNvPr id="4" name="Text 2"/>
          <p:cNvSpPr txBox="1"/>
          <p:nvPr/>
        </p:nvSpPr>
        <p:spPr>
          <a:xfrm>
            <a:off x="640080" y="969264"/>
            <a:ext cx="10908792" cy="347472"/>
          </a:xfrm>
          <a:prstGeom prst="rect">
            <a:avLst/>
          </a:prstGeom>
          <a:noFill/>
          <a:ln/>
        </p:spPr>
        <p:txBody>
          <a:bodyPr wrap="square" lIns="0" tIns="0" rIns="0" bIns="0" rtlCol="0" anchor="t"/>
          <a:lstStyle/>
          <a:p>
            <a:pPr indent="0" marL="0">
              <a:buNone/>
            </a:pPr>
            <a:r>
              <a:rPr lang="en-US" sz="1400" dirty="0">
                <a:solidFill>
                  <a:srgbClr val="6B7280"/>
                </a:solidFill>
                <a:latin typeface="Arial" pitchFamily="34" charset="0"/>
                <a:ea typeface="Arial" pitchFamily="34" charset="-122"/>
                <a:cs typeface="Arial" pitchFamily="34" charset="-120"/>
              </a:rPr>
              <a:t>Five questions. If we run short: 1, 2 and 4.</a:t>
            </a:r>
            <a:endParaRPr lang="en-US" sz="1400" dirty="0"/>
          </a:p>
        </p:txBody>
      </p:sp>
      <p:sp>
        <p:nvSpPr>
          <p:cNvPr id="5" name="Shape 3"/>
          <p:cNvSpPr/>
          <p:nvPr/>
        </p:nvSpPr>
        <p:spPr>
          <a:xfrm>
            <a:off x="640080" y="1463040"/>
            <a:ext cx="10908792" cy="822960"/>
          </a:xfrm>
          <a:prstGeom prst="roundRect">
            <a:avLst>
              <a:gd name="adj" fmla="val 5556"/>
            </a:avLst>
          </a:prstGeom>
          <a:solidFill>
            <a:srgbClr val="F4F6FA"/>
          </a:solidFill>
          <a:ln w="12700">
            <a:solidFill>
              <a:srgbClr val="F4F6FA"/>
            </a:solidFill>
            <a:prstDash val="solid"/>
          </a:ln>
        </p:spPr>
      </p:sp>
      <p:sp>
        <p:nvSpPr>
          <p:cNvPr id="6" name="Shape 4"/>
          <p:cNvSpPr/>
          <p:nvPr/>
        </p:nvSpPr>
        <p:spPr>
          <a:xfrm>
            <a:off x="859536" y="1673352"/>
            <a:ext cx="402336" cy="402336"/>
          </a:xfrm>
          <a:prstGeom prst="ellipse">
            <a:avLst/>
          </a:prstGeom>
          <a:solidFill>
            <a:srgbClr val="12345C"/>
          </a:solidFill>
          <a:ln/>
        </p:spPr>
      </p:sp>
      <p:sp>
        <p:nvSpPr>
          <p:cNvPr id="7" name="Text 5"/>
          <p:cNvSpPr txBox="1"/>
          <p:nvPr/>
        </p:nvSpPr>
        <p:spPr>
          <a:xfrm>
            <a:off x="859536" y="167335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8" name="Text 6"/>
          <p:cNvSpPr txBox="1"/>
          <p:nvPr/>
        </p:nvSpPr>
        <p:spPr>
          <a:xfrm>
            <a:off x="1444752" y="1536192"/>
            <a:ext cx="9875520" cy="676656"/>
          </a:xfrm>
          <a:prstGeom prst="rect">
            <a:avLst/>
          </a:prstGeom>
          <a:noFill/>
          <a:ln/>
        </p:spPr>
        <p:txBody>
          <a:bodyPr wrap="square" lIns="0" tIns="0" rIns="0" bIns="0" rtlCol="0" anchor="ctr"/>
          <a:lstStyle/>
          <a:p>
            <a:pPr indent="0" marL="0">
              <a:buNone/>
            </a:pPr>
            <a:r>
              <a:rPr lang="en-US" sz="1350" b="1" dirty="0">
                <a:solidFill>
                  <a:srgbClr val="16181D"/>
                </a:solidFill>
                <a:latin typeface="Arial" pitchFamily="34" charset="0"/>
                <a:ea typeface="Arial" pitchFamily="34" charset="-122"/>
                <a:cs typeface="Arial" pitchFamily="34" charset="-120"/>
              </a:rPr>
              <a:t>Is this the right direction for the next project?</a:t>
            </a:r>
            <a:endParaRPr lang="en-US" sz="1350" dirty="0"/>
          </a:p>
        </p:txBody>
      </p:sp>
      <p:sp>
        <p:nvSpPr>
          <p:cNvPr id="9" name="Shape 7"/>
          <p:cNvSpPr/>
          <p:nvPr/>
        </p:nvSpPr>
        <p:spPr>
          <a:xfrm>
            <a:off x="640080" y="2377440"/>
            <a:ext cx="10908792" cy="822960"/>
          </a:xfrm>
          <a:prstGeom prst="roundRect">
            <a:avLst>
              <a:gd name="adj" fmla="val 5556"/>
            </a:avLst>
          </a:prstGeom>
          <a:solidFill>
            <a:srgbClr val="F4F6FA"/>
          </a:solidFill>
          <a:ln w="12700">
            <a:solidFill>
              <a:srgbClr val="F4F6FA"/>
            </a:solidFill>
            <a:prstDash val="solid"/>
          </a:ln>
        </p:spPr>
      </p:sp>
      <p:sp>
        <p:nvSpPr>
          <p:cNvPr id="10" name="Shape 8"/>
          <p:cNvSpPr/>
          <p:nvPr/>
        </p:nvSpPr>
        <p:spPr>
          <a:xfrm>
            <a:off x="859536" y="2587752"/>
            <a:ext cx="402336" cy="402336"/>
          </a:xfrm>
          <a:prstGeom prst="ellipse">
            <a:avLst/>
          </a:prstGeom>
          <a:solidFill>
            <a:srgbClr val="12345C"/>
          </a:solidFill>
          <a:ln/>
        </p:spPr>
      </p:sp>
      <p:sp>
        <p:nvSpPr>
          <p:cNvPr id="11" name="Text 9"/>
          <p:cNvSpPr txBox="1"/>
          <p:nvPr/>
        </p:nvSpPr>
        <p:spPr>
          <a:xfrm>
            <a:off x="859536" y="258775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2" name="Text 10"/>
          <p:cNvSpPr txBox="1"/>
          <p:nvPr/>
        </p:nvSpPr>
        <p:spPr>
          <a:xfrm>
            <a:off x="1444752" y="2450592"/>
            <a:ext cx="4572000" cy="676656"/>
          </a:xfrm>
          <a:prstGeom prst="rect">
            <a:avLst/>
          </a:prstGeom>
          <a:noFill/>
          <a:ln/>
        </p:spPr>
        <p:txBody>
          <a:bodyPr wrap="square" lIns="0" tIns="0" rIns="0" bIns="0" rtlCol="0" anchor="ctr"/>
          <a:lstStyle/>
          <a:p>
            <a:pPr indent="0" marL="0">
              <a:buNone/>
            </a:pPr>
            <a:r>
              <a:rPr lang="en-US" sz="1350" b="1" dirty="0">
                <a:solidFill>
                  <a:srgbClr val="16181D"/>
                </a:solidFill>
                <a:latin typeface="Arial" pitchFamily="34" charset="0"/>
                <a:ea typeface="Arial" pitchFamily="34" charset="-122"/>
                <a:cs typeface="Arial" pitchFamily="34" charset="-120"/>
              </a:rPr>
              <a:t>You said look at ground transportation —</a:t>
            </a:r>
            <a:endParaRPr lang="en-US" sz="1350" dirty="0"/>
          </a:p>
        </p:txBody>
      </p:sp>
      <p:sp>
        <p:nvSpPr>
          <p:cNvPr id="13" name="Text 11"/>
          <p:cNvSpPr txBox="1"/>
          <p:nvPr/>
        </p:nvSpPr>
        <p:spPr>
          <a:xfrm>
            <a:off x="6172200" y="2450592"/>
            <a:ext cx="5120640" cy="676656"/>
          </a:xfrm>
          <a:prstGeom prst="rect">
            <a:avLst/>
          </a:prstGeom>
          <a:noFill/>
          <a:ln/>
        </p:spPr>
        <p:txBody>
          <a:bodyPr wrap="square" lIns="0" tIns="0" rIns="0" bIns="0" rtlCol="0" anchor="ctr"/>
          <a:lstStyle/>
          <a:p>
            <a:pPr indent="0" marL="0">
              <a:buNone/>
            </a:pPr>
            <a:r>
              <a:rPr lang="en-US" sz="1150" dirty="0">
                <a:solidFill>
                  <a:srgbClr val="6B7280"/>
                </a:solidFill>
                <a:latin typeface="Arial" pitchFamily="34" charset="0"/>
                <a:ea typeface="Arial" pitchFamily="34" charset="-122"/>
                <a:cs typeface="Arial" pitchFamily="34" charset="-120"/>
              </a:rPr>
              <a:t>does this project move there now, or stay in aviation and go ground for the dissertation?</a:t>
            </a:r>
            <a:endParaRPr lang="en-US" sz="1150" dirty="0"/>
          </a:p>
        </p:txBody>
      </p:sp>
      <p:sp>
        <p:nvSpPr>
          <p:cNvPr id="14" name="Shape 12"/>
          <p:cNvSpPr/>
          <p:nvPr/>
        </p:nvSpPr>
        <p:spPr>
          <a:xfrm>
            <a:off x="640080" y="3291840"/>
            <a:ext cx="10908792" cy="822960"/>
          </a:xfrm>
          <a:prstGeom prst="roundRect">
            <a:avLst>
              <a:gd name="adj" fmla="val 5556"/>
            </a:avLst>
          </a:prstGeom>
          <a:solidFill>
            <a:srgbClr val="F4F6FA"/>
          </a:solidFill>
          <a:ln w="12700">
            <a:solidFill>
              <a:srgbClr val="F4F6FA"/>
            </a:solidFill>
            <a:prstDash val="solid"/>
          </a:ln>
        </p:spPr>
      </p:sp>
      <p:sp>
        <p:nvSpPr>
          <p:cNvPr id="15" name="Shape 13"/>
          <p:cNvSpPr/>
          <p:nvPr/>
        </p:nvSpPr>
        <p:spPr>
          <a:xfrm>
            <a:off x="859536" y="3502152"/>
            <a:ext cx="402336" cy="402336"/>
          </a:xfrm>
          <a:prstGeom prst="ellipse">
            <a:avLst/>
          </a:prstGeom>
          <a:solidFill>
            <a:srgbClr val="12345C"/>
          </a:solidFill>
          <a:ln/>
        </p:spPr>
      </p:sp>
      <p:sp>
        <p:nvSpPr>
          <p:cNvPr id="16" name="Text 14"/>
          <p:cNvSpPr txBox="1"/>
          <p:nvPr/>
        </p:nvSpPr>
        <p:spPr>
          <a:xfrm>
            <a:off x="859536" y="350215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7" name="Text 15"/>
          <p:cNvSpPr txBox="1"/>
          <p:nvPr/>
        </p:nvSpPr>
        <p:spPr>
          <a:xfrm>
            <a:off x="1444752" y="3364992"/>
            <a:ext cx="4572000" cy="676656"/>
          </a:xfrm>
          <a:prstGeom prst="rect">
            <a:avLst/>
          </a:prstGeom>
          <a:noFill/>
          <a:ln/>
        </p:spPr>
        <p:txBody>
          <a:bodyPr wrap="square" lIns="0" tIns="0" rIns="0" bIns="0" rtlCol="0" anchor="ctr"/>
          <a:lstStyle/>
          <a:p>
            <a:pPr indent="0" marL="0">
              <a:buNone/>
            </a:pPr>
            <a:r>
              <a:rPr lang="en-US" sz="1350" b="1" dirty="0">
                <a:solidFill>
                  <a:srgbClr val="16181D"/>
                </a:solidFill>
                <a:latin typeface="Arial" pitchFamily="34" charset="0"/>
                <a:ea typeface="Arial" pitchFamily="34" charset="-122"/>
                <a:cs typeface="Arial" pitchFamily="34" charset="-120"/>
              </a:rPr>
              <a:t>Twin of what?</a:t>
            </a:r>
            <a:endParaRPr lang="en-US" sz="1350" dirty="0"/>
          </a:p>
        </p:txBody>
      </p:sp>
      <p:sp>
        <p:nvSpPr>
          <p:cNvPr id="18" name="Text 16"/>
          <p:cNvSpPr txBox="1"/>
          <p:nvPr/>
        </p:nvSpPr>
        <p:spPr>
          <a:xfrm>
            <a:off x="6172200" y="3364992"/>
            <a:ext cx="5120640" cy="676656"/>
          </a:xfrm>
          <a:prstGeom prst="rect">
            <a:avLst/>
          </a:prstGeom>
          <a:noFill/>
          <a:ln/>
        </p:spPr>
        <p:txBody>
          <a:bodyPr wrap="square" lIns="0" tIns="0" rIns="0" bIns="0" rtlCol="0" anchor="ctr"/>
          <a:lstStyle/>
          <a:p>
            <a:pPr indent="0" marL="0">
              <a:buNone/>
            </a:pPr>
            <a:r>
              <a:rPr lang="en-US" sz="1150" dirty="0">
                <a:solidFill>
                  <a:srgbClr val="6B7280"/>
                </a:solidFill>
                <a:latin typeface="Arial" pitchFamily="34" charset="0"/>
                <a:ea typeface="Arial" pitchFamily="34" charset="-122"/>
                <a:cs typeface="Arial" pitchFamily="34" charset="-120"/>
              </a:rPr>
              <a:t>The digital twin version needs a persistent entity — a fleet, an operator, a corridor. Do you have one in mind?</a:t>
            </a:r>
            <a:endParaRPr lang="en-US" sz="1150" dirty="0"/>
          </a:p>
        </p:txBody>
      </p:sp>
      <p:sp>
        <p:nvSpPr>
          <p:cNvPr id="19" name="Shape 17"/>
          <p:cNvSpPr/>
          <p:nvPr/>
        </p:nvSpPr>
        <p:spPr>
          <a:xfrm>
            <a:off x="640080" y="4206240"/>
            <a:ext cx="10908792" cy="822960"/>
          </a:xfrm>
          <a:prstGeom prst="roundRect">
            <a:avLst>
              <a:gd name="adj" fmla="val 5556"/>
            </a:avLst>
          </a:prstGeom>
          <a:solidFill>
            <a:srgbClr val="FDF0EE"/>
          </a:solidFill>
          <a:ln w="12700">
            <a:solidFill>
              <a:srgbClr val="FDF0EE"/>
            </a:solidFill>
            <a:prstDash val="solid"/>
          </a:ln>
        </p:spPr>
      </p:sp>
      <p:sp>
        <p:nvSpPr>
          <p:cNvPr id="20" name="Shape 18"/>
          <p:cNvSpPr/>
          <p:nvPr/>
        </p:nvSpPr>
        <p:spPr>
          <a:xfrm>
            <a:off x="859536" y="4416552"/>
            <a:ext cx="402336" cy="402336"/>
          </a:xfrm>
          <a:prstGeom prst="ellipse">
            <a:avLst/>
          </a:prstGeom>
          <a:solidFill>
            <a:srgbClr val="B23A2C"/>
          </a:solidFill>
          <a:ln/>
        </p:spPr>
      </p:sp>
      <p:sp>
        <p:nvSpPr>
          <p:cNvPr id="21" name="Text 19"/>
          <p:cNvSpPr txBox="1"/>
          <p:nvPr/>
        </p:nvSpPr>
        <p:spPr>
          <a:xfrm>
            <a:off x="859536" y="441655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22" name="Text 20"/>
          <p:cNvSpPr txBox="1"/>
          <p:nvPr/>
        </p:nvSpPr>
        <p:spPr>
          <a:xfrm>
            <a:off x="1444752" y="4279392"/>
            <a:ext cx="4572000" cy="676656"/>
          </a:xfrm>
          <a:prstGeom prst="rect">
            <a:avLst/>
          </a:prstGeom>
          <a:noFill/>
          <a:ln/>
        </p:spPr>
        <p:txBody>
          <a:bodyPr wrap="square" lIns="0" tIns="0" rIns="0" bIns="0" rtlCol="0" anchor="ctr"/>
          <a:lstStyle/>
          <a:p>
            <a:pPr indent="0" marL="0">
              <a:buNone/>
            </a:pPr>
            <a:r>
              <a:rPr lang="en-US" sz="1350" b="1" dirty="0">
                <a:solidFill>
                  <a:srgbClr val="B23A2C"/>
                </a:solidFill>
                <a:latin typeface="Arial" pitchFamily="34" charset="0"/>
                <a:ea typeface="Arial" pitchFamily="34" charset="-122"/>
                <a:cs typeface="Arial" pitchFamily="34" charset="-120"/>
              </a:rPr>
              <a:t>You said my Bayesian network understanding is weak.</a:t>
            </a:r>
            <a:endParaRPr lang="en-US" sz="1350" dirty="0"/>
          </a:p>
        </p:txBody>
      </p:sp>
      <p:sp>
        <p:nvSpPr>
          <p:cNvPr id="23" name="Text 21"/>
          <p:cNvSpPr txBox="1"/>
          <p:nvPr/>
        </p:nvSpPr>
        <p:spPr>
          <a:xfrm>
            <a:off x="6172200" y="4279392"/>
            <a:ext cx="5120640" cy="676656"/>
          </a:xfrm>
          <a:prstGeom prst="rect">
            <a:avLst/>
          </a:prstGeom>
          <a:noFill/>
          <a:ln/>
        </p:spPr>
        <p:txBody>
          <a:bodyPr wrap="square" lIns="0" tIns="0" rIns="0" bIns="0" rtlCol="0" anchor="ctr"/>
          <a:lstStyle/>
          <a:p>
            <a:pPr indent="0" marL="0">
              <a:buNone/>
            </a:pPr>
            <a:r>
              <a:rPr lang="en-US" sz="1150" dirty="0">
                <a:solidFill>
                  <a:srgbClr val="6B7280"/>
                </a:solidFill>
                <a:latin typeface="Arial" pitchFamily="34" charset="0"/>
                <a:ea typeface="Arial" pitchFamily="34" charset="-122"/>
                <a:cs typeface="Arial" pitchFamily="34" charset="-120"/>
              </a:rPr>
              <a:t>What should I be reading or working through to fix that?</a:t>
            </a:r>
            <a:endParaRPr lang="en-US" sz="1150" dirty="0"/>
          </a:p>
        </p:txBody>
      </p:sp>
      <p:sp>
        <p:nvSpPr>
          <p:cNvPr id="24" name="Shape 22"/>
          <p:cNvSpPr/>
          <p:nvPr/>
        </p:nvSpPr>
        <p:spPr>
          <a:xfrm>
            <a:off x="640080" y="5120640"/>
            <a:ext cx="10908792" cy="822960"/>
          </a:xfrm>
          <a:prstGeom prst="roundRect">
            <a:avLst>
              <a:gd name="adj" fmla="val 5556"/>
            </a:avLst>
          </a:prstGeom>
          <a:solidFill>
            <a:srgbClr val="F4F6FA"/>
          </a:solidFill>
          <a:ln w="12700">
            <a:solidFill>
              <a:srgbClr val="F4F6FA"/>
            </a:solidFill>
            <a:prstDash val="solid"/>
          </a:ln>
        </p:spPr>
      </p:sp>
      <p:sp>
        <p:nvSpPr>
          <p:cNvPr id="25" name="Shape 23"/>
          <p:cNvSpPr/>
          <p:nvPr/>
        </p:nvSpPr>
        <p:spPr>
          <a:xfrm>
            <a:off x="859536" y="5330952"/>
            <a:ext cx="402336" cy="402336"/>
          </a:xfrm>
          <a:prstGeom prst="ellipse">
            <a:avLst/>
          </a:prstGeom>
          <a:solidFill>
            <a:srgbClr val="12345C"/>
          </a:solidFill>
          <a:ln/>
        </p:spPr>
      </p:sp>
      <p:sp>
        <p:nvSpPr>
          <p:cNvPr id="26" name="Text 24"/>
          <p:cNvSpPr txBox="1"/>
          <p:nvPr/>
        </p:nvSpPr>
        <p:spPr>
          <a:xfrm>
            <a:off x="859536" y="533095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7" name="Text 25"/>
          <p:cNvSpPr txBox="1"/>
          <p:nvPr/>
        </p:nvSpPr>
        <p:spPr>
          <a:xfrm>
            <a:off x="1444752" y="5193792"/>
            <a:ext cx="4572000" cy="676656"/>
          </a:xfrm>
          <a:prstGeom prst="rect">
            <a:avLst/>
          </a:prstGeom>
          <a:noFill/>
          <a:ln/>
        </p:spPr>
        <p:txBody>
          <a:bodyPr wrap="square" lIns="0" tIns="0" rIns="0" bIns="0" rtlCol="0" anchor="ctr"/>
          <a:lstStyle/>
          <a:p>
            <a:pPr indent="0" marL="0">
              <a:buNone/>
            </a:pPr>
            <a:r>
              <a:rPr lang="en-US" sz="1350" b="1" dirty="0">
                <a:solidFill>
                  <a:srgbClr val="16181D"/>
                </a:solidFill>
                <a:latin typeface="Arial" pitchFamily="34" charset="0"/>
                <a:ea typeface="Arial" pitchFamily="34" charset="-122"/>
                <a:cs typeface="Arial" pitchFamily="34" charset="-120"/>
              </a:rPr>
              <a:t>NSF — CMMI 26-515?</a:t>
            </a:r>
            <a:endParaRPr lang="en-US" sz="1350" dirty="0"/>
          </a:p>
        </p:txBody>
      </p:sp>
      <p:sp>
        <p:nvSpPr>
          <p:cNvPr id="28" name="Text 26"/>
          <p:cNvSpPr txBox="1"/>
          <p:nvPr/>
        </p:nvSpPr>
        <p:spPr>
          <a:xfrm>
            <a:off x="6172200" y="5193792"/>
            <a:ext cx="5120640" cy="676656"/>
          </a:xfrm>
          <a:prstGeom prst="rect">
            <a:avLst/>
          </a:prstGeom>
          <a:noFill/>
          <a:ln/>
        </p:spPr>
        <p:txBody>
          <a:bodyPr wrap="square" lIns="0" tIns="0" rIns="0" bIns="0" rtlCol="0" anchor="ctr"/>
          <a:lstStyle/>
          <a:p>
            <a:pPr indent="0" marL="0">
              <a:buNone/>
            </a:pPr>
            <a:r>
              <a:rPr lang="en-US" sz="1150" dirty="0">
                <a:solidFill>
                  <a:srgbClr val="6B7280"/>
                </a:solidFill>
                <a:latin typeface="Arial" pitchFamily="34" charset="0"/>
                <a:ea typeface="Arial" pitchFamily="34" charset="-122"/>
                <a:cs typeface="Arial" pitchFamily="34" charset="-120"/>
              </a:rPr>
              <a:t>Accepted anytime; Civil Infrastructure Systems folded into the EBE cluster. Safe Learning-Enabled Systems was closer but it's archived.</a:t>
            </a:r>
            <a:endParaRPr lang="en-US" sz="1150" dirty="0"/>
          </a:p>
        </p:txBody>
      </p:sp>
      <p:sp>
        <p:nvSpPr>
          <p:cNvPr id="29" name="Text 27"/>
          <p:cNvSpPr txBox="1"/>
          <p:nvPr/>
        </p:nvSpPr>
        <p:spPr>
          <a:xfrm>
            <a:off x="11155680" y="6355080"/>
            <a:ext cx="822960" cy="274320"/>
          </a:xfrm>
          <a:prstGeom prst="rect">
            <a:avLst/>
          </a:prstGeom>
          <a:noFill/>
          <a:ln/>
        </p:spPr>
        <p:txBody>
          <a:bodyPr wrap="square" lIns="0" tIns="0" rIns="0" bIns="0" rtlCol="0" anchor="ctr"/>
          <a:lstStyle/>
          <a:p>
            <a:pPr algn="r" indent="0" marL="0">
              <a:buNone/>
            </a:pPr>
            <a:r>
              <a:rPr lang="en-US" sz="1100" dirty="0">
                <a:solidFill>
                  <a:srgbClr val="B8BCC4"/>
                </a:solidFill>
                <a:latin typeface="Arial" pitchFamily="34" charset="0"/>
                <a:ea typeface="Arial" pitchFamily="34" charset="-122"/>
                <a:cs typeface="Arial" pitchFamily="34" charset="-120"/>
              </a:rPr>
              <a:t>4</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3A3F4A"/>
        </a:solidFill>
      </p:bgPr>
    </p:bg>
    <p:spTree>
      <p:nvGrpSpPr>
        <p:cNvPr id="1" name=""/>
        <p:cNvGrpSpPr/>
        <p:nvPr/>
      </p:nvGrpSpPr>
      <p:grpSpPr>
        <a:xfrm>
          <a:off x="0" y="0"/>
          <a:ext cx="0" cy="0"/>
          <a:chOff x="0" y="0"/>
          <a:chExt cx="0" cy="0"/>
        </a:xfrm>
      </p:grpSpPr>
      <p:sp>
        <p:nvSpPr>
          <p:cNvPr id="2" name="Text 0"/>
          <p:cNvSpPr txBox="1"/>
          <p:nvPr/>
        </p:nvSpPr>
        <p:spPr>
          <a:xfrm>
            <a:off x="640080" y="2743200"/>
            <a:ext cx="10908792" cy="731520"/>
          </a:xfrm>
          <a:prstGeom prst="rect">
            <a:avLst/>
          </a:prstGeom>
          <a:noFill/>
          <a:ln/>
        </p:spPr>
        <p:txBody>
          <a:bodyPr wrap="square" lIns="0" tIns="0" rIns="0" bIns="0" rtlCol="0" anchor="ctr"/>
          <a:lstStyle/>
          <a:p>
            <a:pPr indent="0" marL="0">
              <a:buNone/>
            </a:pPr>
            <a:r>
              <a:rPr lang="en-US" sz="3400" b="1" spc="100" kern="0" dirty="0">
                <a:solidFill>
                  <a:srgbClr val="FFFFFF"/>
                </a:solidFill>
                <a:latin typeface="Arial" pitchFamily="34" charset="0"/>
                <a:ea typeface="Arial" pitchFamily="34" charset="-122"/>
                <a:cs typeface="Arial" pitchFamily="34" charset="-120"/>
              </a:rPr>
              <a:t>APPENDIX</a:t>
            </a:r>
            <a:endParaRPr lang="en-US" sz="3400" dirty="0"/>
          </a:p>
        </p:txBody>
      </p:sp>
      <p:sp>
        <p:nvSpPr>
          <p:cNvPr id="3" name="Text 1"/>
          <p:cNvSpPr txBox="1"/>
          <p:nvPr/>
        </p:nvSpPr>
        <p:spPr>
          <a:xfrm>
            <a:off x="640080" y="3520440"/>
            <a:ext cx="10908792" cy="457200"/>
          </a:xfrm>
          <a:prstGeom prst="rect">
            <a:avLst/>
          </a:prstGeom>
          <a:noFill/>
          <a:ln/>
        </p:spPr>
        <p:txBody>
          <a:bodyPr wrap="square" lIns="0" tIns="0" rIns="0" bIns="0" rtlCol="0" anchor="ctr"/>
          <a:lstStyle/>
          <a:p>
            <a:pPr indent="0" marL="0">
              <a:buNone/>
            </a:pPr>
            <a:r>
              <a:rPr lang="en-US" sz="1700" dirty="0">
                <a:solidFill>
                  <a:srgbClr val="B8BCC4"/>
                </a:solidFill>
                <a:latin typeface="Arial" pitchFamily="34" charset="0"/>
                <a:ea typeface="Arial" pitchFamily="34" charset="-122"/>
                <a:cs typeface="Arial" pitchFamily="34" charset="-120"/>
              </a:rPr>
              <a:t>The project, the results, and the reserves. Turn here if he asks.</a:t>
            </a:r>
            <a:endParaRPr lang="en-US" sz="17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8A8F99"/>
          </a:solidFill>
          <a:ln/>
        </p:spPr>
      </p:sp>
      <p:sp>
        <p:nvSpPr>
          <p:cNvPr id="3" name="Text 1"/>
          <p:cNvSpPr txBox="1"/>
          <p:nvPr/>
        </p:nvSpPr>
        <p:spPr>
          <a:xfrm>
            <a:off x="640080" y="384048"/>
            <a:ext cx="10908792" cy="566928"/>
          </a:xfrm>
          <a:prstGeom prst="rect">
            <a:avLst/>
          </a:prstGeom>
          <a:noFill/>
          <a:ln/>
        </p:spPr>
        <p:txBody>
          <a:bodyPr wrap="square" lIns="0" tIns="0" rIns="0" bIns="0" rtlCol="0" anchor="t"/>
          <a:lstStyle/>
          <a:p>
            <a:pPr indent="0" marL="0">
              <a:buNone/>
            </a:pPr>
            <a:r>
              <a:rPr lang="en-US" sz="2700" b="1" dirty="0">
                <a:solidFill>
                  <a:srgbClr val="16181D"/>
                </a:solidFill>
                <a:latin typeface="Arial" pitchFamily="34" charset="0"/>
                <a:ea typeface="Arial" pitchFamily="34" charset="-122"/>
                <a:cs typeface="Arial" pitchFamily="34" charset="-120"/>
              </a:rPr>
              <a:t>The main fixes I found in my own draft</a:t>
            </a:r>
            <a:endParaRPr lang="en-US" sz="2700" dirty="0"/>
          </a:p>
        </p:txBody>
      </p:sp>
      <p:sp>
        <p:nvSpPr>
          <p:cNvPr id="4" name="Text 2"/>
          <p:cNvSpPr txBox="1"/>
          <p:nvPr/>
        </p:nvSpPr>
        <p:spPr>
          <a:xfrm>
            <a:off x="640080" y="969264"/>
            <a:ext cx="10908792" cy="347472"/>
          </a:xfrm>
          <a:prstGeom prst="rect">
            <a:avLst/>
          </a:prstGeom>
          <a:noFill/>
          <a:ln/>
        </p:spPr>
        <p:txBody>
          <a:bodyPr wrap="square" lIns="0" tIns="0" rIns="0" bIns="0" rtlCol="0" anchor="t"/>
          <a:lstStyle/>
          <a:p>
            <a:pPr indent="0" marL="0">
              <a:buNone/>
            </a:pPr>
            <a:r>
              <a:rPr lang="en-US" sz="1400" dirty="0">
                <a:solidFill>
                  <a:srgbClr val="6B7280"/>
                </a:solidFill>
                <a:latin typeface="Arial" pitchFamily="34" charset="0"/>
                <a:ea typeface="Arial" pitchFamily="34" charset="-122"/>
                <a:cs typeface="Arial" pitchFamily="34" charset="-120"/>
              </a:rPr>
              <a:t>About 45 items total. These five change the science — the rest are numbers and wording.</a:t>
            </a:r>
            <a:endParaRPr lang="en-US" sz="1400" dirty="0"/>
          </a:p>
        </p:txBody>
      </p:sp>
      <p:sp>
        <p:nvSpPr>
          <p:cNvPr id="5" name="Shape 3"/>
          <p:cNvSpPr/>
          <p:nvPr/>
        </p:nvSpPr>
        <p:spPr>
          <a:xfrm>
            <a:off x="640080" y="1481328"/>
            <a:ext cx="384048" cy="384048"/>
          </a:xfrm>
          <a:prstGeom prst="ellipse">
            <a:avLst/>
          </a:prstGeom>
          <a:solidFill>
            <a:srgbClr val="12345C"/>
          </a:solidFill>
          <a:ln/>
        </p:spPr>
      </p:sp>
      <p:sp>
        <p:nvSpPr>
          <p:cNvPr id="6" name="Text 4"/>
          <p:cNvSpPr txBox="1"/>
          <p:nvPr/>
        </p:nvSpPr>
        <p:spPr>
          <a:xfrm>
            <a:off x="640080" y="1481328"/>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1</a:t>
            </a:r>
            <a:endParaRPr lang="en-US" sz="1300" dirty="0"/>
          </a:p>
        </p:txBody>
      </p:sp>
      <p:sp>
        <p:nvSpPr>
          <p:cNvPr id="7" name="Text 5"/>
          <p:cNvSpPr txBox="1"/>
          <p:nvPr/>
        </p:nvSpPr>
        <p:spPr>
          <a:xfrm>
            <a:off x="1207008" y="1463040"/>
            <a:ext cx="10341864" cy="292608"/>
          </a:xfrm>
          <a:prstGeom prst="rect">
            <a:avLst/>
          </a:prstGeom>
          <a:noFill/>
          <a:ln/>
        </p:spPr>
        <p:txBody>
          <a:bodyPr wrap="square" lIns="0" tIns="0" rIns="0" bIns="0" rtlCol="0" anchor="ctr"/>
          <a:lstStyle/>
          <a:p>
            <a:pPr indent="0" marL="0">
              <a:buNone/>
            </a:pPr>
            <a:r>
              <a:rPr lang="en-US" sz="1500" b="1" dirty="0">
                <a:solidFill>
                  <a:srgbClr val="16181D"/>
                </a:solidFill>
                <a:latin typeface="Arial" pitchFamily="34" charset="0"/>
                <a:ea typeface="Arial" pitchFamily="34" charset="-122"/>
                <a:cs typeface="Arial" pitchFamily="34" charset="-120"/>
              </a:rPr>
              <a:t>Section 6 describes the wrong formula</a:t>
            </a:r>
            <a:endParaRPr lang="en-US" sz="1500" dirty="0"/>
          </a:p>
        </p:txBody>
      </p:sp>
      <p:sp>
        <p:nvSpPr>
          <p:cNvPr id="8" name="Text 6"/>
          <p:cNvSpPr txBox="1"/>
          <p:nvPr/>
        </p:nvSpPr>
        <p:spPr>
          <a:xfrm>
            <a:off x="1207008" y="1773936"/>
            <a:ext cx="10341864" cy="457200"/>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The paper says neighbour strength is a plain fraction — 71 of 100 → 0.71. The code weights each neighbour by similarity, smooths, then converts to a likelihood ratio.</a:t>
            </a:r>
            <a:endParaRPr lang="en-US" sz="1200" dirty="0"/>
          </a:p>
        </p:txBody>
      </p:sp>
      <p:sp>
        <p:nvSpPr>
          <p:cNvPr id="9" name="Shape 7"/>
          <p:cNvSpPr/>
          <p:nvPr/>
        </p:nvSpPr>
        <p:spPr>
          <a:xfrm>
            <a:off x="640080" y="2340864"/>
            <a:ext cx="384048" cy="384048"/>
          </a:xfrm>
          <a:prstGeom prst="ellipse">
            <a:avLst/>
          </a:prstGeom>
          <a:solidFill>
            <a:srgbClr val="12345C"/>
          </a:solidFill>
          <a:ln/>
        </p:spPr>
      </p:sp>
      <p:sp>
        <p:nvSpPr>
          <p:cNvPr id="10" name="Text 8"/>
          <p:cNvSpPr txBox="1"/>
          <p:nvPr/>
        </p:nvSpPr>
        <p:spPr>
          <a:xfrm>
            <a:off x="640080" y="2340864"/>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2</a:t>
            </a:r>
            <a:endParaRPr lang="en-US" sz="1300" dirty="0"/>
          </a:p>
        </p:txBody>
      </p:sp>
      <p:sp>
        <p:nvSpPr>
          <p:cNvPr id="11" name="Text 9"/>
          <p:cNvSpPr txBox="1"/>
          <p:nvPr/>
        </p:nvSpPr>
        <p:spPr>
          <a:xfrm>
            <a:off x="1207008" y="2322576"/>
            <a:ext cx="10341864" cy="292608"/>
          </a:xfrm>
          <a:prstGeom prst="rect">
            <a:avLst/>
          </a:prstGeom>
          <a:noFill/>
          <a:ln/>
        </p:spPr>
        <p:txBody>
          <a:bodyPr wrap="square" lIns="0" tIns="0" rIns="0" bIns="0" rtlCol="0" anchor="ctr"/>
          <a:lstStyle/>
          <a:p>
            <a:pPr indent="0" marL="0">
              <a:buNone/>
            </a:pPr>
            <a:r>
              <a:rPr lang="en-US" sz="1500" b="1" dirty="0">
                <a:solidFill>
                  <a:srgbClr val="16181D"/>
                </a:solidFill>
                <a:latin typeface="Arial" pitchFamily="34" charset="0"/>
                <a:ea typeface="Arial" pitchFamily="34" charset="-122"/>
                <a:cs typeface="Arial" pitchFamily="34" charset="-120"/>
              </a:rPr>
              <a:t>The search step isn't described anywhere</a:t>
            </a:r>
            <a:endParaRPr lang="en-US" sz="1500" dirty="0"/>
          </a:p>
        </p:txBody>
      </p:sp>
      <p:sp>
        <p:nvSpPr>
          <p:cNvPr id="12" name="Text 10"/>
          <p:cNvSpPr txBox="1"/>
          <p:nvPr/>
        </p:nvSpPr>
        <p:spPr>
          <a:xfrm>
            <a:off x="1207008" y="2633472"/>
            <a:ext cx="10341864" cy="457200"/>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Encoder, similarity metric and text truncation appear nowhere. Nobody can rebuild the method from what is written.</a:t>
            </a:r>
            <a:endParaRPr lang="en-US" sz="1200" dirty="0"/>
          </a:p>
        </p:txBody>
      </p:sp>
      <p:sp>
        <p:nvSpPr>
          <p:cNvPr id="13" name="Shape 11"/>
          <p:cNvSpPr/>
          <p:nvPr/>
        </p:nvSpPr>
        <p:spPr>
          <a:xfrm>
            <a:off x="640080" y="3200400"/>
            <a:ext cx="384048" cy="384048"/>
          </a:xfrm>
          <a:prstGeom prst="ellipse">
            <a:avLst/>
          </a:prstGeom>
          <a:solidFill>
            <a:srgbClr val="12345C"/>
          </a:solidFill>
          <a:ln/>
        </p:spPr>
      </p:sp>
      <p:sp>
        <p:nvSpPr>
          <p:cNvPr id="14" name="Text 12"/>
          <p:cNvSpPr txBox="1"/>
          <p:nvPr/>
        </p:nvSpPr>
        <p:spPr>
          <a:xfrm>
            <a:off x="640080" y="320040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3</a:t>
            </a:r>
            <a:endParaRPr lang="en-US" sz="1300" dirty="0"/>
          </a:p>
        </p:txBody>
      </p:sp>
      <p:sp>
        <p:nvSpPr>
          <p:cNvPr id="15" name="Text 13"/>
          <p:cNvSpPr txBox="1"/>
          <p:nvPr/>
        </p:nvSpPr>
        <p:spPr>
          <a:xfrm>
            <a:off x="1207008" y="3182112"/>
            <a:ext cx="10341864" cy="292608"/>
          </a:xfrm>
          <a:prstGeom prst="rect">
            <a:avLst/>
          </a:prstGeom>
          <a:noFill/>
          <a:ln/>
        </p:spPr>
        <p:txBody>
          <a:bodyPr wrap="square" lIns="0" tIns="0" rIns="0" bIns="0" rtlCol="0" anchor="ctr"/>
          <a:lstStyle/>
          <a:p>
            <a:pPr indent="0" marL="0">
              <a:buNone/>
            </a:pPr>
            <a:r>
              <a:rPr lang="en-US" sz="1500" b="1" dirty="0">
                <a:solidFill>
                  <a:srgbClr val="16181D"/>
                </a:solidFill>
                <a:latin typeface="Arial" pitchFamily="34" charset="0"/>
                <a:ea typeface="Arial" pitchFamily="34" charset="-122"/>
                <a:cs typeface="Arial" pitchFamily="34" charset="-120"/>
              </a:rPr>
              <a:t>The paper blames the differences on something that doesn't exist</a:t>
            </a:r>
            <a:endParaRPr lang="en-US" sz="1500" dirty="0"/>
          </a:p>
        </p:txBody>
      </p:sp>
      <p:sp>
        <p:nvSpPr>
          <p:cNvPr id="16" name="Text 14"/>
          <p:cNvSpPr txBox="1"/>
          <p:nvPr/>
        </p:nvSpPr>
        <p:spPr>
          <a:xfrm>
            <a:off x="1207008" y="3493008"/>
            <a:ext cx="10341864" cy="457200"/>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§10.1 says ties break at random. Selection is deterministic — which is why there is no random seed anywhere.</a:t>
            </a:r>
            <a:endParaRPr lang="en-US" sz="1200" dirty="0"/>
          </a:p>
        </p:txBody>
      </p:sp>
      <p:sp>
        <p:nvSpPr>
          <p:cNvPr id="17" name="Shape 15"/>
          <p:cNvSpPr/>
          <p:nvPr/>
        </p:nvSpPr>
        <p:spPr>
          <a:xfrm>
            <a:off x="640080" y="4059936"/>
            <a:ext cx="384048" cy="384048"/>
          </a:xfrm>
          <a:prstGeom prst="ellipse">
            <a:avLst/>
          </a:prstGeom>
          <a:solidFill>
            <a:srgbClr val="12345C"/>
          </a:solidFill>
          <a:ln/>
        </p:spPr>
      </p:sp>
      <p:sp>
        <p:nvSpPr>
          <p:cNvPr id="18" name="Text 16"/>
          <p:cNvSpPr txBox="1"/>
          <p:nvPr/>
        </p:nvSpPr>
        <p:spPr>
          <a:xfrm>
            <a:off x="640080" y="4059936"/>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4</a:t>
            </a:r>
            <a:endParaRPr lang="en-US" sz="1300" dirty="0"/>
          </a:p>
        </p:txBody>
      </p:sp>
      <p:sp>
        <p:nvSpPr>
          <p:cNvPr id="19" name="Text 17"/>
          <p:cNvSpPr txBox="1"/>
          <p:nvPr/>
        </p:nvSpPr>
        <p:spPr>
          <a:xfrm>
            <a:off x="1207008" y="4041648"/>
            <a:ext cx="10341864" cy="292608"/>
          </a:xfrm>
          <a:prstGeom prst="rect">
            <a:avLst/>
          </a:prstGeom>
          <a:noFill/>
          <a:ln/>
        </p:spPr>
        <p:txBody>
          <a:bodyPr wrap="square" lIns="0" tIns="0" rIns="0" bIns="0" rtlCol="0" anchor="ctr"/>
          <a:lstStyle/>
          <a:p>
            <a:pPr indent="0" marL="0">
              <a:buNone/>
            </a:pPr>
            <a:r>
              <a:rPr lang="en-US" sz="1500" b="1" dirty="0">
                <a:solidFill>
                  <a:srgbClr val="16181D"/>
                </a:solidFill>
                <a:latin typeface="Arial" pitchFamily="34" charset="0"/>
                <a:ea typeface="Arial" pitchFamily="34" charset="-122"/>
                <a:cs typeface="Arial" pitchFamily="34" charset="-120"/>
              </a:rPr>
              <a:t>One claim I still need to verify</a:t>
            </a:r>
            <a:endParaRPr lang="en-US" sz="1500" dirty="0"/>
          </a:p>
        </p:txBody>
      </p:sp>
      <p:sp>
        <p:nvSpPr>
          <p:cNvPr id="20" name="Text 18"/>
          <p:cNvSpPr txBox="1"/>
          <p:nvPr/>
        </p:nvSpPr>
        <p:spPr>
          <a:xfrm>
            <a:off x="1207008" y="4352544"/>
            <a:ext cx="10341864" cy="457200"/>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Table 5 says k = 100 was fixed before test scoring. The repo also holds k = 25 and k = 99 runs. Confirming the order — open item.</a:t>
            </a:r>
            <a:endParaRPr lang="en-US" sz="1200" dirty="0"/>
          </a:p>
        </p:txBody>
      </p:sp>
      <p:sp>
        <p:nvSpPr>
          <p:cNvPr id="21" name="Shape 19"/>
          <p:cNvSpPr/>
          <p:nvPr/>
        </p:nvSpPr>
        <p:spPr>
          <a:xfrm>
            <a:off x="640080" y="4919472"/>
            <a:ext cx="384048" cy="384048"/>
          </a:xfrm>
          <a:prstGeom prst="ellipse">
            <a:avLst/>
          </a:prstGeom>
          <a:solidFill>
            <a:srgbClr val="12345C"/>
          </a:solidFill>
          <a:ln/>
        </p:spPr>
      </p:sp>
      <p:sp>
        <p:nvSpPr>
          <p:cNvPr id="22" name="Text 20"/>
          <p:cNvSpPr txBox="1"/>
          <p:nvPr/>
        </p:nvSpPr>
        <p:spPr>
          <a:xfrm>
            <a:off x="640080" y="4919472"/>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latin typeface="Arial" pitchFamily="34" charset="0"/>
                <a:ea typeface="Arial" pitchFamily="34" charset="-122"/>
                <a:cs typeface="Arial" pitchFamily="34" charset="-120"/>
              </a:rPr>
              <a:t>5</a:t>
            </a:r>
            <a:endParaRPr lang="en-US" sz="1300" dirty="0"/>
          </a:p>
        </p:txBody>
      </p:sp>
      <p:sp>
        <p:nvSpPr>
          <p:cNvPr id="23" name="Text 21"/>
          <p:cNvSpPr txBox="1"/>
          <p:nvPr/>
        </p:nvSpPr>
        <p:spPr>
          <a:xfrm>
            <a:off x="1207008" y="4901184"/>
            <a:ext cx="10341864" cy="292608"/>
          </a:xfrm>
          <a:prstGeom prst="rect">
            <a:avLst/>
          </a:prstGeom>
          <a:noFill/>
          <a:ln/>
        </p:spPr>
        <p:txBody>
          <a:bodyPr wrap="square" lIns="0" tIns="0" rIns="0" bIns="0" rtlCol="0" anchor="ctr"/>
          <a:lstStyle/>
          <a:p>
            <a:pPr indent="0" marL="0">
              <a:buNone/>
            </a:pPr>
            <a:r>
              <a:rPr lang="en-US" sz="1500" b="1" dirty="0">
                <a:solidFill>
                  <a:srgbClr val="16181D"/>
                </a:solidFill>
                <a:latin typeface="Arial" pitchFamily="34" charset="0"/>
                <a:ea typeface="Arial" pitchFamily="34" charset="-122"/>
                <a:cs typeface="Arial" pitchFamily="34" charset="-120"/>
              </a:rPr>
              <a:t>Two small errors</a:t>
            </a:r>
            <a:endParaRPr lang="en-US" sz="1500" dirty="0"/>
          </a:p>
        </p:txBody>
      </p:sp>
      <p:sp>
        <p:nvSpPr>
          <p:cNvPr id="24" name="Text 22"/>
          <p:cNvSpPr txBox="1"/>
          <p:nvPr/>
        </p:nvSpPr>
        <p:spPr>
          <a:xfrm>
            <a:off x="1207008" y="5212080"/>
            <a:ext cx="10341864" cy="457200"/>
          </a:xfrm>
          <a:prstGeom prst="rect">
            <a:avLst/>
          </a:prstGeom>
          <a:noFill/>
          <a:ln/>
        </p:spPr>
        <p:txBody>
          <a:bodyPr wrap="square" lIns="0" tIns="0" rIns="0" bIns="0" rtlCol="0" anchor="t"/>
          <a:lstStyle/>
          <a:p>
            <a:pPr indent="0" marL="0">
              <a:buNone/>
            </a:pPr>
            <a:r>
              <a:rPr lang="en-US" sz="1200" dirty="0">
                <a:solidFill>
                  <a:srgbClr val="6B7280"/>
                </a:solidFill>
                <a:latin typeface="Arial" pitchFamily="34" charset="0"/>
                <a:ea typeface="Arial" pitchFamily="34" charset="-122"/>
                <a:cs typeface="Arial" pitchFamily="34" charset="-120"/>
              </a:rPr>
              <a:t>82.4% should be 82.1%. And propagation updates the posteriors, not the CPTs — the tables stay fixed.</a:t>
            </a:r>
            <a:endParaRPr lang="en-US" sz="1200" dirty="0"/>
          </a:p>
        </p:txBody>
      </p:sp>
      <p:sp>
        <p:nvSpPr>
          <p:cNvPr id="25" name="Shape 23"/>
          <p:cNvSpPr/>
          <p:nvPr/>
        </p:nvSpPr>
        <p:spPr>
          <a:xfrm>
            <a:off x="640080" y="5760720"/>
            <a:ext cx="10908792" cy="530352"/>
          </a:xfrm>
          <a:prstGeom prst="roundRect">
            <a:avLst>
              <a:gd name="adj" fmla="val 8621"/>
            </a:avLst>
          </a:prstGeom>
          <a:solidFill>
            <a:srgbClr val="FDF0EE"/>
          </a:solidFill>
          <a:ln w="12700">
            <a:solidFill>
              <a:srgbClr val="FDF0EE"/>
            </a:solidFill>
            <a:prstDash val="solid"/>
          </a:ln>
        </p:spPr>
      </p:sp>
      <p:sp>
        <p:nvSpPr>
          <p:cNvPr id="26" name="Text 24"/>
          <p:cNvSpPr txBox="1"/>
          <p:nvPr/>
        </p:nvSpPr>
        <p:spPr>
          <a:xfrm>
            <a:off x="841248" y="5897880"/>
            <a:ext cx="10506456" cy="347472"/>
          </a:xfrm>
          <a:prstGeom prst="rect">
            <a:avLst/>
          </a:prstGeom>
          <a:noFill/>
          <a:ln/>
        </p:spPr>
        <p:txBody>
          <a:bodyPr wrap="square" lIns="0" tIns="0" rIns="0" bIns="0" rtlCol="0" anchor="t"/>
          <a:lstStyle/>
          <a:p>
            <a:pPr indent="0" marL="0">
              <a:buNone/>
            </a:pPr>
            <a:r>
              <a:rPr lang="en-US" sz="1200" b="1" dirty="0">
                <a:solidFill>
                  <a:srgbClr val="B23A2C"/>
                </a:solidFill>
                <a:latin typeface="Arial" pitchFamily="34" charset="0"/>
                <a:ea typeface="Arial" pitchFamily="34" charset="-122"/>
                <a:cs typeface="Arial" pitchFamily="34" charset="-120"/>
              </a:rPr>
              <a:t>Say out loud: on injury the method never predicts fatal or minor — it's really a two-class predictor.</a:t>
            </a:r>
            <a:endParaRPr lang="en-US" sz="1200" dirty="0"/>
          </a:p>
        </p:txBody>
      </p:sp>
      <p:sp>
        <p:nvSpPr>
          <p:cNvPr id="27" name="Text 25"/>
          <p:cNvSpPr txBox="1"/>
          <p:nvPr/>
        </p:nvSpPr>
        <p:spPr>
          <a:xfrm>
            <a:off x="11155680" y="6355080"/>
            <a:ext cx="822960" cy="274320"/>
          </a:xfrm>
          <a:prstGeom prst="rect">
            <a:avLst/>
          </a:prstGeom>
          <a:noFill/>
          <a:ln/>
        </p:spPr>
        <p:txBody>
          <a:bodyPr wrap="square" lIns="0" tIns="0" rIns="0" bIns="0" rtlCol="0" anchor="ctr"/>
          <a:lstStyle/>
          <a:p>
            <a:pPr algn="r" indent="0" marL="0">
              <a:buNone/>
            </a:pPr>
            <a:r>
              <a:rPr lang="en-US" sz="1100" dirty="0">
                <a:solidFill>
                  <a:srgbClr val="B8BCC4"/>
                </a:solidFill>
                <a:latin typeface="Arial" pitchFamily="34" charset="0"/>
                <a:ea typeface="Arial" pitchFamily="34" charset="-122"/>
                <a:cs typeface="Arial" pitchFamily="34" charset="-120"/>
              </a:rPr>
              <a:t>appendix</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8A8F99"/>
          </a:solidFill>
          <a:ln/>
        </p:spPr>
      </p:sp>
      <p:sp>
        <p:nvSpPr>
          <p:cNvPr id="3" name="Text 1"/>
          <p:cNvSpPr txBox="1"/>
          <p:nvPr/>
        </p:nvSpPr>
        <p:spPr>
          <a:xfrm>
            <a:off x="640080" y="457200"/>
            <a:ext cx="10908792" cy="1371600"/>
          </a:xfrm>
          <a:prstGeom prst="rect">
            <a:avLst/>
          </a:prstGeom>
          <a:noFill/>
          <a:ln/>
        </p:spPr>
        <p:txBody>
          <a:bodyPr wrap="square" lIns="0" tIns="0" rIns="0" bIns="0" rtlCol="0" anchor="t"/>
          <a:lstStyle/>
          <a:p>
            <a:pPr indent="0" marL="0">
              <a:buNone/>
            </a:pPr>
            <a:r>
              <a:rPr lang="en-US" sz="3000" b="1" dirty="0">
                <a:solidFill>
                  <a:srgbClr val="16181D"/>
                </a:solidFill>
                <a:latin typeface="Arial" pitchFamily="34" charset="0"/>
                <a:ea typeface="Arial" pitchFamily="34" charset="-122"/>
                <a:cs typeface="Arial" pitchFamily="34" charset="-120"/>
              </a:rPr>
              <a:t>Can accident narratives supply evidence</a:t>
            </a:r>
            <a:endParaRPr lang="en-US" sz="3000" dirty="0"/>
          </a:p>
          <a:p>
            <a:pPr indent="0" marL="0">
              <a:buNone/>
            </a:pPr>
            <a:r>
              <a:rPr lang="en-US" sz="3000" b="1" dirty="0">
                <a:solidFill>
                  <a:srgbClr val="16181D"/>
                </a:solidFill>
                <a:latin typeface="Arial" pitchFamily="34" charset="0"/>
                <a:ea typeface="Arial" pitchFamily="34" charset="-122"/>
                <a:cs typeface="Arial" pitchFamily="34" charset="-120"/>
              </a:rPr>
              <a:t>to a Bayesian network built from codes?</a:t>
            </a:r>
            <a:endParaRPr lang="en-US" sz="3000" dirty="0"/>
          </a:p>
        </p:txBody>
      </p:sp>
      <p:sp>
        <p:nvSpPr>
          <p:cNvPr id="4" name="Text 2"/>
          <p:cNvSpPr txBox="1"/>
          <p:nvPr/>
        </p:nvSpPr>
        <p:spPr>
          <a:xfrm>
            <a:off x="640080" y="1920240"/>
            <a:ext cx="10908792" cy="32004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Kanu Shetkar  ·  Jesse Spencer-Smith  ·  Sankaran Mahadevan  ·  8 September 2026</a:t>
            </a:r>
            <a:endParaRPr lang="en-US" sz="1300" dirty="0"/>
          </a:p>
        </p:txBody>
      </p:sp>
      <p:sp>
        <p:nvSpPr>
          <p:cNvPr id="5" name="Shape 3"/>
          <p:cNvSpPr/>
          <p:nvPr/>
        </p:nvSpPr>
        <p:spPr>
          <a:xfrm>
            <a:off x="640080" y="2651760"/>
            <a:ext cx="2535174" cy="1737360"/>
          </a:xfrm>
          <a:prstGeom prst="roundRect">
            <a:avLst>
              <a:gd name="adj" fmla="val 3158"/>
            </a:avLst>
          </a:prstGeom>
          <a:solidFill>
            <a:srgbClr val="F4F6FA"/>
          </a:solidFill>
          <a:ln w="12700">
            <a:solidFill>
              <a:srgbClr val="F4F6FA"/>
            </a:solidFill>
            <a:prstDash val="solid"/>
          </a:ln>
        </p:spPr>
      </p:sp>
      <p:sp>
        <p:nvSpPr>
          <p:cNvPr id="6" name="Text 4"/>
          <p:cNvSpPr txBox="1"/>
          <p:nvPr/>
        </p:nvSpPr>
        <p:spPr>
          <a:xfrm>
            <a:off x="640080" y="2880360"/>
            <a:ext cx="2535174" cy="640080"/>
          </a:xfrm>
          <a:prstGeom prst="rect">
            <a:avLst/>
          </a:prstGeom>
          <a:noFill/>
          <a:ln/>
        </p:spPr>
        <p:txBody>
          <a:bodyPr wrap="square" lIns="0" tIns="0" rIns="0" bIns="0" rtlCol="0" anchor="ctr"/>
          <a:lstStyle/>
          <a:p>
            <a:pPr algn="ctr" indent="0" marL="0">
              <a:buNone/>
            </a:pPr>
            <a:r>
              <a:rPr lang="en-US" sz="3200" b="1" dirty="0">
                <a:solidFill>
                  <a:srgbClr val="12345C"/>
                </a:solidFill>
                <a:latin typeface="Arial" pitchFamily="34" charset="0"/>
                <a:ea typeface="Arial" pitchFamily="34" charset="-122"/>
                <a:cs typeface="Arial" pitchFamily="34" charset="-120"/>
              </a:rPr>
              <a:t>85/85</a:t>
            </a:r>
            <a:endParaRPr lang="en-US" sz="3200" dirty="0"/>
          </a:p>
        </p:txBody>
      </p:sp>
      <p:sp>
        <p:nvSpPr>
          <p:cNvPr id="7" name="Text 5"/>
          <p:cNvSpPr txBox="1"/>
          <p:nvPr/>
        </p:nvSpPr>
        <p:spPr>
          <a:xfrm>
            <a:off x="822960" y="3566160"/>
            <a:ext cx="2169414" cy="685800"/>
          </a:xfrm>
          <a:prstGeom prst="rect">
            <a:avLst/>
          </a:prstGeom>
          <a:noFill/>
          <a:ln/>
        </p:spPr>
        <p:txBody>
          <a:bodyPr wrap="square" lIns="0" tIns="0" rIns="0" bIns="0" rtlCol="0" anchor="t"/>
          <a:lstStyle/>
          <a:p>
            <a:pPr algn="ctr" indent="0" marL="0">
              <a:buNone/>
            </a:pPr>
            <a:r>
              <a:rPr lang="en-US" sz="1150" dirty="0">
                <a:solidFill>
                  <a:srgbClr val="5B6270"/>
                </a:solidFill>
                <a:latin typeface="Arial" pitchFamily="34" charset="0"/>
                <a:ea typeface="Arial" pitchFamily="34" charset="-122"/>
                <a:cs typeface="Arial" pitchFamily="34" charset="-120"/>
              </a:rPr>
              <a:t>Table 7 reproduced exactly</a:t>
            </a:r>
            <a:endParaRPr lang="en-US" sz="1150" dirty="0"/>
          </a:p>
        </p:txBody>
      </p:sp>
      <p:sp>
        <p:nvSpPr>
          <p:cNvPr id="8" name="Shape 6"/>
          <p:cNvSpPr/>
          <p:nvPr/>
        </p:nvSpPr>
        <p:spPr>
          <a:xfrm>
            <a:off x="3431286" y="2651760"/>
            <a:ext cx="2535174" cy="1737360"/>
          </a:xfrm>
          <a:prstGeom prst="roundRect">
            <a:avLst>
              <a:gd name="adj" fmla="val 3158"/>
            </a:avLst>
          </a:prstGeom>
          <a:solidFill>
            <a:srgbClr val="F4F6FA"/>
          </a:solidFill>
          <a:ln w="12700">
            <a:solidFill>
              <a:srgbClr val="F4F6FA"/>
            </a:solidFill>
            <a:prstDash val="solid"/>
          </a:ln>
        </p:spPr>
      </p:sp>
      <p:sp>
        <p:nvSpPr>
          <p:cNvPr id="9" name="Text 7"/>
          <p:cNvSpPr txBox="1"/>
          <p:nvPr/>
        </p:nvSpPr>
        <p:spPr>
          <a:xfrm>
            <a:off x="3431286" y="2880360"/>
            <a:ext cx="2535174" cy="640080"/>
          </a:xfrm>
          <a:prstGeom prst="rect">
            <a:avLst/>
          </a:prstGeom>
          <a:noFill/>
          <a:ln/>
        </p:spPr>
        <p:txBody>
          <a:bodyPr wrap="square" lIns="0" tIns="0" rIns="0" bIns="0" rtlCol="0" anchor="ctr"/>
          <a:lstStyle/>
          <a:p>
            <a:pPr algn="ctr" indent="0" marL="0">
              <a:buNone/>
            </a:pPr>
            <a:r>
              <a:rPr lang="en-US" sz="3200" b="1" dirty="0">
                <a:solidFill>
                  <a:srgbClr val="12345C"/>
                </a:solidFill>
                <a:latin typeface="Arial" pitchFamily="34" charset="0"/>
                <a:ea typeface="Arial" pitchFamily="34" charset="-122"/>
                <a:cs typeface="Arial" pitchFamily="34" charset="-120"/>
              </a:rPr>
              <a:t>90.9%</a:t>
            </a:r>
            <a:endParaRPr lang="en-US" sz="3200" dirty="0"/>
          </a:p>
        </p:txBody>
      </p:sp>
      <p:sp>
        <p:nvSpPr>
          <p:cNvPr id="10" name="Text 8"/>
          <p:cNvSpPr txBox="1"/>
          <p:nvPr/>
        </p:nvSpPr>
        <p:spPr>
          <a:xfrm>
            <a:off x="3614166" y="3566160"/>
            <a:ext cx="2169414" cy="685800"/>
          </a:xfrm>
          <a:prstGeom prst="rect">
            <a:avLst/>
          </a:prstGeom>
          <a:noFill/>
          <a:ln/>
        </p:spPr>
        <p:txBody>
          <a:bodyPr wrap="square" lIns="0" tIns="0" rIns="0" bIns="0" rtlCol="0" anchor="t"/>
          <a:lstStyle/>
          <a:p>
            <a:pPr algn="ctr" indent="0" marL="0">
              <a:buNone/>
            </a:pPr>
            <a:r>
              <a:rPr lang="en-US" sz="1150" dirty="0">
                <a:solidFill>
                  <a:srgbClr val="5B6270"/>
                </a:solidFill>
                <a:latin typeface="Arial" pitchFamily="34" charset="0"/>
                <a:ea typeface="Arial" pitchFamily="34" charset="-122"/>
                <a:cs typeface="Arial" pitchFamily="34" charset="-120"/>
              </a:rPr>
              <a:t>injury, 296 unseen accidents</a:t>
            </a:r>
            <a:endParaRPr lang="en-US" sz="1150" dirty="0"/>
          </a:p>
        </p:txBody>
      </p:sp>
      <p:sp>
        <p:nvSpPr>
          <p:cNvPr id="11" name="Shape 9"/>
          <p:cNvSpPr/>
          <p:nvPr/>
        </p:nvSpPr>
        <p:spPr>
          <a:xfrm>
            <a:off x="6222492" y="2651760"/>
            <a:ext cx="2535174" cy="1737360"/>
          </a:xfrm>
          <a:prstGeom prst="roundRect">
            <a:avLst>
              <a:gd name="adj" fmla="val 3158"/>
            </a:avLst>
          </a:prstGeom>
          <a:solidFill>
            <a:srgbClr val="F4F6FA"/>
          </a:solidFill>
          <a:ln w="12700">
            <a:solidFill>
              <a:srgbClr val="F4F6FA"/>
            </a:solidFill>
            <a:prstDash val="solid"/>
          </a:ln>
        </p:spPr>
      </p:sp>
      <p:sp>
        <p:nvSpPr>
          <p:cNvPr id="12" name="Text 10"/>
          <p:cNvSpPr txBox="1"/>
          <p:nvPr/>
        </p:nvSpPr>
        <p:spPr>
          <a:xfrm>
            <a:off x="6222492" y="2880360"/>
            <a:ext cx="2535174" cy="640080"/>
          </a:xfrm>
          <a:prstGeom prst="rect">
            <a:avLst/>
          </a:prstGeom>
          <a:noFill/>
          <a:ln/>
        </p:spPr>
        <p:txBody>
          <a:bodyPr wrap="square" lIns="0" tIns="0" rIns="0" bIns="0" rtlCol="0" anchor="ctr"/>
          <a:lstStyle/>
          <a:p>
            <a:pPr algn="ctr" indent="0" marL="0">
              <a:buNone/>
            </a:pPr>
            <a:r>
              <a:rPr lang="en-US" sz="3200" b="1" dirty="0">
                <a:solidFill>
                  <a:srgbClr val="12345C"/>
                </a:solidFill>
                <a:latin typeface="Arial" pitchFamily="34" charset="0"/>
                <a:ea typeface="Arial" pitchFamily="34" charset="-122"/>
                <a:cs typeface="Arial" pitchFamily="34" charset="-120"/>
              </a:rPr>
              <a:t>77.4%</a:t>
            </a:r>
            <a:endParaRPr lang="en-US" sz="3200" dirty="0"/>
          </a:p>
        </p:txBody>
      </p:sp>
      <p:sp>
        <p:nvSpPr>
          <p:cNvPr id="13" name="Text 11"/>
          <p:cNvSpPr txBox="1"/>
          <p:nvPr/>
        </p:nvSpPr>
        <p:spPr>
          <a:xfrm>
            <a:off x="6405372" y="3566160"/>
            <a:ext cx="2169414" cy="685800"/>
          </a:xfrm>
          <a:prstGeom prst="rect">
            <a:avLst/>
          </a:prstGeom>
          <a:noFill/>
          <a:ln/>
        </p:spPr>
        <p:txBody>
          <a:bodyPr wrap="square" lIns="0" tIns="0" rIns="0" bIns="0" rtlCol="0" anchor="t"/>
          <a:lstStyle/>
          <a:p>
            <a:pPr algn="ctr" indent="0" marL="0">
              <a:buNone/>
            </a:pPr>
            <a:r>
              <a:rPr lang="en-US" sz="1150" dirty="0">
                <a:solidFill>
                  <a:srgbClr val="5B6270"/>
                </a:solidFill>
                <a:latin typeface="Arial" pitchFamily="34" charset="0"/>
                <a:ea typeface="Arial" pitchFamily="34" charset="-122"/>
                <a:cs typeface="Arial" pitchFamily="34" charset="-120"/>
              </a:rPr>
              <a:t>damage, same accidents</a:t>
            </a:r>
            <a:endParaRPr lang="en-US" sz="1150" dirty="0"/>
          </a:p>
        </p:txBody>
      </p:sp>
      <p:sp>
        <p:nvSpPr>
          <p:cNvPr id="14" name="Shape 12"/>
          <p:cNvSpPr/>
          <p:nvPr/>
        </p:nvSpPr>
        <p:spPr>
          <a:xfrm>
            <a:off x="9013698" y="2651760"/>
            <a:ext cx="2535174" cy="1737360"/>
          </a:xfrm>
          <a:prstGeom prst="roundRect">
            <a:avLst>
              <a:gd name="adj" fmla="val 3158"/>
            </a:avLst>
          </a:prstGeom>
          <a:solidFill>
            <a:srgbClr val="F4F6FA"/>
          </a:solidFill>
          <a:ln w="12700">
            <a:solidFill>
              <a:srgbClr val="F4F6FA"/>
            </a:solidFill>
            <a:prstDash val="solid"/>
          </a:ln>
        </p:spPr>
      </p:sp>
      <p:sp>
        <p:nvSpPr>
          <p:cNvPr id="15" name="Text 13"/>
          <p:cNvSpPr txBox="1"/>
          <p:nvPr/>
        </p:nvSpPr>
        <p:spPr>
          <a:xfrm>
            <a:off x="9013698" y="2880360"/>
            <a:ext cx="2535174" cy="640080"/>
          </a:xfrm>
          <a:prstGeom prst="rect">
            <a:avLst/>
          </a:prstGeom>
          <a:noFill/>
          <a:ln/>
        </p:spPr>
        <p:txBody>
          <a:bodyPr wrap="square" lIns="0" tIns="0" rIns="0" bIns="0" rtlCol="0" anchor="ctr"/>
          <a:lstStyle/>
          <a:p>
            <a:pPr algn="ctr" indent="0" marL="0">
              <a:buNone/>
            </a:pPr>
            <a:r>
              <a:rPr lang="en-US" sz="3200" b="1" dirty="0">
                <a:solidFill>
                  <a:srgbClr val="12345C"/>
                </a:solidFill>
                <a:latin typeface="Arial" pitchFamily="34" charset="0"/>
                <a:ea typeface="Arial" pitchFamily="34" charset="-122"/>
                <a:cs typeface="Arial" pitchFamily="34" charset="-120"/>
              </a:rPr>
              <a:t>84.2%</a:t>
            </a:r>
            <a:endParaRPr lang="en-US" sz="3200" dirty="0"/>
          </a:p>
        </p:txBody>
      </p:sp>
      <p:sp>
        <p:nvSpPr>
          <p:cNvPr id="16" name="Text 14"/>
          <p:cNvSpPr txBox="1"/>
          <p:nvPr/>
        </p:nvSpPr>
        <p:spPr>
          <a:xfrm>
            <a:off x="9196578" y="3566160"/>
            <a:ext cx="2169414" cy="685800"/>
          </a:xfrm>
          <a:prstGeom prst="rect">
            <a:avLst/>
          </a:prstGeom>
          <a:noFill/>
          <a:ln/>
        </p:spPr>
        <p:txBody>
          <a:bodyPr wrap="square" lIns="0" tIns="0" rIns="0" bIns="0" rtlCol="0" anchor="t"/>
          <a:lstStyle/>
          <a:p>
            <a:pPr algn="ctr" indent="0" marL="0">
              <a:buNone/>
            </a:pPr>
            <a:r>
              <a:rPr lang="en-US" sz="1150" dirty="0">
                <a:solidFill>
                  <a:srgbClr val="5B6270"/>
                </a:solidFill>
                <a:latin typeface="Arial" pitchFamily="34" charset="0"/>
                <a:ea typeface="Arial" pitchFamily="34" charset="-122"/>
                <a:cs typeface="Arial" pitchFamily="34" charset="-120"/>
              </a:rPr>
              <a:t>cause category, 253 accidents</a:t>
            </a:r>
            <a:endParaRPr lang="en-US" sz="1150" dirty="0"/>
          </a:p>
        </p:txBody>
      </p:sp>
      <p:sp>
        <p:nvSpPr>
          <p:cNvPr id="17" name="Text 15"/>
          <p:cNvSpPr txBox="1"/>
          <p:nvPr/>
        </p:nvSpPr>
        <p:spPr>
          <a:xfrm>
            <a:off x="640080" y="4572000"/>
            <a:ext cx="10908792" cy="320040"/>
          </a:xfrm>
          <a:prstGeom prst="rect">
            <a:avLst/>
          </a:prstGeom>
          <a:noFill/>
          <a:ln/>
        </p:spPr>
        <p:txBody>
          <a:bodyPr wrap="square" lIns="0" tIns="0" rIns="0" bIns="0" rtlCol="0" anchor="ctr"/>
          <a:lstStyle/>
          <a:p>
            <a:pPr indent="0" marL="0">
              <a:buNone/>
            </a:pPr>
            <a:r>
              <a:rPr lang="en-US" sz="1300" dirty="0">
                <a:solidFill>
                  <a:srgbClr val="6B7280"/>
                </a:solidFill>
                <a:latin typeface="Arial" pitchFamily="34" charset="0"/>
                <a:ea typeface="Arial" pitchFamily="34" charset="-122"/>
                <a:cs typeface="Arial" pitchFamily="34" charset="-120"/>
              </a:rPr>
              <a:t>Every number regenerated from source 7 September 2026.</a:t>
            </a:r>
            <a:endParaRPr lang="en-US" sz="1300" dirty="0"/>
          </a:p>
        </p:txBody>
      </p:sp>
      <p:sp>
        <p:nvSpPr>
          <p:cNvPr id="18" name="Text 16"/>
          <p:cNvSpPr txBox="1"/>
          <p:nvPr/>
        </p:nvSpPr>
        <p:spPr>
          <a:xfrm>
            <a:off x="11155680" y="6355080"/>
            <a:ext cx="822960" cy="274320"/>
          </a:xfrm>
          <a:prstGeom prst="rect">
            <a:avLst/>
          </a:prstGeom>
          <a:noFill/>
          <a:ln/>
        </p:spPr>
        <p:txBody>
          <a:bodyPr wrap="square" lIns="0" tIns="0" rIns="0" bIns="0" rtlCol="0" anchor="ctr"/>
          <a:lstStyle/>
          <a:p>
            <a:pPr algn="r" indent="0" marL="0">
              <a:buNone/>
            </a:pPr>
            <a:r>
              <a:rPr lang="en-US" sz="1100" dirty="0">
                <a:solidFill>
                  <a:srgbClr val="B8BCC4"/>
                </a:solidFill>
                <a:latin typeface="Arial" pitchFamily="34" charset="0"/>
                <a:ea typeface="Arial" pitchFamily="34" charset="-122"/>
                <a:cs typeface="Arial" pitchFamily="34" charset="-120"/>
              </a:rPr>
              <a:t>appendix</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8A8F99"/>
          </a:solidFill>
          <a:ln/>
        </p:spPr>
      </p:sp>
      <p:sp>
        <p:nvSpPr>
          <p:cNvPr id="3" name="Text 1"/>
          <p:cNvSpPr txBox="1"/>
          <p:nvPr/>
        </p:nvSpPr>
        <p:spPr>
          <a:xfrm>
            <a:off x="640080" y="384048"/>
            <a:ext cx="10908792" cy="566928"/>
          </a:xfrm>
          <a:prstGeom prst="rect">
            <a:avLst/>
          </a:prstGeom>
          <a:noFill/>
          <a:ln/>
        </p:spPr>
        <p:txBody>
          <a:bodyPr wrap="square" lIns="0" tIns="0" rIns="0" bIns="0" rtlCol="0" anchor="t"/>
          <a:lstStyle/>
          <a:p>
            <a:pPr indent="0" marL="0">
              <a:buNone/>
            </a:pPr>
            <a:r>
              <a:rPr lang="en-US" sz="2700" b="1" dirty="0">
                <a:solidFill>
                  <a:srgbClr val="16181D"/>
                </a:solidFill>
                <a:latin typeface="Arial" pitchFamily="34" charset="0"/>
                <a:ea typeface="Arial" pitchFamily="34" charset="-122"/>
                <a:cs typeface="Arial" pitchFamily="34" charset="-120"/>
              </a:rPr>
              <a:t>How it runs, end to end</a:t>
            </a:r>
            <a:endParaRPr lang="en-US" sz="2700" dirty="0"/>
          </a:p>
        </p:txBody>
      </p:sp>
      <p:sp>
        <p:nvSpPr>
          <p:cNvPr id="4" name="Text 2"/>
          <p:cNvSpPr txBox="1"/>
          <p:nvPr/>
        </p:nvSpPr>
        <p:spPr>
          <a:xfrm>
            <a:off x="640080" y="969264"/>
            <a:ext cx="10908792" cy="347472"/>
          </a:xfrm>
          <a:prstGeom prst="rect">
            <a:avLst/>
          </a:prstGeom>
          <a:noFill/>
          <a:ln/>
        </p:spPr>
        <p:txBody>
          <a:bodyPr wrap="square" lIns="0" tIns="0" rIns="0" bIns="0" rtlCol="0" anchor="t"/>
          <a:lstStyle/>
          <a:p>
            <a:pPr indent="0" marL="0">
              <a:buNone/>
            </a:pPr>
            <a:r>
              <a:rPr lang="en-US" sz="1400" dirty="0">
                <a:solidFill>
                  <a:srgbClr val="6B7280"/>
                </a:solidFill>
                <a:latin typeface="Arial" pitchFamily="34" charset="0"/>
                <a:ea typeface="Arial" pitchFamily="34" charset="-122"/>
                <a:cs typeface="Arial" pitchFamily="34" charset="-120"/>
              </a:rPr>
              <a:t>Nine steps. Steps 1–3 happen once. Steps 4–9 run per accident.</a:t>
            </a:r>
            <a:endParaRPr lang="en-US" sz="1400" dirty="0"/>
          </a:p>
        </p:txBody>
      </p:sp>
      <p:sp>
        <p:nvSpPr>
          <p:cNvPr id="5" name="Shape 3"/>
          <p:cNvSpPr/>
          <p:nvPr/>
        </p:nvSpPr>
        <p:spPr>
          <a:xfrm>
            <a:off x="640080" y="1463040"/>
            <a:ext cx="3502152" cy="1097280"/>
          </a:xfrm>
          <a:prstGeom prst="roundRect">
            <a:avLst>
              <a:gd name="adj" fmla="val 4167"/>
            </a:avLst>
          </a:prstGeom>
          <a:solidFill>
            <a:srgbClr val="F4F6FA"/>
          </a:solidFill>
          <a:ln w="12700">
            <a:solidFill>
              <a:srgbClr val="F4F6FA"/>
            </a:solidFill>
            <a:prstDash val="solid"/>
          </a:ln>
        </p:spPr>
      </p:sp>
      <p:sp>
        <p:nvSpPr>
          <p:cNvPr id="6" name="Text 4"/>
          <p:cNvSpPr txBox="1"/>
          <p:nvPr/>
        </p:nvSpPr>
        <p:spPr>
          <a:xfrm>
            <a:off x="841248" y="1600200"/>
            <a:ext cx="3099816" cy="274320"/>
          </a:xfrm>
          <a:prstGeom prst="rect">
            <a:avLst/>
          </a:prstGeom>
          <a:noFill/>
          <a:ln/>
        </p:spPr>
        <p:txBody>
          <a:bodyPr wrap="square" lIns="0" tIns="0" rIns="0" bIns="0" rtlCol="0" anchor="t"/>
          <a:lstStyle/>
          <a:p>
            <a:pPr indent="0" marL="0">
              <a:buNone/>
            </a:pPr>
            <a:r>
              <a:rPr lang="en-US" sz="1300" b="1" dirty="0">
                <a:solidFill>
                  <a:srgbClr val="12345C"/>
                </a:solidFill>
                <a:latin typeface="Arial" pitchFamily="34" charset="0"/>
                <a:ea typeface="Arial" pitchFamily="34" charset="-122"/>
                <a:cs typeface="Arial" pitchFamily="34" charset="-120"/>
              </a:rPr>
              <a:t>1  Build</a:t>
            </a:r>
            <a:endParaRPr lang="en-US" sz="1300" dirty="0"/>
          </a:p>
        </p:txBody>
      </p:sp>
      <p:sp>
        <p:nvSpPr>
          <p:cNvPr id="7" name="Text 5"/>
          <p:cNvSpPr txBox="1"/>
          <p:nvPr/>
        </p:nvSpPr>
        <p:spPr>
          <a:xfrm>
            <a:off x="841248" y="1920240"/>
            <a:ext cx="3099816" cy="502920"/>
          </a:xfrm>
          <a:prstGeom prst="rect">
            <a:avLst/>
          </a:prstGeom>
          <a:noFill/>
          <a:ln/>
        </p:spPr>
        <p:txBody>
          <a:bodyPr wrap="square" lIns="0" tIns="0" rIns="0" bIns="0" rtlCol="0" anchor="t"/>
          <a:lstStyle/>
          <a:p>
            <a:pPr indent="0" marL="0">
              <a:spcAft>
                <a:spcPts val="300"/>
              </a:spcAft>
              <a:buNone/>
            </a:pPr>
            <a:r>
              <a:rPr lang="en-US" sz="1100" dirty="0">
                <a:solidFill>
                  <a:srgbClr val="16181D"/>
                </a:solidFill>
                <a:latin typeface="Arial" pitchFamily="34" charset="0"/>
                <a:ea typeface="Arial" pitchFamily="34" charset="-122"/>
                <a:cs typeface="Arial" pitchFamily="34" charset="-120"/>
              </a:rPr>
              <a:t>1,742 accidents, 1982–2006. Coded fields only.</a:t>
            </a:r>
            <a:endParaRPr lang="en-US" sz="1100" dirty="0"/>
          </a:p>
        </p:txBody>
      </p:sp>
      <p:sp>
        <p:nvSpPr>
          <p:cNvPr id="8" name="Shape 6"/>
          <p:cNvSpPr/>
          <p:nvPr/>
        </p:nvSpPr>
        <p:spPr>
          <a:xfrm>
            <a:off x="4343400" y="1463040"/>
            <a:ext cx="3502152" cy="1097280"/>
          </a:xfrm>
          <a:prstGeom prst="roundRect">
            <a:avLst>
              <a:gd name="adj" fmla="val 4167"/>
            </a:avLst>
          </a:prstGeom>
          <a:solidFill>
            <a:srgbClr val="F4F6FA"/>
          </a:solidFill>
          <a:ln w="12700">
            <a:solidFill>
              <a:srgbClr val="F4F6FA"/>
            </a:solidFill>
            <a:prstDash val="solid"/>
          </a:ln>
        </p:spPr>
      </p:sp>
      <p:sp>
        <p:nvSpPr>
          <p:cNvPr id="9" name="Text 7"/>
          <p:cNvSpPr txBox="1"/>
          <p:nvPr/>
        </p:nvSpPr>
        <p:spPr>
          <a:xfrm>
            <a:off x="4544568" y="1600200"/>
            <a:ext cx="3099816" cy="274320"/>
          </a:xfrm>
          <a:prstGeom prst="rect">
            <a:avLst/>
          </a:prstGeom>
          <a:noFill/>
          <a:ln/>
        </p:spPr>
        <p:txBody>
          <a:bodyPr wrap="square" lIns="0" tIns="0" rIns="0" bIns="0" rtlCol="0" anchor="t"/>
          <a:lstStyle/>
          <a:p>
            <a:pPr indent="0" marL="0">
              <a:buNone/>
            </a:pPr>
            <a:r>
              <a:rPr lang="en-US" sz="1300" b="1" dirty="0">
                <a:solidFill>
                  <a:srgbClr val="12345C"/>
                </a:solidFill>
                <a:latin typeface="Arial" pitchFamily="34" charset="0"/>
                <a:ea typeface="Arial" pitchFamily="34" charset="-122"/>
                <a:cs typeface="Arial" pitchFamily="34" charset="-120"/>
              </a:rPr>
              <a:t>2  Freeze</a:t>
            </a:r>
            <a:endParaRPr lang="en-US" sz="1300" dirty="0"/>
          </a:p>
        </p:txBody>
      </p:sp>
      <p:sp>
        <p:nvSpPr>
          <p:cNvPr id="10" name="Text 8"/>
          <p:cNvSpPr txBox="1"/>
          <p:nvPr/>
        </p:nvSpPr>
        <p:spPr>
          <a:xfrm>
            <a:off x="4544568" y="1920240"/>
            <a:ext cx="3099816" cy="502920"/>
          </a:xfrm>
          <a:prstGeom prst="rect">
            <a:avLst/>
          </a:prstGeom>
          <a:noFill/>
          <a:ln/>
        </p:spPr>
        <p:txBody>
          <a:bodyPr wrap="square" lIns="0" tIns="0" rIns="0" bIns="0" rtlCol="0" anchor="t"/>
          <a:lstStyle/>
          <a:p>
            <a:pPr indent="0" marL="0">
              <a:spcAft>
                <a:spcPts val="300"/>
              </a:spcAft>
              <a:buNone/>
            </a:pPr>
            <a:r>
              <a:rPr lang="en-US" sz="1100" dirty="0">
                <a:solidFill>
                  <a:srgbClr val="16181D"/>
                </a:solidFill>
                <a:latin typeface="Arial" pitchFamily="34" charset="0"/>
                <a:ea typeface="Arial" pitchFamily="34" charset="-122"/>
                <a:cs typeface="Arial" pitchFamily="34" charset="-120"/>
              </a:rPr>
              <a:t>Graph and all probability tables fixed. Never retrained.</a:t>
            </a:r>
            <a:endParaRPr lang="en-US" sz="1100" dirty="0"/>
          </a:p>
        </p:txBody>
      </p:sp>
      <p:sp>
        <p:nvSpPr>
          <p:cNvPr id="11" name="Shape 9"/>
          <p:cNvSpPr/>
          <p:nvPr/>
        </p:nvSpPr>
        <p:spPr>
          <a:xfrm>
            <a:off x="8046720" y="1463040"/>
            <a:ext cx="3502152" cy="1097280"/>
          </a:xfrm>
          <a:prstGeom prst="roundRect">
            <a:avLst>
              <a:gd name="adj" fmla="val 4167"/>
            </a:avLst>
          </a:prstGeom>
          <a:solidFill>
            <a:srgbClr val="F4F6FA"/>
          </a:solidFill>
          <a:ln w="12700">
            <a:solidFill>
              <a:srgbClr val="F4F6FA"/>
            </a:solidFill>
            <a:prstDash val="solid"/>
          </a:ln>
        </p:spPr>
      </p:sp>
      <p:sp>
        <p:nvSpPr>
          <p:cNvPr id="12" name="Text 10"/>
          <p:cNvSpPr txBox="1"/>
          <p:nvPr/>
        </p:nvSpPr>
        <p:spPr>
          <a:xfrm>
            <a:off x="8247888" y="1600200"/>
            <a:ext cx="3099816" cy="274320"/>
          </a:xfrm>
          <a:prstGeom prst="rect">
            <a:avLst/>
          </a:prstGeom>
          <a:noFill/>
          <a:ln/>
        </p:spPr>
        <p:txBody>
          <a:bodyPr wrap="square" lIns="0" tIns="0" rIns="0" bIns="0" rtlCol="0" anchor="t"/>
          <a:lstStyle/>
          <a:p>
            <a:pPr indent="0" marL="0">
              <a:buNone/>
            </a:pPr>
            <a:r>
              <a:rPr lang="en-US" sz="1300" b="1" dirty="0">
                <a:solidFill>
                  <a:srgbClr val="12345C"/>
                </a:solidFill>
                <a:latin typeface="Arial" pitchFamily="34" charset="0"/>
                <a:ea typeface="Arial" pitchFamily="34" charset="-122"/>
                <a:cs typeface="Arial" pitchFamily="34" charset="-120"/>
              </a:rPr>
              <a:t>3  Index</a:t>
            </a:r>
            <a:endParaRPr lang="en-US" sz="1300" dirty="0"/>
          </a:p>
        </p:txBody>
      </p:sp>
      <p:sp>
        <p:nvSpPr>
          <p:cNvPr id="13" name="Text 11"/>
          <p:cNvSpPr txBox="1"/>
          <p:nvPr/>
        </p:nvSpPr>
        <p:spPr>
          <a:xfrm>
            <a:off x="8247888" y="1920240"/>
            <a:ext cx="3099816" cy="502920"/>
          </a:xfrm>
          <a:prstGeom prst="rect">
            <a:avLst/>
          </a:prstGeom>
          <a:noFill/>
          <a:ln/>
        </p:spPr>
        <p:txBody>
          <a:bodyPr wrap="square" lIns="0" tIns="0" rIns="0" bIns="0" rtlCol="0" anchor="t"/>
          <a:lstStyle/>
          <a:p>
            <a:pPr indent="0" marL="0">
              <a:spcAft>
                <a:spcPts val="300"/>
              </a:spcAft>
              <a:buNone/>
            </a:pPr>
            <a:r>
              <a:rPr lang="en-US" sz="1100" dirty="0">
                <a:solidFill>
                  <a:srgbClr val="16181D"/>
                </a:solidFill>
                <a:latin typeface="Arial" pitchFamily="34" charset="0"/>
                <a:ea typeface="Arial" pitchFamily="34" charset="-122"/>
                <a:cs typeface="Arial" pitchFamily="34" charset="-120"/>
              </a:rPr>
              <a:t>The 1,288 narratives from those same years, for search only.</a:t>
            </a:r>
            <a:endParaRPr lang="en-US" sz="1100" dirty="0"/>
          </a:p>
        </p:txBody>
      </p:sp>
      <p:sp>
        <p:nvSpPr>
          <p:cNvPr id="14" name="Shape 12"/>
          <p:cNvSpPr/>
          <p:nvPr/>
        </p:nvSpPr>
        <p:spPr>
          <a:xfrm>
            <a:off x="640080" y="2697480"/>
            <a:ext cx="3502152" cy="1097280"/>
          </a:xfrm>
          <a:prstGeom prst="roundRect">
            <a:avLst>
              <a:gd name="adj" fmla="val 4167"/>
            </a:avLst>
          </a:prstGeom>
          <a:solidFill>
            <a:srgbClr val="F4F6FA"/>
          </a:solidFill>
          <a:ln w="12700">
            <a:solidFill>
              <a:srgbClr val="F4F6FA"/>
            </a:solidFill>
            <a:prstDash val="solid"/>
          </a:ln>
        </p:spPr>
      </p:sp>
      <p:sp>
        <p:nvSpPr>
          <p:cNvPr id="15" name="Text 13"/>
          <p:cNvSpPr txBox="1"/>
          <p:nvPr/>
        </p:nvSpPr>
        <p:spPr>
          <a:xfrm>
            <a:off x="841248" y="2834640"/>
            <a:ext cx="3099816" cy="274320"/>
          </a:xfrm>
          <a:prstGeom prst="rect">
            <a:avLst/>
          </a:prstGeom>
          <a:noFill/>
          <a:ln/>
        </p:spPr>
        <p:txBody>
          <a:bodyPr wrap="square" lIns="0" tIns="0" rIns="0" bIns="0" rtlCol="0" anchor="t"/>
          <a:lstStyle/>
          <a:p>
            <a:pPr indent="0" marL="0">
              <a:buNone/>
            </a:pPr>
            <a:r>
              <a:rPr lang="en-US" sz="1300" b="1" dirty="0">
                <a:solidFill>
                  <a:srgbClr val="12345C"/>
                </a:solidFill>
                <a:latin typeface="Arial" pitchFamily="34" charset="0"/>
                <a:ea typeface="Arial" pitchFamily="34" charset="-122"/>
                <a:cs typeface="Arial" pitchFamily="34" charset="-120"/>
              </a:rPr>
              <a:t>4  New accident</a:t>
            </a:r>
            <a:endParaRPr lang="en-US" sz="1300" dirty="0"/>
          </a:p>
        </p:txBody>
      </p:sp>
      <p:sp>
        <p:nvSpPr>
          <p:cNvPr id="16" name="Text 14"/>
          <p:cNvSpPr txBox="1"/>
          <p:nvPr/>
        </p:nvSpPr>
        <p:spPr>
          <a:xfrm>
            <a:off x="841248" y="3154680"/>
            <a:ext cx="3099816" cy="502920"/>
          </a:xfrm>
          <a:prstGeom prst="rect">
            <a:avLst/>
          </a:prstGeom>
          <a:noFill/>
          <a:ln/>
        </p:spPr>
        <p:txBody>
          <a:bodyPr wrap="square" lIns="0" tIns="0" rIns="0" bIns="0" rtlCol="0" anchor="t"/>
          <a:lstStyle/>
          <a:p>
            <a:pPr indent="0" marL="0">
              <a:spcAft>
                <a:spcPts val="300"/>
              </a:spcAft>
              <a:buNone/>
            </a:pPr>
            <a:r>
              <a:rPr lang="en-US" sz="1100" dirty="0">
                <a:solidFill>
                  <a:srgbClr val="16181D"/>
                </a:solidFill>
                <a:latin typeface="Arial" pitchFamily="34" charset="0"/>
                <a:ea typeface="Arial" pitchFamily="34" charset="-122"/>
                <a:cs typeface="Arial" pitchFamily="34" charset="-120"/>
              </a:rPr>
              <a:t>A 2007–2019 narrative. Never seen before.</a:t>
            </a:r>
            <a:endParaRPr lang="en-US" sz="1100" dirty="0"/>
          </a:p>
        </p:txBody>
      </p:sp>
      <p:sp>
        <p:nvSpPr>
          <p:cNvPr id="17" name="Shape 15"/>
          <p:cNvSpPr/>
          <p:nvPr/>
        </p:nvSpPr>
        <p:spPr>
          <a:xfrm>
            <a:off x="4343400" y="2697480"/>
            <a:ext cx="3502152" cy="1097280"/>
          </a:xfrm>
          <a:prstGeom prst="roundRect">
            <a:avLst>
              <a:gd name="adj" fmla="val 4167"/>
            </a:avLst>
          </a:prstGeom>
          <a:solidFill>
            <a:srgbClr val="F4F6FA"/>
          </a:solidFill>
          <a:ln w="12700">
            <a:solidFill>
              <a:srgbClr val="F4F6FA"/>
            </a:solidFill>
            <a:prstDash val="solid"/>
          </a:ln>
        </p:spPr>
      </p:sp>
      <p:sp>
        <p:nvSpPr>
          <p:cNvPr id="18" name="Text 16"/>
          <p:cNvSpPr txBox="1"/>
          <p:nvPr/>
        </p:nvSpPr>
        <p:spPr>
          <a:xfrm>
            <a:off x="4544568" y="2834640"/>
            <a:ext cx="3099816" cy="274320"/>
          </a:xfrm>
          <a:prstGeom prst="rect">
            <a:avLst/>
          </a:prstGeom>
          <a:noFill/>
          <a:ln/>
        </p:spPr>
        <p:txBody>
          <a:bodyPr wrap="square" lIns="0" tIns="0" rIns="0" bIns="0" rtlCol="0" anchor="t"/>
          <a:lstStyle/>
          <a:p>
            <a:pPr indent="0" marL="0">
              <a:buNone/>
            </a:pPr>
            <a:r>
              <a:rPr lang="en-US" sz="1300" b="1" dirty="0">
                <a:solidFill>
                  <a:srgbClr val="12345C"/>
                </a:solidFill>
                <a:latin typeface="Arial" pitchFamily="34" charset="0"/>
                <a:ea typeface="Arial" pitchFamily="34" charset="-122"/>
                <a:cs typeface="Arial" pitchFamily="34" charset="-120"/>
              </a:rPr>
              <a:t>5  Redact</a:t>
            </a:r>
            <a:endParaRPr lang="en-US" sz="1300" dirty="0"/>
          </a:p>
        </p:txBody>
      </p:sp>
      <p:sp>
        <p:nvSpPr>
          <p:cNvPr id="19" name="Text 17"/>
          <p:cNvSpPr txBox="1"/>
          <p:nvPr/>
        </p:nvSpPr>
        <p:spPr>
          <a:xfrm>
            <a:off x="4544568" y="3154680"/>
            <a:ext cx="3099816" cy="502920"/>
          </a:xfrm>
          <a:prstGeom prst="rect">
            <a:avLst/>
          </a:prstGeom>
          <a:noFill/>
          <a:ln/>
        </p:spPr>
        <p:txBody>
          <a:bodyPr wrap="square" lIns="0" tIns="0" rIns="0" bIns="0" rtlCol="0" anchor="t"/>
          <a:lstStyle/>
          <a:p>
            <a:pPr indent="0" marL="0">
              <a:spcAft>
                <a:spcPts val="300"/>
              </a:spcAft>
              <a:buNone/>
            </a:pPr>
            <a:r>
              <a:rPr lang="en-US" sz="1100" dirty="0">
                <a:solidFill>
                  <a:srgbClr val="16181D"/>
                </a:solidFill>
                <a:latin typeface="Arial" pitchFamily="34" charset="0"/>
                <a:ea typeface="Arial" pitchFamily="34" charset="-122"/>
                <a:cs typeface="Arial" pitchFamily="34" charset="-120"/>
              </a:rPr>
              <a:t>Strip sentences stating the outcome. Keep mechanism words.</a:t>
            </a:r>
            <a:endParaRPr lang="en-US" sz="1100" dirty="0"/>
          </a:p>
        </p:txBody>
      </p:sp>
      <p:sp>
        <p:nvSpPr>
          <p:cNvPr id="20" name="Shape 18"/>
          <p:cNvSpPr/>
          <p:nvPr/>
        </p:nvSpPr>
        <p:spPr>
          <a:xfrm>
            <a:off x="8046720" y="2697480"/>
            <a:ext cx="3502152" cy="1097280"/>
          </a:xfrm>
          <a:prstGeom prst="roundRect">
            <a:avLst>
              <a:gd name="adj" fmla="val 4167"/>
            </a:avLst>
          </a:prstGeom>
          <a:solidFill>
            <a:srgbClr val="F4F6FA"/>
          </a:solidFill>
          <a:ln w="12700">
            <a:solidFill>
              <a:srgbClr val="F4F6FA"/>
            </a:solidFill>
            <a:prstDash val="solid"/>
          </a:ln>
        </p:spPr>
      </p:sp>
      <p:sp>
        <p:nvSpPr>
          <p:cNvPr id="21" name="Text 19"/>
          <p:cNvSpPr txBox="1"/>
          <p:nvPr/>
        </p:nvSpPr>
        <p:spPr>
          <a:xfrm>
            <a:off x="8247888" y="2834640"/>
            <a:ext cx="3099816" cy="274320"/>
          </a:xfrm>
          <a:prstGeom prst="rect">
            <a:avLst/>
          </a:prstGeom>
          <a:noFill/>
          <a:ln/>
        </p:spPr>
        <p:txBody>
          <a:bodyPr wrap="square" lIns="0" tIns="0" rIns="0" bIns="0" rtlCol="0" anchor="t"/>
          <a:lstStyle/>
          <a:p>
            <a:pPr indent="0" marL="0">
              <a:buNone/>
            </a:pPr>
            <a:r>
              <a:rPr lang="en-US" sz="1300" b="1" dirty="0">
                <a:solidFill>
                  <a:srgbClr val="12345C"/>
                </a:solidFill>
                <a:latin typeface="Arial" pitchFamily="34" charset="0"/>
                <a:ea typeface="Arial" pitchFamily="34" charset="-122"/>
                <a:cs typeface="Arial" pitchFamily="34" charset="-120"/>
              </a:rPr>
              <a:t>6  Read two ways</a:t>
            </a:r>
            <a:endParaRPr lang="en-US" sz="1300" dirty="0"/>
          </a:p>
        </p:txBody>
      </p:sp>
      <p:sp>
        <p:nvSpPr>
          <p:cNvPr id="22" name="Text 20"/>
          <p:cNvSpPr txBox="1"/>
          <p:nvPr/>
        </p:nvSpPr>
        <p:spPr>
          <a:xfrm>
            <a:off x="8247888" y="3154680"/>
            <a:ext cx="3099816" cy="502920"/>
          </a:xfrm>
          <a:prstGeom prst="rect">
            <a:avLst/>
          </a:prstGeom>
          <a:noFill/>
          <a:ln/>
        </p:spPr>
        <p:txBody>
          <a:bodyPr wrap="square" lIns="0" tIns="0" rIns="0" bIns="0" rtlCol="0" anchor="t"/>
          <a:lstStyle/>
          <a:p>
            <a:pPr indent="0" marL="0">
              <a:spcAft>
                <a:spcPts val="300"/>
              </a:spcAft>
              <a:buNone/>
            </a:pPr>
            <a:r>
              <a:rPr lang="en-US" sz="1100" dirty="0">
                <a:solidFill>
                  <a:srgbClr val="16181D"/>
                </a:solidFill>
                <a:latin typeface="Arial" pitchFamily="34" charset="0"/>
                <a:ea typeface="Arial" pitchFamily="34" charset="-122"/>
                <a:cs typeface="Arial" pitchFamily="34" charset="-120"/>
              </a:rPr>
              <a:t>Phrase-match the NTSB vocabulary. Find the 100 most similar past accidents.</a:t>
            </a:r>
            <a:endParaRPr lang="en-US" sz="1100" dirty="0"/>
          </a:p>
        </p:txBody>
      </p:sp>
      <p:sp>
        <p:nvSpPr>
          <p:cNvPr id="23" name="Shape 21"/>
          <p:cNvSpPr/>
          <p:nvPr/>
        </p:nvSpPr>
        <p:spPr>
          <a:xfrm>
            <a:off x="640080" y="3931920"/>
            <a:ext cx="3502152" cy="1097280"/>
          </a:xfrm>
          <a:prstGeom prst="roundRect">
            <a:avLst>
              <a:gd name="adj" fmla="val 4167"/>
            </a:avLst>
          </a:prstGeom>
          <a:solidFill>
            <a:srgbClr val="F4F6FA"/>
          </a:solidFill>
          <a:ln w="12700">
            <a:solidFill>
              <a:srgbClr val="F4F6FA"/>
            </a:solidFill>
            <a:prstDash val="solid"/>
          </a:ln>
        </p:spPr>
      </p:sp>
      <p:sp>
        <p:nvSpPr>
          <p:cNvPr id="24" name="Text 22"/>
          <p:cNvSpPr txBox="1"/>
          <p:nvPr/>
        </p:nvSpPr>
        <p:spPr>
          <a:xfrm>
            <a:off x="841248" y="4069080"/>
            <a:ext cx="3099816" cy="274320"/>
          </a:xfrm>
          <a:prstGeom prst="rect">
            <a:avLst/>
          </a:prstGeom>
          <a:noFill/>
          <a:ln/>
        </p:spPr>
        <p:txBody>
          <a:bodyPr wrap="square" lIns="0" tIns="0" rIns="0" bIns="0" rtlCol="0" anchor="t"/>
          <a:lstStyle/>
          <a:p>
            <a:pPr indent="0" marL="0">
              <a:buNone/>
            </a:pPr>
            <a:r>
              <a:rPr lang="en-US" sz="1300" b="1" dirty="0">
                <a:solidFill>
                  <a:srgbClr val="12345C"/>
                </a:solidFill>
                <a:latin typeface="Arial" pitchFamily="34" charset="0"/>
                <a:ea typeface="Arial" pitchFamily="34" charset="-122"/>
                <a:cs typeface="Arial" pitchFamily="34" charset="-120"/>
              </a:rPr>
              <a:t>7  Build evidence</a:t>
            </a:r>
            <a:endParaRPr lang="en-US" sz="1300" dirty="0"/>
          </a:p>
        </p:txBody>
      </p:sp>
      <p:sp>
        <p:nvSpPr>
          <p:cNvPr id="25" name="Text 23"/>
          <p:cNvSpPr txBox="1"/>
          <p:nvPr/>
        </p:nvSpPr>
        <p:spPr>
          <a:xfrm>
            <a:off x="841248" y="4389120"/>
            <a:ext cx="3099816" cy="502920"/>
          </a:xfrm>
          <a:prstGeom prst="rect">
            <a:avLst/>
          </a:prstGeom>
          <a:noFill/>
          <a:ln/>
        </p:spPr>
        <p:txBody>
          <a:bodyPr wrap="square" lIns="0" tIns="0" rIns="0" bIns="0" rtlCol="0" anchor="t"/>
          <a:lstStyle/>
          <a:p>
            <a:pPr indent="0" marL="0">
              <a:spcAft>
                <a:spcPts val="300"/>
              </a:spcAft>
              <a:buNone/>
            </a:pPr>
            <a:r>
              <a:rPr lang="en-US" sz="1100" dirty="0">
                <a:solidFill>
                  <a:srgbClr val="16181D"/>
                </a:solidFill>
                <a:latin typeface="Arial" pitchFamily="34" charset="0"/>
                <a:ea typeface="Arial" pitchFamily="34" charset="-122"/>
                <a:cs typeface="Arial" pitchFamily="34" charset="-120"/>
              </a:rPr>
              <a:t>Neighbours' coded events and outcomes become evidence on named nodes.</a:t>
            </a:r>
            <a:endParaRPr lang="en-US" sz="1100" dirty="0"/>
          </a:p>
        </p:txBody>
      </p:sp>
      <p:sp>
        <p:nvSpPr>
          <p:cNvPr id="26" name="Shape 24"/>
          <p:cNvSpPr/>
          <p:nvPr/>
        </p:nvSpPr>
        <p:spPr>
          <a:xfrm>
            <a:off x="4343400" y="3931920"/>
            <a:ext cx="3502152" cy="1097280"/>
          </a:xfrm>
          <a:prstGeom prst="roundRect">
            <a:avLst>
              <a:gd name="adj" fmla="val 4167"/>
            </a:avLst>
          </a:prstGeom>
          <a:solidFill>
            <a:srgbClr val="F4F6FA"/>
          </a:solidFill>
          <a:ln w="12700">
            <a:solidFill>
              <a:srgbClr val="F4F6FA"/>
            </a:solidFill>
            <a:prstDash val="solid"/>
          </a:ln>
        </p:spPr>
      </p:sp>
      <p:sp>
        <p:nvSpPr>
          <p:cNvPr id="27" name="Text 25"/>
          <p:cNvSpPr txBox="1"/>
          <p:nvPr/>
        </p:nvSpPr>
        <p:spPr>
          <a:xfrm>
            <a:off x="4544568" y="4069080"/>
            <a:ext cx="3099816" cy="274320"/>
          </a:xfrm>
          <a:prstGeom prst="rect">
            <a:avLst/>
          </a:prstGeom>
          <a:noFill/>
          <a:ln/>
        </p:spPr>
        <p:txBody>
          <a:bodyPr wrap="square" lIns="0" tIns="0" rIns="0" bIns="0" rtlCol="0" anchor="t"/>
          <a:lstStyle/>
          <a:p>
            <a:pPr indent="0" marL="0">
              <a:buNone/>
            </a:pPr>
            <a:r>
              <a:rPr lang="en-US" sz="1300" b="1" dirty="0">
                <a:solidFill>
                  <a:srgbClr val="12345C"/>
                </a:solidFill>
                <a:latin typeface="Arial" pitchFamily="34" charset="0"/>
                <a:ea typeface="Arial" pitchFamily="34" charset="-122"/>
                <a:cs typeface="Arial" pitchFamily="34" charset="-120"/>
              </a:rPr>
              <a:t>8  One propagation</a:t>
            </a:r>
            <a:endParaRPr lang="en-US" sz="1300" dirty="0"/>
          </a:p>
        </p:txBody>
      </p:sp>
      <p:sp>
        <p:nvSpPr>
          <p:cNvPr id="28" name="Text 26"/>
          <p:cNvSpPr txBox="1"/>
          <p:nvPr/>
        </p:nvSpPr>
        <p:spPr>
          <a:xfrm>
            <a:off x="4544568" y="4389120"/>
            <a:ext cx="3099816" cy="502920"/>
          </a:xfrm>
          <a:prstGeom prst="rect">
            <a:avLst/>
          </a:prstGeom>
          <a:noFill/>
          <a:ln/>
        </p:spPr>
        <p:txBody>
          <a:bodyPr wrap="square" lIns="0" tIns="0" rIns="0" bIns="0" rtlCol="0" anchor="t"/>
          <a:lstStyle/>
          <a:p>
            <a:pPr indent="0" marL="0">
              <a:spcAft>
                <a:spcPts val="300"/>
              </a:spcAft>
              <a:buNone/>
            </a:pPr>
            <a:r>
              <a:rPr lang="en-US" sz="1100" dirty="0">
                <a:solidFill>
                  <a:srgbClr val="16181D"/>
                </a:solidFill>
                <a:latin typeface="Arial" pitchFamily="34" charset="0"/>
                <a:ea typeface="Arial" pitchFamily="34" charset="-122"/>
                <a:cs typeface="Arial" pitchFamily="34" charset="-120"/>
              </a:rPr>
              <a:t>All evidence loaded, inference runs once. Tables do not change.</a:t>
            </a:r>
            <a:endParaRPr lang="en-US" sz="1100" dirty="0"/>
          </a:p>
        </p:txBody>
      </p:sp>
      <p:sp>
        <p:nvSpPr>
          <p:cNvPr id="29" name="Shape 27"/>
          <p:cNvSpPr/>
          <p:nvPr/>
        </p:nvSpPr>
        <p:spPr>
          <a:xfrm>
            <a:off x="8046720" y="3931920"/>
            <a:ext cx="3502152" cy="1097280"/>
          </a:xfrm>
          <a:prstGeom prst="roundRect">
            <a:avLst>
              <a:gd name="adj" fmla="val 4167"/>
            </a:avLst>
          </a:prstGeom>
          <a:solidFill>
            <a:srgbClr val="F4F6FA"/>
          </a:solidFill>
          <a:ln w="12700">
            <a:solidFill>
              <a:srgbClr val="F4F6FA"/>
            </a:solidFill>
            <a:prstDash val="solid"/>
          </a:ln>
        </p:spPr>
      </p:sp>
      <p:sp>
        <p:nvSpPr>
          <p:cNvPr id="30" name="Text 28"/>
          <p:cNvSpPr txBox="1"/>
          <p:nvPr/>
        </p:nvSpPr>
        <p:spPr>
          <a:xfrm>
            <a:off x="8247888" y="4069080"/>
            <a:ext cx="3099816" cy="274320"/>
          </a:xfrm>
          <a:prstGeom prst="rect">
            <a:avLst/>
          </a:prstGeom>
          <a:noFill/>
          <a:ln/>
        </p:spPr>
        <p:txBody>
          <a:bodyPr wrap="square" lIns="0" tIns="0" rIns="0" bIns="0" rtlCol="0" anchor="t"/>
          <a:lstStyle/>
          <a:p>
            <a:pPr indent="0" marL="0">
              <a:buNone/>
            </a:pPr>
            <a:r>
              <a:rPr lang="en-US" sz="1300" b="1" dirty="0">
                <a:solidFill>
                  <a:srgbClr val="12345C"/>
                </a:solidFill>
                <a:latin typeface="Arial" pitchFamily="34" charset="0"/>
                <a:ea typeface="Arial" pitchFamily="34" charset="-122"/>
                <a:cs typeface="Arial" pitchFamily="34" charset="-120"/>
              </a:rPr>
              <a:t>9  Grade</a:t>
            </a:r>
            <a:endParaRPr lang="en-US" sz="1300" dirty="0"/>
          </a:p>
        </p:txBody>
      </p:sp>
      <p:sp>
        <p:nvSpPr>
          <p:cNvPr id="31" name="Text 29"/>
          <p:cNvSpPr txBox="1"/>
          <p:nvPr/>
        </p:nvSpPr>
        <p:spPr>
          <a:xfrm>
            <a:off x="8247888" y="4389120"/>
            <a:ext cx="3099816" cy="502920"/>
          </a:xfrm>
          <a:prstGeom prst="rect">
            <a:avLst/>
          </a:prstGeom>
          <a:noFill/>
          <a:ln/>
        </p:spPr>
        <p:txBody>
          <a:bodyPr wrap="square" lIns="0" tIns="0" rIns="0" bIns="0" rtlCol="0" anchor="t"/>
          <a:lstStyle/>
          <a:p>
            <a:pPr indent="0" marL="0">
              <a:spcAft>
                <a:spcPts val="300"/>
              </a:spcAft>
              <a:buNone/>
            </a:pPr>
            <a:r>
              <a:rPr lang="en-US" sz="1100" dirty="0">
                <a:solidFill>
                  <a:srgbClr val="16181D"/>
                </a:solidFill>
                <a:latin typeface="Arial" pitchFamily="34" charset="0"/>
                <a:ea typeface="Arial" pitchFamily="34" charset="-122"/>
                <a:cs typeface="Arial" pitchFamily="34" charset="-120"/>
              </a:rPr>
              <a:t>Top-1 injury, damage, cause vs the NTSB's codes.</a:t>
            </a:r>
            <a:endParaRPr lang="en-US" sz="1100" dirty="0"/>
          </a:p>
        </p:txBody>
      </p:sp>
      <p:sp>
        <p:nvSpPr>
          <p:cNvPr id="32" name="Shape 30"/>
          <p:cNvSpPr/>
          <p:nvPr/>
        </p:nvSpPr>
        <p:spPr>
          <a:xfrm>
            <a:off x="640080" y="5257800"/>
            <a:ext cx="10908792" cy="685800"/>
          </a:xfrm>
          <a:prstGeom prst="roundRect">
            <a:avLst>
              <a:gd name="adj" fmla="val 6667"/>
            </a:avLst>
          </a:prstGeom>
          <a:solidFill>
            <a:srgbClr val="12345C"/>
          </a:solidFill>
          <a:ln w="12700">
            <a:solidFill>
              <a:srgbClr val="12345C"/>
            </a:solidFill>
            <a:prstDash val="solid"/>
          </a:ln>
        </p:spPr>
      </p:sp>
      <p:sp>
        <p:nvSpPr>
          <p:cNvPr id="33" name="Text 31"/>
          <p:cNvSpPr txBox="1"/>
          <p:nvPr/>
        </p:nvSpPr>
        <p:spPr>
          <a:xfrm>
            <a:off x="914400" y="5330952"/>
            <a:ext cx="10360152" cy="539496"/>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The text never enters the network. Only named evidence nodes do.</a:t>
            </a:r>
            <a:endParaRPr lang="en-US" sz="1500" dirty="0"/>
          </a:p>
        </p:txBody>
      </p:sp>
      <p:sp>
        <p:nvSpPr>
          <p:cNvPr id="34" name="Text 32"/>
          <p:cNvSpPr txBox="1"/>
          <p:nvPr/>
        </p:nvSpPr>
        <p:spPr>
          <a:xfrm>
            <a:off x="11155680" y="6355080"/>
            <a:ext cx="822960" cy="274320"/>
          </a:xfrm>
          <a:prstGeom prst="rect">
            <a:avLst/>
          </a:prstGeom>
          <a:noFill/>
          <a:ln/>
        </p:spPr>
        <p:txBody>
          <a:bodyPr wrap="square" lIns="0" tIns="0" rIns="0" bIns="0" rtlCol="0" anchor="ctr"/>
          <a:lstStyle/>
          <a:p>
            <a:pPr algn="r" indent="0" marL="0">
              <a:buNone/>
            </a:pPr>
            <a:r>
              <a:rPr lang="en-US" sz="1100" dirty="0">
                <a:solidFill>
                  <a:srgbClr val="B8BCC4"/>
                </a:solidFill>
                <a:latin typeface="Arial" pitchFamily="34" charset="0"/>
                <a:ea typeface="Arial" pitchFamily="34" charset="-122"/>
                <a:cs typeface="Arial" pitchFamily="34" charset="-120"/>
              </a:rPr>
              <a:t>appendix</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8A8F99"/>
          </a:solidFill>
          <a:ln/>
        </p:spPr>
      </p:sp>
      <p:sp>
        <p:nvSpPr>
          <p:cNvPr id="3" name="Text 1"/>
          <p:cNvSpPr txBox="1"/>
          <p:nvPr/>
        </p:nvSpPr>
        <p:spPr>
          <a:xfrm>
            <a:off x="640080" y="384048"/>
            <a:ext cx="10908792" cy="566928"/>
          </a:xfrm>
          <a:prstGeom prst="rect">
            <a:avLst/>
          </a:prstGeom>
          <a:noFill/>
          <a:ln/>
        </p:spPr>
        <p:txBody>
          <a:bodyPr wrap="square" lIns="0" tIns="0" rIns="0" bIns="0" rtlCol="0" anchor="t"/>
          <a:lstStyle/>
          <a:p>
            <a:pPr indent="0" marL="0">
              <a:buNone/>
            </a:pPr>
            <a:r>
              <a:rPr lang="en-US" sz="2700" b="1" dirty="0">
                <a:solidFill>
                  <a:srgbClr val="16181D"/>
                </a:solidFill>
                <a:latin typeface="Arial" pitchFamily="34" charset="0"/>
                <a:ea typeface="Arial" pitchFamily="34" charset="-122"/>
                <a:cs typeface="Arial" pitchFamily="34" charset="-120"/>
              </a:rPr>
              <a:t>Does this satisfy the Digital Twin project requirement?</a:t>
            </a:r>
            <a:endParaRPr lang="en-US" sz="2700" dirty="0"/>
          </a:p>
        </p:txBody>
      </p:sp>
      <p:sp>
        <p:nvSpPr>
          <p:cNvPr id="4" name="Text 2"/>
          <p:cNvSpPr txBox="1"/>
          <p:nvPr/>
        </p:nvSpPr>
        <p:spPr>
          <a:xfrm>
            <a:off x="640080" y="969264"/>
            <a:ext cx="10908792" cy="347472"/>
          </a:xfrm>
          <a:prstGeom prst="rect">
            <a:avLst/>
          </a:prstGeom>
          <a:noFill/>
          <a:ln/>
        </p:spPr>
        <p:txBody>
          <a:bodyPr wrap="square" lIns="0" tIns="0" rIns="0" bIns="0" rtlCol="0" anchor="t"/>
          <a:lstStyle/>
          <a:p>
            <a:pPr indent="0" marL="0">
              <a:buNone/>
            </a:pPr>
            <a:r>
              <a:rPr lang="en-US" sz="1400" dirty="0">
                <a:solidFill>
                  <a:srgbClr val="6B7280"/>
                </a:solidFill>
                <a:latin typeface="Arial" pitchFamily="34" charset="0"/>
                <a:ea typeface="Arial" pitchFamily="34" charset="-122"/>
                <a:cs typeface="Arial" pitchFamily="34" charset="-120"/>
              </a:rPr>
              <a:t>CE 3890/5999 — Pranav's four pillars, checked one at a time.</a:t>
            </a:r>
            <a:endParaRPr lang="en-US" sz="1400" dirty="0"/>
          </a:p>
        </p:txBody>
      </p:sp>
      <p:sp>
        <p:nvSpPr>
          <p:cNvPr id="5" name="Shape 3"/>
          <p:cNvSpPr/>
          <p:nvPr/>
        </p:nvSpPr>
        <p:spPr>
          <a:xfrm>
            <a:off x="640080" y="1417320"/>
            <a:ext cx="10908792" cy="365760"/>
          </a:xfrm>
          <a:prstGeom prst="rect">
            <a:avLst/>
          </a:prstGeom>
          <a:solidFill>
            <a:srgbClr val="12345C"/>
          </a:solidFill>
          <a:ln w="12700">
            <a:solidFill>
              <a:srgbClr val="12345C"/>
            </a:solidFill>
            <a:prstDash val="solid"/>
          </a:ln>
        </p:spPr>
      </p:sp>
      <p:sp>
        <p:nvSpPr>
          <p:cNvPr id="6" name="Text 4"/>
          <p:cNvSpPr txBox="1"/>
          <p:nvPr/>
        </p:nvSpPr>
        <p:spPr>
          <a:xfrm>
            <a:off x="786384" y="1417320"/>
            <a:ext cx="3346704" cy="36576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Pillar</a:t>
            </a:r>
            <a:endParaRPr lang="en-US" sz="1150" dirty="0"/>
          </a:p>
        </p:txBody>
      </p:sp>
      <p:sp>
        <p:nvSpPr>
          <p:cNvPr id="7" name="Text 5"/>
          <p:cNvSpPr txBox="1"/>
          <p:nvPr/>
        </p:nvSpPr>
        <p:spPr>
          <a:xfrm>
            <a:off x="4352544" y="1417320"/>
            <a:ext cx="5541264" cy="36576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How mine maps</a:t>
            </a:r>
            <a:endParaRPr lang="en-US" sz="1150" dirty="0"/>
          </a:p>
        </p:txBody>
      </p:sp>
      <p:sp>
        <p:nvSpPr>
          <p:cNvPr id="8" name="Text 6"/>
          <p:cNvSpPr txBox="1"/>
          <p:nvPr/>
        </p:nvSpPr>
        <p:spPr>
          <a:xfrm>
            <a:off x="10113264" y="1417320"/>
            <a:ext cx="1362456" cy="36576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Met?</a:t>
            </a:r>
            <a:endParaRPr lang="en-US" sz="1150" dirty="0"/>
          </a:p>
        </p:txBody>
      </p:sp>
      <p:sp>
        <p:nvSpPr>
          <p:cNvPr id="9" name="Text 7"/>
          <p:cNvSpPr txBox="1"/>
          <p:nvPr/>
        </p:nvSpPr>
        <p:spPr>
          <a:xfrm>
            <a:off x="786384" y="1828800"/>
            <a:ext cx="3310128" cy="841248"/>
          </a:xfrm>
          <a:prstGeom prst="rect">
            <a:avLst/>
          </a:prstGeom>
          <a:noFill/>
          <a:ln/>
        </p:spPr>
        <p:txBody>
          <a:bodyPr wrap="square" lIns="0" tIns="0" rIns="0" bIns="0" rtlCol="0" anchor="ctr"/>
          <a:lstStyle/>
          <a:p>
            <a:pPr indent="0" marL="0">
              <a:buNone/>
            </a:pPr>
            <a:r>
              <a:rPr lang="en-US" sz="1250" b="1" dirty="0">
                <a:solidFill>
                  <a:srgbClr val="16181D"/>
                </a:solidFill>
                <a:latin typeface="Arial" pitchFamily="34" charset="0"/>
                <a:ea typeface="Arial" pitchFamily="34" charset="-122"/>
                <a:cs typeface="Arial" pitchFamily="34" charset="-120"/>
              </a:rPr>
              <a:t>1 · Physical world and data</a:t>
            </a:r>
            <a:endParaRPr lang="en-US" sz="1250" dirty="0"/>
          </a:p>
        </p:txBody>
      </p:sp>
      <p:sp>
        <p:nvSpPr>
          <p:cNvPr id="10" name="Text 8"/>
          <p:cNvSpPr txBox="1"/>
          <p:nvPr/>
        </p:nvSpPr>
        <p:spPr>
          <a:xfrm>
            <a:off x="4352544" y="1828800"/>
            <a:ext cx="5504688" cy="841248"/>
          </a:xfrm>
          <a:prstGeom prst="rect">
            <a:avLst/>
          </a:prstGeom>
          <a:noFill/>
          <a:ln/>
        </p:spPr>
        <p:txBody>
          <a:bodyPr wrap="square" lIns="0" tIns="0" rIns="0" bIns="0" rtlCol="0" anchor="ctr"/>
          <a:lstStyle/>
          <a:p>
            <a:pPr indent="0" marL="0">
              <a:buNone/>
            </a:pPr>
            <a:r>
              <a:rPr lang="en-US" sz="1150" dirty="0">
                <a:solidFill>
                  <a:srgbClr val="16181D"/>
                </a:solidFill>
                <a:latin typeface="Arial" pitchFamily="34" charset="0"/>
                <a:ea typeface="Arial" pitchFamily="34" charset="-122"/>
                <a:cs typeface="Arial" pitchFamily="34" charset="-120"/>
              </a:rPr>
              <a:t>FAR 121 commercial fleet, narrowed to one aircraft system family and its failure pathways. Data: NTSB accident and incident reports arriving over time.</a:t>
            </a:r>
            <a:endParaRPr lang="en-US" sz="1150" dirty="0"/>
          </a:p>
        </p:txBody>
      </p:sp>
      <p:sp>
        <p:nvSpPr>
          <p:cNvPr id="11" name="Shape 9"/>
          <p:cNvSpPr/>
          <p:nvPr/>
        </p:nvSpPr>
        <p:spPr>
          <a:xfrm>
            <a:off x="10094976" y="2020824"/>
            <a:ext cx="1280160" cy="457200"/>
          </a:xfrm>
          <a:prstGeom prst="roundRect">
            <a:avLst>
              <a:gd name="adj" fmla="val 10000"/>
            </a:avLst>
          </a:prstGeom>
          <a:solidFill>
            <a:srgbClr val="FDF0EE"/>
          </a:solidFill>
          <a:ln w="12700">
            <a:solidFill>
              <a:srgbClr val="FDF0EE"/>
            </a:solidFill>
            <a:prstDash val="solid"/>
          </a:ln>
        </p:spPr>
      </p:sp>
      <p:sp>
        <p:nvSpPr>
          <p:cNvPr id="12" name="Text 10"/>
          <p:cNvSpPr txBox="1"/>
          <p:nvPr/>
        </p:nvSpPr>
        <p:spPr>
          <a:xfrm>
            <a:off x="10094976" y="2020824"/>
            <a:ext cx="1280160" cy="457200"/>
          </a:xfrm>
          <a:prstGeom prst="rect">
            <a:avLst/>
          </a:prstGeom>
          <a:noFill/>
          <a:ln/>
        </p:spPr>
        <p:txBody>
          <a:bodyPr wrap="square" lIns="0" tIns="0" rIns="0" bIns="0" rtlCol="0" anchor="ctr"/>
          <a:lstStyle/>
          <a:p>
            <a:pPr algn="ctr" indent="0" marL="0">
              <a:buNone/>
            </a:pPr>
            <a:r>
              <a:rPr lang="en-US" sz="1200" b="1" dirty="0">
                <a:solidFill>
                  <a:srgbClr val="B23A2C"/>
                </a:solidFill>
                <a:latin typeface="Arial" pitchFamily="34" charset="0"/>
                <a:ea typeface="Arial" pitchFamily="34" charset="-122"/>
                <a:cs typeface="Arial" pitchFamily="34" charset="-120"/>
              </a:rPr>
              <a:t>PARTIAL</a:t>
            </a:r>
            <a:endParaRPr lang="en-US" sz="1200" dirty="0"/>
          </a:p>
        </p:txBody>
      </p:sp>
      <p:sp>
        <p:nvSpPr>
          <p:cNvPr id="13" name="Shape 11"/>
          <p:cNvSpPr/>
          <p:nvPr/>
        </p:nvSpPr>
        <p:spPr>
          <a:xfrm>
            <a:off x="640080" y="2715768"/>
            <a:ext cx="10908792" cy="932688"/>
          </a:xfrm>
          <a:prstGeom prst="rect">
            <a:avLst/>
          </a:prstGeom>
          <a:solidFill>
            <a:srgbClr val="F7F8FA"/>
          </a:solidFill>
          <a:ln w="12700">
            <a:solidFill>
              <a:srgbClr val="F7F8FA"/>
            </a:solidFill>
            <a:prstDash val="solid"/>
          </a:ln>
        </p:spPr>
      </p:sp>
      <p:sp>
        <p:nvSpPr>
          <p:cNvPr id="14" name="Text 12"/>
          <p:cNvSpPr txBox="1"/>
          <p:nvPr/>
        </p:nvSpPr>
        <p:spPr>
          <a:xfrm>
            <a:off x="786384" y="2761488"/>
            <a:ext cx="3310128" cy="841248"/>
          </a:xfrm>
          <a:prstGeom prst="rect">
            <a:avLst/>
          </a:prstGeom>
          <a:noFill/>
          <a:ln/>
        </p:spPr>
        <p:txBody>
          <a:bodyPr wrap="square" lIns="0" tIns="0" rIns="0" bIns="0" rtlCol="0" anchor="ctr"/>
          <a:lstStyle/>
          <a:p>
            <a:pPr indent="0" marL="0">
              <a:buNone/>
            </a:pPr>
            <a:r>
              <a:rPr lang="en-US" sz="1250" b="1" dirty="0">
                <a:solidFill>
                  <a:srgbClr val="16181D"/>
                </a:solidFill>
                <a:latin typeface="Arial" pitchFamily="34" charset="0"/>
                <a:ea typeface="Arial" pitchFamily="34" charset="-122"/>
                <a:cs typeface="Arial" pitchFamily="34" charset="-120"/>
              </a:rPr>
              <a:t>2 · Virtual world and computer models</a:t>
            </a:r>
            <a:endParaRPr lang="en-US" sz="1250" dirty="0"/>
          </a:p>
        </p:txBody>
      </p:sp>
      <p:sp>
        <p:nvSpPr>
          <p:cNvPr id="15" name="Text 13"/>
          <p:cNvSpPr txBox="1"/>
          <p:nvPr/>
        </p:nvSpPr>
        <p:spPr>
          <a:xfrm>
            <a:off x="4352544" y="2761488"/>
            <a:ext cx="5504688" cy="841248"/>
          </a:xfrm>
          <a:prstGeom prst="rect">
            <a:avLst/>
          </a:prstGeom>
          <a:noFill/>
          <a:ln/>
        </p:spPr>
        <p:txBody>
          <a:bodyPr wrap="square" lIns="0" tIns="0" rIns="0" bIns="0" rtlCol="0" anchor="ctr"/>
          <a:lstStyle/>
          <a:p>
            <a:pPr indent="0" marL="0">
              <a:buNone/>
            </a:pPr>
            <a:r>
              <a:rPr lang="en-US" sz="1150" dirty="0">
                <a:solidFill>
                  <a:srgbClr val="16181D"/>
                </a:solidFill>
                <a:latin typeface="Arial" pitchFamily="34" charset="0"/>
                <a:ea typeface="Arial" pitchFamily="34" charset="-122"/>
                <a:cs typeface="Arial" pitchFamily="34" charset="-120"/>
              </a:rPr>
              <a:t>A Bayesian network over that entity's safety state, maintained by the agent ensemble. M1b allows statistical models, not only mechanistic ones.</a:t>
            </a:r>
            <a:endParaRPr lang="en-US" sz="1150" dirty="0"/>
          </a:p>
        </p:txBody>
      </p:sp>
      <p:sp>
        <p:nvSpPr>
          <p:cNvPr id="16" name="Shape 14"/>
          <p:cNvSpPr/>
          <p:nvPr/>
        </p:nvSpPr>
        <p:spPr>
          <a:xfrm>
            <a:off x="10094976" y="2953512"/>
            <a:ext cx="1280160" cy="457200"/>
          </a:xfrm>
          <a:prstGeom prst="roundRect">
            <a:avLst>
              <a:gd name="adj" fmla="val 10000"/>
            </a:avLst>
          </a:prstGeom>
          <a:solidFill>
            <a:srgbClr val="F0F6F0"/>
          </a:solidFill>
          <a:ln w="12700">
            <a:solidFill>
              <a:srgbClr val="F0F6F0"/>
            </a:solidFill>
            <a:prstDash val="solid"/>
          </a:ln>
        </p:spPr>
      </p:sp>
      <p:sp>
        <p:nvSpPr>
          <p:cNvPr id="17" name="Text 15"/>
          <p:cNvSpPr txBox="1"/>
          <p:nvPr/>
        </p:nvSpPr>
        <p:spPr>
          <a:xfrm>
            <a:off x="10094976" y="2953512"/>
            <a:ext cx="1280160" cy="457200"/>
          </a:xfrm>
          <a:prstGeom prst="rect">
            <a:avLst/>
          </a:prstGeom>
          <a:noFill/>
          <a:ln/>
        </p:spPr>
        <p:txBody>
          <a:bodyPr wrap="square" lIns="0" tIns="0" rIns="0" bIns="0" rtlCol="0" anchor="ctr"/>
          <a:lstStyle/>
          <a:p>
            <a:pPr algn="ctr" indent="0" marL="0">
              <a:buNone/>
            </a:pPr>
            <a:r>
              <a:rPr lang="en-US" sz="1200" b="1" dirty="0">
                <a:solidFill>
                  <a:srgbClr val="2E7D32"/>
                </a:solidFill>
                <a:latin typeface="Arial" pitchFamily="34" charset="0"/>
                <a:ea typeface="Arial" pitchFamily="34" charset="-122"/>
                <a:cs typeface="Arial" pitchFamily="34" charset="-120"/>
              </a:rPr>
              <a:t>YES</a:t>
            </a:r>
            <a:endParaRPr lang="en-US" sz="1200" dirty="0"/>
          </a:p>
        </p:txBody>
      </p:sp>
      <p:sp>
        <p:nvSpPr>
          <p:cNvPr id="18" name="Text 16"/>
          <p:cNvSpPr txBox="1"/>
          <p:nvPr/>
        </p:nvSpPr>
        <p:spPr>
          <a:xfrm>
            <a:off x="786384" y="3694176"/>
            <a:ext cx="3310128" cy="841248"/>
          </a:xfrm>
          <a:prstGeom prst="rect">
            <a:avLst/>
          </a:prstGeom>
          <a:noFill/>
          <a:ln/>
        </p:spPr>
        <p:txBody>
          <a:bodyPr wrap="square" lIns="0" tIns="0" rIns="0" bIns="0" rtlCol="0" anchor="ctr"/>
          <a:lstStyle/>
          <a:p>
            <a:pPr indent="0" marL="0">
              <a:buNone/>
            </a:pPr>
            <a:r>
              <a:rPr lang="en-US" sz="1250" b="1" dirty="0">
                <a:solidFill>
                  <a:srgbClr val="16181D"/>
                </a:solidFill>
                <a:latin typeface="Arial" pitchFamily="34" charset="0"/>
                <a:ea typeface="Arial" pitchFamily="34" charset="-122"/>
                <a:cs typeface="Arial" pitchFamily="34" charset="-120"/>
              </a:rPr>
              <a:t>3 · Flow physical → virtual (data assimilation)</a:t>
            </a:r>
            <a:endParaRPr lang="en-US" sz="1250" dirty="0"/>
          </a:p>
        </p:txBody>
      </p:sp>
      <p:sp>
        <p:nvSpPr>
          <p:cNvPr id="19" name="Text 17"/>
          <p:cNvSpPr txBox="1"/>
          <p:nvPr/>
        </p:nvSpPr>
        <p:spPr>
          <a:xfrm>
            <a:off x="4352544" y="3694176"/>
            <a:ext cx="5504688" cy="841248"/>
          </a:xfrm>
          <a:prstGeom prst="rect">
            <a:avLst/>
          </a:prstGeom>
          <a:noFill/>
          <a:ln/>
        </p:spPr>
        <p:txBody>
          <a:bodyPr wrap="square" lIns="0" tIns="0" rIns="0" bIns="0" rtlCol="0" anchor="ctr"/>
          <a:lstStyle/>
          <a:p>
            <a:pPr indent="0" marL="0">
              <a:buNone/>
            </a:pPr>
            <a:r>
              <a:rPr lang="en-US" sz="1150" dirty="0">
                <a:solidFill>
                  <a:srgbClr val="16181D"/>
                </a:solidFill>
                <a:latin typeface="Arial" pitchFamily="34" charset="0"/>
                <a:ea typeface="Arial" pitchFamily="34" charset="-122"/>
                <a:cs typeface="Arial" pitchFamily="34" charset="-120"/>
              </a:rPr>
              <a:t>The narrative becomes evidence; Bayesian update on the network. M3c is literally "Bayesian method" — this is the strongest pillar.</a:t>
            </a:r>
            <a:endParaRPr lang="en-US" sz="1150" dirty="0"/>
          </a:p>
        </p:txBody>
      </p:sp>
      <p:sp>
        <p:nvSpPr>
          <p:cNvPr id="20" name="Shape 18"/>
          <p:cNvSpPr/>
          <p:nvPr/>
        </p:nvSpPr>
        <p:spPr>
          <a:xfrm>
            <a:off x="10094976" y="3886200"/>
            <a:ext cx="1280160" cy="457200"/>
          </a:xfrm>
          <a:prstGeom prst="roundRect">
            <a:avLst>
              <a:gd name="adj" fmla="val 10000"/>
            </a:avLst>
          </a:prstGeom>
          <a:solidFill>
            <a:srgbClr val="F0F6F0"/>
          </a:solidFill>
          <a:ln w="12700">
            <a:solidFill>
              <a:srgbClr val="F0F6F0"/>
            </a:solidFill>
            <a:prstDash val="solid"/>
          </a:ln>
        </p:spPr>
      </p:sp>
      <p:sp>
        <p:nvSpPr>
          <p:cNvPr id="21" name="Text 19"/>
          <p:cNvSpPr txBox="1"/>
          <p:nvPr/>
        </p:nvSpPr>
        <p:spPr>
          <a:xfrm>
            <a:off x="10094976" y="3886200"/>
            <a:ext cx="1280160" cy="457200"/>
          </a:xfrm>
          <a:prstGeom prst="rect">
            <a:avLst/>
          </a:prstGeom>
          <a:noFill/>
          <a:ln/>
        </p:spPr>
        <p:txBody>
          <a:bodyPr wrap="square" lIns="0" tIns="0" rIns="0" bIns="0" rtlCol="0" anchor="ctr"/>
          <a:lstStyle/>
          <a:p>
            <a:pPr algn="ctr" indent="0" marL="0">
              <a:buNone/>
            </a:pPr>
            <a:r>
              <a:rPr lang="en-US" sz="1200" b="1" dirty="0">
                <a:solidFill>
                  <a:srgbClr val="2E7D32"/>
                </a:solidFill>
                <a:latin typeface="Arial" pitchFamily="34" charset="0"/>
                <a:ea typeface="Arial" pitchFamily="34" charset="-122"/>
                <a:cs typeface="Arial" pitchFamily="34" charset="-120"/>
              </a:rPr>
              <a:t>YES</a:t>
            </a:r>
            <a:endParaRPr lang="en-US" sz="1200" dirty="0"/>
          </a:p>
        </p:txBody>
      </p:sp>
      <p:sp>
        <p:nvSpPr>
          <p:cNvPr id="22" name="Shape 20"/>
          <p:cNvSpPr/>
          <p:nvPr/>
        </p:nvSpPr>
        <p:spPr>
          <a:xfrm>
            <a:off x="640080" y="4581144"/>
            <a:ext cx="10908792" cy="932688"/>
          </a:xfrm>
          <a:prstGeom prst="rect">
            <a:avLst/>
          </a:prstGeom>
          <a:solidFill>
            <a:srgbClr val="F7F8FA"/>
          </a:solidFill>
          <a:ln w="12700">
            <a:solidFill>
              <a:srgbClr val="F7F8FA"/>
            </a:solidFill>
            <a:prstDash val="solid"/>
          </a:ln>
        </p:spPr>
      </p:sp>
      <p:sp>
        <p:nvSpPr>
          <p:cNvPr id="23" name="Text 21"/>
          <p:cNvSpPr txBox="1"/>
          <p:nvPr/>
        </p:nvSpPr>
        <p:spPr>
          <a:xfrm>
            <a:off x="786384" y="4626864"/>
            <a:ext cx="3310128" cy="841248"/>
          </a:xfrm>
          <a:prstGeom prst="rect">
            <a:avLst/>
          </a:prstGeom>
          <a:noFill/>
          <a:ln/>
        </p:spPr>
        <p:txBody>
          <a:bodyPr wrap="square" lIns="0" tIns="0" rIns="0" bIns="0" rtlCol="0" anchor="ctr"/>
          <a:lstStyle/>
          <a:p>
            <a:pPr indent="0" marL="0">
              <a:buNone/>
            </a:pPr>
            <a:r>
              <a:rPr lang="en-US" sz="1250" b="1" dirty="0">
                <a:solidFill>
                  <a:srgbClr val="16181D"/>
                </a:solidFill>
                <a:latin typeface="Arial" pitchFamily="34" charset="0"/>
                <a:ea typeface="Arial" pitchFamily="34" charset="-122"/>
                <a:cs typeface="Arial" pitchFamily="34" charset="-120"/>
              </a:rPr>
              <a:t>4 · Flow virtual → physical (decision)</a:t>
            </a:r>
            <a:endParaRPr lang="en-US" sz="1250" dirty="0"/>
          </a:p>
        </p:txBody>
      </p:sp>
      <p:sp>
        <p:nvSpPr>
          <p:cNvPr id="24" name="Text 22"/>
          <p:cNvSpPr txBox="1"/>
          <p:nvPr/>
        </p:nvSpPr>
        <p:spPr>
          <a:xfrm>
            <a:off x="4352544" y="4626864"/>
            <a:ext cx="5504688" cy="841248"/>
          </a:xfrm>
          <a:prstGeom prst="rect">
            <a:avLst/>
          </a:prstGeom>
          <a:noFill/>
          <a:ln/>
        </p:spPr>
        <p:txBody>
          <a:bodyPr wrap="square" lIns="0" tIns="0" rIns="0" bIns="0" rtlCol="0" anchor="ctr"/>
          <a:lstStyle/>
          <a:p>
            <a:pPr indent="0" marL="0">
              <a:buNone/>
            </a:pPr>
            <a:r>
              <a:rPr lang="en-US" sz="1150" dirty="0">
                <a:solidFill>
                  <a:srgbClr val="16181D"/>
                </a:solidFill>
                <a:latin typeface="Arial" pitchFamily="34" charset="0"/>
                <a:ea typeface="Arial" pitchFamily="34" charset="-122"/>
                <a:cs typeface="Arial" pitchFamily="34" charset="-120"/>
              </a:rPr>
              <a:t>Which failure pathway to prioritise for inspection, monitoring or a rule change. A definitive action, taken under uncertainty.</a:t>
            </a:r>
            <a:endParaRPr lang="en-US" sz="1150" dirty="0"/>
          </a:p>
        </p:txBody>
      </p:sp>
      <p:sp>
        <p:nvSpPr>
          <p:cNvPr id="25" name="Shape 23"/>
          <p:cNvSpPr/>
          <p:nvPr/>
        </p:nvSpPr>
        <p:spPr>
          <a:xfrm>
            <a:off x="10094976" y="4818888"/>
            <a:ext cx="1280160" cy="457200"/>
          </a:xfrm>
          <a:prstGeom prst="roundRect">
            <a:avLst>
              <a:gd name="adj" fmla="val 10000"/>
            </a:avLst>
          </a:prstGeom>
          <a:solidFill>
            <a:srgbClr val="F0F6F0"/>
          </a:solidFill>
          <a:ln w="12700">
            <a:solidFill>
              <a:srgbClr val="F0F6F0"/>
            </a:solidFill>
            <a:prstDash val="solid"/>
          </a:ln>
        </p:spPr>
      </p:sp>
      <p:sp>
        <p:nvSpPr>
          <p:cNvPr id="26" name="Text 24"/>
          <p:cNvSpPr txBox="1"/>
          <p:nvPr/>
        </p:nvSpPr>
        <p:spPr>
          <a:xfrm>
            <a:off x="10094976" y="4818888"/>
            <a:ext cx="1280160" cy="457200"/>
          </a:xfrm>
          <a:prstGeom prst="rect">
            <a:avLst/>
          </a:prstGeom>
          <a:noFill/>
          <a:ln/>
        </p:spPr>
        <p:txBody>
          <a:bodyPr wrap="square" lIns="0" tIns="0" rIns="0" bIns="0" rtlCol="0" anchor="ctr"/>
          <a:lstStyle/>
          <a:p>
            <a:pPr algn="ctr" indent="0" marL="0">
              <a:buNone/>
            </a:pPr>
            <a:r>
              <a:rPr lang="en-US" sz="1200" b="1" dirty="0">
                <a:solidFill>
                  <a:srgbClr val="2E7D32"/>
                </a:solidFill>
                <a:latin typeface="Arial" pitchFamily="34" charset="0"/>
                <a:ea typeface="Arial" pitchFamily="34" charset="-122"/>
                <a:cs typeface="Arial" pitchFamily="34" charset="-120"/>
              </a:rPr>
              <a:t>YES</a:t>
            </a:r>
            <a:endParaRPr lang="en-US" sz="1200" dirty="0"/>
          </a:p>
        </p:txBody>
      </p:sp>
      <p:sp>
        <p:nvSpPr>
          <p:cNvPr id="27" name="Shape 25"/>
          <p:cNvSpPr/>
          <p:nvPr/>
        </p:nvSpPr>
        <p:spPr>
          <a:xfrm>
            <a:off x="640080" y="5623560"/>
            <a:ext cx="10908792" cy="713232"/>
          </a:xfrm>
          <a:prstGeom prst="roundRect">
            <a:avLst>
              <a:gd name="adj" fmla="val 6410"/>
            </a:avLst>
          </a:prstGeom>
          <a:solidFill>
            <a:srgbClr val="FDF0EE"/>
          </a:solidFill>
          <a:ln w="12700">
            <a:solidFill>
              <a:srgbClr val="FDF0EE"/>
            </a:solidFill>
            <a:prstDash val="solid"/>
          </a:ln>
        </p:spPr>
      </p:sp>
      <p:sp>
        <p:nvSpPr>
          <p:cNvPr id="28" name="Text 26"/>
          <p:cNvSpPr txBox="1"/>
          <p:nvPr/>
        </p:nvSpPr>
        <p:spPr>
          <a:xfrm>
            <a:off x="841248" y="5760720"/>
            <a:ext cx="10506456" cy="237744"/>
          </a:xfrm>
          <a:prstGeom prst="rect">
            <a:avLst/>
          </a:prstGeom>
          <a:noFill/>
          <a:ln/>
        </p:spPr>
        <p:txBody>
          <a:bodyPr wrap="square" lIns="0" tIns="0" rIns="0" bIns="0" rtlCol="0" anchor="t"/>
          <a:lstStyle/>
          <a:p>
            <a:pPr indent="0" marL="0">
              <a:buNone/>
            </a:pPr>
            <a:r>
              <a:rPr lang="en-US" sz="1200" b="1" dirty="0">
                <a:solidFill>
                  <a:srgbClr val="B23A2C"/>
                </a:solidFill>
                <a:latin typeface="Arial" pitchFamily="34" charset="0"/>
                <a:ea typeface="Arial" pitchFamily="34" charset="-122"/>
                <a:cs typeface="Arial" pitchFamily="34" charset="-120"/>
              </a:rPr>
              <a:t>Pillar 1 is the one to ask about</a:t>
            </a:r>
            <a:endParaRPr lang="en-US" sz="1200" dirty="0"/>
          </a:p>
        </p:txBody>
      </p:sp>
      <p:sp>
        <p:nvSpPr>
          <p:cNvPr id="29" name="Text 27"/>
          <p:cNvSpPr txBox="1"/>
          <p:nvPr/>
        </p:nvSpPr>
        <p:spPr>
          <a:xfrm>
            <a:off x="841248" y="6044184"/>
            <a:ext cx="10506456" cy="155448"/>
          </a:xfrm>
          <a:prstGeom prst="rect">
            <a:avLst/>
          </a:prstGeom>
          <a:noFill/>
          <a:ln/>
        </p:spPr>
        <p:txBody>
          <a:bodyPr wrap="square" lIns="0" tIns="0" rIns="0" bIns="0" rtlCol="0" anchor="t"/>
          <a:lstStyle/>
          <a:p>
            <a:pPr indent="0" marL="0">
              <a:spcAft>
                <a:spcPts val="300"/>
              </a:spcAft>
              <a:buNone/>
            </a:pPr>
            <a:r>
              <a:rPr lang="en-US" sz="1100" dirty="0">
                <a:solidFill>
                  <a:srgbClr val="16181D"/>
                </a:solidFill>
                <a:latin typeface="Arial" pitchFamily="34" charset="0"/>
                <a:ea typeface="Arial" pitchFamily="34" charset="-122"/>
                <a:cs typeface="Arial" pitchFamily="34" charset="-120"/>
              </a:rPr>
              <a:t>Fleet-level and statistical, not a single instrumented machine. Episodic reports, not continuous sensing. Ask Pranav in office hours before the topic is due Thursday.</a:t>
            </a:r>
            <a:endParaRPr lang="en-US" sz="1100" dirty="0"/>
          </a:p>
        </p:txBody>
      </p:sp>
      <p:sp>
        <p:nvSpPr>
          <p:cNvPr id="30" name="Text 28"/>
          <p:cNvSpPr txBox="1"/>
          <p:nvPr/>
        </p:nvSpPr>
        <p:spPr>
          <a:xfrm>
            <a:off x="11155680" y="6355080"/>
            <a:ext cx="822960" cy="274320"/>
          </a:xfrm>
          <a:prstGeom prst="rect">
            <a:avLst/>
          </a:prstGeom>
          <a:noFill/>
          <a:ln/>
        </p:spPr>
        <p:txBody>
          <a:bodyPr wrap="square" lIns="0" tIns="0" rIns="0" bIns="0" rtlCol="0" anchor="ctr"/>
          <a:lstStyle/>
          <a:p>
            <a:pPr algn="r" indent="0" marL="0">
              <a:buNone/>
            </a:pPr>
            <a:r>
              <a:rPr lang="en-US" sz="1100" dirty="0">
                <a:solidFill>
                  <a:srgbClr val="B8BCC4"/>
                </a:solidFill>
                <a:latin typeface="Arial" pitchFamily="34" charset="0"/>
                <a:ea typeface="Arial" pitchFamily="34" charset="-122"/>
                <a:cs typeface="Arial" pitchFamily="34" charset="-120"/>
              </a:rPr>
              <a:t>appendix</a:t>
            </a:r>
            <a:endParaRPr lang="en-US" sz="11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8A8F99"/>
          </a:solidFill>
          <a:ln/>
        </p:spPr>
      </p:sp>
      <p:sp>
        <p:nvSpPr>
          <p:cNvPr id="3" name="Text 1"/>
          <p:cNvSpPr txBox="1"/>
          <p:nvPr/>
        </p:nvSpPr>
        <p:spPr>
          <a:xfrm>
            <a:off x="640080" y="384048"/>
            <a:ext cx="10908792" cy="566928"/>
          </a:xfrm>
          <a:prstGeom prst="rect">
            <a:avLst/>
          </a:prstGeom>
          <a:noFill/>
          <a:ln/>
        </p:spPr>
        <p:txBody>
          <a:bodyPr wrap="square" lIns="0" tIns="0" rIns="0" bIns="0" rtlCol="0" anchor="t"/>
          <a:lstStyle/>
          <a:p>
            <a:pPr indent="0" marL="0">
              <a:buNone/>
            </a:pPr>
            <a:r>
              <a:rPr lang="en-US" sz="2700" b="1" dirty="0">
                <a:solidFill>
                  <a:srgbClr val="16181D"/>
                </a:solidFill>
                <a:latin typeface="Arial" pitchFamily="34" charset="0"/>
                <a:ea typeface="Arial" pitchFamily="34" charset="-122"/>
                <a:cs typeface="Arial" pitchFamily="34" charset="-120"/>
              </a:rPr>
              <a:t>What worked</a:t>
            </a:r>
            <a:endParaRPr lang="en-US" sz="2700" dirty="0"/>
          </a:p>
        </p:txBody>
      </p:sp>
      <p:sp>
        <p:nvSpPr>
          <p:cNvPr id="4" name="Text 2"/>
          <p:cNvSpPr txBox="1"/>
          <p:nvPr/>
        </p:nvSpPr>
        <p:spPr>
          <a:xfrm>
            <a:off x="640080" y="969264"/>
            <a:ext cx="10908792" cy="347472"/>
          </a:xfrm>
          <a:prstGeom prst="rect">
            <a:avLst/>
          </a:prstGeom>
          <a:noFill/>
          <a:ln/>
        </p:spPr>
        <p:txBody>
          <a:bodyPr wrap="square" lIns="0" tIns="0" rIns="0" bIns="0" rtlCol="0" anchor="t"/>
          <a:lstStyle/>
          <a:p>
            <a:pPr indent="0" marL="0">
              <a:buNone/>
            </a:pPr>
            <a:r>
              <a:rPr lang="en-US" sz="1400" dirty="0">
                <a:solidFill>
                  <a:srgbClr val="6B7280"/>
                </a:solidFill>
                <a:latin typeface="Arial" pitchFamily="34" charset="0"/>
                <a:ea typeface="Arial" pitchFamily="34" charset="-122"/>
                <a:cs typeface="Arial" pitchFamily="34" charset="-120"/>
              </a:rPr>
              <a:t>The rebuild matches on everything derived by counting.</a:t>
            </a:r>
            <a:endParaRPr lang="en-US" sz="1400" dirty="0"/>
          </a:p>
        </p:txBody>
      </p:sp>
      <p:sp>
        <p:nvSpPr>
          <p:cNvPr id="5" name="Text 3"/>
          <p:cNvSpPr txBox="1"/>
          <p:nvPr/>
        </p:nvSpPr>
        <p:spPr>
          <a:xfrm>
            <a:off x="640080" y="1463040"/>
            <a:ext cx="10908792" cy="3383280"/>
          </a:xfrm>
          <a:prstGeom prst="rect">
            <a:avLst/>
          </a:prstGeom>
          <a:noFill/>
          <a:ln/>
        </p:spPr>
        <p:txBody>
          <a:bodyPr wrap="square" lIns="0" tIns="0" rIns="0" bIns="0" rtlCol="0" anchor="t"/>
          <a:lstStyle/>
          <a:p>
            <a:pPr indent="0" marL="0">
              <a:spcAft>
                <a:spcPts val="900"/>
              </a:spcAft>
              <a:buNone/>
            </a:pPr>
            <a:r>
              <a:rPr lang="en-US" sz="1400" b="1" dirty="0">
                <a:solidFill>
                  <a:srgbClr val="2E7D32"/>
                </a:solidFill>
                <a:latin typeface="Arial" pitchFamily="34" charset="0"/>
                <a:ea typeface="Arial" pitchFamily="34" charset="-122"/>
                <a:cs typeface="Arial" pitchFamily="34" charset="-120"/>
              </a:rPr>
              <a:t>▬  </a:t>
            </a:r>
            <a:pPr indent="0" marL="0">
              <a:spcAft>
                <a:spcPts val="900"/>
              </a:spcAft>
              <a:buNone/>
            </a:pPr>
            <a:r>
              <a:rPr lang="en-US" sz="1400" b="1" dirty="0">
                <a:solidFill>
                  <a:srgbClr val="16181D"/>
                </a:solidFill>
                <a:latin typeface="Arial" pitchFamily="34" charset="0"/>
                <a:ea typeface="Arial" pitchFamily="34" charset="-122"/>
                <a:cs typeface="Arial" pitchFamily="34" charset="-120"/>
              </a:rPr>
              <a:t>All 85 Table 7 rows, 102 fire occurrences, the prior formula.</a:t>
            </a:r>
            <a:endParaRPr lang="en-US" sz="1400" dirty="0"/>
          </a:p>
          <a:p>
            <a:pPr indent="0" marL="0">
              <a:spcAft>
                <a:spcPts val="900"/>
              </a:spcAft>
              <a:buNone/>
            </a:pPr>
            <a:r>
              <a:rPr lang="en-US" sz="1400" b="1" dirty="0">
                <a:solidFill>
                  <a:srgbClr val="2E7D32"/>
                </a:solidFill>
                <a:latin typeface="Arial" pitchFamily="34" charset="0"/>
                <a:ea typeface="Arial" pitchFamily="34" charset="-122"/>
                <a:cs typeface="Arial" pitchFamily="34" charset="-120"/>
              </a:rPr>
              <a:t>▬  </a:t>
            </a:r>
            <a:pPr indent="0" marL="0">
              <a:spcAft>
                <a:spcPts val="900"/>
              </a:spcAft>
              <a:buNone/>
            </a:pPr>
            <a:r>
              <a:rPr lang="en-US" sz="1400" b="1" dirty="0">
                <a:solidFill>
                  <a:srgbClr val="16181D"/>
                </a:solidFill>
                <a:latin typeface="Arial" pitchFamily="34" charset="0"/>
                <a:ea typeface="Arial" pitchFamily="34" charset="-122"/>
                <a:cs typeface="Arial" pitchFamily="34" charset="-120"/>
              </a:rPr>
              <a:t>77 of 93 published posteriors land within tolerance after our upgrades.</a:t>
            </a:r>
            <a:endParaRPr lang="en-US" sz="1400" dirty="0"/>
          </a:p>
          <a:p>
            <a:pPr indent="0" marL="0">
              <a:spcAft>
                <a:spcPts val="900"/>
              </a:spcAft>
              <a:buNone/>
            </a:pPr>
            <a:r>
              <a:rPr lang="en-US" sz="1400" b="1" dirty="0">
                <a:solidFill>
                  <a:srgbClr val="2E7D32"/>
                </a:solidFill>
                <a:latin typeface="Arial" pitchFamily="34" charset="0"/>
                <a:ea typeface="Arial" pitchFamily="34" charset="-122"/>
                <a:cs typeface="Arial" pitchFamily="34" charset="-120"/>
              </a:rPr>
              <a:t>▬  </a:t>
            </a:r>
            <a:pPr indent="0" marL="0">
              <a:spcAft>
                <a:spcPts val="900"/>
              </a:spcAft>
              <a:buNone/>
            </a:pPr>
            <a:r>
              <a:rPr lang="en-US" sz="1400" b="1" dirty="0">
                <a:solidFill>
                  <a:srgbClr val="16181D"/>
                </a:solidFill>
                <a:latin typeface="Arial" pitchFamily="34" charset="0"/>
                <a:ea typeface="Arial" pitchFamily="34" charset="-122"/>
                <a:cs typeface="Arial" pitchFamily="34" charset="-120"/>
              </a:rPr>
              <a:t>Severity from text alone: 90.9% injury, 77.4% damage</a:t>
            </a:r>
            <a:pPr indent="0" marL="0">
              <a:spcAft>
                <a:spcPts val="900"/>
              </a:spcAft>
              <a:buNone/>
            </a:pPr>
            <a:endParaRPr lang="en-US" sz="1400" dirty="0"/>
          </a:p>
          <a:p>
            <a:pPr indent="0" marL="0">
              <a:spcAft>
                <a:spcPts val="900"/>
              </a:spcAft>
              <a:buNone/>
            </a:pPr>
            <a:r>
              <a:rPr lang="en-US" sz="1200" dirty="0">
                <a:solidFill>
                  <a:srgbClr val="6B7280"/>
                </a:solidFill>
                <a:latin typeface="Arial" pitchFamily="34" charset="0"/>
                <a:ea typeface="Arial" pitchFamily="34" charset="-122"/>
                <a:cs typeface="Arial" pitchFamily="34" charset="-120"/>
              </a:rPr>
              <a:t>     on 296 accidents the network never saw — from a 58.4% / 42.6% majority baseline.</a:t>
            </a:r>
            <a:endParaRPr lang="en-US" sz="1400" dirty="0"/>
          </a:p>
          <a:p>
            <a:pPr indent="0" marL="0">
              <a:spcAft>
                <a:spcPts val="900"/>
              </a:spcAft>
              <a:buNone/>
            </a:pPr>
            <a:r>
              <a:rPr lang="en-US" sz="1400" b="1" dirty="0">
                <a:solidFill>
                  <a:srgbClr val="2E7D32"/>
                </a:solidFill>
                <a:latin typeface="Arial" pitchFamily="34" charset="0"/>
                <a:ea typeface="Arial" pitchFamily="34" charset="-122"/>
                <a:cs typeface="Arial" pitchFamily="34" charset="-120"/>
              </a:rPr>
              <a:t>▬  </a:t>
            </a:r>
            <a:pPr indent="0" marL="0">
              <a:spcAft>
                <a:spcPts val="900"/>
              </a:spcAft>
              <a:buNone/>
            </a:pPr>
            <a:r>
              <a:rPr lang="en-US" sz="1400" b="1" dirty="0">
                <a:solidFill>
                  <a:srgbClr val="16181D"/>
                </a:solidFill>
                <a:latin typeface="Arial" pitchFamily="34" charset="0"/>
                <a:ea typeface="Arial" pitchFamily="34" charset="-122"/>
                <a:cs typeface="Arial" pitchFamily="34" charset="-120"/>
              </a:rPr>
              <a:t>Cause category 84.2%</a:t>
            </a:r>
            <a:pPr indent="0" marL="0">
              <a:spcAft>
                <a:spcPts val="900"/>
              </a:spcAft>
              <a:buNone/>
            </a:pPr>
            <a:endParaRPr lang="en-US" sz="1400" dirty="0"/>
          </a:p>
          <a:p>
            <a:pPr indent="0" marL="0">
              <a:spcAft>
                <a:spcPts val="900"/>
              </a:spcAft>
              <a:buNone/>
            </a:pPr>
            <a:r>
              <a:rPr lang="en-US" sz="1200" dirty="0">
                <a:solidFill>
                  <a:srgbClr val="6B7280"/>
                </a:solidFill>
                <a:latin typeface="Arial" pitchFamily="34" charset="0"/>
                <a:ea typeface="Arial" pitchFamily="34" charset="-122"/>
                <a:cs typeface="Arial" pitchFamily="34" charset="-120"/>
              </a:rPr>
              <a:t>     on 253 accidents, against a 45.8% baseline.</a:t>
            </a:r>
            <a:endParaRPr lang="en-US" sz="1400" dirty="0"/>
          </a:p>
          <a:p>
            <a:pPr indent="0" marL="0">
              <a:spcAft>
                <a:spcPts val="900"/>
              </a:spcAft>
              <a:buNone/>
            </a:pPr>
            <a:r>
              <a:rPr lang="en-US" sz="1400" b="1" dirty="0">
                <a:solidFill>
                  <a:srgbClr val="2E7D32"/>
                </a:solidFill>
                <a:latin typeface="Arial" pitchFamily="34" charset="0"/>
                <a:ea typeface="Arial" pitchFamily="34" charset="-122"/>
                <a:cs typeface="Arial" pitchFamily="34" charset="-120"/>
              </a:rPr>
              <a:t>▬  </a:t>
            </a:r>
            <a:pPr indent="0" marL="0">
              <a:spcAft>
                <a:spcPts val="900"/>
              </a:spcAft>
              <a:buNone/>
            </a:pPr>
            <a:r>
              <a:rPr lang="en-US" sz="1400" b="1" dirty="0">
                <a:solidFill>
                  <a:srgbClr val="16181D"/>
                </a:solidFill>
                <a:latin typeface="Arial" pitchFamily="34" charset="0"/>
                <a:ea typeface="Arial" pitchFamily="34" charset="-122"/>
                <a:cs typeface="Arial" pitchFamily="34" charset="-120"/>
              </a:rPr>
              <a:t>Redaction held.</a:t>
            </a:r>
            <a:pPr indent="0" marL="0">
              <a:spcAft>
                <a:spcPts val="900"/>
              </a:spcAft>
              <a:buNone/>
            </a:pPr>
            <a:endParaRPr lang="en-US" sz="1400" dirty="0"/>
          </a:p>
          <a:p>
            <a:pPr indent="0" marL="0">
              <a:spcAft>
                <a:spcPts val="900"/>
              </a:spcAft>
              <a:buNone/>
            </a:pPr>
            <a:r>
              <a:rPr lang="en-US" sz="1200" dirty="0">
                <a:solidFill>
                  <a:srgbClr val="6B7280"/>
                </a:solidFill>
                <a:latin typeface="Arial" pitchFamily="34" charset="0"/>
                <a:ea typeface="Arial" pitchFamily="34" charset="-122"/>
                <a:cs typeface="Arial" pitchFamily="34" charset="-120"/>
              </a:rPr>
              <a:t>     After stripping, 0 of 296 narratives still stated injury or damage.</a:t>
            </a:r>
            <a:endParaRPr lang="en-US" sz="1400" dirty="0"/>
          </a:p>
        </p:txBody>
      </p:sp>
      <p:sp>
        <p:nvSpPr>
          <p:cNvPr id="6" name="Shape 4"/>
          <p:cNvSpPr/>
          <p:nvPr/>
        </p:nvSpPr>
        <p:spPr>
          <a:xfrm>
            <a:off x="640080" y="4937760"/>
            <a:ext cx="10908792" cy="914400"/>
          </a:xfrm>
          <a:prstGeom prst="roundRect">
            <a:avLst>
              <a:gd name="adj" fmla="val 5000"/>
            </a:avLst>
          </a:prstGeom>
          <a:solidFill>
            <a:srgbClr val="12345C"/>
          </a:solidFill>
          <a:ln w="12700">
            <a:solidFill>
              <a:srgbClr val="12345C"/>
            </a:solidFill>
            <a:prstDash val="solid"/>
          </a:ln>
        </p:spPr>
      </p:sp>
      <p:sp>
        <p:nvSpPr>
          <p:cNvPr id="7" name="Text 5"/>
          <p:cNvSpPr txBox="1"/>
          <p:nvPr/>
        </p:nvSpPr>
        <p:spPr>
          <a:xfrm>
            <a:off x="914400" y="5010912"/>
            <a:ext cx="10360152" cy="768096"/>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New finding: your published recipe alone cannot reproduce your published severity rows. Our four-state upgrade is what makes them reproducible.</a:t>
            </a:r>
            <a:endParaRPr lang="en-US" sz="1500" dirty="0"/>
          </a:p>
        </p:txBody>
      </p:sp>
      <p:sp>
        <p:nvSpPr>
          <p:cNvPr id="8" name="Text 6"/>
          <p:cNvSpPr txBox="1"/>
          <p:nvPr/>
        </p:nvSpPr>
        <p:spPr>
          <a:xfrm>
            <a:off x="11155680" y="6355080"/>
            <a:ext cx="822960" cy="274320"/>
          </a:xfrm>
          <a:prstGeom prst="rect">
            <a:avLst/>
          </a:prstGeom>
          <a:noFill/>
          <a:ln/>
        </p:spPr>
        <p:txBody>
          <a:bodyPr wrap="square" lIns="0" tIns="0" rIns="0" bIns="0" rtlCol="0" anchor="ctr"/>
          <a:lstStyle/>
          <a:p>
            <a:pPr algn="r" indent="0" marL="0">
              <a:buNone/>
            </a:pPr>
            <a:r>
              <a:rPr lang="en-US" sz="1100" dirty="0">
                <a:solidFill>
                  <a:srgbClr val="B8BCC4"/>
                </a:solidFill>
                <a:latin typeface="Arial" pitchFamily="34" charset="0"/>
                <a:ea typeface="Arial" pitchFamily="34" charset="-122"/>
                <a:cs typeface="Arial" pitchFamily="34" charset="-120"/>
              </a:rPr>
              <a:t>appendix</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8A8F99"/>
          </a:solidFill>
          <a:ln/>
        </p:spPr>
      </p:sp>
      <p:sp>
        <p:nvSpPr>
          <p:cNvPr id="3" name="Text 1"/>
          <p:cNvSpPr txBox="1"/>
          <p:nvPr/>
        </p:nvSpPr>
        <p:spPr>
          <a:xfrm>
            <a:off x="640080" y="384048"/>
            <a:ext cx="10908792" cy="566928"/>
          </a:xfrm>
          <a:prstGeom prst="rect">
            <a:avLst/>
          </a:prstGeom>
          <a:noFill/>
          <a:ln/>
        </p:spPr>
        <p:txBody>
          <a:bodyPr wrap="square" lIns="0" tIns="0" rIns="0" bIns="0" rtlCol="0" anchor="t"/>
          <a:lstStyle/>
          <a:p>
            <a:pPr indent="0" marL="0">
              <a:buNone/>
            </a:pPr>
            <a:r>
              <a:rPr lang="en-US" sz="2700" b="1" dirty="0">
                <a:solidFill>
                  <a:srgbClr val="16181D"/>
                </a:solidFill>
                <a:latin typeface="Arial" pitchFamily="34" charset="0"/>
                <a:ea typeface="Arial" pitchFamily="34" charset="-122"/>
                <a:cs typeface="Arial" pitchFamily="34" charset="-120"/>
              </a:rPr>
              <a:t>What did not work</a:t>
            </a:r>
            <a:endParaRPr lang="en-US" sz="2700" dirty="0"/>
          </a:p>
        </p:txBody>
      </p:sp>
      <p:sp>
        <p:nvSpPr>
          <p:cNvPr id="4" name="Text 2"/>
          <p:cNvSpPr txBox="1"/>
          <p:nvPr/>
        </p:nvSpPr>
        <p:spPr>
          <a:xfrm>
            <a:off x="640080" y="969264"/>
            <a:ext cx="10908792" cy="347472"/>
          </a:xfrm>
          <a:prstGeom prst="rect">
            <a:avLst/>
          </a:prstGeom>
          <a:noFill/>
          <a:ln/>
        </p:spPr>
        <p:txBody>
          <a:bodyPr wrap="square" lIns="0" tIns="0" rIns="0" bIns="0" rtlCol="0" anchor="t"/>
          <a:lstStyle/>
          <a:p>
            <a:pPr indent="0" marL="0">
              <a:buNone/>
            </a:pPr>
            <a:r>
              <a:rPr lang="en-US" sz="1400" dirty="0">
                <a:solidFill>
                  <a:srgbClr val="6B7280"/>
                </a:solidFill>
                <a:latin typeface="Arial" pitchFamily="34" charset="0"/>
                <a:ea typeface="Arial" pitchFamily="34" charset="-122"/>
                <a:cs typeface="Arial" pitchFamily="34" charset="-120"/>
              </a:rPr>
              <a:t>Present as design, not apology.</a:t>
            </a:r>
            <a:endParaRPr lang="en-US" sz="1400" dirty="0"/>
          </a:p>
        </p:txBody>
      </p:sp>
      <p:sp>
        <p:nvSpPr>
          <p:cNvPr id="5" name="Text 3"/>
          <p:cNvSpPr txBox="1"/>
          <p:nvPr/>
        </p:nvSpPr>
        <p:spPr>
          <a:xfrm>
            <a:off x="640080" y="1463040"/>
            <a:ext cx="10908792" cy="4480560"/>
          </a:xfrm>
          <a:prstGeom prst="rect">
            <a:avLst/>
          </a:prstGeom>
          <a:noFill/>
          <a:ln/>
        </p:spPr>
        <p:txBody>
          <a:bodyPr wrap="square" lIns="0" tIns="0" rIns="0" bIns="0" rtlCol="0" anchor="t"/>
          <a:lstStyle/>
          <a:p>
            <a:pPr indent="0" marL="0">
              <a:spcAft>
                <a:spcPts val="900"/>
              </a:spcAft>
              <a:buNone/>
            </a:pPr>
            <a:r>
              <a:rPr lang="en-US" sz="1350" b="1" dirty="0">
                <a:solidFill>
                  <a:srgbClr val="B23A2C"/>
                </a:solidFill>
                <a:latin typeface="Arial" pitchFamily="34" charset="0"/>
                <a:ea typeface="Arial" pitchFamily="34" charset="-122"/>
                <a:cs typeface="Arial" pitchFamily="34" charset="-120"/>
              </a:rPr>
              <a:t>▬  </a:t>
            </a:r>
            <a:pPr indent="0" marL="0">
              <a:spcAft>
                <a:spcPts val="900"/>
              </a:spcAft>
              <a:buNone/>
            </a:pPr>
            <a:r>
              <a:rPr lang="en-US" sz="1350" b="1" dirty="0">
                <a:solidFill>
                  <a:srgbClr val="16181D"/>
                </a:solidFill>
                <a:latin typeface="Arial" pitchFamily="34" charset="0"/>
                <a:ea typeface="Arial" pitchFamily="34" charset="-122"/>
                <a:cs typeface="Arial" pitchFamily="34" charset="-120"/>
              </a:rPr>
              <a:t>The network adds no severity accuracy.</a:t>
            </a:r>
            <a:pPr indent="0" marL="0">
              <a:spcAft>
                <a:spcPts val="900"/>
              </a:spcAft>
              <a:buNone/>
            </a:pPr>
            <a:endParaRPr lang="en-US" sz="1350" dirty="0"/>
          </a:p>
          <a:p>
            <a:pPr indent="0" marL="0">
              <a:spcAft>
                <a:spcPts val="900"/>
              </a:spcAft>
              <a:buNone/>
            </a:pPr>
            <a:r>
              <a:rPr lang="en-US" sz="1150" dirty="0">
                <a:solidFill>
                  <a:srgbClr val="6B7280"/>
                </a:solidFill>
                <a:latin typeface="Arial" pitchFamily="34" charset="0"/>
                <a:ea typeface="Arial" pitchFamily="34" charset="-122"/>
                <a:cs typeface="Arial" pitchFamily="34" charset="-120"/>
              </a:rPr>
              <a:t>     It matches plain neighbour voting on all 296 — identical to three decimals, confidence intervals included.</a:t>
            </a:r>
            <a:endParaRPr lang="en-US" sz="1350" dirty="0"/>
          </a:p>
          <a:p>
            <a:pPr indent="0" marL="0">
              <a:spcAft>
                <a:spcPts val="900"/>
              </a:spcAft>
              <a:buNone/>
            </a:pPr>
            <a:r>
              <a:rPr lang="en-US" sz="1350" b="1" dirty="0">
                <a:solidFill>
                  <a:srgbClr val="B23A2C"/>
                </a:solidFill>
                <a:latin typeface="Arial" pitchFamily="34" charset="0"/>
                <a:ea typeface="Arial" pitchFamily="34" charset="-122"/>
                <a:cs typeface="Arial" pitchFamily="34" charset="-120"/>
              </a:rPr>
              <a:t>▬  </a:t>
            </a:r>
            <a:pPr indent="0" marL="0">
              <a:spcAft>
                <a:spcPts val="900"/>
              </a:spcAft>
              <a:buNone/>
            </a:pPr>
            <a:r>
              <a:rPr lang="en-US" sz="1350" b="1" dirty="0">
                <a:solidFill>
                  <a:srgbClr val="16181D"/>
                </a:solidFill>
                <a:latin typeface="Arial" pitchFamily="34" charset="0"/>
                <a:ea typeface="Arial" pitchFamily="34" charset="-122"/>
                <a:cs typeface="Arial" pitchFamily="34" charset="-120"/>
              </a:rPr>
              <a:t>Events through the network give 57.7% on cause</a:t>
            </a:r>
            <a:pPr indent="0" marL="0">
              <a:spcAft>
                <a:spcPts val="900"/>
              </a:spcAft>
              <a:buNone/>
            </a:pPr>
            <a:endParaRPr lang="en-US" sz="1350" dirty="0"/>
          </a:p>
          <a:p>
            <a:pPr indent="0" marL="0">
              <a:spcAft>
                <a:spcPts val="900"/>
              </a:spcAft>
              <a:buNone/>
            </a:pPr>
            <a:r>
              <a:rPr lang="en-US" sz="1150" dirty="0">
                <a:solidFill>
                  <a:srgbClr val="6B7280"/>
                </a:solidFill>
                <a:latin typeface="Arial" pitchFamily="34" charset="0"/>
                <a:ea typeface="Arial" pitchFamily="34" charset="-122"/>
                <a:cs typeface="Arial" pitchFamily="34" charset="-120"/>
              </a:rPr>
              <a:t>     vs retrieval's 84.2%.</a:t>
            </a:r>
            <a:endParaRPr lang="en-US" sz="1350" dirty="0"/>
          </a:p>
          <a:p>
            <a:pPr indent="0" marL="0">
              <a:spcAft>
                <a:spcPts val="900"/>
              </a:spcAft>
              <a:buNone/>
            </a:pPr>
            <a:r>
              <a:rPr lang="en-US" sz="1350" b="1" dirty="0">
                <a:solidFill>
                  <a:srgbClr val="B23A2C"/>
                </a:solidFill>
                <a:latin typeface="Arial" pitchFamily="34" charset="0"/>
                <a:ea typeface="Arial" pitchFamily="34" charset="-122"/>
                <a:cs typeface="Arial" pitchFamily="34" charset="-120"/>
              </a:rPr>
              <a:t>▬  </a:t>
            </a:r>
            <a:pPr indent="0" marL="0">
              <a:spcAft>
                <a:spcPts val="900"/>
              </a:spcAft>
              <a:buNone/>
            </a:pPr>
            <a:r>
              <a:rPr lang="en-US" sz="1350" b="1" dirty="0">
                <a:solidFill>
                  <a:srgbClr val="16181D"/>
                </a:solidFill>
                <a:latin typeface="Arial" pitchFamily="34" charset="0"/>
                <a:ea typeface="Arial" pitchFamily="34" charset="-122"/>
                <a:cs typeface="Arial" pitchFamily="34" charset="-120"/>
              </a:rPr>
              <a:t>Two baselines beat us.</a:t>
            </a:r>
            <a:pPr indent="0" marL="0">
              <a:spcAft>
                <a:spcPts val="900"/>
              </a:spcAft>
              <a:buNone/>
            </a:pPr>
            <a:endParaRPr lang="en-US" sz="1350" dirty="0"/>
          </a:p>
          <a:p>
            <a:pPr indent="0" marL="0">
              <a:spcAft>
                <a:spcPts val="900"/>
              </a:spcAft>
              <a:buNone/>
            </a:pPr>
            <a:r>
              <a:rPr lang="en-US" sz="1150" dirty="0">
                <a:solidFill>
                  <a:srgbClr val="6B7280"/>
                </a:solidFill>
                <a:latin typeface="Arial" pitchFamily="34" charset="0"/>
                <a:ea typeface="Arial" pitchFamily="34" charset="-122"/>
                <a:cs typeface="Arial" pitchFamily="34" charset="-120"/>
              </a:rPr>
              <a:t>     TF-IDF injury Macro-F1 0.603 vs our 0.470. Supervised embedding LR on cause, 88.1% vs our 84.2%.</a:t>
            </a:r>
            <a:endParaRPr lang="en-US" sz="1350" dirty="0"/>
          </a:p>
          <a:p>
            <a:pPr indent="0" marL="0">
              <a:spcAft>
                <a:spcPts val="900"/>
              </a:spcAft>
              <a:buNone/>
            </a:pPr>
            <a:r>
              <a:rPr lang="en-US" sz="1350" b="1" dirty="0">
                <a:solidFill>
                  <a:srgbClr val="B23A2C"/>
                </a:solidFill>
                <a:latin typeface="Arial" pitchFamily="34" charset="0"/>
                <a:ea typeface="Arial" pitchFamily="34" charset="-122"/>
                <a:cs typeface="Arial" pitchFamily="34" charset="-120"/>
              </a:rPr>
              <a:t>▬  </a:t>
            </a:r>
            <a:pPr indent="0" marL="0">
              <a:spcAft>
                <a:spcPts val="900"/>
              </a:spcAft>
              <a:buNone/>
            </a:pPr>
            <a:r>
              <a:rPr lang="en-US" sz="1350" b="1" dirty="0">
                <a:solidFill>
                  <a:srgbClr val="16181D"/>
                </a:solidFill>
                <a:latin typeface="Arial" pitchFamily="34" charset="0"/>
                <a:ea typeface="Arial" pitchFamily="34" charset="-122"/>
                <a:cs typeface="Arial" pitchFamily="34" charset="-120"/>
              </a:rPr>
              <a:t>Fire cross-inference failed below chance.</a:t>
            </a:r>
            <a:pPr indent="0" marL="0">
              <a:spcAft>
                <a:spcPts val="900"/>
              </a:spcAft>
              <a:buNone/>
            </a:pPr>
            <a:endParaRPr lang="en-US" sz="1350" dirty="0"/>
          </a:p>
          <a:p>
            <a:pPr indent="0" marL="0">
              <a:spcAft>
                <a:spcPts val="900"/>
              </a:spcAft>
              <a:buNone/>
            </a:pPr>
            <a:r>
              <a:rPr lang="en-US" sz="1150" dirty="0">
                <a:solidFill>
                  <a:srgbClr val="6B7280"/>
                </a:solidFill>
                <a:latin typeface="Arial" pitchFamily="34" charset="0"/>
                <a:ea typeface="Arial" pitchFamily="34" charset="-122"/>
                <a:cs typeface="Arial" pitchFamily="34" charset="-120"/>
              </a:rPr>
              <a:t>     ROC AUC 0.39–0.46; retrieval on the same text reaches 0.97.</a:t>
            </a:r>
            <a:endParaRPr lang="en-US" sz="1350" dirty="0"/>
          </a:p>
          <a:p>
            <a:pPr indent="0" marL="0">
              <a:spcAft>
                <a:spcPts val="900"/>
              </a:spcAft>
              <a:buNone/>
            </a:pPr>
            <a:r>
              <a:rPr lang="en-US" sz="1350" b="1" dirty="0">
                <a:solidFill>
                  <a:srgbClr val="B23A2C"/>
                </a:solidFill>
                <a:latin typeface="Arial" pitchFamily="34" charset="0"/>
                <a:ea typeface="Arial" pitchFamily="34" charset="-122"/>
                <a:cs typeface="Arial" pitchFamily="34" charset="-120"/>
              </a:rPr>
              <a:t>▬  </a:t>
            </a:r>
            <a:pPr indent="0" marL="0">
              <a:spcAft>
                <a:spcPts val="900"/>
              </a:spcAft>
              <a:buNone/>
            </a:pPr>
            <a:r>
              <a:rPr lang="en-US" sz="1350" b="1" dirty="0">
                <a:solidFill>
                  <a:srgbClr val="16181D"/>
                </a:solidFill>
                <a:latin typeface="Arial" pitchFamily="34" charset="0"/>
                <a:ea typeface="Arial" pitchFamily="34" charset="-122"/>
                <a:cs typeface="Arial" pitchFamily="34" charset="-120"/>
              </a:rPr>
              <a:t>Merging event and severity evidence collapses to 38.5% / 41.9%</a:t>
            </a:r>
            <a:pPr indent="0" marL="0">
              <a:spcAft>
                <a:spcPts val="900"/>
              </a:spcAft>
              <a:buNone/>
            </a:pPr>
            <a:endParaRPr lang="en-US" sz="1350" dirty="0"/>
          </a:p>
          <a:p>
            <a:pPr indent="0" marL="0">
              <a:spcAft>
                <a:spcPts val="900"/>
              </a:spcAft>
              <a:buNone/>
            </a:pPr>
            <a:r>
              <a:rPr lang="en-US" sz="1150" dirty="0">
                <a:solidFill>
                  <a:srgbClr val="6B7280"/>
                </a:solidFill>
                <a:latin typeface="Arial" pitchFamily="34" charset="0"/>
                <a:ea typeface="Arial" pitchFamily="34" charset="-122"/>
                <a:cs typeface="Arial" pitchFamily="34" charset="-120"/>
              </a:rPr>
              <a:t>     — the same narrative counted twice.</a:t>
            </a:r>
            <a:endParaRPr lang="en-US" sz="1350" dirty="0"/>
          </a:p>
          <a:p>
            <a:pPr indent="0" marL="0">
              <a:spcAft>
                <a:spcPts val="900"/>
              </a:spcAft>
              <a:buNone/>
            </a:pPr>
            <a:r>
              <a:rPr lang="en-US" sz="1350" b="1" dirty="0">
                <a:solidFill>
                  <a:srgbClr val="B23A2C"/>
                </a:solidFill>
                <a:latin typeface="Arial" pitchFamily="34" charset="0"/>
                <a:ea typeface="Arial" pitchFamily="34" charset="-122"/>
                <a:cs typeface="Arial" pitchFamily="34" charset="-120"/>
              </a:rPr>
              <a:t>▬  </a:t>
            </a:r>
            <a:pPr indent="0" marL="0">
              <a:spcAft>
                <a:spcPts val="900"/>
              </a:spcAft>
              <a:buNone/>
            </a:pPr>
            <a:r>
              <a:rPr lang="en-US" sz="1350" b="1" dirty="0">
                <a:solidFill>
                  <a:srgbClr val="16181D"/>
                </a:solidFill>
                <a:latin typeface="Arial" pitchFamily="34" charset="0"/>
                <a:ea typeface="Arial" pitchFamily="34" charset="-122"/>
                <a:cs typeface="Arial" pitchFamily="34" charset="-120"/>
              </a:rPr>
              <a:t>Asking the LLM for probabilities directly is unusable.</a:t>
            </a:r>
            <a:pPr indent="0" marL="0">
              <a:spcAft>
                <a:spcPts val="900"/>
              </a:spcAft>
              <a:buNone/>
            </a:pPr>
            <a:endParaRPr lang="en-US" sz="1350" dirty="0"/>
          </a:p>
          <a:p>
            <a:pPr indent="0" marL="0">
              <a:spcAft>
                <a:spcPts val="900"/>
              </a:spcAft>
              <a:buNone/>
            </a:pPr>
            <a:r>
              <a:rPr lang="en-US" sz="1150" dirty="0">
                <a:solidFill>
                  <a:srgbClr val="6B7280"/>
                </a:solidFill>
                <a:latin typeface="Arial" pitchFamily="34" charset="0"/>
                <a:ea typeface="Arial" pitchFamily="34" charset="-122"/>
                <a:cs typeface="Arial" pitchFamily="34" charset="-120"/>
              </a:rPr>
              <a:t>     Calibration error 0.74 vs 0.12; cause ranking inverts.</a:t>
            </a:r>
            <a:endParaRPr lang="en-US" sz="1350" dirty="0"/>
          </a:p>
        </p:txBody>
      </p:sp>
      <p:sp>
        <p:nvSpPr>
          <p:cNvPr id="6" name="Text 4"/>
          <p:cNvSpPr txBox="1"/>
          <p:nvPr/>
        </p:nvSpPr>
        <p:spPr>
          <a:xfrm>
            <a:off x="11155680" y="6355080"/>
            <a:ext cx="822960" cy="274320"/>
          </a:xfrm>
          <a:prstGeom prst="rect">
            <a:avLst/>
          </a:prstGeom>
          <a:noFill/>
          <a:ln/>
        </p:spPr>
        <p:txBody>
          <a:bodyPr wrap="square" lIns="0" tIns="0" rIns="0" bIns="0" rtlCol="0" anchor="ctr"/>
          <a:lstStyle/>
          <a:p>
            <a:pPr algn="r" indent="0" marL="0">
              <a:buNone/>
            </a:pPr>
            <a:r>
              <a:rPr lang="en-US" sz="1100" dirty="0">
                <a:solidFill>
                  <a:srgbClr val="B8BCC4"/>
                </a:solidFill>
                <a:latin typeface="Arial" pitchFamily="34" charset="0"/>
                <a:ea typeface="Arial" pitchFamily="34" charset="-122"/>
                <a:cs typeface="Arial" pitchFamily="34" charset="-120"/>
              </a:rPr>
              <a:t>appendix</a:t>
            </a:r>
            <a:endParaRPr lang="en-US" sz="11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8A8F99"/>
          </a:solidFill>
          <a:ln/>
        </p:spPr>
      </p:sp>
      <p:sp>
        <p:nvSpPr>
          <p:cNvPr id="3" name="Text 1"/>
          <p:cNvSpPr txBox="1"/>
          <p:nvPr/>
        </p:nvSpPr>
        <p:spPr>
          <a:xfrm>
            <a:off x="640080" y="384048"/>
            <a:ext cx="10908792" cy="566928"/>
          </a:xfrm>
          <a:prstGeom prst="rect">
            <a:avLst/>
          </a:prstGeom>
          <a:noFill/>
          <a:ln/>
        </p:spPr>
        <p:txBody>
          <a:bodyPr wrap="square" lIns="0" tIns="0" rIns="0" bIns="0" rtlCol="0" anchor="t"/>
          <a:lstStyle/>
          <a:p>
            <a:pPr indent="0" marL="0">
              <a:buNone/>
            </a:pPr>
            <a:r>
              <a:rPr lang="en-US" sz="2700" b="1" dirty="0">
                <a:solidFill>
                  <a:srgbClr val="16181D"/>
                </a:solidFill>
                <a:latin typeface="Arial" pitchFamily="34" charset="0"/>
                <a:ea typeface="Arial" pitchFamily="34" charset="-122"/>
                <a:cs typeface="Arial" pitchFamily="34" charset="-120"/>
              </a:rPr>
              <a:t>Which accidents we get right — and which we never do</a:t>
            </a:r>
            <a:endParaRPr lang="en-US" sz="2700" dirty="0"/>
          </a:p>
        </p:txBody>
      </p:sp>
      <p:sp>
        <p:nvSpPr>
          <p:cNvPr id="4" name="Text 2"/>
          <p:cNvSpPr txBox="1"/>
          <p:nvPr/>
        </p:nvSpPr>
        <p:spPr>
          <a:xfrm>
            <a:off x="640080" y="969264"/>
            <a:ext cx="10908792" cy="347472"/>
          </a:xfrm>
          <a:prstGeom prst="rect">
            <a:avLst/>
          </a:prstGeom>
          <a:noFill/>
          <a:ln/>
        </p:spPr>
        <p:txBody>
          <a:bodyPr wrap="square" lIns="0" tIns="0" rIns="0" bIns="0" rtlCol="0" anchor="t"/>
          <a:lstStyle/>
          <a:p>
            <a:pPr indent="0" marL="0">
              <a:buNone/>
            </a:pPr>
            <a:r>
              <a:rPr lang="en-US" sz="1400" dirty="0">
                <a:solidFill>
                  <a:srgbClr val="6B7280"/>
                </a:solidFill>
                <a:latin typeface="Arial" pitchFamily="34" charset="0"/>
                <a:ea typeface="Arial" pitchFamily="34" charset="-122"/>
                <a:cs typeface="Arial" pitchFamily="34" charset="-120"/>
              </a:rPr>
              <a:t>Not in the paper yet. It should be.</a:t>
            </a:r>
            <a:endParaRPr lang="en-US" sz="1400" dirty="0"/>
          </a:p>
        </p:txBody>
      </p:sp>
      <p:sp>
        <p:nvSpPr>
          <p:cNvPr id="5" name="Text 3"/>
          <p:cNvSpPr txBox="1"/>
          <p:nvPr/>
        </p:nvSpPr>
        <p:spPr>
          <a:xfrm>
            <a:off x="640080" y="1417320"/>
            <a:ext cx="5303520" cy="274320"/>
          </a:xfrm>
          <a:prstGeom prst="rect">
            <a:avLst/>
          </a:prstGeom>
          <a:noFill/>
          <a:ln/>
        </p:spPr>
        <p:txBody>
          <a:bodyPr wrap="square" lIns="0" tIns="0" rIns="0" bIns="0" rtlCol="0" anchor="ctr"/>
          <a:lstStyle/>
          <a:p>
            <a:pPr indent="0" marL="0">
              <a:buNone/>
            </a:pPr>
            <a:r>
              <a:rPr lang="en-US" sz="1200" b="1" dirty="0">
                <a:solidFill>
                  <a:srgbClr val="6B7280"/>
                </a:solidFill>
                <a:latin typeface="Arial" pitchFamily="34" charset="0"/>
                <a:ea typeface="Arial" pitchFamily="34" charset="-122"/>
                <a:cs typeface="Arial" pitchFamily="34" charset="-120"/>
              </a:rPr>
              <a:t>Injury — true class</a:t>
            </a:r>
            <a:endParaRPr lang="en-US" sz="1200" dirty="0"/>
          </a:p>
        </p:txBody>
      </p:sp>
      <p:sp>
        <p:nvSpPr>
          <p:cNvPr id="6" name="Text 4"/>
          <p:cNvSpPr txBox="1"/>
          <p:nvPr/>
        </p:nvSpPr>
        <p:spPr>
          <a:xfrm>
            <a:off x="6263640" y="1417320"/>
            <a:ext cx="5303520" cy="274320"/>
          </a:xfrm>
          <a:prstGeom prst="rect">
            <a:avLst/>
          </a:prstGeom>
          <a:noFill/>
          <a:ln/>
        </p:spPr>
        <p:txBody>
          <a:bodyPr wrap="square" lIns="0" tIns="0" rIns="0" bIns="0" rtlCol="0" anchor="ctr"/>
          <a:lstStyle/>
          <a:p>
            <a:pPr indent="0" marL="0">
              <a:buNone/>
            </a:pPr>
            <a:r>
              <a:rPr lang="en-US" sz="1200" b="1" dirty="0">
                <a:solidFill>
                  <a:srgbClr val="6B7280"/>
                </a:solidFill>
                <a:latin typeface="Arial" pitchFamily="34" charset="0"/>
                <a:ea typeface="Arial" pitchFamily="34" charset="-122"/>
                <a:cs typeface="Arial" pitchFamily="34" charset="-120"/>
              </a:rPr>
              <a:t>Damage — true class</a:t>
            </a:r>
            <a:endParaRPr lang="en-US" sz="1200" dirty="0"/>
          </a:p>
        </p:txBody>
      </p:sp>
      <p:sp>
        <p:nvSpPr>
          <p:cNvPr id="7" name="Shape 5"/>
          <p:cNvSpPr/>
          <p:nvPr/>
        </p:nvSpPr>
        <p:spPr>
          <a:xfrm>
            <a:off x="640080" y="1737360"/>
            <a:ext cx="5257800" cy="310896"/>
          </a:xfrm>
          <a:prstGeom prst="rect">
            <a:avLst/>
          </a:prstGeom>
          <a:solidFill>
            <a:srgbClr val="12345C"/>
          </a:solidFill>
          <a:ln w="12700">
            <a:solidFill>
              <a:srgbClr val="12345C"/>
            </a:solidFill>
            <a:prstDash val="solid"/>
          </a:ln>
        </p:spPr>
      </p:sp>
      <p:sp>
        <p:nvSpPr>
          <p:cNvPr id="8" name="Text 6"/>
          <p:cNvSpPr txBox="1"/>
          <p:nvPr/>
        </p:nvSpPr>
        <p:spPr>
          <a:xfrm>
            <a:off x="786384" y="1737360"/>
            <a:ext cx="2468880" cy="310896"/>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Class</a:t>
            </a:r>
            <a:endParaRPr lang="en-US" sz="1100" dirty="0"/>
          </a:p>
        </p:txBody>
      </p:sp>
      <p:sp>
        <p:nvSpPr>
          <p:cNvPr id="9" name="Text 7"/>
          <p:cNvSpPr txBox="1"/>
          <p:nvPr/>
        </p:nvSpPr>
        <p:spPr>
          <a:xfrm>
            <a:off x="3438144" y="1737360"/>
            <a:ext cx="914400" cy="310896"/>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n</a:t>
            </a:r>
            <a:endParaRPr lang="en-US" sz="1100" dirty="0"/>
          </a:p>
        </p:txBody>
      </p:sp>
      <p:sp>
        <p:nvSpPr>
          <p:cNvPr id="10" name="Text 8"/>
          <p:cNvSpPr txBox="1"/>
          <p:nvPr/>
        </p:nvSpPr>
        <p:spPr>
          <a:xfrm>
            <a:off x="4535424" y="1737360"/>
            <a:ext cx="1325880" cy="310896"/>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Recall</a:t>
            </a:r>
            <a:endParaRPr lang="en-US" sz="1100" dirty="0"/>
          </a:p>
        </p:txBody>
      </p:sp>
      <p:sp>
        <p:nvSpPr>
          <p:cNvPr id="11" name="Text 9"/>
          <p:cNvSpPr txBox="1"/>
          <p:nvPr/>
        </p:nvSpPr>
        <p:spPr>
          <a:xfrm>
            <a:off x="786384" y="2048256"/>
            <a:ext cx="2468880" cy="384048"/>
          </a:xfrm>
          <a:prstGeom prst="rect">
            <a:avLst/>
          </a:prstGeom>
          <a:noFill/>
          <a:ln/>
        </p:spPr>
        <p:txBody>
          <a:bodyPr wrap="square" lIns="0" tIns="0" rIns="0" bIns="0" rtlCol="0" anchor="ctr"/>
          <a:lstStyle/>
          <a:p>
            <a:pPr indent="0" marL="0">
              <a:buNone/>
            </a:pPr>
            <a:r>
              <a:rPr lang="en-US" sz="1200" b="1" dirty="0">
                <a:solidFill>
                  <a:srgbClr val="16181D"/>
                </a:solidFill>
                <a:latin typeface="Arial" pitchFamily="34" charset="0"/>
                <a:ea typeface="Arial" pitchFamily="34" charset="-122"/>
                <a:cs typeface="Arial" pitchFamily="34" charset="-120"/>
              </a:rPr>
              <a:t>fatal</a:t>
            </a:r>
            <a:endParaRPr lang="en-US" sz="1200" dirty="0"/>
          </a:p>
        </p:txBody>
      </p:sp>
      <p:sp>
        <p:nvSpPr>
          <p:cNvPr id="12" name="Text 10"/>
          <p:cNvSpPr txBox="1"/>
          <p:nvPr/>
        </p:nvSpPr>
        <p:spPr>
          <a:xfrm>
            <a:off x="3438144" y="2048256"/>
            <a:ext cx="914400" cy="384048"/>
          </a:xfrm>
          <a:prstGeom prst="rect">
            <a:avLst/>
          </a:prstGeom>
          <a:noFill/>
          <a:ln/>
        </p:spPr>
        <p:txBody>
          <a:bodyPr wrap="square" lIns="0" tIns="0" rIns="0" bIns="0" rtlCol="0" anchor="ctr"/>
          <a:lstStyle/>
          <a:p>
            <a:pPr indent="0" marL="0">
              <a:buNone/>
            </a:pPr>
            <a:r>
              <a:rPr lang="en-US" sz="1200" dirty="0">
                <a:solidFill>
                  <a:srgbClr val="16181D"/>
                </a:solidFill>
                <a:latin typeface="Arial" pitchFamily="34" charset="0"/>
                <a:ea typeface="Arial" pitchFamily="34" charset="-122"/>
                <a:cs typeface="Arial" pitchFamily="34" charset="-120"/>
              </a:rPr>
              <a:t>3</a:t>
            </a:r>
            <a:endParaRPr lang="en-US" sz="1200" dirty="0"/>
          </a:p>
        </p:txBody>
      </p:sp>
      <p:sp>
        <p:nvSpPr>
          <p:cNvPr id="13" name="Text 11"/>
          <p:cNvSpPr txBox="1"/>
          <p:nvPr/>
        </p:nvSpPr>
        <p:spPr>
          <a:xfrm>
            <a:off x="4535424" y="2048256"/>
            <a:ext cx="1325880" cy="384048"/>
          </a:xfrm>
          <a:prstGeom prst="rect">
            <a:avLst/>
          </a:prstGeom>
          <a:noFill/>
          <a:ln/>
        </p:spPr>
        <p:txBody>
          <a:bodyPr wrap="square" lIns="0" tIns="0" rIns="0" bIns="0" rtlCol="0" anchor="ctr"/>
          <a:lstStyle/>
          <a:p>
            <a:pPr indent="0" marL="0">
              <a:buNone/>
            </a:pPr>
            <a:r>
              <a:rPr lang="en-US" sz="1200" b="1" dirty="0">
                <a:solidFill>
                  <a:srgbClr val="B23A2C"/>
                </a:solidFill>
                <a:latin typeface="Arial" pitchFamily="34" charset="0"/>
                <a:ea typeface="Arial" pitchFamily="34" charset="-122"/>
                <a:cs typeface="Arial" pitchFamily="34" charset="-120"/>
              </a:rPr>
              <a:t>0.0%</a:t>
            </a:r>
            <a:endParaRPr lang="en-US" sz="1200" dirty="0"/>
          </a:p>
        </p:txBody>
      </p:sp>
      <p:sp>
        <p:nvSpPr>
          <p:cNvPr id="14" name="Shape 12"/>
          <p:cNvSpPr/>
          <p:nvPr/>
        </p:nvSpPr>
        <p:spPr>
          <a:xfrm>
            <a:off x="640080" y="2432304"/>
            <a:ext cx="5257800" cy="384048"/>
          </a:xfrm>
          <a:prstGeom prst="rect">
            <a:avLst/>
          </a:prstGeom>
          <a:solidFill>
            <a:srgbClr val="F7F8FA"/>
          </a:solidFill>
          <a:ln w="12700">
            <a:solidFill>
              <a:srgbClr val="F7F8FA"/>
            </a:solidFill>
            <a:prstDash val="solid"/>
          </a:ln>
        </p:spPr>
      </p:sp>
      <p:sp>
        <p:nvSpPr>
          <p:cNvPr id="15" name="Text 13"/>
          <p:cNvSpPr txBox="1"/>
          <p:nvPr/>
        </p:nvSpPr>
        <p:spPr>
          <a:xfrm>
            <a:off x="786384" y="2432304"/>
            <a:ext cx="2468880" cy="384048"/>
          </a:xfrm>
          <a:prstGeom prst="rect">
            <a:avLst/>
          </a:prstGeom>
          <a:noFill/>
          <a:ln/>
        </p:spPr>
        <p:txBody>
          <a:bodyPr wrap="square" lIns="0" tIns="0" rIns="0" bIns="0" rtlCol="0" anchor="ctr"/>
          <a:lstStyle/>
          <a:p>
            <a:pPr indent="0" marL="0">
              <a:buNone/>
            </a:pPr>
            <a:r>
              <a:rPr lang="en-US" sz="1200" b="1" dirty="0">
                <a:solidFill>
                  <a:srgbClr val="16181D"/>
                </a:solidFill>
                <a:latin typeface="Arial" pitchFamily="34" charset="0"/>
                <a:ea typeface="Arial" pitchFamily="34" charset="-122"/>
                <a:cs typeface="Arial" pitchFamily="34" charset="-120"/>
              </a:rPr>
              <a:t>serious</a:t>
            </a:r>
            <a:endParaRPr lang="en-US" sz="1200" dirty="0"/>
          </a:p>
        </p:txBody>
      </p:sp>
      <p:sp>
        <p:nvSpPr>
          <p:cNvPr id="16" name="Text 14"/>
          <p:cNvSpPr txBox="1"/>
          <p:nvPr/>
        </p:nvSpPr>
        <p:spPr>
          <a:xfrm>
            <a:off x="3438144" y="2432304"/>
            <a:ext cx="914400" cy="384048"/>
          </a:xfrm>
          <a:prstGeom prst="rect">
            <a:avLst/>
          </a:prstGeom>
          <a:noFill/>
          <a:ln/>
        </p:spPr>
        <p:txBody>
          <a:bodyPr wrap="square" lIns="0" tIns="0" rIns="0" bIns="0" rtlCol="0" anchor="ctr"/>
          <a:lstStyle/>
          <a:p>
            <a:pPr indent="0" marL="0">
              <a:buNone/>
            </a:pPr>
            <a:r>
              <a:rPr lang="en-US" sz="1200" dirty="0">
                <a:solidFill>
                  <a:srgbClr val="16181D"/>
                </a:solidFill>
                <a:latin typeface="Arial" pitchFamily="34" charset="0"/>
                <a:ea typeface="Arial" pitchFamily="34" charset="-122"/>
                <a:cs typeface="Arial" pitchFamily="34" charset="-120"/>
              </a:rPr>
              <a:t>104</a:t>
            </a:r>
            <a:endParaRPr lang="en-US" sz="1200" dirty="0"/>
          </a:p>
        </p:txBody>
      </p:sp>
      <p:sp>
        <p:nvSpPr>
          <p:cNvPr id="17" name="Text 15"/>
          <p:cNvSpPr txBox="1"/>
          <p:nvPr/>
        </p:nvSpPr>
        <p:spPr>
          <a:xfrm>
            <a:off x="4535424" y="2432304"/>
            <a:ext cx="1325880" cy="384048"/>
          </a:xfrm>
          <a:prstGeom prst="rect">
            <a:avLst/>
          </a:prstGeom>
          <a:noFill/>
          <a:ln/>
        </p:spPr>
        <p:txBody>
          <a:bodyPr wrap="square" lIns="0" tIns="0" rIns="0" bIns="0" rtlCol="0" anchor="ctr"/>
          <a:lstStyle/>
          <a:p>
            <a:pPr indent="0" marL="0">
              <a:buNone/>
            </a:pPr>
            <a:r>
              <a:rPr lang="en-US" sz="1200" dirty="0">
                <a:solidFill>
                  <a:srgbClr val="16181D"/>
                </a:solidFill>
                <a:latin typeface="Arial" pitchFamily="34" charset="0"/>
                <a:ea typeface="Arial" pitchFamily="34" charset="-122"/>
                <a:cs typeface="Arial" pitchFamily="34" charset="-120"/>
              </a:rPr>
              <a:t>95.2%</a:t>
            </a:r>
            <a:endParaRPr lang="en-US" sz="1200" dirty="0"/>
          </a:p>
        </p:txBody>
      </p:sp>
      <p:sp>
        <p:nvSpPr>
          <p:cNvPr id="18" name="Text 16"/>
          <p:cNvSpPr txBox="1"/>
          <p:nvPr/>
        </p:nvSpPr>
        <p:spPr>
          <a:xfrm>
            <a:off x="786384" y="2816352"/>
            <a:ext cx="2468880" cy="384048"/>
          </a:xfrm>
          <a:prstGeom prst="rect">
            <a:avLst/>
          </a:prstGeom>
          <a:noFill/>
          <a:ln/>
        </p:spPr>
        <p:txBody>
          <a:bodyPr wrap="square" lIns="0" tIns="0" rIns="0" bIns="0" rtlCol="0" anchor="ctr"/>
          <a:lstStyle/>
          <a:p>
            <a:pPr indent="0" marL="0">
              <a:buNone/>
            </a:pPr>
            <a:r>
              <a:rPr lang="en-US" sz="1200" b="1" dirty="0">
                <a:solidFill>
                  <a:srgbClr val="16181D"/>
                </a:solidFill>
                <a:latin typeface="Arial" pitchFamily="34" charset="0"/>
                <a:ea typeface="Arial" pitchFamily="34" charset="-122"/>
                <a:cs typeface="Arial" pitchFamily="34" charset="-120"/>
              </a:rPr>
              <a:t>minor</a:t>
            </a:r>
            <a:endParaRPr lang="en-US" sz="1200" dirty="0"/>
          </a:p>
        </p:txBody>
      </p:sp>
      <p:sp>
        <p:nvSpPr>
          <p:cNvPr id="19" name="Text 17"/>
          <p:cNvSpPr txBox="1"/>
          <p:nvPr/>
        </p:nvSpPr>
        <p:spPr>
          <a:xfrm>
            <a:off x="3438144" y="2816352"/>
            <a:ext cx="914400" cy="384048"/>
          </a:xfrm>
          <a:prstGeom prst="rect">
            <a:avLst/>
          </a:prstGeom>
          <a:noFill/>
          <a:ln/>
        </p:spPr>
        <p:txBody>
          <a:bodyPr wrap="square" lIns="0" tIns="0" rIns="0" bIns="0" rtlCol="0" anchor="ctr"/>
          <a:lstStyle/>
          <a:p>
            <a:pPr indent="0" marL="0">
              <a:buNone/>
            </a:pPr>
            <a:r>
              <a:rPr lang="en-US" sz="1200" dirty="0">
                <a:solidFill>
                  <a:srgbClr val="16181D"/>
                </a:solidFill>
                <a:latin typeface="Arial" pitchFamily="34" charset="0"/>
                <a:ea typeface="Arial" pitchFamily="34" charset="-122"/>
                <a:cs typeface="Arial" pitchFamily="34" charset="-120"/>
              </a:rPr>
              <a:t>16</a:t>
            </a:r>
            <a:endParaRPr lang="en-US" sz="1200" dirty="0"/>
          </a:p>
        </p:txBody>
      </p:sp>
      <p:sp>
        <p:nvSpPr>
          <p:cNvPr id="20" name="Text 18"/>
          <p:cNvSpPr txBox="1"/>
          <p:nvPr/>
        </p:nvSpPr>
        <p:spPr>
          <a:xfrm>
            <a:off x="4535424" y="2816352"/>
            <a:ext cx="1325880" cy="384048"/>
          </a:xfrm>
          <a:prstGeom prst="rect">
            <a:avLst/>
          </a:prstGeom>
          <a:noFill/>
          <a:ln/>
        </p:spPr>
        <p:txBody>
          <a:bodyPr wrap="square" lIns="0" tIns="0" rIns="0" bIns="0" rtlCol="0" anchor="ctr"/>
          <a:lstStyle/>
          <a:p>
            <a:pPr indent="0" marL="0">
              <a:buNone/>
            </a:pPr>
            <a:r>
              <a:rPr lang="en-US" sz="1200" b="1" dirty="0">
                <a:solidFill>
                  <a:srgbClr val="B23A2C"/>
                </a:solidFill>
                <a:latin typeface="Arial" pitchFamily="34" charset="0"/>
                <a:ea typeface="Arial" pitchFamily="34" charset="-122"/>
                <a:cs typeface="Arial" pitchFamily="34" charset="-120"/>
              </a:rPr>
              <a:t>0.0%</a:t>
            </a:r>
            <a:endParaRPr lang="en-US" sz="1200" dirty="0"/>
          </a:p>
        </p:txBody>
      </p:sp>
      <p:sp>
        <p:nvSpPr>
          <p:cNvPr id="21" name="Shape 19"/>
          <p:cNvSpPr/>
          <p:nvPr/>
        </p:nvSpPr>
        <p:spPr>
          <a:xfrm>
            <a:off x="640080" y="3200400"/>
            <a:ext cx="5257800" cy="384048"/>
          </a:xfrm>
          <a:prstGeom prst="rect">
            <a:avLst/>
          </a:prstGeom>
          <a:solidFill>
            <a:srgbClr val="F7F8FA"/>
          </a:solidFill>
          <a:ln w="12700">
            <a:solidFill>
              <a:srgbClr val="F7F8FA"/>
            </a:solidFill>
            <a:prstDash val="solid"/>
          </a:ln>
        </p:spPr>
      </p:sp>
      <p:sp>
        <p:nvSpPr>
          <p:cNvPr id="22" name="Text 20"/>
          <p:cNvSpPr txBox="1"/>
          <p:nvPr/>
        </p:nvSpPr>
        <p:spPr>
          <a:xfrm>
            <a:off x="786384" y="3200400"/>
            <a:ext cx="2468880" cy="384048"/>
          </a:xfrm>
          <a:prstGeom prst="rect">
            <a:avLst/>
          </a:prstGeom>
          <a:noFill/>
          <a:ln/>
        </p:spPr>
        <p:txBody>
          <a:bodyPr wrap="square" lIns="0" tIns="0" rIns="0" bIns="0" rtlCol="0" anchor="ctr"/>
          <a:lstStyle/>
          <a:p>
            <a:pPr indent="0" marL="0">
              <a:buNone/>
            </a:pPr>
            <a:r>
              <a:rPr lang="en-US" sz="1200" b="1" dirty="0">
                <a:solidFill>
                  <a:srgbClr val="16181D"/>
                </a:solidFill>
                <a:latin typeface="Arial" pitchFamily="34" charset="0"/>
                <a:ea typeface="Arial" pitchFamily="34" charset="-122"/>
                <a:cs typeface="Arial" pitchFamily="34" charset="-120"/>
              </a:rPr>
              <a:t>none</a:t>
            </a:r>
            <a:endParaRPr lang="en-US" sz="1200" dirty="0"/>
          </a:p>
        </p:txBody>
      </p:sp>
      <p:sp>
        <p:nvSpPr>
          <p:cNvPr id="23" name="Text 21"/>
          <p:cNvSpPr txBox="1"/>
          <p:nvPr/>
        </p:nvSpPr>
        <p:spPr>
          <a:xfrm>
            <a:off x="3438144" y="3200400"/>
            <a:ext cx="914400" cy="384048"/>
          </a:xfrm>
          <a:prstGeom prst="rect">
            <a:avLst/>
          </a:prstGeom>
          <a:noFill/>
          <a:ln/>
        </p:spPr>
        <p:txBody>
          <a:bodyPr wrap="square" lIns="0" tIns="0" rIns="0" bIns="0" rtlCol="0" anchor="ctr"/>
          <a:lstStyle/>
          <a:p>
            <a:pPr indent="0" marL="0">
              <a:buNone/>
            </a:pPr>
            <a:r>
              <a:rPr lang="en-US" sz="1200" dirty="0">
                <a:solidFill>
                  <a:srgbClr val="16181D"/>
                </a:solidFill>
                <a:latin typeface="Arial" pitchFamily="34" charset="0"/>
                <a:ea typeface="Arial" pitchFamily="34" charset="-122"/>
                <a:cs typeface="Arial" pitchFamily="34" charset="-120"/>
              </a:rPr>
              <a:t>173</a:t>
            </a:r>
            <a:endParaRPr lang="en-US" sz="1200" dirty="0"/>
          </a:p>
        </p:txBody>
      </p:sp>
      <p:sp>
        <p:nvSpPr>
          <p:cNvPr id="24" name="Text 22"/>
          <p:cNvSpPr txBox="1"/>
          <p:nvPr/>
        </p:nvSpPr>
        <p:spPr>
          <a:xfrm>
            <a:off x="4535424" y="3200400"/>
            <a:ext cx="1325880" cy="384048"/>
          </a:xfrm>
          <a:prstGeom prst="rect">
            <a:avLst/>
          </a:prstGeom>
          <a:noFill/>
          <a:ln/>
        </p:spPr>
        <p:txBody>
          <a:bodyPr wrap="square" lIns="0" tIns="0" rIns="0" bIns="0" rtlCol="0" anchor="ctr"/>
          <a:lstStyle/>
          <a:p>
            <a:pPr indent="0" marL="0">
              <a:buNone/>
            </a:pPr>
            <a:r>
              <a:rPr lang="en-US" sz="1200" dirty="0">
                <a:solidFill>
                  <a:srgbClr val="16181D"/>
                </a:solidFill>
                <a:latin typeface="Arial" pitchFamily="34" charset="0"/>
                <a:ea typeface="Arial" pitchFamily="34" charset="-122"/>
                <a:cs typeface="Arial" pitchFamily="34" charset="-120"/>
              </a:rPr>
              <a:t>98.3%</a:t>
            </a:r>
            <a:endParaRPr lang="en-US" sz="1200" dirty="0"/>
          </a:p>
        </p:txBody>
      </p:sp>
      <p:sp>
        <p:nvSpPr>
          <p:cNvPr id="25" name="Shape 23"/>
          <p:cNvSpPr/>
          <p:nvPr/>
        </p:nvSpPr>
        <p:spPr>
          <a:xfrm>
            <a:off x="6263640" y="1737360"/>
            <a:ext cx="5257800" cy="310896"/>
          </a:xfrm>
          <a:prstGeom prst="rect">
            <a:avLst/>
          </a:prstGeom>
          <a:solidFill>
            <a:srgbClr val="12345C"/>
          </a:solidFill>
          <a:ln w="12700">
            <a:solidFill>
              <a:srgbClr val="12345C"/>
            </a:solidFill>
            <a:prstDash val="solid"/>
          </a:ln>
        </p:spPr>
      </p:sp>
      <p:sp>
        <p:nvSpPr>
          <p:cNvPr id="26" name="Text 24"/>
          <p:cNvSpPr txBox="1"/>
          <p:nvPr/>
        </p:nvSpPr>
        <p:spPr>
          <a:xfrm>
            <a:off x="6409944" y="1737360"/>
            <a:ext cx="2468880" cy="310896"/>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Class</a:t>
            </a:r>
            <a:endParaRPr lang="en-US" sz="1100" dirty="0"/>
          </a:p>
        </p:txBody>
      </p:sp>
      <p:sp>
        <p:nvSpPr>
          <p:cNvPr id="27" name="Text 25"/>
          <p:cNvSpPr txBox="1"/>
          <p:nvPr/>
        </p:nvSpPr>
        <p:spPr>
          <a:xfrm>
            <a:off x="9061704" y="1737360"/>
            <a:ext cx="914400" cy="310896"/>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n</a:t>
            </a:r>
            <a:endParaRPr lang="en-US" sz="1100" dirty="0"/>
          </a:p>
        </p:txBody>
      </p:sp>
      <p:sp>
        <p:nvSpPr>
          <p:cNvPr id="28" name="Text 26"/>
          <p:cNvSpPr txBox="1"/>
          <p:nvPr/>
        </p:nvSpPr>
        <p:spPr>
          <a:xfrm>
            <a:off x="10158984" y="1737360"/>
            <a:ext cx="1325880" cy="310896"/>
          </a:xfrm>
          <a:prstGeom prst="rect">
            <a:avLst/>
          </a:prstGeom>
          <a:noFill/>
          <a:ln/>
        </p:spPr>
        <p:txBody>
          <a:bodyPr wrap="square" lIns="0" tIns="0" rIns="0" bIns="0" rtlCol="0" anchor="ctr"/>
          <a:lstStyle/>
          <a:p>
            <a:pPr indent="0" marL="0">
              <a:buNone/>
            </a:pPr>
            <a:r>
              <a:rPr lang="en-US" sz="1100" b="1" dirty="0">
                <a:solidFill>
                  <a:srgbClr val="FFFFFF"/>
                </a:solidFill>
                <a:latin typeface="Arial" pitchFamily="34" charset="0"/>
                <a:ea typeface="Arial" pitchFamily="34" charset="-122"/>
                <a:cs typeface="Arial" pitchFamily="34" charset="-120"/>
              </a:rPr>
              <a:t>Recall</a:t>
            </a:r>
            <a:endParaRPr lang="en-US" sz="1100" dirty="0"/>
          </a:p>
        </p:txBody>
      </p:sp>
      <p:sp>
        <p:nvSpPr>
          <p:cNvPr id="29" name="Text 27"/>
          <p:cNvSpPr txBox="1"/>
          <p:nvPr/>
        </p:nvSpPr>
        <p:spPr>
          <a:xfrm>
            <a:off x="6409944" y="2048256"/>
            <a:ext cx="2468880" cy="384048"/>
          </a:xfrm>
          <a:prstGeom prst="rect">
            <a:avLst/>
          </a:prstGeom>
          <a:noFill/>
          <a:ln/>
        </p:spPr>
        <p:txBody>
          <a:bodyPr wrap="square" lIns="0" tIns="0" rIns="0" bIns="0" rtlCol="0" anchor="ctr"/>
          <a:lstStyle/>
          <a:p>
            <a:pPr indent="0" marL="0">
              <a:buNone/>
            </a:pPr>
            <a:r>
              <a:rPr lang="en-US" sz="1200" b="1" dirty="0">
                <a:solidFill>
                  <a:srgbClr val="16181D"/>
                </a:solidFill>
                <a:latin typeface="Arial" pitchFamily="34" charset="0"/>
                <a:ea typeface="Arial" pitchFamily="34" charset="-122"/>
                <a:cs typeface="Arial" pitchFamily="34" charset="-120"/>
              </a:rPr>
              <a:t>destroyed</a:t>
            </a:r>
            <a:endParaRPr lang="en-US" sz="1200" dirty="0"/>
          </a:p>
        </p:txBody>
      </p:sp>
      <p:sp>
        <p:nvSpPr>
          <p:cNvPr id="30" name="Text 28"/>
          <p:cNvSpPr txBox="1"/>
          <p:nvPr/>
        </p:nvSpPr>
        <p:spPr>
          <a:xfrm>
            <a:off x="9061704" y="2048256"/>
            <a:ext cx="914400" cy="384048"/>
          </a:xfrm>
          <a:prstGeom prst="rect">
            <a:avLst/>
          </a:prstGeom>
          <a:noFill/>
          <a:ln/>
        </p:spPr>
        <p:txBody>
          <a:bodyPr wrap="square" lIns="0" tIns="0" rIns="0" bIns="0" rtlCol="0" anchor="ctr"/>
          <a:lstStyle/>
          <a:p>
            <a:pPr indent="0" marL="0">
              <a:buNone/>
            </a:pPr>
            <a:r>
              <a:rPr lang="en-US" sz="1200" dirty="0">
                <a:solidFill>
                  <a:srgbClr val="16181D"/>
                </a:solidFill>
                <a:latin typeface="Arial" pitchFamily="34" charset="0"/>
                <a:ea typeface="Arial" pitchFamily="34" charset="-122"/>
                <a:cs typeface="Arial" pitchFamily="34" charset="-120"/>
              </a:rPr>
              <a:t>3</a:t>
            </a:r>
            <a:endParaRPr lang="en-US" sz="1200" dirty="0"/>
          </a:p>
        </p:txBody>
      </p:sp>
      <p:sp>
        <p:nvSpPr>
          <p:cNvPr id="31" name="Text 29"/>
          <p:cNvSpPr txBox="1"/>
          <p:nvPr/>
        </p:nvSpPr>
        <p:spPr>
          <a:xfrm>
            <a:off x="10158984" y="2048256"/>
            <a:ext cx="1325880" cy="384048"/>
          </a:xfrm>
          <a:prstGeom prst="rect">
            <a:avLst/>
          </a:prstGeom>
          <a:noFill/>
          <a:ln/>
        </p:spPr>
        <p:txBody>
          <a:bodyPr wrap="square" lIns="0" tIns="0" rIns="0" bIns="0" rtlCol="0" anchor="ctr"/>
          <a:lstStyle/>
          <a:p>
            <a:pPr indent="0" marL="0">
              <a:buNone/>
            </a:pPr>
            <a:r>
              <a:rPr lang="en-US" sz="1200" dirty="0">
                <a:solidFill>
                  <a:srgbClr val="16181D"/>
                </a:solidFill>
                <a:latin typeface="Arial" pitchFamily="34" charset="0"/>
                <a:ea typeface="Arial" pitchFamily="34" charset="-122"/>
                <a:cs typeface="Arial" pitchFamily="34" charset="-120"/>
              </a:rPr>
              <a:t>33.3%</a:t>
            </a:r>
            <a:endParaRPr lang="en-US" sz="1200" dirty="0"/>
          </a:p>
        </p:txBody>
      </p:sp>
      <p:sp>
        <p:nvSpPr>
          <p:cNvPr id="32" name="Shape 30"/>
          <p:cNvSpPr/>
          <p:nvPr/>
        </p:nvSpPr>
        <p:spPr>
          <a:xfrm>
            <a:off x="6263640" y="2432304"/>
            <a:ext cx="5257800" cy="384048"/>
          </a:xfrm>
          <a:prstGeom prst="rect">
            <a:avLst/>
          </a:prstGeom>
          <a:solidFill>
            <a:srgbClr val="F7F8FA"/>
          </a:solidFill>
          <a:ln w="12700">
            <a:solidFill>
              <a:srgbClr val="F7F8FA"/>
            </a:solidFill>
            <a:prstDash val="solid"/>
          </a:ln>
        </p:spPr>
      </p:sp>
      <p:sp>
        <p:nvSpPr>
          <p:cNvPr id="33" name="Text 31"/>
          <p:cNvSpPr txBox="1"/>
          <p:nvPr/>
        </p:nvSpPr>
        <p:spPr>
          <a:xfrm>
            <a:off x="6409944" y="2432304"/>
            <a:ext cx="2468880" cy="384048"/>
          </a:xfrm>
          <a:prstGeom prst="rect">
            <a:avLst/>
          </a:prstGeom>
          <a:noFill/>
          <a:ln/>
        </p:spPr>
        <p:txBody>
          <a:bodyPr wrap="square" lIns="0" tIns="0" rIns="0" bIns="0" rtlCol="0" anchor="ctr"/>
          <a:lstStyle/>
          <a:p>
            <a:pPr indent="0" marL="0">
              <a:buNone/>
            </a:pPr>
            <a:r>
              <a:rPr lang="en-US" sz="1200" b="1" dirty="0">
                <a:solidFill>
                  <a:srgbClr val="16181D"/>
                </a:solidFill>
                <a:latin typeface="Arial" pitchFamily="34" charset="0"/>
                <a:ea typeface="Arial" pitchFamily="34" charset="-122"/>
                <a:cs typeface="Arial" pitchFamily="34" charset="-120"/>
              </a:rPr>
              <a:t>substantial</a:t>
            </a:r>
            <a:endParaRPr lang="en-US" sz="1200" dirty="0"/>
          </a:p>
        </p:txBody>
      </p:sp>
      <p:sp>
        <p:nvSpPr>
          <p:cNvPr id="34" name="Text 32"/>
          <p:cNvSpPr txBox="1"/>
          <p:nvPr/>
        </p:nvSpPr>
        <p:spPr>
          <a:xfrm>
            <a:off x="9061704" y="2432304"/>
            <a:ext cx="914400" cy="384048"/>
          </a:xfrm>
          <a:prstGeom prst="rect">
            <a:avLst/>
          </a:prstGeom>
          <a:noFill/>
          <a:ln/>
        </p:spPr>
        <p:txBody>
          <a:bodyPr wrap="square" lIns="0" tIns="0" rIns="0" bIns="0" rtlCol="0" anchor="ctr"/>
          <a:lstStyle/>
          <a:p>
            <a:pPr indent="0" marL="0">
              <a:buNone/>
            </a:pPr>
            <a:r>
              <a:rPr lang="en-US" sz="1200" dirty="0">
                <a:solidFill>
                  <a:srgbClr val="16181D"/>
                </a:solidFill>
                <a:latin typeface="Arial" pitchFamily="34" charset="0"/>
                <a:ea typeface="Arial" pitchFamily="34" charset="-122"/>
                <a:cs typeface="Arial" pitchFamily="34" charset="-120"/>
              </a:rPr>
              <a:t>78</a:t>
            </a:r>
            <a:endParaRPr lang="en-US" sz="1200" dirty="0"/>
          </a:p>
        </p:txBody>
      </p:sp>
      <p:sp>
        <p:nvSpPr>
          <p:cNvPr id="35" name="Text 33"/>
          <p:cNvSpPr txBox="1"/>
          <p:nvPr/>
        </p:nvSpPr>
        <p:spPr>
          <a:xfrm>
            <a:off x="10158984" y="2432304"/>
            <a:ext cx="1325880" cy="384048"/>
          </a:xfrm>
          <a:prstGeom prst="rect">
            <a:avLst/>
          </a:prstGeom>
          <a:noFill/>
          <a:ln/>
        </p:spPr>
        <p:txBody>
          <a:bodyPr wrap="square" lIns="0" tIns="0" rIns="0" bIns="0" rtlCol="0" anchor="ctr"/>
          <a:lstStyle/>
          <a:p>
            <a:pPr indent="0" marL="0">
              <a:buNone/>
            </a:pPr>
            <a:r>
              <a:rPr lang="en-US" sz="1200" dirty="0">
                <a:solidFill>
                  <a:srgbClr val="16181D"/>
                </a:solidFill>
                <a:latin typeface="Arial" pitchFamily="34" charset="0"/>
                <a:ea typeface="Arial" pitchFamily="34" charset="-122"/>
                <a:cs typeface="Arial" pitchFamily="34" charset="-120"/>
              </a:rPr>
              <a:t>75.6%</a:t>
            </a:r>
            <a:endParaRPr lang="en-US" sz="1200" dirty="0"/>
          </a:p>
        </p:txBody>
      </p:sp>
      <p:sp>
        <p:nvSpPr>
          <p:cNvPr id="36" name="Text 34"/>
          <p:cNvSpPr txBox="1"/>
          <p:nvPr/>
        </p:nvSpPr>
        <p:spPr>
          <a:xfrm>
            <a:off x="6409944" y="2816352"/>
            <a:ext cx="2468880" cy="384048"/>
          </a:xfrm>
          <a:prstGeom prst="rect">
            <a:avLst/>
          </a:prstGeom>
          <a:noFill/>
          <a:ln/>
        </p:spPr>
        <p:txBody>
          <a:bodyPr wrap="square" lIns="0" tIns="0" rIns="0" bIns="0" rtlCol="0" anchor="ctr"/>
          <a:lstStyle/>
          <a:p>
            <a:pPr indent="0" marL="0">
              <a:buNone/>
            </a:pPr>
            <a:r>
              <a:rPr lang="en-US" sz="1200" b="1" dirty="0">
                <a:solidFill>
                  <a:srgbClr val="16181D"/>
                </a:solidFill>
                <a:latin typeface="Arial" pitchFamily="34" charset="0"/>
                <a:ea typeface="Arial" pitchFamily="34" charset="-122"/>
                <a:cs typeface="Arial" pitchFamily="34" charset="-120"/>
              </a:rPr>
              <a:t>minor</a:t>
            </a:r>
            <a:endParaRPr lang="en-US" sz="1200" dirty="0"/>
          </a:p>
        </p:txBody>
      </p:sp>
      <p:sp>
        <p:nvSpPr>
          <p:cNvPr id="37" name="Text 35"/>
          <p:cNvSpPr txBox="1"/>
          <p:nvPr/>
        </p:nvSpPr>
        <p:spPr>
          <a:xfrm>
            <a:off x="9061704" y="2816352"/>
            <a:ext cx="914400" cy="384048"/>
          </a:xfrm>
          <a:prstGeom prst="rect">
            <a:avLst/>
          </a:prstGeom>
          <a:noFill/>
          <a:ln/>
        </p:spPr>
        <p:txBody>
          <a:bodyPr wrap="square" lIns="0" tIns="0" rIns="0" bIns="0" rtlCol="0" anchor="ctr"/>
          <a:lstStyle/>
          <a:p>
            <a:pPr indent="0" marL="0">
              <a:buNone/>
            </a:pPr>
            <a:r>
              <a:rPr lang="en-US" sz="1200" dirty="0">
                <a:solidFill>
                  <a:srgbClr val="16181D"/>
                </a:solidFill>
                <a:latin typeface="Arial" pitchFamily="34" charset="0"/>
                <a:ea typeface="Arial" pitchFamily="34" charset="-122"/>
                <a:cs typeface="Arial" pitchFamily="34" charset="-120"/>
              </a:rPr>
              <a:t>89</a:t>
            </a:r>
            <a:endParaRPr lang="en-US" sz="1200" dirty="0"/>
          </a:p>
        </p:txBody>
      </p:sp>
      <p:sp>
        <p:nvSpPr>
          <p:cNvPr id="38" name="Text 36"/>
          <p:cNvSpPr txBox="1"/>
          <p:nvPr/>
        </p:nvSpPr>
        <p:spPr>
          <a:xfrm>
            <a:off x="10158984" y="2816352"/>
            <a:ext cx="1325880" cy="384048"/>
          </a:xfrm>
          <a:prstGeom prst="rect">
            <a:avLst/>
          </a:prstGeom>
          <a:noFill/>
          <a:ln/>
        </p:spPr>
        <p:txBody>
          <a:bodyPr wrap="square" lIns="0" tIns="0" rIns="0" bIns="0" rtlCol="0" anchor="ctr"/>
          <a:lstStyle/>
          <a:p>
            <a:pPr indent="0" marL="0">
              <a:buNone/>
            </a:pPr>
            <a:r>
              <a:rPr lang="en-US" sz="1200" dirty="0">
                <a:solidFill>
                  <a:srgbClr val="16181D"/>
                </a:solidFill>
                <a:latin typeface="Arial" pitchFamily="34" charset="0"/>
                <a:ea typeface="Arial" pitchFamily="34" charset="-122"/>
                <a:cs typeface="Arial" pitchFamily="34" charset="-120"/>
              </a:rPr>
              <a:t>68.5%</a:t>
            </a:r>
            <a:endParaRPr lang="en-US" sz="1200" dirty="0"/>
          </a:p>
        </p:txBody>
      </p:sp>
      <p:sp>
        <p:nvSpPr>
          <p:cNvPr id="39" name="Shape 37"/>
          <p:cNvSpPr/>
          <p:nvPr/>
        </p:nvSpPr>
        <p:spPr>
          <a:xfrm>
            <a:off x="6263640" y="3200400"/>
            <a:ext cx="5257800" cy="384048"/>
          </a:xfrm>
          <a:prstGeom prst="rect">
            <a:avLst/>
          </a:prstGeom>
          <a:solidFill>
            <a:srgbClr val="F7F8FA"/>
          </a:solidFill>
          <a:ln w="12700">
            <a:solidFill>
              <a:srgbClr val="F7F8FA"/>
            </a:solidFill>
            <a:prstDash val="solid"/>
          </a:ln>
        </p:spPr>
      </p:sp>
      <p:sp>
        <p:nvSpPr>
          <p:cNvPr id="40" name="Text 38"/>
          <p:cNvSpPr txBox="1"/>
          <p:nvPr/>
        </p:nvSpPr>
        <p:spPr>
          <a:xfrm>
            <a:off x="6409944" y="3200400"/>
            <a:ext cx="2468880" cy="384048"/>
          </a:xfrm>
          <a:prstGeom prst="rect">
            <a:avLst/>
          </a:prstGeom>
          <a:noFill/>
          <a:ln/>
        </p:spPr>
        <p:txBody>
          <a:bodyPr wrap="square" lIns="0" tIns="0" rIns="0" bIns="0" rtlCol="0" anchor="ctr"/>
          <a:lstStyle/>
          <a:p>
            <a:pPr indent="0" marL="0">
              <a:buNone/>
            </a:pPr>
            <a:r>
              <a:rPr lang="en-US" sz="1200" b="1" dirty="0">
                <a:solidFill>
                  <a:srgbClr val="16181D"/>
                </a:solidFill>
                <a:latin typeface="Arial" pitchFamily="34" charset="0"/>
                <a:ea typeface="Arial" pitchFamily="34" charset="-122"/>
                <a:cs typeface="Arial" pitchFamily="34" charset="-120"/>
              </a:rPr>
              <a:t>none</a:t>
            </a:r>
            <a:endParaRPr lang="en-US" sz="1200" dirty="0"/>
          </a:p>
        </p:txBody>
      </p:sp>
      <p:sp>
        <p:nvSpPr>
          <p:cNvPr id="41" name="Text 39"/>
          <p:cNvSpPr txBox="1"/>
          <p:nvPr/>
        </p:nvSpPr>
        <p:spPr>
          <a:xfrm>
            <a:off x="9061704" y="3200400"/>
            <a:ext cx="914400" cy="384048"/>
          </a:xfrm>
          <a:prstGeom prst="rect">
            <a:avLst/>
          </a:prstGeom>
          <a:noFill/>
          <a:ln/>
        </p:spPr>
        <p:txBody>
          <a:bodyPr wrap="square" lIns="0" tIns="0" rIns="0" bIns="0" rtlCol="0" anchor="ctr"/>
          <a:lstStyle/>
          <a:p>
            <a:pPr indent="0" marL="0">
              <a:buNone/>
            </a:pPr>
            <a:r>
              <a:rPr lang="en-US" sz="1200" dirty="0">
                <a:solidFill>
                  <a:srgbClr val="16181D"/>
                </a:solidFill>
                <a:latin typeface="Arial" pitchFamily="34" charset="0"/>
                <a:ea typeface="Arial" pitchFamily="34" charset="-122"/>
                <a:cs typeface="Arial" pitchFamily="34" charset="-120"/>
              </a:rPr>
              <a:t>126</a:t>
            </a:r>
            <a:endParaRPr lang="en-US" sz="1200" dirty="0"/>
          </a:p>
        </p:txBody>
      </p:sp>
      <p:sp>
        <p:nvSpPr>
          <p:cNvPr id="42" name="Text 40"/>
          <p:cNvSpPr txBox="1"/>
          <p:nvPr/>
        </p:nvSpPr>
        <p:spPr>
          <a:xfrm>
            <a:off x="10158984" y="3200400"/>
            <a:ext cx="1325880" cy="384048"/>
          </a:xfrm>
          <a:prstGeom prst="rect">
            <a:avLst/>
          </a:prstGeom>
          <a:noFill/>
          <a:ln/>
        </p:spPr>
        <p:txBody>
          <a:bodyPr wrap="square" lIns="0" tIns="0" rIns="0" bIns="0" rtlCol="0" anchor="ctr"/>
          <a:lstStyle/>
          <a:p>
            <a:pPr indent="0" marL="0">
              <a:buNone/>
            </a:pPr>
            <a:r>
              <a:rPr lang="en-US" sz="1200" dirty="0">
                <a:solidFill>
                  <a:srgbClr val="16181D"/>
                </a:solidFill>
                <a:latin typeface="Arial" pitchFamily="34" charset="0"/>
                <a:ea typeface="Arial" pitchFamily="34" charset="-122"/>
                <a:cs typeface="Arial" pitchFamily="34" charset="-120"/>
              </a:rPr>
              <a:t>85.7%</a:t>
            </a:r>
            <a:endParaRPr lang="en-US" sz="1200" dirty="0"/>
          </a:p>
        </p:txBody>
      </p:sp>
      <p:sp>
        <p:nvSpPr>
          <p:cNvPr id="43" name="Shape 41"/>
          <p:cNvSpPr/>
          <p:nvPr/>
        </p:nvSpPr>
        <p:spPr>
          <a:xfrm>
            <a:off x="640080" y="3794760"/>
            <a:ext cx="10908792" cy="1234440"/>
          </a:xfrm>
          <a:prstGeom prst="roundRect">
            <a:avLst>
              <a:gd name="adj" fmla="val 3704"/>
            </a:avLst>
          </a:prstGeom>
          <a:solidFill>
            <a:srgbClr val="FDF0EE"/>
          </a:solidFill>
          <a:ln w="12700">
            <a:solidFill>
              <a:srgbClr val="FDF0EE"/>
            </a:solidFill>
            <a:prstDash val="solid"/>
          </a:ln>
        </p:spPr>
      </p:sp>
      <p:sp>
        <p:nvSpPr>
          <p:cNvPr id="44" name="Text 42"/>
          <p:cNvSpPr txBox="1"/>
          <p:nvPr/>
        </p:nvSpPr>
        <p:spPr>
          <a:xfrm>
            <a:off x="841248" y="3931920"/>
            <a:ext cx="10506456" cy="274320"/>
          </a:xfrm>
          <a:prstGeom prst="rect">
            <a:avLst/>
          </a:prstGeom>
          <a:noFill/>
          <a:ln/>
        </p:spPr>
        <p:txBody>
          <a:bodyPr wrap="square" lIns="0" tIns="0" rIns="0" bIns="0" rtlCol="0" anchor="t"/>
          <a:lstStyle/>
          <a:p>
            <a:pPr indent="0" marL="0">
              <a:buNone/>
            </a:pPr>
            <a:r>
              <a:rPr lang="en-US" sz="1400" b="1" dirty="0">
                <a:solidFill>
                  <a:srgbClr val="B23A2C"/>
                </a:solidFill>
                <a:latin typeface="Arial" pitchFamily="34" charset="0"/>
                <a:ea typeface="Arial" pitchFamily="34" charset="-122"/>
                <a:cs typeface="Arial" pitchFamily="34" charset="-120"/>
              </a:rPr>
              <a:t>On injury the method is really a two-class predictor.</a:t>
            </a:r>
            <a:endParaRPr lang="en-US" sz="1400" dirty="0"/>
          </a:p>
        </p:txBody>
      </p:sp>
      <p:sp>
        <p:nvSpPr>
          <p:cNvPr id="45" name="Text 43"/>
          <p:cNvSpPr txBox="1"/>
          <p:nvPr/>
        </p:nvSpPr>
        <p:spPr>
          <a:xfrm>
            <a:off x="841248" y="4251960"/>
            <a:ext cx="10506456" cy="640080"/>
          </a:xfrm>
          <a:prstGeom prst="rect">
            <a:avLst/>
          </a:prstGeom>
          <a:noFill/>
          <a:ln/>
        </p:spPr>
        <p:txBody>
          <a:bodyPr wrap="square" lIns="0" tIns="0" rIns="0" bIns="0" rtlCol="0" anchor="t"/>
          <a:lstStyle/>
          <a:p>
            <a:pPr indent="0" marL="0">
              <a:spcAft>
                <a:spcPts val="300"/>
              </a:spcAft>
              <a:buNone/>
            </a:pPr>
            <a:r>
              <a:rPr lang="en-US" sz="1250" dirty="0">
                <a:solidFill>
                  <a:srgbClr val="16181D"/>
                </a:solidFill>
                <a:latin typeface="Arial" pitchFamily="34" charset="0"/>
                <a:ea typeface="Arial" pitchFamily="34" charset="-122"/>
                <a:cs typeface="Arial" pitchFamily="34" charset="-120"/>
              </a:rPr>
              <a:t>Across all 296 accidents it outputs only "none" or "serious" — fatal and minor are never predicted, not once. And 21 of 27 injury errors under-predict severity.</a:t>
            </a:r>
            <a:endParaRPr lang="en-US" sz="1250" dirty="0"/>
          </a:p>
        </p:txBody>
      </p:sp>
      <p:sp>
        <p:nvSpPr>
          <p:cNvPr id="46" name="Text 44"/>
          <p:cNvSpPr txBox="1"/>
          <p:nvPr/>
        </p:nvSpPr>
        <p:spPr>
          <a:xfrm>
            <a:off x="640080" y="5166360"/>
            <a:ext cx="10908792" cy="457200"/>
          </a:xfrm>
          <a:prstGeom prst="rect">
            <a:avLst/>
          </a:prstGeom>
          <a:noFill/>
          <a:ln/>
        </p:spPr>
        <p:txBody>
          <a:bodyPr wrap="square" lIns="0" tIns="0" rIns="0" bIns="0" rtlCol="0" anchor="ctr"/>
          <a:lstStyle/>
          <a:p>
            <a:pPr indent="0" marL="0">
              <a:buNone/>
            </a:pPr>
            <a:r>
              <a:rPr lang="en-US" sz="1250" dirty="0">
                <a:solidFill>
                  <a:srgbClr val="6B7280"/>
                </a:solidFill>
                <a:latin typeface="Arial" pitchFamily="34" charset="0"/>
                <a:ea typeface="Arial" pitchFamily="34" charset="-122"/>
                <a:cs typeface="Arial" pitchFamily="34" charset="-120"/>
              </a:rPr>
              <a:t>Damage is the healthy contrast: all four classes get predicted, which is why damage Macro-F1 is 0.697 against injury's 0.470.</a:t>
            </a:r>
            <a:endParaRPr lang="en-US" sz="1250" dirty="0"/>
          </a:p>
        </p:txBody>
      </p:sp>
      <p:sp>
        <p:nvSpPr>
          <p:cNvPr id="47" name="Text 45"/>
          <p:cNvSpPr txBox="1"/>
          <p:nvPr/>
        </p:nvSpPr>
        <p:spPr>
          <a:xfrm>
            <a:off x="11155680" y="6355080"/>
            <a:ext cx="822960" cy="274320"/>
          </a:xfrm>
          <a:prstGeom prst="rect">
            <a:avLst/>
          </a:prstGeom>
          <a:noFill/>
          <a:ln/>
        </p:spPr>
        <p:txBody>
          <a:bodyPr wrap="square" lIns="0" tIns="0" rIns="0" bIns="0" rtlCol="0" anchor="ctr"/>
          <a:lstStyle/>
          <a:p>
            <a:pPr algn="r" indent="0" marL="0">
              <a:buNone/>
            </a:pPr>
            <a:r>
              <a:rPr lang="en-US" sz="1100" dirty="0">
                <a:solidFill>
                  <a:srgbClr val="B8BCC4"/>
                </a:solidFill>
                <a:latin typeface="Arial" pitchFamily="34" charset="0"/>
                <a:ea typeface="Arial" pitchFamily="34" charset="-122"/>
                <a:cs typeface="Arial" pitchFamily="34" charset="-120"/>
              </a:rPr>
              <a:t>appendix</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8A8F99"/>
          </a:solidFill>
          <a:ln/>
        </p:spPr>
      </p:sp>
      <p:sp>
        <p:nvSpPr>
          <p:cNvPr id="3" name="Text 1"/>
          <p:cNvSpPr txBox="1"/>
          <p:nvPr/>
        </p:nvSpPr>
        <p:spPr>
          <a:xfrm>
            <a:off x="640080" y="384048"/>
            <a:ext cx="10908792" cy="566928"/>
          </a:xfrm>
          <a:prstGeom prst="rect">
            <a:avLst/>
          </a:prstGeom>
          <a:noFill/>
          <a:ln/>
        </p:spPr>
        <p:txBody>
          <a:bodyPr wrap="square" lIns="0" tIns="0" rIns="0" bIns="0" rtlCol="0" anchor="t"/>
          <a:lstStyle/>
          <a:p>
            <a:pPr indent="0" marL="0">
              <a:buNone/>
            </a:pPr>
            <a:r>
              <a:rPr lang="en-US" sz="2700" b="1" dirty="0">
                <a:solidFill>
                  <a:srgbClr val="16181D"/>
                </a:solidFill>
                <a:latin typeface="Arial" pitchFamily="34" charset="0"/>
                <a:ea typeface="Arial" pitchFamily="34" charset="-122"/>
                <a:cs typeface="Arial" pitchFamily="34" charset="-120"/>
              </a:rPr>
              <a:t>Why — and it is not rarity</a:t>
            </a:r>
            <a:endParaRPr lang="en-US" sz="2700" dirty="0"/>
          </a:p>
        </p:txBody>
      </p:sp>
      <p:sp>
        <p:nvSpPr>
          <p:cNvPr id="4" name="Text 2"/>
          <p:cNvSpPr txBox="1"/>
          <p:nvPr/>
        </p:nvSpPr>
        <p:spPr>
          <a:xfrm>
            <a:off x="640080" y="969264"/>
            <a:ext cx="10908792" cy="347472"/>
          </a:xfrm>
          <a:prstGeom prst="rect">
            <a:avLst/>
          </a:prstGeom>
          <a:noFill/>
          <a:ln/>
        </p:spPr>
        <p:txBody>
          <a:bodyPr wrap="square" lIns="0" tIns="0" rIns="0" bIns="0" rtlCol="0" anchor="t"/>
          <a:lstStyle/>
          <a:p>
            <a:pPr indent="0" marL="0">
              <a:buNone/>
            </a:pPr>
            <a:r>
              <a:rPr lang="en-US" sz="1400" dirty="0">
                <a:solidFill>
                  <a:srgbClr val="6B7280"/>
                </a:solidFill>
                <a:latin typeface="Arial" pitchFamily="34" charset="0"/>
                <a:ea typeface="Arial" pitchFamily="34" charset="-122"/>
                <a:cs typeface="Arial" pitchFamily="34" charset="-120"/>
              </a:rPr>
              <a:t>How far retrieval moves a class above its own base rate, when that class is the truth.</a:t>
            </a:r>
            <a:endParaRPr lang="en-US" sz="1400" dirty="0"/>
          </a:p>
        </p:txBody>
      </p:sp>
      <p:sp>
        <p:nvSpPr>
          <p:cNvPr id="5" name="Shape 3"/>
          <p:cNvSpPr/>
          <p:nvPr/>
        </p:nvSpPr>
        <p:spPr>
          <a:xfrm>
            <a:off x="640080" y="1508760"/>
            <a:ext cx="10908792" cy="365760"/>
          </a:xfrm>
          <a:prstGeom prst="rect">
            <a:avLst/>
          </a:prstGeom>
          <a:solidFill>
            <a:srgbClr val="12345C"/>
          </a:solidFill>
          <a:ln w="12700">
            <a:solidFill>
              <a:srgbClr val="12345C"/>
            </a:solidFill>
            <a:prstDash val="solid"/>
          </a:ln>
        </p:spPr>
      </p:sp>
      <p:sp>
        <p:nvSpPr>
          <p:cNvPr id="6" name="Text 4"/>
          <p:cNvSpPr txBox="1"/>
          <p:nvPr/>
        </p:nvSpPr>
        <p:spPr>
          <a:xfrm>
            <a:off x="786384" y="1508760"/>
            <a:ext cx="3803904" cy="36576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Class</a:t>
            </a:r>
            <a:endParaRPr lang="en-US" sz="1150" dirty="0"/>
          </a:p>
        </p:txBody>
      </p:sp>
      <p:sp>
        <p:nvSpPr>
          <p:cNvPr id="7" name="Text 5"/>
          <p:cNvSpPr txBox="1"/>
          <p:nvPr/>
        </p:nvSpPr>
        <p:spPr>
          <a:xfrm>
            <a:off x="4809744" y="1508760"/>
            <a:ext cx="2066544" cy="36576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Share of pool</a:t>
            </a:r>
            <a:endParaRPr lang="en-US" sz="1150" dirty="0"/>
          </a:p>
        </p:txBody>
      </p:sp>
      <p:sp>
        <p:nvSpPr>
          <p:cNvPr id="8" name="Text 6"/>
          <p:cNvSpPr txBox="1"/>
          <p:nvPr/>
        </p:nvSpPr>
        <p:spPr>
          <a:xfrm>
            <a:off x="7095744" y="1508760"/>
            <a:ext cx="2340864" cy="36576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Mean P when true</a:t>
            </a:r>
            <a:endParaRPr lang="en-US" sz="1150" dirty="0"/>
          </a:p>
        </p:txBody>
      </p:sp>
      <p:sp>
        <p:nvSpPr>
          <p:cNvPr id="9" name="Text 7"/>
          <p:cNvSpPr txBox="1"/>
          <p:nvPr/>
        </p:nvSpPr>
        <p:spPr>
          <a:xfrm>
            <a:off x="9656064" y="1508760"/>
            <a:ext cx="1819656" cy="36576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Separation</a:t>
            </a:r>
            <a:endParaRPr lang="en-US" sz="1150" dirty="0"/>
          </a:p>
        </p:txBody>
      </p:sp>
      <p:sp>
        <p:nvSpPr>
          <p:cNvPr id="10" name="Text 8"/>
          <p:cNvSpPr txBox="1"/>
          <p:nvPr/>
        </p:nvSpPr>
        <p:spPr>
          <a:xfrm>
            <a:off x="786384" y="1874520"/>
            <a:ext cx="3803904" cy="420624"/>
          </a:xfrm>
          <a:prstGeom prst="rect">
            <a:avLst/>
          </a:prstGeom>
          <a:noFill/>
          <a:ln/>
        </p:spPr>
        <p:txBody>
          <a:bodyPr wrap="square" lIns="0" tIns="0" rIns="0" bIns="0" rtlCol="0" anchor="ctr"/>
          <a:lstStyle/>
          <a:p>
            <a:pPr indent="0" marL="0">
              <a:buNone/>
            </a:pPr>
            <a:r>
              <a:rPr lang="en-US" sz="1150" b="1" dirty="0">
                <a:solidFill>
                  <a:srgbClr val="16181D"/>
                </a:solidFill>
                <a:latin typeface="Arial" pitchFamily="34" charset="0"/>
                <a:ea typeface="Arial" pitchFamily="34" charset="-122"/>
                <a:cs typeface="Arial" pitchFamily="34" charset="-120"/>
              </a:rPr>
              <a:t>injury — serious</a:t>
            </a:r>
            <a:endParaRPr lang="en-US" sz="1150" dirty="0"/>
          </a:p>
        </p:txBody>
      </p:sp>
      <p:sp>
        <p:nvSpPr>
          <p:cNvPr id="11" name="Text 9"/>
          <p:cNvSpPr txBox="1"/>
          <p:nvPr/>
        </p:nvSpPr>
        <p:spPr>
          <a:xfrm>
            <a:off x="4809744" y="1874520"/>
            <a:ext cx="2066544" cy="420624"/>
          </a:xfrm>
          <a:prstGeom prst="rect">
            <a:avLst/>
          </a:prstGeom>
          <a:noFill/>
          <a:ln/>
        </p:spPr>
        <p:txBody>
          <a:bodyPr wrap="square" lIns="0" tIns="0" rIns="0" bIns="0" rtlCol="0" anchor="ctr"/>
          <a:lstStyle/>
          <a:p>
            <a:pPr indent="0" marL="0">
              <a:buNone/>
            </a:pPr>
            <a:r>
              <a:rPr lang="en-US" sz="1150" dirty="0">
                <a:solidFill>
                  <a:srgbClr val="16181D"/>
                </a:solidFill>
                <a:latin typeface="Arial" pitchFamily="34" charset="0"/>
                <a:ea typeface="Arial" pitchFamily="34" charset="-122"/>
                <a:cs typeface="Arial" pitchFamily="34" charset="-120"/>
              </a:rPr>
              <a:t>19.7%</a:t>
            </a:r>
            <a:endParaRPr lang="en-US" sz="1150" dirty="0"/>
          </a:p>
        </p:txBody>
      </p:sp>
      <p:sp>
        <p:nvSpPr>
          <p:cNvPr id="12" name="Text 10"/>
          <p:cNvSpPr txBox="1"/>
          <p:nvPr/>
        </p:nvSpPr>
        <p:spPr>
          <a:xfrm>
            <a:off x="7095744" y="1874520"/>
            <a:ext cx="2340864" cy="420624"/>
          </a:xfrm>
          <a:prstGeom prst="rect">
            <a:avLst/>
          </a:prstGeom>
          <a:noFill/>
          <a:ln/>
        </p:spPr>
        <p:txBody>
          <a:bodyPr wrap="square" lIns="0" tIns="0" rIns="0" bIns="0" rtlCol="0" anchor="ctr"/>
          <a:lstStyle/>
          <a:p>
            <a:pPr indent="0" marL="0">
              <a:buNone/>
            </a:pPr>
            <a:r>
              <a:rPr lang="en-US" sz="1150" dirty="0">
                <a:solidFill>
                  <a:srgbClr val="16181D"/>
                </a:solidFill>
                <a:latin typeface="Arial" pitchFamily="34" charset="0"/>
                <a:ea typeface="Arial" pitchFamily="34" charset="-122"/>
                <a:cs typeface="Arial" pitchFamily="34" charset="-120"/>
              </a:rPr>
              <a:t>0.873</a:t>
            </a:r>
            <a:endParaRPr lang="en-US" sz="1150" dirty="0"/>
          </a:p>
        </p:txBody>
      </p:sp>
      <p:sp>
        <p:nvSpPr>
          <p:cNvPr id="13" name="Text 11"/>
          <p:cNvSpPr txBox="1"/>
          <p:nvPr/>
        </p:nvSpPr>
        <p:spPr>
          <a:xfrm>
            <a:off x="9656064" y="1874520"/>
            <a:ext cx="1819656" cy="420624"/>
          </a:xfrm>
          <a:prstGeom prst="rect">
            <a:avLst/>
          </a:prstGeom>
          <a:noFill/>
          <a:ln/>
        </p:spPr>
        <p:txBody>
          <a:bodyPr wrap="square" lIns="0" tIns="0" rIns="0" bIns="0" rtlCol="0" anchor="ctr"/>
          <a:lstStyle/>
          <a:p>
            <a:pPr indent="0" marL="0">
              <a:buNone/>
            </a:pPr>
            <a:r>
              <a:rPr lang="en-US" sz="1150" b="1" dirty="0">
                <a:solidFill>
                  <a:srgbClr val="B23A2C"/>
                </a:solidFill>
                <a:latin typeface="Arial" pitchFamily="34" charset="0"/>
                <a:ea typeface="Arial" pitchFamily="34" charset="-122"/>
                <a:cs typeface="Arial" pitchFamily="34" charset="-120"/>
              </a:rPr>
              <a:t>6.9×</a:t>
            </a:r>
            <a:endParaRPr lang="en-US" sz="1150" dirty="0"/>
          </a:p>
        </p:txBody>
      </p:sp>
      <p:sp>
        <p:nvSpPr>
          <p:cNvPr id="14" name="Shape 12"/>
          <p:cNvSpPr/>
          <p:nvPr/>
        </p:nvSpPr>
        <p:spPr>
          <a:xfrm>
            <a:off x="640080" y="2295144"/>
            <a:ext cx="10908792" cy="420624"/>
          </a:xfrm>
          <a:prstGeom prst="rect">
            <a:avLst/>
          </a:prstGeom>
          <a:solidFill>
            <a:srgbClr val="F7F8FA"/>
          </a:solidFill>
          <a:ln w="12700">
            <a:solidFill>
              <a:srgbClr val="F7F8FA"/>
            </a:solidFill>
            <a:prstDash val="solid"/>
          </a:ln>
        </p:spPr>
      </p:sp>
      <p:sp>
        <p:nvSpPr>
          <p:cNvPr id="15" name="Text 13"/>
          <p:cNvSpPr txBox="1"/>
          <p:nvPr/>
        </p:nvSpPr>
        <p:spPr>
          <a:xfrm>
            <a:off x="786384" y="2295144"/>
            <a:ext cx="3803904" cy="420624"/>
          </a:xfrm>
          <a:prstGeom prst="rect">
            <a:avLst/>
          </a:prstGeom>
          <a:noFill/>
          <a:ln/>
        </p:spPr>
        <p:txBody>
          <a:bodyPr wrap="square" lIns="0" tIns="0" rIns="0" bIns="0" rtlCol="0" anchor="ctr"/>
          <a:lstStyle/>
          <a:p>
            <a:pPr indent="0" marL="0">
              <a:buNone/>
            </a:pPr>
            <a:r>
              <a:rPr lang="en-US" sz="1150" b="1" dirty="0">
                <a:solidFill>
                  <a:srgbClr val="16181D"/>
                </a:solidFill>
                <a:latin typeface="Arial" pitchFamily="34" charset="0"/>
                <a:ea typeface="Arial" pitchFamily="34" charset="-122"/>
                <a:cs typeface="Arial" pitchFamily="34" charset="-120"/>
              </a:rPr>
              <a:t>damage — destroyed</a:t>
            </a:r>
            <a:endParaRPr lang="en-US" sz="1150" dirty="0"/>
          </a:p>
        </p:txBody>
      </p:sp>
      <p:sp>
        <p:nvSpPr>
          <p:cNvPr id="16" name="Text 14"/>
          <p:cNvSpPr txBox="1"/>
          <p:nvPr/>
        </p:nvSpPr>
        <p:spPr>
          <a:xfrm>
            <a:off x="4809744" y="2295144"/>
            <a:ext cx="2066544" cy="420624"/>
          </a:xfrm>
          <a:prstGeom prst="rect">
            <a:avLst/>
          </a:prstGeom>
          <a:noFill/>
          <a:ln/>
        </p:spPr>
        <p:txBody>
          <a:bodyPr wrap="square" lIns="0" tIns="0" rIns="0" bIns="0" rtlCol="0" anchor="ctr"/>
          <a:lstStyle/>
          <a:p>
            <a:pPr indent="0" marL="0">
              <a:buNone/>
            </a:pPr>
            <a:r>
              <a:rPr lang="en-US" sz="1150" dirty="0">
                <a:solidFill>
                  <a:srgbClr val="16181D"/>
                </a:solidFill>
                <a:latin typeface="Arial" pitchFamily="34" charset="0"/>
                <a:ea typeface="Arial" pitchFamily="34" charset="-122"/>
                <a:cs typeface="Arial" pitchFamily="34" charset="-120"/>
              </a:rPr>
              <a:t>4.5%</a:t>
            </a:r>
            <a:endParaRPr lang="en-US" sz="1150" dirty="0"/>
          </a:p>
        </p:txBody>
      </p:sp>
      <p:sp>
        <p:nvSpPr>
          <p:cNvPr id="17" name="Text 15"/>
          <p:cNvSpPr txBox="1"/>
          <p:nvPr/>
        </p:nvSpPr>
        <p:spPr>
          <a:xfrm>
            <a:off x="7095744" y="2295144"/>
            <a:ext cx="2340864" cy="420624"/>
          </a:xfrm>
          <a:prstGeom prst="rect">
            <a:avLst/>
          </a:prstGeom>
          <a:noFill/>
          <a:ln/>
        </p:spPr>
        <p:txBody>
          <a:bodyPr wrap="square" lIns="0" tIns="0" rIns="0" bIns="0" rtlCol="0" anchor="ctr"/>
          <a:lstStyle/>
          <a:p>
            <a:pPr indent="0" marL="0">
              <a:buNone/>
            </a:pPr>
            <a:r>
              <a:rPr lang="en-US" sz="1150" dirty="0">
                <a:solidFill>
                  <a:srgbClr val="16181D"/>
                </a:solidFill>
                <a:latin typeface="Arial" pitchFamily="34" charset="0"/>
                <a:ea typeface="Arial" pitchFamily="34" charset="-122"/>
                <a:cs typeface="Arial" pitchFamily="34" charset="-120"/>
              </a:rPr>
              <a:t>0.181</a:t>
            </a:r>
            <a:endParaRPr lang="en-US" sz="1150" dirty="0"/>
          </a:p>
        </p:txBody>
      </p:sp>
      <p:sp>
        <p:nvSpPr>
          <p:cNvPr id="18" name="Text 16"/>
          <p:cNvSpPr txBox="1"/>
          <p:nvPr/>
        </p:nvSpPr>
        <p:spPr>
          <a:xfrm>
            <a:off x="9656064" y="2295144"/>
            <a:ext cx="1819656" cy="420624"/>
          </a:xfrm>
          <a:prstGeom prst="rect">
            <a:avLst/>
          </a:prstGeom>
          <a:noFill/>
          <a:ln/>
        </p:spPr>
        <p:txBody>
          <a:bodyPr wrap="square" lIns="0" tIns="0" rIns="0" bIns="0" rtlCol="0" anchor="ctr"/>
          <a:lstStyle/>
          <a:p>
            <a:pPr indent="0" marL="0">
              <a:buNone/>
            </a:pPr>
            <a:r>
              <a:rPr lang="en-US" sz="1150" b="1" dirty="0">
                <a:solidFill>
                  <a:srgbClr val="B23A2C"/>
                </a:solidFill>
                <a:latin typeface="Arial" pitchFamily="34" charset="0"/>
                <a:ea typeface="Arial" pitchFamily="34" charset="-122"/>
                <a:cs typeface="Arial" pitchFamily="34" charset="-120"/>
              </a:rPr>
              <a:t>6.3×</a:t>
            </a:r>
            <a:endParaRPr lang="en-US" sz="1150" dirty="0"/>
          </a:p>
        </p:txBody>
      </p:sp>
      <p:sp>
        <p:nvSpPr>
          <p:cNvPr id="19" name="Text 17"/>
          <p:cNvSpPr txBox="1"/>
          <p:nvPr/>
        </p:nvSpPr>
        <p:spPr>
          <a:xfrm>
            <a:off x="786384" y="2715768"/>
            <a:ext cx="3803904" cy="420624"/>
          </a:xfrm>
          <a:prstGeom prst="rect">
            <a:avLst/>
          </a:prstGeom>
          <a:noFill/>
          <a:ln/>
        </p:spPr>
        <p:txBody>
          <a:bodyPr wrap="square" lIns="0" tIns="0" rIns="0" bIns="0" rtlCol="0" anchor="ctr"/>
          <a:lstStyle/>
          <a:p>
            <a:pPr indent="0" marL="0">
              <a:buNone/>
            </a:pPr>
            <a:r>
              <a:rPr lang="en-US" sz="1150" b="1" dirty="0">
                <a:solidFill>
                  <a:srgbClr val="16181D"/>
                </a:solidFill>
                <a:latin typeface="Arial" pitchFamily="34" charset="0"/>
                <a:ea typeface="Arial" pitchFamily="34" charset="-122"/>
                <a:cs typeface="Arial" pitchFamily="34" charset="-120"/>
              </a:rPr>
              <a:t>injury — fatal</a:t>
            </a:r>
            <a:endParaRPr lang="en-US" sz="1150" dirty="0"/>
          </a:p>
        </p:txBody>
      </p:sp>
      <p:sp>
        <p:nvSpPr>
          <p:cNvPr id="20" name="Text 18"/>
          <p:cNvSpPr txBox="1"/>
          <p:nvPr/>
        </p:nvSpPr>
        <p:spPr>
          <a:xfrm>
            <a:off x="4809744" y="2715768"/>
            <a:ext cx="2066544" cy="420624"/>
          </a:xfrm>
          <a:prstGeom prst="rect">
            <a:avLst/>
          </a:prstGeom>
          <a:noFill/>
          <a:ln/>
        </p:spPr>
        <p:txBody>
          <a:bodyPr wrap="square" lIns="0" tIns="0" rIns="0" bIns="0" rtlCol="0" anchor="ctr"/>
          <a:lstStyle/>
          <a:p>
            <a:pPr indent="0" marL="0">
              <a:buNone/>
            </a:pPr>
            <a:r>
              <a:rPr lang="en-US" sz="1150" dirty="0">
                <a:solidFill>
                  <a:srgbClr val="16181D"/>
                </a:solidFill>
                <a:latin typeface="Arial" pitchFamily="34" charset="0"/>
                <a:ea typeface="Arial" pitchFamily="34" charset="-122"/>
                <a:cs typeface="Arial" pitchFamily="34" charset="-120"/>
              </a:rPr>
              <a:t>4.3%</a:t>
            </a:r>
            <a:endParaRPr lang="en-US" sz="1150" dirty="0"/>
          </a:p>
        </p:txBody>
      </p:sp>
      <p:sp>
        <p:nvSpPr>
          <p:cNvPr id="21" name="Text 19"/>
          <p:cNvSpPr txBox="1"/>
          <p:nvPr/>
        </p:nvSpPr>
        <p:spPr>
          <a:xfrm>
            <a:off x="7095744" y="2715768"/>
            <a:ext cx="2340864" cy="420624"/>
          </a:xfrm>
          <a:prstGeom prst="rect">
            <a:avLst/>
          </a:prstGeom>
          <a:noFill/>
          <a:ln/>
        </p:spPr>
        <p:txBody>
          <a:bodyPr wrap="square" lIns="0" tIns="0" rIns="0" bIns="0" rtlCol="0" anchor="ctr"/>
          <a:lstStyle/>
          <a:p>
            <a:pPr indent="0" marL="0">
              <a:buNone/>
            </a:pPr>
            <a:r>
              <a:rPr lang="en-US" sz="1150" dirty="0">
                <a:solidFill>
                  <a:srgbClr val="16181D"/>
                </a:solidFill>
                <a:latin typeface="Arial" pitchFamily="34" charset="0"/>
                <a:ea typeface="Arial" pitchFamily="34" charset="-122"/>
                <a:cs typeface="Arial" pitchFamily="34" charset="-120"/>
              </a:rPr>
              <a:t>0.101  (n=3)</a:t>
            </a:r>
            <a:endParaRPr lang="en-US" sz="1150" dirty="0"/>
          </a:p>
        </p:txBody>
      </p:sp>
      <p:sp>
        <p:nvSpPr>
          <p:cNvPr id="22" name="Text 20"/>
          <p:cNvSpPr txBox="1"/>
          <p:nvPr/>
        </p:nvSpPr>
        <p:spPr>
          <a:xfrm>
            <a:off x="9656064" y="2715768"/>
            <a:ext cx="1819656" cy="420624"/>
          </a:xfrm>
          <a:prstGeom prst="rect">
            <a:avLst/>
          </a:prstGeom>
          <a:noFill/>
          <a:ln/>
        </p:spPr>
        <p:txBody>
          <a:bodyPr wrap="square" lIns="0" tIns="0" rIns="0" bIns="0" rtlCol="0" anchor="ctr"/>
          <a:lstStyle/>
          <a:p>
            <a:pPr indent="0" marL="0">
              <a:buNone/>
            </a:pPr>
            <a:r>
              <a:rPr lang="en-US" sz="1150" b="1" dirty="0">
                <a:solidFill>
                  <a:srgbClr val="B23A2C"/>
                </a:solidFill>
                <a:latin typeface="Arial" pitchFamily="34" charset="0"/>
                <a:ea typeface="Arial" pitchFamily="34" charset="-122"/>
                <a:cs typeface="Arial" pitchFamily="34" charset="-120"/>
              </a:rPr>
              <a:t>3.9×</a:t>
            </a:r>
            <a:endParaRPr lang="en-US" sz="1150" dirty="0"/>
          </a:p>
        </p:txBody>
      </p:sp>
      <p:sp>
        <p:nvSpPr>
          <p:cNvPr id="23" name="Shape 21"/>
          <p:cNvSpPr/>
          <p:nvPr/>
        </p:nvSpPr>
        <p:spPr>
          <a:xfrm>
            <a:off x="640080" y="3136392"/>
            <a:ext cx="10908792" cy="420624"/>
          </a:xfrm>
          <a:prstGeom prst="rect">
            <a:avLst/>
          </a:prstGeom>
          <a:solidFill>
            <a:srgbClr val="F7F8FA"/>
          </a:solidFill>
          <a:ln w="12700">
            <a:solidFill>
              <a:srgbClr val="F7F8FA"/>
            </a:solidFill>
            <a:prstDash val="solid"/>
          </a:ln>
        </p:spPr>
      </p:sp>
      <p:sp>
        <p:nvSpPr>
          <p:cNvPr id="24" name="Text 22"/>
          <p:cNvSpPr txBox="1"/>
          <p:nvPr/>
        </p:nvSpPr>
        <p:spPr>
          <a:xfrm>
            <a:off x="786384" y="3136392"/>
            <a:ext cx="3803904" cy="420624"/>
          </a:xfrm>
          <a:prstGeom prst="rect">
            <a:avLst/>
          </a:prstGeom>
          <a:noFill/>
          <a:ln/>
        </p:spPr>
        <p:txBody>
          <a:bodyPr wrap="square" lIns="0" tIns="0" rIns="0" bIns="0" rtlCol="0" anchor="ctr"/>
          <a:lstStyle/>
          <a:p>
            <a:pPr indent="0" marL="0">
              <a:buNone/>
            </a:pPr>
            <a:r>
              <a:rPr lang="en-US" sz="1150" b="1" dirty="0">
                <a:solidFill>
                  <a:srgbClr val="16181D"/>
                </a:solidFill>
                <a:latin typeface="Arial" pitchFamily="34" charset="0"/>
                <a:ea typeface="Arial" pitchFamily="34" charset="-122"/>
                <a:cs typeface="Arial" pitchFamily="34" charset="-120"/>
              </a:rPr>
              <a:t>damage — minor</a:t>
            </a:r>
            <a:endParaRPr lang="en-US" sz="1150" dirty="0"/>
          </a:p>
        </p:txBody>
      </p:sp>
      <p:sp>
        <p:nvSpPr>
          <p:cNvPr id="25" name="Text 23"/>
          <p:cNvSpPr txBox="1"/>
          <p:nvPr/>
        </p:nvSpPr>
        <p:spPr>
          <a:xfrm>
            <a:off x="4809744" y="3136392"/>
            <a:ext cx="2066544" cy="420624"/>
          </a:xfrm>
          <a:prstGeom prst="rect">
            <a:avLst/>
          </a:prstGeom>
          <a:noFill/>
          <a:ln/>
        </p:spPr>
        <p:txBody>
          <a:bodyPr wrap="square" lIns="0" tIns="0" rIns="0" bIns="0" rtlCol="0" anchor="ctr"/>
          <a:lstStyle/>
          <a:p>
            <a:pPr indent="0" marL="0">
              <a:buNone/>
            </a:pPr>
            <a:r>
              <a:rPr lang="en-US" sz="1150" dirty="0">
                <a:solidFill>
                  <a:srgbClr val="16181D"/>
                </a:solidFill>
                <a:latin typeface="Arial" pitchFamily="34" charset="0"/>
                <a:ea typeface="Arial" pitchFamily="34" charset="-122"/>
                <a:cs typeface="Arial" pitchFamily="34" charset="-120"/>
              </a:rPr>
              <a:t>34.2%</a:t>
            </a:r>
            <a:endParaRPr lang="en-US" sz="1150" dirty="0"/>
          </a:p>
        </p:txBody>
      </p:sp>
      <p:sp>
        <p:nvSpPr>
          <p:cNvPr id="26" name="Text 24"/>
          <p:cNvSpPr txBox="1"/>
          <p:nvPr/>
        </p:nvSpPr>
        <p:spPr>
          <a:xfrm>
            <a:off x="7095744" y="3136392"/>
            <a:ext cx="2340864" cy="420624"/>
          </a:xfrm>
          <a:prstGeom prst="rect">
            <a:avLst/>
          </a:prstGeom>
          <a:noFill/>
          <a:ln/>
        </p:spPr>
        <p:txBody>
          <a:bodyPr wrap="square" lIns="0" tIns="0" rIns="0" bIns="0" rtlCol="0" anchor="ctr"/>
          <a:lstStyle/>
          <a:p>
            <a:pPr indent="0" marL="0">
              <a:buNone/>
            </a:pPr>
            <a:r>
              <a:rPr lang="en-US" sz="1150" dirty="0">
                <a:solidFill>
                  <a:srgbClr val="16181D"/>
                </a:solidFill>
                <a:latin typeface="Arial" pitchFamily="34" charset="0"/>
                <a:ea typeface="Arial" pitchFamily="34" charset="-122"/>
                <a:cs typeface="Arial" pitchFamily="34" charset="-120"/>
              </a:rPr>
              <a:t>0.463</a:t>
            </a:r>
            <a:endParaRPr lang="en-US" sz="1150" dirty="0"/>
          </a:p>
        </p:txBody>
      </p:sp>
      <p:sp>
        <p:nvSpPr>
          <p:cNvPr id="27" name="Text 25"/>
          <p:cNvSpPr txBox="1"/>
          <p:nvPr/>
        </p:nvSpPr>
        <p:spPr>
          <a:xfrm>
            <a:off x="9656064" y="3136392"/>
            <a:ext cx="1819656" cy="420624"/>
          </a:xfrm>
          <a:prstGeom prst="rect">
            <a:avLst/>
          </a:prstGeom>
          <a:noFill/>
          <a:ln/>
        </p:spPr>
        <p:txBody>
          <a:bodyPr wrap="square" lIns="0" tIns="0" rIns="0" bIns="0" rtlCol="0" anchor="ctr"/>
          <a:lstStyle/>
          <a:p>
            <a:pPr indent="0" marL="0">
              <a:buNone/>
            </a:pPr>
            <a:r>
              <a:rPr lang="en-US" sz="1150" b="1" dirty="0">
                <a:solidFill>
                  <a:srgbClr val="B23A2C"/>
                </a:solidFill>
                <a:latin typeface="Arial" pitchFamily="34" charset="0"/>
                <a:ea typeface="Arial" pitchFamily="34" charset="-122"/>
                <a:cs typeface="Arial" pitchFamily="34" charset="-120"/>
              </a:rPr>
              <a:t>2.1×</a:t>
            </a:r>
            <a:endParaRPr lang="en-US" sz="1150" dirty="0"/>
          </a:p>
        </p:txBody>
      </p:sp>
      <p:sp>
        <p:nvSpPr>
          <p:cNvPr id="28" name="Text 26"/>
          <p:cNvSpPr txBox="1"/>
          <p:nvPr/>
        </p:nvSpPr>
        <p:spPr>
          <a:xfrm>
            <a:off x="786384" y="3557016"/>
            <a:ext cx="3803904" cy="420624"/>
          </a:xfrm>
          <a:prstGeom prst="rect">
            <a:avLst/>
          </a:prstGeom>
          <a:noFill/>
          <a:ln/>
        </p:spPr>
        <p:txBody>
          <a:bodyPr wrap="square" lIns="0" tIns="0" rIns="0" bIns="0" rtlCol="0" anchor="ctr"/>
          <a:lstStyle/>
          <a:p>
            <a:pPr indent="0" marL="0">
              <a:buNone/>
            </a:pPr>
            <a:r>
              <a:rPr lang="en-US" sz="1150" b="1" dirty="0">
                <a:solidFill>
                  <a:srgbClr val="16181D"/>
                </a:solidFill>
                <a:latin typeface="Arial" pitchFamily="34" charset="0"/>
                <a:ea typeface="Arial" pitchFamily="34" charset="-122"/>
                <a:cs typeface="Arial" pitchFamily="34" charset="-120"/>
              </a:rPr>
              <a:t>injury — minor</a:t>
            </a:r>
            <a:endParaRPr lang="en-US" sz="1150" dirty="0"/>
          </a:p>
        </p:txBody>
      </p:sp>
      <p:sp>
        <p:nvSpPr>
          <p:cNvPr id="29" name="Text 27"/>
          <p:cNvSpPr txBox="1"/>
          <p:nvPr/>
        </p:nvSpPr>
        <p:spPr>
          <a:xfrm>
            <a:off x="4809744" y="3557016"/>
            <a:ext cx="2066544" cy="420624"/>
          </a:xfrm>
          <a:prstGeom prst="rect">
            <a:avLst/>
          </a:prstGeom>
          <a:noFill/>
          <a:ln/>
        </p:spPr>
        <p:txBody>
          <a:bodyPr wrap="square" lIns="0" tIns="0" rIns="0" bIns="0" rtlCol="0" anchor="ctr"/>
          <a:lstStyle/>
          <a:p>
            <a:pPr indent="0" marL="0">
              <a:buNone/>
            </a:pPr>
            <a:r>
              <a:rPr lang="en-US" sz="1150" dirty="0">
                <a:solidFill>
                  <a:srgbClr val="16181D"/>
                </a:solidFill>
                <a:latin typeface="Arial" pitchFamily="34" charset="0"/>
                <a:ea typeface="Arial" pitchFamily="34" charset="-122"/>
                <a:cs typeface="Arial" pitchFamily="34" charset="-120"/>
              </a:rPr>
              <a:t>10.3%</a:t>
            </a:r>
            <a:endParaRPr lang="en-US" sz="1150" dirty="0"/>
          </a:p>
        </p:txBody>
      </p:sp>
      <p:sp>
        <p:nvSpPr>
          <p:cNvPr id="30" name="Text 28"/>
          <p:cNvSpPr txBox="1"/>
          <p:nvPr/>
        </p:nvSpPr>
        <p:spPr>
          <a:xfrm>
            <a:off x="7095744" y="3557016"/>
            <a:ext cx="2340864" cy="420624"/>
          </a:xfrm>
          <a:prstGeom prst="rect">
            <a:avLst/>
          </a:prstGeom>
          <a:noFill/>
          <a:ln/>
        </p:spPr>
        <p:txBody>
          <a:bodyPr wrap="square" lIns="0" tIns="0" rIns="0" bIns="0" rtlCol="0" anchor="ctr"/>
          <a:lstStyle/>
          <a:p>
            <a:pPr indent="0" marL="0">
              <a:buNone/>
            </a:pPr>
            <a:r>
              <a:rPr lang="en-US" sz="1150" dirty="0">
                <a:solidFill>
                  <a:srgbClr val="16181D"/>
                </a:solidFill>
                <a:latin typeface="Arial" pitchFamily="34" charset="0"/>
                <a:ea typeface="Arial" pitchFamily="34" charset="-122"/>
                <a:cs typeface="Arial" pitchFamily="34" charset="-120"/>
              </a:rPr>
              <a:t>0.122</a:t>
            </a:r>
            <a:endParaRPr lang="en-US" sz="1150" dirty="0"/>
          </a:p>
        </p:txBody>
      </p:sp>
      <p:sp>
        <p:nvSpPr>
          <p:cNvPr id="31" name="Text 29"/>
          <p:cNvSpPr txBox="1"/>
          <p:nvPr/>
        </p:nvSpPr>
        <p:spPr>
          <a:xfrm>
            <a:off x="9656064" y="3557016"/>
            <a:ext cx="1819656" cy="420624"/>
          </a:xfrm>
          <a:prstGeom prst="rect">
            <a:avLst/>
          </a:prstGeom>
          <a:noFill/>
          <a:ln/>
        </p:spPr>
        <p:txBody>
          <a:bodyPr wrap="square" lIns="0" tIns="0" rIns="0" bIns="0" rtlCol="0" anchor="ctr"/>
          <a:lstStyle/>
          <a:p>
            <a:pPr indent="0" marL="0">
              <a:buNone/>
            </a:pPr>
            <a:r>
              <a:rPr lang="en-US" sz="1150" b="1" dirty="0">
                <a:solidFill>
                  <a:srgbClr val="B23A2C"/>
                </a:solidFill>
                <a:latin typeface="Arial" pitchFamily="34" charset="0"/>
                <a:ea typeface="Arial" pitchFamily="34" charset="-122"/>
                <a:cs typeface="Arial" pitchFamily="34" charset="-120"/>
              </a:rPr>
              <a:t>1.4×</a:t>
            </a:r>
            <a:endParaRPr lang="en-US" sz="1150" dirty="0"/>
          </a:p>
        </p:txBody>
      </p:sp>
      <p:sp>
        <p:nvSpPr>
          <p:cNvPr id="32" name="Shape 30"/>
          <p:cNvSpPr/>
          <p:nvPr/>
        </p:nvSpPr>
        <p:spPr>
          <a:xfrm>
            <a:off x="640080" y="4023360"/>
            <a:ext cx="10908792" cy="960120"/>
          </a:xfrm>
          <a:prstGeom prst="roundRect">
            <a:avLst>
              <a:gd name="adj" fmla="val 4762"/>
            </a:avLst>
          </a:prstGeom>
          <a:solidFill>
            <a:srgbClr val="12345C"/>
          </a:solidFill>
          <a:ln w="12700">
            <a:solidFill>
              <a:srgbClr val="12345C"/>
            </a:solidFill>
            <a:prstDash val="solid"/>
          </a:ln>
        </p:spPr>
      </p:sp>
      <p:sp>
        <p:nvSpPr>
          <p:cNvPr id="33" name="Text 31"/>
          <p:cNvSpPr txBox="1"/>
          <p:nvPr/>
        </p:nvSpPr>
        <p:spPr>
          <a:xfrm>
            <a:off x="914400" y="4096512"/>
            <a:ext cx="10360152" cy="813816"/>
          </a:xfrm>
          <a:prstGeom prst="rect">
            <a:avLst/>
          </a:prstGeom>
          <a:noFill/>
          <a:ln/>
        </p:spPr>
        <p:txBody>
          <a:bodyPr wrap="square" lIns="0" tIns="0" rIns="0" bIns="0" rtlCol="0" anchor="ctr"/>
          <a:lstStyle/>
          <a:p>
            <a:pPr indent="0" marL="0">
              <a:buNone/>
            </a:pPr>
            <a:r>
              <a:rPr lang="en-US" sz="1450" b="1" dirty="0">
                <a:solidFill>
                  <a:srgbClr val="FFFFFF"/>
                </a:solidFill>
                <a:latin typeface="Arial" pitchFamily="34" charset="0"/>
                <a:ea typeface="Arial" pitchFamily="34" charset="-122"/>
                <a:cs typeface="Arial" pitchFamily="34" charset="-120"/>
              </a:rPr>
              <a:t>Destroyed damage is rarer than minor injury and separates four times better. The blocker is not class size — it is that narratives don't distinguish "one person was hurt" from "nobody was hurt."</a:t>
            </a:r>
            <a:endParaRPr lang="en-US" sz="1450" dirty="0"/>
          </a:p>
        </p:txBody>
      </p:sp>
      <p:sp>
        <p:nvSpPr>
          <p:cNvPr id="34" name="Shape 32"/>
          <p:cNvSpPr/>
          <p:nvPr/>
        </p:nvSpPr>
        <p:spPr>
          <a:xfrm>
            <a:off x="640080" y="5166360"/>
            <a:ext cx="10908792" cy="1051560"/>
          </a:xfrm>
          <a:prstGeom prst="roundRect">
            <a:avLst>
              <a:gd name="adj" fmla="val 4348"/>
            </a:avLst>
          </a:prstGeom>
          <a:solidFill>
            <a:srgbClr val="FDFAF0"/>
          </a:solidFill>
          <a:ln w="12700">
            <a:solidFill>
              <a:srgbClr val="FDFAF0"/>
            </a:solidFill>
            <a:prstDash val="solid"/>
          </a:ln>
        </p:spPr>
      </p:sp>
      <p:sp>
        <p:nvSpPr>
          <p:cNvPr id="35" name="Text 33"/>
          <p:cNvSpPr txBox="1"/>
          <p:nvPr/>
        </p:nvSpPr>
        <p:spPr>
          <a:xfrm>
            <a:off x="841248" y="5303520"/>
            <a:ext cx="10506456" cy="274320"/>
          </a:xfrm>
          <a:prstGeom prst="rect">
            <a:avLst/>
          </a:prstGeom>
          <a:noFill/>
          <a:ln/>
        </p:spPr>
        <p:txBody>
          <a:bodyPr wrap="square" lIns="0" tIns="0" rIns="0" bIns="0" rtlCol="0" anchor="t"/>
          <a:lstStyle/>
          <a:p>
            <a:pPr indent="0" marL="0">
              <a:buNone/>
            </a:pPr>
            <a:r>
              <a:rPr lang="en-US" sz="1300" b="1" dirty="0">
                <a:solidFill>
                  <a:srgbClr val="8A6C10"/>
                </a:solidFill>
                <a:latin typeface="Arial" pitchFamily="34" charset="0"/>
                <a:ea typeface="Arial" pitchFamily="34" charset="-122"/>
                <a:cs typeface="Arial" pitchFamily="34" charset="-120"/>
              </a:rPr>
              <a:t>This is the finding, not the 0%</a:t>
            </a:r>
            <a:endParaRPr lang="en-US" sz="1300" dirty="0"/>
          </a:p>
        </p:txBody>
      </p:sp>
      <p:sp>
        <p:nvSpPr>
          <p:cNvPr id="36" name="Text 34"/>
          <p:cNvSpPr txBox="1"/>
          <p:nvPr/>
        </p:nvSpPr>
        <p:spPr>
          <a:xfrm>
            <a:off x="841248" y="5623560"/>
            <a:ext cx="10506456" cy="457200"/>
          </a:xfrm>
          <a:prstGeom prst="rect">
            <a:avLst/>
          </a:prstGeom>
          <a:noFill/>
          <a:ln/>
        </p:spPr>
        <p:txBody>
          <a:bodyPr wrap="square" lIns="0" tIns="0" rIns="0" bIns="0" rtlCol="0" anchor="t"/>
          <a:lstStyle/>
          <a:p>
            <a:pPr indent="0" marL="0">
              <a:spcAft>
                <a:spcPts val="300"/>
              </a:spcAft>
              <a:buNone/>
            </a:pPr>
            <a:r>
              <a:rPr lang="en-US" sz="1200" dirty="0">
                <a:solidFill>
                  <a:srgbClr val="16181D"/>
                </a:solidFill>
                <a:latin typeface="Arial" pitchFamily="34" charset="0"/>
                <a:ea typeface="Arial" pitchFamily="34" charset="-122"/>
                <a:cs typeface="Arial" pitchFamily="34" charset="-120"/>
              </a:rPr>
              <a:t>Fatal has real separation (3.9×) but n=3 — unevaluable, and I'd say so rather than report 0%. Minor injury has 16 test cases and essentially no separation.</a:t>
            </a:r>
            <a:endParaRPr lang="en-US" sz="1200" dirty="0"/>
          </a:p>
        </p:txBody>
      </p:sp>
      <p:sp>
        <p:nvSpPr>
          <p:cNvPr id="37" name="Text 35"/>
          <p:cNvSpPr txBox="1"/>
          <p:nvPr/>
        </p:nvSpPr>
        <p:spPr>
          <a:xfrm>
            <a:off x="11155680" y="6355080"/>
            <a:ext cx="822960" cy="274320"/>
          </a:xfrm>
          <a:prstGeom prst="rect">
            <a:avLst/>
          </a:prstGeom>
          <a:noFill/>
          <a:ln/>
        </p:spPr>
        <p:txBody>
          <a:bodyPr wrap="square" lIns="0" tIns="0" rIns="0" bIns="0" rtlCol="0" anchor="ctr"/>
          <a:lstStyle/>
          <a:p>
            <a:pPr algn="r" indent="0" marL="0">
              <a:buNone/>
            </a:pPr>
            <a:r>
              <a:rPr lang="en-US" sz="1100" dirty="0">
                <a:solidFill>
                  <a:srgbClr val="B8BCC4"/>
                </a:solidFill>
                <a:latin typeface="Arial" pitchFamily="34" charset="0"/>
                <a:ea typeface="Arial" pitchFamily="34" charset="-122"/>
                <a:cs typeface="Arial" pitchFamily="34" charset="-120"/>
              </a:rPr>
              <a:t>appendix</a:t>
            </a:r>
            <a:endParaRPr lang="en-US" sz="11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8A8F99"/>
          </a:solidFill>
          <a:ln/>
        </p:spPr>
      </p:sp>
      <p:sp>
        <p:nvSpPr>
          <p:cNvPr id="3" name="Text 1"/>
          <p:cNvSpPr txBox="1"/>
          <p:nvPr/>
        </p:nvSpPr>
        <p:spPr>
          <a:xfrm>
            <a:off x="640080" y="384048"/>
            <a:ext cx="10908792" cy="566928"/>
          </a:xfrm>
          <a:prstGeom prst="rect">
            <a:avLst/>
          </a:prstGeom>
          <a:noFill/>
          <a:ln/>
        </p:spPr>
        <p:txBody>
          <a:bodyPr wrap="square" lIns="0" tIns="0" rIns="0" bIns="0" rtlCol="0" anchor="t"/>
          <a:lstStyle/>
          <a:p>
            <a:pPr indent="0" marL="0">
              <a:buNone/>
            </a:pPr>
            <a:r>
              <a:rPr lang="en-US" sz="2700" b="1" dirty="0">
                <a:solidFill>
                  <a:srgbClr val="16181D"/>
                </a:solidFill>
                <a:latin typeface="Arial" pitchFamily="34" charset="0"/>
                <a:ea typeface="Arial" pitchFamily="34" charset="-122"/>
                <a:cs typeface="Arial" pitchFamily="34" charset="-120"/>
              </a:rPr>
              <a:t>Same story on cause categories</a:t>
            </a:r>
            <a:endParaRPr lang="en-US" sz="2700" dirty="0"/>
          </a:p>
        </p:txBody>
      </p:sp>
      <p:sp>
        <p:nvSpPr>
          <p:cNvPr id="4" name="Shape 2"/>
          <p:cNvSpPr/>
          <p:nvPr/>
        </p:nvSpPr>
        <p:spPr>
          <a:xfrm>
            <a:off x="640080" y="1417320"/>
            <a:ext cx="10908792" cy="365760"/>
          </a:xfrm>
          <a:prstGeom prst="rect">
            <a:avLst/>
          </a:prstGeom>
          <a:solidFill>
            <a:srgbClr val="12345C"/>
          </a:solidFill>
          <a:ln w="12700">
            <a:solidFill>
              <a:srgbClr val="12345C"/>
            </a:solidFill>
            <a:prstDash val="solid"/>
          </a:ln>
        </p:spPr>
      </p:sp>
      <p:sp>
        <p:nvSpPr>
          <p:cNvPr id="5" name="Text 3"/>
          <p:cNvSpPr txBox="1"/>
          <p:nvPr/>
        </p:nvSpPr>
        <p:spPr>
          <a:xfrm>
            <a:off x="786384" y="1417320"/>
            <a:ext cx="5724144" cy="36576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Category (retrieval readout)</a:t>
            </a:r>
            <a:endParaRPr lang="en-US" sz="1150" dirty="0"/>
          </a:p>
        </p:txBody>
      </p:sp>
      <p:sp>
        <p:nvSpPr>
          <p:cNvPr id="6" name="Text 4"/>
          <p:cNvSpPr txBox="1"/>
          <p:nvPr/>
        </p:nvSpPr>
        <p:spPr>
          <a:xfrm>
            <a:off x="6729984" y="1417320"/>
            <a:ext cx="2432304" cy="36576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Recall</a:t>
            </a:r>
            <a:endParaRPr lang="en-US" sz="1150" dirty="0"/>
          </a:p>
        </p:txBody>
      </p:sp>
      <p:sp>
        <p:nvSpPr>
          <p:cNvPr id="7" name="Text 5"/>
          <p:cNvSpPr txBox="1"/>
          <p:nvPr/>
        </p:nvSpPr>
        <p:spPr>
          <a:xfrm>
            <a:off x="9381744" y="1417320"/>
            <a:ext cx="2093976" cy="36576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Support</a:t>
            </a:r>
            <a:endParaRPr lang="en-US" sz="1150" dirty="0"/>
          </a:p>
        </p:txBody>
      </p:sp>
      <p:sp>
        <p:nvSpPr>
          <p:cNvPr id="8" name="Text 6"/>
          <p:cNvSpPr txBox="1"/>
          <p:nvPr/>
        </p:nvSpPr>
        <p:spPr>
          <a:xfrm>
            <a:off x="786384" y="1783080"/>
            <a:ext cx="5724144" cy="457200"/>
          </a:xfrm>
          <a:prstGeom prst="rect">
            <a:avLst/>
          </a:prstGeom>
          <a:noFill/>
          <a:ln/>
        </p:spPr>
        <p:txBody>
          <a:bodyPr wrap="square" lIns="0" tIns="0" rIns="0" bIns="0" rtlCol="0" anchor="ctr"/>
          <a:lstStyle/>
          <a:p>
            <a:pPr indent="0" marL="0">
              <a:buNone/>
            </a:pPr>
            <a:r>
              <a:rPr lang="en-US" sz="1150" b="1" dirty="0">
                <a:solidFill>
                  <a:srgbClr val="16181D"/>
                </a:solidFill>
                <a:latin typeface="Arial" pitchFamily="34" charset="0"/>
                <a:ea typeface="Arial" pitchFamily="34" charset="-122"/>
                <a:cs typeface="Arial" pitchFamily="34" charset="-120"/>
              </a:rPr>
              <a:t>ENVIRONMENT</a:t>
            </a:r>
            <a:endParaRPr lang="en-US" sz="1150" dirty="0"/>
          </a:p>
        </p:txBody>
      </p:sp>
      <p:sp>
        <p:nvSpPr>
          <p:cNvPr id="9" name="Text 7"/>
          <p:cNvSpPr txBox="1"/>
          <p:nvPr/>
        </p:nvSpPr>
        <p:spPr>
          <a:xfrm>
            <a:off x="6729984" y="1783080"/>
            <a:ext cx="2432304" cy="457200"/>
          </a:xfrm>
          <a:prstGeom prst="rect">
            <a:avLst/>
          </a:prstGeom>
          <a:noFill/>
          <a:ln/>
        </p:spPr>
        <p:txBody>
          <a:bodyPr wrap="square" lIns="0" tIns="0" rIns="0" bIns="0" rtlCol="0" anchor="ctr"/>
          <a:lstStyle/>
          <a:p>
            <a:pPr indent="0" marL="0">
              <a:buNone/>
            </a:pPr>
            <a:r>
              <a:rPr lang="en-US" sz="1150" b="1" dirty="0">
                <a:solidFill>
                  <a:srgbClr val="B23A2C"/>
                </a:solidFill>
                <a:latin typeface="Arial" pitchFamily="34" charset="0"/>
                <a:ea typeface="Arial" pitchFamily="34" charset="-122"/>
                <a:cs typeface="Arial" pitchFamily="34" charset="-120"/>
              </a:rPr>
              <a:t>72.7%</a:t>
            </a:r>
            <a:endParaRPr lang="en-US" sz="1150" dirty="0"/>
          </a:p>
        </p:txBody>
      </p:sp>
      <p:sp>
        <p:nvSpPr>
          <p:cNvPr id="10" name="Text 8"/>
          <p:cNvSpPr txBox="1"/>
          <p:nvPr/>
        </p:nvSpPr>
        <p:spPr>
          <a:xfrm>
            <a:off x="9381744" y="1783080"/>
            <a:ext cx="2093976" cy="457200"/>
          </a:xfrm>
          <a:prstGeom prst="rect">
            <a:avLst/>
          </a:prstGeom>
          <a:noFill/>
          <a:ln/>
        </p:spPr>
        <p:txBody>
          <a:bodyPr wrap="square" lIns="0" tIns="0" rIns="0" bIns="0" rtlCol="0" anchor="ctr"/>
          <a:lstStyle/>
          <a:p>
            <a:pPr indent="0" marL="0">
              <a:buNone/>
            </a:pPr>
            <a:r>
              <a:rPr lang="en-US" sz="1150" dirty="0">
                <a:solidFill>
                  <a:srgbClr val="16181D"/>
                </a:solidFill>
                <a:latin typeface="Arial" pitchFamily="34" charset="0"/>
                <a:ea typeface="Arial" pitchFamily="34" charset="-122"/>
                <a:cs typeface="Arial" pitchFamily="34" charset="-120"/>
              </a:rPr>
              <a:t>99</a:t>
            </a:r>
            <a:endParaRPr lang="en-US" sz="1150" dirty="0"/>
          </a:p>
        </p:txBody>
      </p:sp>
      <p:sp>
        <p:nvSpPr>
          <p:cNvPr id="11" name="Shape 9"/>
          <p:cNvSpPr/>
          <p:nvPr/>
        </p:nvSpPr>
        <p:spPr>
          <a:xfrm>
            <a:off x="640080" y="2240280"/>
            <a:ext cx="10908792" cy="457200"/>
          </a:xfrm>
          <a:prstGeom prst="rect">
            <a:avLst/>
          </a:prstGeom>
          <a:solidFill>
            <a:srgbClr val="F7F8FA"/>
          </a:solidFill>
          <a:ln w="12700">
            <a:solidFill>
              <a:srgbClr val="F7F8FA"/>
            </a:solidFill>
            <a:prstDash val="solid"/>
          </a:ln>
        </p:spPr>
      </p:sp>
      <p:sp>
        <p:nvSpPr>
          <p:cNvPr id="12" name="Text 10"/>
          <p:cNvSpPr txBox="1"/>
          <p:nvPr/>
        </p:nvSpPr>
        <p:spPr>
          <a:xfrm>
            <a:off x="786384" y="2240280"/>
            <a:ext cx="5724144" cy="457200"/>
          </a:xfrm>
          <a:prstGeom prst="rect">
            <a:avLst/>
          </a:prstGeom>
          <a:noFill/>
          <a:ln/>
        </p:spPr>
        <p:txBody>
          <a:bodyPr wrap="square" lIns="0" tIns="0" rIns="0" bIns="0" rtlCol="0" anchor="ctr"/>
          <a:lstStyle/>
          <a:p>
            <a:pPr indent="0" marL="0">
              <a:buNone/>
            </a:pPr>
            <a:r>
              <a:rPr lang="en-US" sz="1150" b="1" dirty="0">
                <a:solidFill>
                  <a:srgbClr val="16181D"/>
                </a:solidFill>
                <a:latin typeface="Arial" pitchFamily="34" charset="0"/>
                <a:ea typeface="Arial" pitchFamily="34" charset="-122"/>
                <a:cs typeface="Arial" pitchFamily="34" charset="-120"/>
              </a:rPr>
              <a:t>PERSONNEL</a:t>
            </a:r>
            <a:endParaRPr lang="en-US" sz="1150" dirty="0"/>
          </a:p>
        </p:txBody>
      </p:sp>
      <p:sp>
        <p:nvSpPr>
          <p:cNvPr id="13" name="Text 11"/>
          <p:cNvSpPr txBox="1"/>
          <p:nvPr/>
        </p:nvSpPr>
        <p:spPr>
          <a:xfrm>
            <a:off x="6729984" y="2240280"/>
            <a:ext cx="2432304" cy="457200"/>
          </a:xfrm>
          <a:prstGeom prst="rect">
            <a:avLst/>
          </a:prstGeom>
          <a:noFill/>
          <a:ln/>
        </p:spPr>
        <p:txBody>
          <a:bodyPr wrap="square" lIns="0" tIns="0" rIns="0" bIns="0" rtlCol="0" anchor="ctr"/>
          <a:lstStyle/>
          <a:p>
            <a:pPr indent="0" marL="0">
              <a:buNone/>
            </a:pPr>
            <a:r>
              <a:rPr lang="en-US" sz="1150" b="1" dirty="0">
                <a:solidFill>
                  <a:srgbClr val="B23A2C"/>
                </a:solidFill>
                <a:latin typeface="Arial" pitchFamily="34" charset="0"/>
                <a:ea typeface="Arial" pitchFamily="34" charset="-122"/>
                <a:cs typeface="Arial" pitchFamily="34" charset="-120"/>
              </a:rPr>
              <a:t>68.1%</a:t>
            </a:r>
            <a:endParaRPr lang="en-US" sz="1150" dirty="0"/>
          </a:p>
        </p:txBody>
      </p:sp>
      <p:sp>
        <p:nvSpPr>
          <p:cNvPr id="14" name="Text 12"/>
          <p:cNvSpPr txBox="1"/>
          <p:nvPr/>
        </p:nvSpPr>
        <p:spPr>
          <a:xfrm>
            <a:off x="9381744" y="2240280"/>
            <a:ext cx="2093976" cy="457200"/>
          </a:xfrm>
          <a:prstGeom prst="rect">
            <a:avLst/>
          </a:prstGeom>
          <a:noFill/>
          <a:ln/>
        </p:spPr>
        <p:txBody>
          <a:bodyPr wrap="square" lIns="0" tIns="0" rIns="0" bIns="0" rtlCol="0" anchor="ctr"/>
          <a:lstStyle/>
          <a:p>
            <a:pPr indent="0" marL="0">
              <a:buNone/>
            </a:pPr>
            <a:r>
              <a:rPr lang="en-US" sz="1150" dirty="0">
                <a:solidFill>
                  <a:srgbClr val="16181D"/>
                </a:solidFill>
                <a:latin typeface="Arial" pitchFamily="34" charset="0"/>
                <a:ea typeface="Arial" pitchFamily="34" charset="-122"/>
                <a:cs typeface="Arial" pitchFamily="34" charset="-120"/>
              </a:rPr>
              <a:t>116</a:t>
            </a:r>
            <a:endParaRPr lang="en-US" sz="1150" dirty="0"/>
          </a:p>
        </p:txBody>
      </p:sp>
      <p:sp>
        <p:nvSpPr>
          <p:cNvPr id="15" name="Text 13"/>
          <p:cNvSpPr txBox="1"/>
          <p:nvPr/>
        </p:nvSpPr>
        <p:spPr>
          <a:xfrm>
            <a:off x="786384" y="2697480"/>
            <a:ext cx="5724144" cy="457200"/>
          </a:xfrm>
          <a:prstGeom prst="rect">
            <a:avLst/>
          </a:prstGeom>
          <a:noFill/>
          <a:ln/>
        </p:spPr>
        <p:txBody>
          <a:bodyPr wrap="square" lIns="0" tIns="0" rIns="0" bIns="0" rtlCol="0" anchor="ctr"/>
          <a:lstStyle/>
          <a:p>
            <a:pPr indent="0" marL="0">
              <a:buNone/>
            </a:pPr>
            <a:r>
              <a:rPr lang="en-US" sz="1150" b="1" dirty="0">
                <a:solidFill>
                  <a:srgbClr val="16181D"/>
                </a:solidFill>
                <a:latin typeface="Arial" pitchFamily="34" charset="0"/>
                <a:ea typeface="Arial" pitchFamily="34" charset="-122"/>
                <a:cs typeface="Arial" pitchFamily="34" charset="-120"/>
              </a:rPr>
              <a:t>AIRCRAFT</a:t>
            </a:r>
            <a:endParaRPr lang="en-US" sz="1150" dirty="0"/>
          </a:p>
        </p:txBody>
      </p:sp>
      <p:sp>
        <p:nvSpPr>
          <p:cNvPr id="16" name="Text 14"/>
          <p:cNvSpPr txBox="1"/>
          <p:nvPr/>
        </p:nvSpPr>
        <p:spPr>
          <a:xfrm>
            <a:off x="6729984" y="2697480"/>
            <a:ext cx="2432304" cy="457200"/>
          </a:xfrm>
          <a:prstGeom prst="rect">
            <a:avLst/>
          </a:prstGeom>
          <a:noFill/>
          <a:ln/>
        </p:spPr>
        <p:txBody>
          <a:bodyPr wrap="square" lIns="0" tIns="0" rIns="0" bIns="0" rtlCol="0" anchor="ctr"/>
          <a:lstStyle/>
          <a:p>
            <a:pPr indent="0" marL="0">
              <a:buNone/>
            </a:pPr>
            <a:r>
              <a:rPr lang="en-US" sz="1150" b="1" dirty="0">
                <a:solidFill>
                  <a:srgbClr val="B23A2C"/>
                </a:solidFill>
                <a:latin typeface="Arial" pitchFamily="34" charset="0"/>
                <a:ea typeface="Arial" pitchFamily="34" charset="-122"/>
                <a:cs typeface="Arial" pitchFamily="34" charset="-120"/>
              </a:rPr>
              <a:t>62.0%</a:t>
            </a:r>
            <a:endParaRPr lang="en-US" sz="1150" dirty="0"/>
          </a:p>
        </p:txBody>
      </p:sp>
      <p:sp>
        <p:nvSpPr>
          <p:cNvPr id="17" name="Text 15"/>
          <p:cNvSpPr txBox="1"/>
          <p:nvPr/>
        </p:nvSpPr>
        <p:spPr>
          <a:xfrm>
            <a:off x="9381744" y="2697480"/>
            <a:ext cx="2093976" cy="457200"/>
          </a:xfrm>
          <a:prstGeom prst="rect">
            <a:avLst/>
          </a:prstGeom>
          <a:noFill/>
          <a:ln/>
        </p:spPr>
        <p:txBody>
          <a:bodyPr wrap="square" lIns="0" tIns="0" rIns="0" bIns="0" rtlCol="0" anchor="ctr"/>
          <a:lstStyle/>
          <a:p>
            <a:pPr indent="0" marL="0">
              <a:buNone/>
            </a:pPr>
            <a:r>
              <a:rPr lang="en-US" sz="1150" dirty="0">
                <a:solidFill>
                  <a:srgbClr val="16181D"/>
                </a:solidFill>
                <a:latin typeface="Arial" pitchFamily="34" charset="0"/>
                <a:ea typeface="Arial" pitchFamily="34" charset="-122"/>
                <a:cs typeface="Arial" pitchFamily="34" charset="-120"/>
              </a:rPr>
              <a:t>100</a:t>
            </a:r>
            <a:endParaRPr lang="en-US" sz="1150" dirty="0"/>
          </a:p>
        </p:txBody>
      </p:sp>
      <p:sp>
        <p:nvSpPr>
          <p:cNvPr id="18" name="Shape 16"/>
          <p:cNvSpPr/>
          <p:nvPr/>
        </p:nvSpPr>
        <p:spPr>
          <a:xfrm>
            <a:off x="640080" y="3154680"/>
            <a:ext cx="10908792" cy="457200"/>
          </a:xfrm>
          <a:prstGeom prst="rect">
            <a:avLst/>
          </a:prstGeom>
          <a:solidFill>
            <a:srgbClr val="F7F8FA"/>
          </a:solidFill>
          <a:ln w="12700">
            <a:solidFill>
              <a:srgbClr val="F7F8FA"/>
            </a:solidFill>
            <a:prstDash val="solid"/>
          </a:ln>
        </p:spPr>
      </p:sp>
      <p:sp>
        <p:nvSpPr>
          <p:cNvPr id="19" name="Text 17"/>
          <p:cNvSpPr txBox="1"/>
          <p:nvPr/>
        </p:nvSpPr>
        <p:spPr>
          <a:xfrm>
            <a:off x="786384" y="3154680"/>
            <a:ext cx="5724144" cy="457200"/>
          </a:xfrm>
          <a:prstGeom prst="rect">
            <a:avLst/>
          </a:prstGeom>
          <a:noFill/>
          <a:ln/>
        </p:spPr>
        <p:txBody>
          <a:bodyPr wrap="square" lIns="0" tIns="0" rIns="0" bIns="0" rtlCol="0" anchor="ctr"/>
          <a:lstStyle/>
          <a:p>
            <a:pPr indent="0" marL="0">
              <a:buNone/>
            </a:pPr>
            <a:r>
              <a:rPr lang="en-US" sz="1150" b="1" dirty="0">
                <a:solidFill>
                  <a:srgbClr val="16181D"/>
                </a:solidFill>
                <a:latin typeface="Arial" pitchFamily="34" charset="0"/>
                <a:ea typeface="Arial" pitchFamily="34" charset="-122"/>
                <a:cs typeface="Arial" pitchFamily="34" charset="-120"/>
              </a:rPr>
              <a:t>ORGANIZATIONAL</a:t>
            </a:r>
            <a:endParaRPr lang="en-US" sz="1150" dirty="0"/>
          </a:p>
        </p:txBody>
      </p:sp>
      <p:sp>
        <p:nvSpPr>
          <p:cNvPr id="20" name="Text 18"/>
          <p:cNvSpPr txBox="1"/>
          <p:nvPr/>
        </p:nvSpPr>
        <p:spPr>
          <a:xfrm>
            <a:off x="6729984" y="3154680"/>
            <a:ext cx="2432304" cy="457200"/>
          </a:xfrm>
          <a:prstGeom prst="rect">
            <a:avLst/>
          </a:prstGeom>
          <a:noFill/>
          <a:ln/>
        </p:spPr>
        <p:txBody>
          <a:bodyPr wrap="square" lIns="0" tIns="0" rIns="0" bIns="0" rtlCol="0" anchor="ctr"/>
          <a:lstStyle/>
          <a:p>
            <a:pPr indent="0" marL="0">
              <a:buNone/>
            </a:pPr>
            <a:r>
              <a:rPr lang="en-US" sz="1150" b="1" dirty="0">
                <a:solidFill>
                  <a:srgbClr val="B23A2C"/>
                </a:solidFill>
                <a:latin typeface="Arial" pitchFamily="34" charset="0"/>
                <a:ea typeface="Arial" pitchFamily="34" charset="-122"/>
                <a:cs typeface="Arial" pitchFamily="34" charset="-120"/>
              </a:rPr>
              <a:t>0.0%</a:t>
            </a:r>
            <a:endParaRPr lang="en-US" sz="1150" dirty="0"/>
          </a:p>
        </p:txBody>
      </p:sp>
      <p:sp>
        <p:nvSpPr>
          <p:cNvPr id="21" name="Text 19"/>
          <p:cNvSpPr txBox="1"/>
          <p:nvPr/>
        </p:nvSpPr>
        <p:spPr>
          <a:xfrm>
            <a:off x="9381744" y="3154680"/>
            <a:ext cx="2093976" cy="457200"/>
          </a:xfrm>
          <a:prstGeom prst="rect">
            <a:avLst/>
          </a:prstGeom>
          <a:noFill/>
          <a:ln/>
        </p:spPr>
        <p:txBody>
          <a:bodyPr wrap="square" lIns="0" tIns="0" rIns="0" bIns="0" rtlCol="0" anchor="ctr"/>
          <a:lstStyle/>
          <a:p>
            <a:pPr indent="0" marL="0">
              <a:buNone/>
            </a:pPr>
            <a:r>
              <a:rPr lang="en-US" sz="1150" dirty="0">
                <a:solidFill>
                  <a:srgbClr val="16181D"/>
                </a:solidFill>
                <a:latin typeface="Arial" pitchFamily="34" charset="0"/>
                <a:ea typeface="Arial" pitchFamily="34" charset="-122"/>
                <a:cs typeface="Arial" pitchFamily="34" charset="-120"/>
              </a:rPr>
              <a:t>25</a:t>
            </a:r>
            <a:endParaRPr lang="en-US" sz="1150" dirty="0"/>
          </a:p>
        </p:txBody>
      </p:sp>
      <p:sp>
        <p:nvSpPr>
          <p:cNvPr id="22" name="Shape 20"/>
          <p:cNvSpPr/>
          <p:nvPr/>
        </p:nvSpPr>
        <p:spPr>
          <a:xfrm>
            <a:off x="640080" y="3657600"/>
            <a:ext cx="10908792" cy="1097280"/>
          </a:xfrm>
          <a:prstGeom prst="roundRect">
            <a:avLst>
              <a:gd name="adj" fmla="val 4167"/>
            </a:avLst>
          </a:prstGeom>
          <a:solidFill>
            <a:srgbClr val="FDF0EE"/>
          </a:solidFill>
          <a:ln w="12700">
            <a:solidFill>
              <a:srgbClr val="FDF0EE"/>
            </a:solidFill>
            <a:prstDash val="solid"/>
          </a:ln>
        </p:spPr>
      </p:sp>
      <p:sp>
        <p:nvSpPr>
          <p:cNvPr id="23" name="Text 21"/>
          <p:cNvSpPr txBox="1"/>
          <p:nvPr/>
        </p:nvSpPr>
        <p:spPr>
          <a:xfrm>
            <a:off x="841248" y="3794760"/>
            <a:ext cx="10506456" cy="274320"/>
          </a:xfrm>
          <a:prstGeom prst="rect">
            <a:avLst/>
          </a:prstGeom>
          <a:noFill/>
          <a:ln/>
        </p:spPr>
        <p:txBody>
          <a:bodyPr wrap="square" lIns="0" tIns="0" rIns="0" bIns="0" rtlCol="0" anchor="t"/>
          <a:lstStyle/>
          <a:p>
            <a:pPr indent="0" marL="0">
              <a:buNone/>
            </a:pPr>
            <a:r>
              <a:rPr lang="en-US" sz="1400" b="1" dirty="0">
                <a:solidFill>
                  <a:srgbClr val="B23A2C"/>
                </a:solidFill>
                <a:latin typeface="Arial" pitchFamily="34" charset="0"/>
                <a:ea typeface="Arial" pitchFamily="34" charset="-122"/>
                <a:cs typeface="Arial" pitchFamily="34" charset="-120"/>
              </a:rPr>
              <a:t>Organizational causes are never ranked first — 0 of 25.</a:t>
            </a:r>
            <a:endParaRPr lang="en-US" sz="1400" dirty="0"/>
          </a:p>
        </p:txBody>
      </p:sp>
      <p:sp>
        <p:nvSpPr>
          <p:cNvPr id="24" name="Text 22"/>
          <p:cNvSpPr txBox="1"/>
          <p:nvPr/>
        </p:nvSpPr>
        <p:spPr>
          <a:xfrm>
            <a:off x="841248" y="4114800"/>
            <a:ext cx="10506456" cy="502920"/>
          </a:xfrm>
          <a:prstGeom prst="rect">
            <a:avLst/>
          </a:prstGeom>
          <a:noFill/>
          <a:ln/>
        </p:spPr>
        <p:txBody>
          <a:bodyPr wrap="square" lIns="0" tIns="0" rIns="0" bIns="0" rtlCol="0" anchor="t"/>
          <a:lstStyle/>
          <a:p>
            <a:pPr indent="0" marL="0">
              <a:spcAft>
                <a:spcPts val="300"/>
              </a:spcAft>
              <a:buNone/>
            </a:pPr>
            <a:r>
              <a:rPr lang="en-US" sz="1250" dirty="0">
                <a:solidFill>
                  <a:srgbClr val="16181D"/>
                </a:solidFill>
                <a:latin typeface="Arial" pitchFamily="34" charset="0"/>
                <a:ea typeface="Arial" pitchFamily="34" charset="-122"/>
                <a:cs typeface="Arial" pitchFamily="34" charset="-120"/>
              </a:rPr>
              <a:t>The frequency baseline has the same blind spot in a starker form: it gets 116/116 on personnel and 0 on everything else.</a:t>
            </a:r>
            <a:endParaRPr lang="en-US" sz="1250" dirty="0"/>
          </a:p>
        </p:txBody>
      </p:sp>
      <p:sp>
        <p:nvSpPr>
          <p:cNvPr id="25" name="Shape 23"/>
          <p:cNvSpPr/>
          <p:nvPr/>
        </p:nvSpPr>
        <p:spPr>
          <a:xfrm>
            <a:off x="640080" y="4937760"/>
            <a:ext cx="10908792" cy="822960"/>
          </a:xfrm>
          <a:prstGeom prst="roundRect">
            <a:avLst>
              <a:gd name="adj" fmla="val 5556"/>
            </a:avLst>
          </a:prstGeom>
          <a:solidFill>
            <a:srgbClr val="12345C"/>
          </a:solidFill>
          <a:ln w="12700">
            <a:solidFill>
              <a:srgbClr val="12345C"/>
            </a:solidFill>
            <a:prstDash val="solid"/>
          </a:ln>
        </p:spPr>
      </p:sp>
      <p:sp>
        <p:nvSpPr>
          <p:cNvPr id="26" name="Text 24"/>
          <p:cNvSpPr txBox="1"/>
          <p:nvPr/>
        </p:nvSpPr>
        <p:spPr>
          <a:xfrm>
            <a:off x="914400" y="5010912"/>
            <a:ext cx="10360152" cy="676656"/>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The method finds common patterns well and rare ones not at all. That is the honest limit of neighbour voting.</a:t>
            </a:r>
            <a:endParaRPr lang="en-US" sz="1500" dirty="0"/>
          </a:p>
        </p:txBody>
      </p:sp>
      <p:sp>
        <p:nvSpPr>
          <p:cNvPr id="27" name="Text 25"/>
          <p:cNvSpPr txBox="1"/>
          <p:nvPr/>
        </p:nvSpPr>
        <p:spPr>
          <a:xfrm>
            <a:off x="11155680" y="6355080"/>
            <a:ext cx="822960" cy="274320"/>
          </a:xfrm>
          <a:prstGeom prst="rect">
            <a:avLst/>
          </a:prstGeom>
          <a:noFill/>
          <a:ln/>
        </p:spPr>
        <p:txBody>
          <a:bodyPr wrap="square" lIns="0" tIns="0" rIns="0" bIns="0" rtlCol="0" anchor="ctr"/>
          <a:lstStyle/>
          <a:p>
            <a:pPr algn="r" indent="0" marL="0">
              <a:buNone/>
            </a:pPr>
            <a:r>
              <a:rPr lang="en-US" sz="1100" dirty="0">
                <a:solidFill>
                  <a:srgbClr val="B8BCC4"/>
                </a:solidFill>
                <a:latin typeface="Arial" pitchFamily="34" charset="0"/>
                <a:ea typeface="Arial" pitchFamily="34" charset="-122"/>
                <a:cs typeface="Arial" pitchFamily="34" charset="-120"/>
              </a:rPr>
              <a:t>appendix</a:t>
            </a:r>
            <a:endParaRPr lang="en-US" sz="11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8A8F99"/>
          </a:solidFill>
          <a:ln/>
        </p:spPr>
      </p:sp>
      <p:sp>
        <p:nvSpPr>
          <p:cNvPr id="3" name="Text 1"/>
          <p:cNvSpPr txBox="1"/>
          <p:nvPr/>
        </p:nvSpPr>
        <p:spPr>
          <a:xfrm>
            <a:off x="640080" y="384048"/>
            <a:ext cx="10908792" cy="566928"/>
          </a:xfrm>
          <a:prstGeom prst="rect">
            <a:avLst/>
          </a:prstGeom>
          <a:noFill/>
          <a:ln/>
        </p:spPr>
        <p:txBody>
          <a:bodyPr wrap="square" lIns="0" tIns="0" rIns="0" bIns="0" rtlCol="0" anchor="t"/>
          <a:lstStyle/>
          <a:p>
            <a:pPr indent="0" marL="0">
              <a:buNone/>
            </a:pPr>
            <a:r>
              <a:rPr lang="en-US" sz="2700" b="1" dirty="0">
                <a:solidFill>
                  <a:srgbClr val="16181D"/>
                </a:solidFill>
                <a:latin typeface="Arial" pitchFamily="34" charset="0"/>
                <a:ea typeface="Arial" pitchFamily="34" charset="-122"/>
                <a:cs typeface="Arial" pitchFamily="34" charset="-120"/>
              </a:rPr>
              <a:t>Step 6, precisely: how "similar" is computed</a:t>
            </a:r>
            <a:endParaRPr lang="en-US" sz="2700" dirty="0"/>
          </a:p>
        </p:txBody>
      </p:sp>
      <p:sp>
        <p:nvSpPr>
          <p:cNvPr id="4" name="Text 2"/>
          <p:cNvSpPr txBox="1"/>
          <p:nvPr/>
        </p:nvSpPr>
        <p:spPr>
          <a:xfrm>
            <a:off x="640080" y="969264"/>
            <a:ext cx="10908792" cy="347472"/>
          </a:xfrm>
          <a:prstGeom prst="rect">
            <a:avLst/>
          </a:prstGeom>
          <a:noFill/>
          <a:ln/>
        </p:spPr>
        <p:txBody>
          <a:bodyPr wrap="square" lIns="0" tIns="0" rIns="0" bIns="0" rtlCol="0" anchor="t"/>
          <a:lstStyle/>
          <a:p>
            <a:pPr indent="0" marL="0">
              <a:buNone/>
            </a:pPr>
            <a:r>
              <a:rPr lang="en-US" sz="1400" dirty="0">
                <a:solidFill>
                  <a:srgbClr val="6B7280"/>
                </a:solidFill>
                <a:latin typeface="Arial" pitchFamily="34" charset="0"/>
                <a:ea typeface="Arial" pitchFamily="34" charset="-122"/>
                <a:cs typeface="Arial" pitchFamily="34" charset="-120"/>
              </a:rPr>
              <a:t>Currently missing from the paper entirely.</a:t>
            </a:r>
            <a:endParaRPr lang="en-US" sz="1400" dirty="0"/>
          </a:p>
        </p:txBody>
      </p:sp>
      <p:sp>
        <p:nvSpPr>
          <p:cNvPr id="5" name="Shape 3"/>
          <p:cNvSpPr/>
          <p:nvPr/>
        </p:nvSpPr>
        <p:spPr>
          <a:xfrm>
            <a:off x="640080" y="1463040"/>
            <a:ext cx="10908792" cy="365760"/>
          </a:xfrm>
          <a:prstGeom prst="rect">
            <a:avLst/>
          </a:prstGeom>
          <a:solidFill>
            <a:srgbClr val="12345C"/>
          </a:solidFill>
          <a:ln w="12700">
            <a:solidFill>
              <a:srgbClr val="12345C"/>
            </a:solidFill>
            <a:prstDash val="solid"/>
          </a:ln>
        </p:spPr>
      </p:sp>
      <p:sp>
        <p:nvSpPr>
          <p:cNvPr id="6" name="Text 4"/>
          <p:cNvSpPr txBox="1"/>
          <p:nvPr/>
        </p:nvSpPr>
        <p:spPr>
          <a:xfrm>
            <a:off x="786384" y="1463040"/>
            <a:ext cx="3072384" cy="36576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Setting</a:t>
            </a:r>
            <a:endParaRPr lang="en-US" sz="1150" dirty="0"/>
          </a:p>
        </p:txBody>
      </p:sp>
      <p:sp>
        <p:nvSpPr>
          <p:cNvPr id="7" name="Text 5"/>
          <p:cNvSpPr txBox="1"/>
          <p:nvPr/>
        </p:nvSpPr>
        <p:spPr>
          <a:xfrm>
            <a:off x="4078224" y="1463040"/>
            <a:ext cx="7397496" cy="36576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Value</a:t>
            </a:r>
            <a:endParaRPr lang="en-US" sz="1150" dirty="0"/>
          </a:p>
        </p:txBody>
      </p:sp>
      <p:sp>
        <p:nvSpPr>
          <p:cNvPr id="8" name="Text 6"/>
          <p:cNvSpPr txBox="1"/>
          <p:nvPr/>
        </p:nvSpPr>
        <p:spPr>
          <a:xfrm>
            <a:off x="786384" y="1828800"/>
            <a:ext cx="3072384" cy="502920"/>
          </a:xfrm>
          <a:prstGeom prst="rect">
            <a:avLst/>
          </a:prstGeom>
          <a:noFill/>
          <a:ln/>
        </p:spPr>
        <p:txBody>
          <a:bodyPr wrap="square" lIns="0" tIns="0" rIns="0" bIns="0" rtlCol="0" anchor="ctr"/>
          <a:lstStyle/>
          <a:p>
            <a:pPr indent="0" marL="0">
              <a:buNone/>
            </a:pPr>
            <a:r>
              <a:rPr lang="en-US" sz="1150" b="1" dirty="0">
                <a:solidFill>
                  <a:srgbClr val="16181D"/>
                </a:solidFill>
                <a:latin typeface="Arial" pitchFamily="34" charset="0"/>
                <a:ea typeface="Arial" pitchFamily="34" charset="-122"/>
                <a:cs typeface="Arial" pitchFamily="34" charset="-120"/>
              </a:rPr>
              <a:t>Encoder</a:t>
            </a:r>
            <a:endParaRPr lang="en-US" sz="1150" dirty="0"/>
          </a:p>
        </p:txBody>
      </p:sp>
      <p:sp>
        <p:nvSpPr>
          <p:cNvPr id="9" name="Text 7"/>
          <p:cNvSpPr txBox="1"/>
          <p:nvPr/>
        </p:nvSpPr>
        <p:spPr>
          <a:xfrm>
            <a:off x="4078224" y="1828800"/>
            <a:ext cx="7397496" cy="502920"/>
          </a:xfrm>
          <a:prstGeom prst="rect">
            <a:avLst/>
          </a:prstGeom>
          <a:noFill/>
          <a:ln/>
        </p:spPr>
        <p:txBody>
          <a:bodyPr wrap="square" lIns="0" tIns="0" rIns="0" bIns="0" rtlCol="0" anchor="ctr"/>
          <a:lstStyle/>
          <a:p>
            <a:pPr indent="0" marL="0">
              <a:buNone/>
            </a:pPr>
            <a:r>
              <a:rPr lang="en-US" sz="1150" dirty="0">
                <a:solidFill>
                  <a:srgbClr val="16181D"/>
                </a:solidFill>
                <a:latin typeface="Arial" pitchFamily="34" charset="0"/>
                <a:ea typeface="Arial" pitchFamily="34" charset="-122"/>
                <a:cs typeface="Arial" pitchFamily="34" charset="-120"/>
              </a:rPr>
              <a:t>text-embedding-3-small (OpenAI)</a:t>
            </a:r>
            <a:endParaRPr lang="en-US" sz="1150" dirty="0"/>
          </a:p>
        </p:txBody>
      </p:sp>
      <p:sp>
        <p:nvSpPr>
          <p:cNvPr id="10" name="Shape 8"/>
          <p:cNvSpPr/>
          <p:nvPr/>
        </p:nvSpPr>
        <p:spPr>
          <a:xfrm>
            <a:off x="640080" y="2331720"/>
            <a:ext cx="10908792" cy="502920"/>
          </a:xfrm>
          <a:prstGeom prst="rect">
            <a:avLst/>
          </a:prstGeom>
          <a:solidFill>
            <a:srgbClr val="F7F8FA"/>
          </a:solidFill>
          <a:ln w="12700">
            <a:solidFill>
              <a:srgbClr val="F7F8FA"/>
            </a:solidFill>
            <a:prstDash val="solid"/>
          </a:ln>
        </p:spPr>
      </p:sp>
      <p:sp>
        <p:nvSpPr>
          <p:cNvPr id="11" name="Text 9"/>
          <p:cNvSpPr txBox="1"/>
          <p:nvPr/>
        </p:nvSpPr>
        <p:spPr>
          <a:xfrm>
            <a:off x="786384" y="2331720"/>
            <a:ext cx="3072384" cy="502920"/>
          </a:xfrm>
          <a:prstGeom prst="rect">
            <a:avLst/>
          </a:prstGeom>
          <a:noFill/>
          <a:ln/>
        </p:spPr>
        <p:txBody>
          <a:bodyPr wrap="square" lIns="0" tIns="0" rIns="0" bIns="0" rtlCol="0" anchor="ctr"/>
          <a:lstStyle/>
          <a:p>
            <a:pPr indent="0" marL="0">
              <a:buNone/>
            </a:pPr>
            <a:r>
              <a:rPr lang="en-US" sz="1150" b="1" dirty="0">
                <a:solidFill>
                  <a:srgbClr val="16181D"/>
                </a:solidFill>
                <a:latin typeface="Arial" pitchFamily="34" charset="0"/>
                <a:ea typeface="Arial" pitchFamily="34" charset="-122"/>
                <a:cs typeface="Arial" pitchFamily="34" charset="-120"/>
              </a:rPr>
              <a:t>Similarity metric</a:t>
            </a:r>
            <a:endParaRPr lang="en-US" sz="1150" dirty="0"/>
          </a:p>
        </p:txBody>
      </p:sp>
      <p:sp>
        <p:nvSpPr>
          <p:cNvPr id="12" name="Text 10"/>
          <p:cNvSpPr txBox="1"/>
          <p:nvPr/>
        </p:nvSpPr>
        <p:spPr>
          <a:xfrm>
            <a:off x="4078224" y="2331720"/>
            <a:ext cx="7397496" cy="502920"/>
          </a:xfrm>
          <a:prstGeom prst="rect">
            <a:avLst/>
          </a:prstGeom>
          <a:noFill/>
          <a:ln/>
        </p:spPr>
        <p:txBody>
          <a:bodyPr wrap="square" lIns="0" tIns="0" rIns="0" bIns="0" rtlCol="0" anchor="ctr"/>
          <a:lstStyle/>
          <a:p>
            <a:pPr indent="0" marL="0">
              <a:buNone/>
            </a:pPr>
            <a:r>
              <a:rPr lang="en-US" sz="1150" dirty="0">
                <a:solidFill>
                  <a:srgbClr val="16181D"/>
                </a:solidFill>
                <a:latin typeface="Arial" pitchFamily="34" charset="0"/>
                <a:ea typeface="Arial" pitchFamily="34" charset="-122"/>
                <a:cs typeface="Arial" pitchFamily="34" charset="-120"/>
              </a:rPr>
              <a:t>Cosine on normalized vectors — the angle between two narratives</a:t>
            </a:r>
            <a:endParaRPr lang="en-US" sz="1150" dirty="0"/>
          </a:p>
        </p:txBody>
      </p:sp>
      <p:sp>
        <p:nvSpPr>
          <p:cNvPr id="13" name="Text 11"/>
          <p:cNvSpPr txBox="1"/>
          <p:nvPr/>
        </p:nvSpPr>
        <p:spPr>
          <a:xfrm>
            <a:off x="786384" y="2834640"/>
            <a:ext cx="3072384" cy="502920"/>
          </a:xfrm>
          <a:prstGeom prst="rect">
            <a:avLst/>
          </a:prstGeom>
          <a:noFill/>
          <a:ln/>
        </p:spPr>
        <p:txBody>
          <a:bodyPr wrap="square" lIns="0" tIns="0" rIns="0" bIns="0" rtlCol="0" anchor="ctr"/>
          <a:lstStyle/>
          <a:p>
            <a:pPr indent="0" marL="0">
              <a:buNone/>
            </a:pPr>
            <a:r>
              <a:rPr lang="en-US" sz="1150" b="1" dirty="0">
                <a:solidFill>
                  <a:srgbClr val="16181D"/>
                </a:solidFill>
                <a:latin typeface="Arial" pitchFamily="34" charset="0"/>
                <a:ea typeface="Arial" pitchFamily="34" charset="-122"/>
                <a:cs typeface="Arial" pitchFamily="34" charset="-120"/>
              </a:rPr>
              <a:t>Input length</a:t>
            </a:r>
            <a:endParaRPr lang="en-US" sz="1150" dirty="0"/>
          </a:p>
        </p:txBody>
      </p:sp>
      <p:sp>
        <p:nvSpPr>
          <p:cNvPr id="14" name="Text 12"/>
          <p:cNvSpPr txBox="1"/>
          <p:nvPr/>
        </p:nvSpPr>
        <p:spPr>
          <a:xfrm>
            <a:off x="4078224" y="2834640"/>
            <a:ext cx="7397496" cy="502920"/>
          </a:xfrm>
          <a:prstGeom prst="rect">
            <a:avLst/>
          </a:prstGeom>
          <a:noFill/>
          <a:ln/>
        </p:spPr>
        <p:txBody>
          <a:bodyPr wrap="square" lIns="0" tIns="0" rIns="0" bIns="0" rtlCol="0" anchor="ctr"/>
          <a:lstStyle/>
          <a:p>
            <a:pPr indent="0" marL="0">
              <a:buNone/>
            </a:pPr>
            <a:r>
              <a:rPr lang="en-US" sz="1150" dirty="0">
                <a:solidFill>
                  <a:srgbClr val="16181D"/>
                </a:solidFill>
                <a:latin typeface="Arial" pitchFamily="34" charset="0"/>
                <a:ea typeface="Arial" pitchFamily="34" charset="-122"/>
                <a:cs typeface="Arial" pitchFamily="34" charset="-120"/>
              </a:rPr>
              <a:t>First 4,000 characters, after redaction</a:t>
            </a:r>
            <a:endParaRPr lang="en-US" sz="1150" dirty="0"/>
          </a:p>
        </p:txBody>
      </p:sp>
      <p:sp>
        <p:nvSpPr>
          <p:cNvPr id="15" name="Shape 13"/>
          <p:cNvSpPr/>
          <p:nvPr/>
        </p:nvSpPr>
        <p:spPr>
          <a:xfrm>
            <a:off x="640080" y="3337560"/>
            <a:ext cx="10908792" cy="502920"/>
          </a:xfrm>
          <a:prstGeom prst="rect">
            <a:avLst/>
          </a:prstGeom>
          <a:solidFill>
            <a:srgbClr val="F7F8FA"/>
          </a:solidFill>
          <a:ln w="12700">
            <a:solidFill>
              <a:srgbClr val="F7F8FA"/>
            </a:solidFill>
            <a:prstDash val="solid"/>
          </a:ln>
        </p:spPr>
      </p:sp>
      <p:sp>
        <p:nvSpPr>
          <p:cNvPr id="16" name="Text 14"/>
          <p:cNvSpPr txBox="1"/>
          <p:nvPr/>
        </p:nvSpPr>
        <p:spPr>
          <a:xfrm>
            <a:off x="786384" y="3337560"/>
            <a:ext cx="3072384" cy="502920"/>
          </a:xfrm>
          <a:prstGeom prst="rect">
            <a:avLst/>
          </a:prstGeom>
          <a:noFill/>
          <a:ln/>
        </p:spPr>
        <p:txBody>
          <a:bodyPr wrap="square" lIns="0" tIns="0" rIns="0" bIns="0" rtlCol="0" anchor="ctr"/>
          <a:lstStyle/>
          <a:p>
            <a:pPr indent="0" marL="0">
              <a:buNone/>
            </a:pPr>
            <a:r>
              <a:rPr lang="en-US" sz="1150" b="1" dirty="0">
                <a:solidFill>
                  <a:srgbClr val="16181D"/>
                </a:solidFill>
                <a:latin typeface="Arial" pitchFamily="34" charset="0"/>
                <a:ea typeface="Arial" pitchFamily="34" charset="-122"/>
                <a:cs typeface="Arial" pitchFamily="34" charset="-120"/>
              </a:rPr>
              <a:t>Neighbours kept</a:t>
            </a:r>
            <a:endParaRPr lang="en-US" sz="1150" dirty="0"/>
          </a:p>
        </p:txBody>
      </p:sp>
      <p:sp>
        <p:nvSpPr>
          <p:cNvPr id="17" name="Text 15"/>
          <p:cNvSpPr txBox="1"/>
          <p:nvPr/>
        </p:nvSpPr>
        <p:spPr>
          <a:xfrm>
            <a:off x="4078224" y="3337560"/>
            <a:ext cx="7397496" cy="502920"/>
          </a:xfrm>
          <a:prstGeom prst="rect">
            <a:avLst/>
          </a:prstGeom>
          <a:noFill/>
          <a:ln/>
        </p:spPr>
        <p:txBody>
          <a:bodyPr wrap="square" lIns="0" tIns="0" rIns="0" bIns="0" rtlCol="0" anchor="ctr"/>
          <a:lstStyle/>
          <a:p>
            <a:pPr indent="0" marL="0">
              <a:buNone/>
            </a:pPr>
            <a:r>
              <a:rPr lang="en-US" sz="1150" dirty="0">
                <a:solidFill>
                  <a:srgbClr val="16181D"/>
                </a:solidFill>
                <a:latin typeface="Arial" pitchFamily="34" charset="0"/>
                <a:ea typeface="Arial" pitchFamily="34" charset="-122"/>
                <a:cs typeface="Arial" pitchFamily="34" charset="-120"/>
              </a:rPr>
              <a:t>k = 100, fixed before any test scoring</a:t>
            </a:r>
            <a:endParaRPr lang="en-US" sz="1150" dirty="0"/>
          </a:p>
        </p:txBody>
      </p:sp>
      <p:sp>
        <p:nvSpPr>
          <p:cNvPr id="18" name="Text 16"/>
          <p:cNvSpPr txBox="1"/>
          <p:nvPr/>
        </p:nvSpPr>
        <p:spPr>
          <a:xfrm>
            <a:off x="786384" y="3840480"/>
            <a:ext cx="3072384" cy="502920"/>
          </a:xfrm>
          <a:prstGeom prst="rect">
            <a:avLst/>
          </a:prstGeom>
          <a:noFill/>
          <a:ln/>
        </p:spPr>
        <p:txBody>
          <a:bodyPr wrap="square" lIns="0" tIns="0" rIns="0" bIns="0" rtlCol="0" anchor="ctr"/>
          <a:lstStyle/>
          <a:p>
            <a:pPr indent="0" marL="0">
              <a:buNone/>
            </a:pPr>
            <a:r>
              <a:rPr lang="en-US" sz="1150" b="1" dirty="0">
                <a:solidFill>
                  <a:srgbClr val="16181D"/>
                </a:solidFill>
                <a:latin typeface="Arial" pitchFamily="34" charset="0"/>
                <a:ea typeface="Arial" pitchFamily="34" charset="-122"/>
                <a:cs typeface="Arial" pitchFamily="34" charset="-120"/>
              </a:rPr>
              <a:t>Index contents</a:t>
            </a:r>
            <a:endParaRPr lang="en-US" sz="1150" dirty="0"/>
          </a:p>
        </p:txBody>
      </p:sp>
      <p:sp>
        <p:nvSpPr>
          <p:cNvPr id="19" name="Text 17"/>
          <p:cNvSpPr txBox="1"/>
          <p:nvPr/>
        </p:nvSpPr>
        <p:spPr>
          <a:xfrm>
            <a:off x="4078224" y="3840480"/>
            <a:ext cx="7397496" cy="502920"/>
          </a:xfrm>
          <a:prstGeom prst="rect">
            <a:avLst/>
          </a:prstGeom>
          <a:noFill/>
          <a:ln/>
        </p:spPr>
        <p:txBody>
          <a:bodyPr wrap="square" lIns="0" tIns="0" rIns="0" bIns="0" rtlCol="0" anchor="ctr"/>
          <a:lstStyle/>
          <a:p>
            <a:pPr indent="0" marL="0">
              <a:buNone/>
            </a:pPr>
            <a:r>
              <a:rPr lang="en-US" sz="1150" dirty="0">
                <a:solidFill>
                  <a:srgbClr val="16181D"/>
                </a:solidFill>
                <a:latin typeface="Arial" pitchFamily="34" charset="0"/>
                <a:ea typeface="Arial" pitchFamily="34" charset="-122"/>
                <a:cs typeface="Arial" pitchFamily="34" charset="-120"/>
              </a:rPr>
              <a:t>1982–2006 narratives only. Test narratives are queries, never indexed.</a:t>
            </a:r>
            <a:endParaRPr lang="en-US" sz="1150" dirty="0"/>
          </a:p>
        </p:txBody>
      </p:sp>
      <p:sp>
        <p:nvSpPr>
          <p:cNvPr id="20" name="Shape 18"/>
          <p:cNvSpPr/>
          <p:nvPr/>
        </p:nvSpPr>
        <p:spPr>
          <a:xfrm>
            <a:off x="640080" y="4526280"/>
            <a:ext cx="10908792" cy="731520"/>
          </a:xfrm>
          <a:prstGeom prst="roundRect">
            <a:avLst>
              <a:gd name="adj" fmla="val 6250"/>
            </a:avLst>
          </a:prstGeom>
          <a:solidFill>
            <a:srgbClr val="12345C"/>
          </a:solidFill>
          <a:ln w="12700">
            <a:solidFill>
              <a:srgbClr val="12345C"/>
            </a:solidFill>
            <a:prstDash val="solid"/>
          </a:ln>
        </p:spPr>
      </p:sp>
      <p:sp>
        <p:nvSpPr>
          <p:cNvPr id="21" name="Text 19"/>
          <p:cNvSpPr txBox="1"/>
          <p:nvPr/>
        </p:nvSpPr>
        <p:spPr>
          <a:xfrm>
            <a:off x="914400" y="4599432"/>
            <a:ext cx="10360152" cy="585216"/>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A neighbour's vote is weighted by how similar it is — not one vote each.</a:t>
            </a:r>
            <a:endParaRPr lang="en-US" sz="1500" dirty="0"/>
          </a:p>
        </p:txBody>
      </p:sp>
      <p:sp>
        <p:nvSpPr>
          <p:cNvPr id="22" name="Text 20"/>
          <p:cNvSpPr txBox="1"/>
          <p:nvPr/>
        </p:nvSpPr>
        <p:spPr>
          <a:xfrm>
            <a:off x="11155680" y="6355080"/>
            <a:ext cx="822960" cy="274320"/>
          </a:xfrm>
          <a:prstGeom prst="rect">
            <a:avLst/>
          </a:prstGeom>
          <a:noFill/>
          <a:ln/>
        </p:spPr>
        <p:txBody>
          <a:bodyPr wrap="square" lIns="0" tIns="0" rIns="0" bIns="0" rtlCol="0" anchor="ctr"/>
          <a:lstStyle/>
          <a:p>
            <a:pPr algn="r" indent="0" marL="0">
              <a:buNone/>
            </a:pPr>
            <a:r>
              <a:rPr lang="en-US" sz="1100" dirty="0">
                <a:solidFill>
                  <a:srgbClr val="B8BCC4"/>
                </a:solidFill>
                <a:latin typeface="Arial" pitchFamily="34" charset="0"/>
                <a:ea typeface="Arial" pitchFamily="34" charset="-122"/>
                <a:cs typeface="Arial" pitchFamily="34" charset="-120"/>
              </a:rPr>
              <a:t>reserve</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8A8F99"/>
          </a:solidFill>
          <a:ln/>
        </p:spPr>
      </p:sp>
      <p:sp>
        <p:nvSpPr>
          <p:cNvPr id="3" name="Text 1"/>
          <p:cNvSpPr txBox="1"/>
          <p:nvPr/>
        </p:nvSpPr>
        <p:spPr>
          <a:xfrm>
            <a:off x="640080" y="384048"/>
            <a:ext cx="10908792" cy="566928"/>
          </a:xfrm>
          <a:prstGeom prst="rect">
            <a:avLst/>
          </a:prstGeom>
          <a:noFill/>
          <a:ln/>
        </p:spPr>
        <p:txBody>
          <a:bodyPr wrap="square" lIns="0" tIns="0" rIns="0" bIns="0" rtlCol="0" anchor="t"/>
          <a:lstStyle/>
          <a:p>
            <a:pPr indent="0" marL="0">
              <a:buNone/>
            </a:pPr>
            <a:r>
              <a:rPr lang="en-US" sz="2700" b="1" dirty="0">
                <a:solidFill>
                  <a:srgbClr val="16181D"/>
                </a:solidFill>
                <a:latin typeface="Arial" pitchFamily="34" charset="0"/>
                <a:ea typeface="Arial" pitchFamily="34" charset="-122"/>
                <a:cs typeface="Arial" pitchFamily="34" charset="-120"/>
              </a:rPr>
              <a:t>Questions for you — on the paper</a:t>
            </a:r>
            <a:endParaRPr lang="en-US" sz="2700" dirty="0"/>
          </a:p>
        </p:txBody>
      </p:sp>
      <p:sp>
        <p:nvSpPr>
          <p:cNvPr id="4" name="Text 2"/>
          <p:cNvSpPr txBox="1"/>
          <p:nvPr/>
        </p:nvSpPr>
        <p:spPr>
          <a:xfrm>
            <a:off x="640080" y="969264"/>
            <a:ext cx="10908792" cy="347472"/>
          </a:xfrm>
          <a:prstGeom prst="rect">
            <a:avLst/>
          </a:prstGeom>
          <a:noFill/>
          <a:ln/>
        </p:spPr>
        <p:txBody>
          <a:bodyPr wrap="square" lIns="0" tIns="0" rIns="0" bIns="0" rtlCol="0" anchor="t"/>
          <a:lstStyle/>
          <a:p>
            <a:pPr indent="0" marL="0">
              <a:buNone/>
            </a:pPr>
            <a:r>
              <a:rPr lang="en-US" sz="1400" dirty="0">
                <a:solidFill>
                  <a:srgbClr val="6B7280"/>
                </a:solidFill>
                <a:latin typeface="Arial" pitchFamily="34" charset="0"/>
                <a:ea typeface="Arial" pitchFamily="34" charset="-122"/>
                <a:cs typeface="Arial" pitchFamily="34" charset="-120"/>
              </a:rPr>
              <a:t>Don't show this. Ask one of them out loud.</a:t>
            </a:r>
            <a:endParaRPr lang="en-US" sz="1400" dirty="0"/>
          </a:p>
        </p:txBody>
      </p:sp>
      <p:sp>
        <p:nvSpPr>
          <p:cNvPr id="5" name="Text 3"/>
          <p:cNvSpPr txBox="1"/>
          <p:nvPr/>
        </p:nvSpPr>
        <p:spPr>
          <a:xfrm>
            <a:off x="640080" y="1463040"/>
            <a:ext cx="10908792" cy="4206240"/>
          </a:xfrm>
          <a:prstGeom prst="rect">
            <a:avLst/>
          </a:prstGeom>
          <a:noFill/>
          <a:ln/>
        </p:spPr>
        <p:txBody>
          <a:bodyPr wrap="square" lIns="0" tIns="0" rIns="0" bIns="0" rtlCol="0" anchor="t"/>
          <a:lstStyle/>
          <a:p>
            <a:pPr indent="0" marL="0">
              <a:spcAft>
                <a:spcPts val="900"/>
              </a:spcAft>
              <a:buNone/>
            </a:pPr>
            <a:r>
              <a:rPr lang="en-US" sz="1300" b="1" dirty="0">
                <a:solidFill>
                  <a:srgbClr val="12345C"/>
                </a:solidFill>
                <a:latin typeface="Arial" pitchFamily="34" charset="0"/>
                <a:ea typeface="Arial" pitchFamily="34" charset="-122"/>
                <a:cs typeface="Arial" pitchFamily="34" charset="-120"/>
              </a:rPr>
              <a:t>▬  </a:t>
            </a:r>
            <a:pPr indent="0" marL="0">
              <a:spcAft>
                <a:spcPts val="900"/>
              </a:spcAft>
              <a:buNone/>
            </a:pPr>
            <a:r>
              <a:rPr lang="en-US" sz="1300" b="1" dirty="0">
                <a:solidFill>
                  <a:srgbClr val="16181D"/>
                </a:solidFill>
                <a:latin typeface="Arial" pitchFamily="34" charset="0"/>
                <a:ea typeface="Arial" pitchFamily="34" charset="-122"/>
                <a:cs typeface="Arial" pitchFamily="34" charset="-120"/>
              </a:rPr>
              <a:t>Why per-flight rather than per-accident priors?</a:t>
            </a:r>
            <a:pPr indent="0" marL="0">
              <a:spcAft>
                <a:spcPts val="900"/>
              </a:spcAft>
              <a:buNone/>
            </a:pPr>
            <a:endParaRPr lang="en-US" sz="1300" dirty="0"/>
          </a:p>
          <a:p>
            <a:pPr indent="0" marL="0">
              <a:spcAft>
                <a:spcPts val="900"/>
              </a:spcAft>
              <a:buNone/>
            </a:pPr>
            <a:r>
              <a:rPr lang="en-US" sz="1100" dirty="0">
                <a:solidFill>
                  <a:srgbClr val="6B7280"/>
                </a:solidFill>
                <a:latin typeface="Arial" pitchFamily="34" charset="0"/>
                <a:ea typeface="Arial" pitchFamily="34" charset="-122"/>
                <a:cs typeface="Arial" pitchFamily="34" charset="-120"/>
              </a:rPr>
              <a:t>     It puts root priors near 1e-7, which is why both networks sit far below the empirical rates. Your Eq. 6 — you may have a reason I don't know.</a:t>
            </a:r>
            <a:endParaRPr lang="en-US" sz="1300" dirty="0"/>
          </a:p>
          <a:p>
            <a:pPr indent="0" marL="0">
              <a:spcAft>
                <a:spcPts val="900"/>
              </a:spcAft>
              <a:buNone/>
            </a:pPr>
            <a:r>
              <a:rPr lang="en-US" sz="1300" b="1" dirty="0">
                <a:solidFill>
                  <a:srgbClr val="12345C"/>
                </a:solidFill>
                <a:latin typeface="Arial" pitchFamily="34" charset="0"/>
                <a:ea typeface="Arial" pitchFamily="34" charset="-122"/>
                <a:cs typeface="Arial" pitchFamily="34" charset="-120"/>
              </a:rPr>
              <a:t>▬  </a:t>
            </a:r>
            <a:pPr indent="0" marL="0">
              <a:spcAft>
                <a:spcPts val="900"/>
              </a:spcAft>
              <a:buNone/>
            </a:pPr>
            <a:r>
              <a:rPr lang="en-US" sz="1300" b="1" dirty="0">
                <a:solidFill>
                  <a:srgbClr val="16181D"/>
                </a:solidFill>
                <a:latin typeface="Arial" pitchFamily="34" charset="0"/>
                <a:ea typeface="Arial" pitchFamily="34" charset="-122"/>
                <a:cs typeface="Arial" pitchFamily="34" charset="-120"/>
              </a:rPr>
              <a:t>Were the n=1 and n=2 support edges in the Table 9 scenario meant as illustrative?</a:t>
            </a:r>
            <a:pPr indent="0" marL="0">
              <a:spcAft>
                <a:spcPts val="900"/>
              </a:spcAft>
              <a:buNone/>
            </a:pPr>
            <a:endParaRPr lang="en-US" sz="1300" dirty="0"/>
          </a:p>
          <a:p>
            <a:pPr indent="0" marL="0">
              <a:spcAft>
                <a:spcPts val="900"/>
              </a:spcAft>
              <a:buNone/>
            </a:pPr>
            <a:r>
              <a:rPr lang="en-US" sz="1100" dirty="0">
                <a:solidFill>
                  <a:srgbClr val="6B7280"/>
                </a:solidFill>
                <a:latin typeface="Arial" pitchFamily="34" charset="0"/>
                <a:ea typeface="Arial" pitchFamily="34" charset="-122"/>
                <a:cs typeface="Arial" pitchFamily="34" charset="-120"/>
              </a:rPr>
              <a:t>     Combustion liner appears in 2 accidents in the window; oil grade in 1. Both had minor damage.</a:t>
            </a:r>
            <a:endParaRPr lang="en-US" sz="1300" dirty="0"/>
          </a:p>
          <a:p>
            <a:pPr indent="0" marL="0">
              <a:spcAft>
                <a:spcPts val="900"/>
              </a:spcAft>
              <a:buNone/>
            </a:pPr>
            <a:r>
              <a:rPr lang="en-US" sz="1300" b="1" dirty="0">
                <a:solidFill>
                  <a:srgbClr val="12345C"/>
                </a:solidFill>
                <a:latin typeface="Arial" pitchFamily="34" charset="0"/>
                <a:ea typeface="Arial" pitchFamily="34" charset="-122"/>
                <a:cs typeface="Arial" pitchFamily="34" charset="-120"/>
              </a:rPr>
              <a:t>▬  </a:t>
            </a:r>
            <a:pPr indent="0" marL="0">
              <a:spcAft>
                <a:spcPts val="900"/>
              </a:spcAft>
              <a:buNone/>
            </a:pPr>
            <a:r>
              <a:rPr lang="en-US" sz="1300" b="1" dirty="0">
                <a:solidFill>
                  <a:srgbClr val="16181D"/>
                </a:solidFill>
                <a:latin typeface="Arial" pitchFamily="34" charset="0"/>
                <a:ea typeface="Arial" pitchFamily="34" charset="-122"/>
                <a:cs typeface="Arial" pitchFamily="34" charset="-120"/>
              </a:rPr>
              <a:t>Did the published Table 8 come from a different build than the released model file?</a:t>
            </a:r>
            <a:pPr indent="0" marL="0">
              <a:spcAft>
                <a:spcPts val="900"/>
              </a:spcAft>
              <a:buNone/>
            </a:pPr>
            <a:endParaRPr lang="en-US" sz="1300" dirty="0"/>
          </a:p>
          <a:p>
            <a:pPr indent="0" marL="0">
              <a:spcAft>
                <a:spcPts val="900"/>
              </a:spcAft>
              <a:buNone/>
            </a:pPr>
            <a:r>
              <a:rPr lang="en-US" sz="1100" dirty="0">
                <a:solidFill>
                  <a:srgbClr val="6B7280"/>
                </a:solidFill>
                <a:latin typeface="Arial" pitchFamily="34" charset="0"/>
                <a:ea typeface="Arial" pitchFamily="34" charset="-122"/>
                <a:cs typeface="Arial" pitchFamily="34" charset="-120"/>
              </a:rPr>
              <a:t>     Your file gives 1.77e-7 where the paper reports 1.21e-7. My rebuild matches the file.</a:t>
            </a:r>
            <a:endParaRPr lang="en-US" sz="1300" dirty="0"/>
          </a:p>
          <a:p>
            <a:pPr indent="0" marL="0">
              <a:spcAft>
                <a:spcPts val="900"/>
              </a:spcAft>
              <a:buNone/>
            </a:pPr>
            <a:r>
              <a:rPr lang="en-US" sz="1300" b="1" dirty="0">
                <a:solidFill>
                  <a:srgbClr val="12345C"/>
                </a:solidFill>
                <a:latin typeface="Arial" pitchFamily="34" charset="0"/>
                <a:ea typeface="Arial" pitchFamily="34" charset="-122"/>
                <a:cs typeface="Arial" pitchFamily="34" charset="-120"/>
              </a:rPr>
              <a:t>▬  </a:t>
            </a:r>
            <a:pPr indent="0" marL="0">
              <a:spcAft>
                <a:spcPts val="900"/>
              </a:spcAft>
              <a:buNone/>
            </a:pPr>
            <a:r>
              <a:rPr lang="en-US" sz="1300" b="1" dirty="0">
                <a:solidFill>
                  <a:srgbClr val="16181D"/>
                </a:solidFill>
                <a:latin typeface="Arial" pitchFamily="34" charset="0"/>
                <a:ea typeface="Arial" pitchFamily="34" charset="-122"/>
                <a:cs typeface="Arial" pitchFamily="34" charset="-120"/>
              </a:rPr>
              <a:t>Should the evidence extractor stay rule-based?</a:t>
            </a:r>
            <a:pPr indent="0" marL="0">
              <a:spcAft>
                <a:spcPts val="900"/>
              </a:spcAft>
              <a:buNone/>
            </a:pPr>
            <a:endParaRPr lang="en-US" sz="1300" dirty="0"/>
          </a:p>
          <a:p>
            <a:pPr indent="0" marL="0">
              <a:spcAft>
                <a:spcPts val="900"/>
              </a:spcAft>
              <a:buNone/>
            </a:pPr>
            <a:r>
              <a:rPr lang="en-US" sz="1100" dirty="0">
                <a:solidFill>
                  <a:srgbClr val="6B7280"/>
                </a:solidFill>
                <a:latin typeface="Arial" pitchFamily="34" charset="0"/>
                <a:ea typeface="Arial" pitchFamily="34" charset="-122"/>
                <a:cs typeface="Arial" pitchFamily="34" charset="-120"/>
              </a:rPr>
              <a:t>     If auditability is the point, that settles whether a trained extractor belongs in the proposal.</a:t>
            </a:r>
            <a:endParaRPr lang="en-US" sz="1300" dirty="0"/>
          </a:p>
        </p:txBody>
      </p:sp>
      <p:sp>
        <p:nvSpPr>
          <p:cNvPr id="6" name="Shape 4"/>
          <p:cNvSpPr/>
          <p:nvPr/>
        </p:nvSpPr>
        <p:spPr>
          <a:xfrm>
            <a:off x="640080" y="5120640"/>
            <a:ext cx="10908792" cy="777240"/>
          </a:xfrm>
          <a:prstGeom prst="roundRect">
            <a:avLst>
              <a:gd name="adj" fmla="val 5882"/>
            </a:avLst>
          </a:prstGeom>
          <a:solidFill>
            <a:srgbClr val="12345C"/>
          </a:solidFill>
          <a:ln w="12700">
            <a:solidFill>
              <a:srgbClr val="12345C"/>
            </a:solidFill>
            <a:prstDash val="solid"/>
          </a:ln>
        </p:spPr>
      </p:sp>
      <p:sp>
        <p:nvSpPr>
          <p:cNvPr id="7" name="Text 5"/>
          <p:cNvSpPr txBox="1"/>
          <p:nvPr/>
        </p:nvSpPr>
        <p:spPr>
          <a:xfrm>
            <a:off x="914400" y="5193792"/>
            <a:ext cx="10360152" cy="630936"/>
          </a:xfrm>
          <a:prstGeom prst="rect">
            <a:avLst/>
          </a:prstGeom>
          <a:noFill/>
          <a:ln/>
        </p:spPr>
        <p:txBody>
          <a:bodyPr wrap="square" lIns="0" tIns="0" rIns="0" bIns="0" rtlCol="0" anchor="ctr"/>
          <a:lstStyle/>
          <a:p>
            <a:pPr indent="0" marL="0">
              <a:buNone/>
            </a:pPr>
            <a:r>
              <a:rPr lang="en-US" sz="1400" b="1" dirty="0">
                <a:solidFill>
                  <a:srgbClr val="FFFFFF"/>
                </a:solidFill>
                <a:latin typeface="Arial" pitchFamily="34" charset="0"/>
                <a:ea typeface="Arial" pitchFamily="34" charset="-122"/>
                <a:cs typeface="Arial" pitchFamily="34" charset="-120"/>
              </a:rPr>
              <a:t>Ask the per-flight priors question. It decides whether the calibration gap is a bug in my rebuild or a consequence of Eq. 6.</a:t>
            </a:r>
            <a:endParaRPr lang="en-US" sz="1400" dirty="0"/>
          </a:p>
        </p:txBody>
      </p:sp>
      <p:sp>
        <p:nvSpPr>
          <p:cNvPr id="8" name="Text 6"/>
          <p:cNvSpPr txBox="1"/>
          <p:nvPr/>
        </p:nvSpPr>
        <p:spPr>
          <a:xfrm>
            <a:off x="11155680" y="6355080"/>
            <a:ext cx="822960" cy="274320"/>
          </a:xfrm>
          <a:prstGeom prst="rect">
            <a:avLst/>
          </a:prstGeom>
          <a:noFill/>
          <a:ln/>
        </p:spPr>
        <p:txBody>
          <a:bodyPr wrap="square" lIns="0" tIns="0" rIns="0" bIns="0" rtlCol="0" anchor="ctr"/>
          <a:lstStyle/>
          <a:p>
            <a:pPr algn="r" indent="0" marL="0">
              <a:buNone/>
            </a:pPr>
            <a:r>
              <a:rPr lang="en-US" sz="1100" dirty="0">
                <a:solidFill>
                  <a:srgbClr val="B8BCC4"/>
                </a:solidFill>
                <a:latin typeface="Arial" pitchFamily="34" charset="0"/>
                <a:ea typeface="Arial" pitchFamily="34" charset="-122"/>
                <a:cs typeface="Arial" pitchFamily="34" charset="-120"/>
              </a:rPr>
              <a:t>reserve</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8A8F99"/>
          </a:solidFill>
          <a:ln/>
        </p:spPr>
      </p:sp>
      <p:sp>
        <p:nvSpPr>
          <p:cNvPr id="3" name="Text 1"/>
          <p:cNvSpPr txBox="1"/>
          <p:nvPr/>
        </p:nvSpPr>
        <p:spPr>
          <a:xfrm>
            <a:off x="640080" y="384048"/>
            <a:ext cx="10908792" cy="566928"/>
          </a:xfrm>
          <a:prstGeom prst="rect">
            <a:avLst/>
          </a:prstGeom>
          <a:noFill/>
          <a:ln/>
        </p:spPr>
        <p:txBody>
          <a:bodyPr wrap="square" lIns="0" tIns="0" rIns="0" bIns="0" rtlCol="0" anchor="t"/>
          <a:lstStyle/>
          <a:p>
            <a:pPr indent="0" marL="0">
              <a:buNone/>
            </a:pPr>
            <a:r>
              <a:rPr lang="en-US" sz="2700" b="1" dirty="0">
                <a:solidFill>
                  <a:srgbClr val="16181D"/>
                </a:solidFill>
                <a:latin typeface="Arial" pitchFamily="34" charset="0"/>
                <a:ea typeface="Arial" pitchFamily="34" charset="-122"/>
                <a:cs typeface="Arial" pitchFamily="34" charset="-120"/>
              </a:rPr>
              <a:t>The 12 cells that still differ — all traced</a:t>
            </a:r>
            <a:endParaRPr lang="en-US" sz="2700" dirty="0"/>
          </a:p>
        </p:txBody>
      </p:sp>
      <p:sp>
        <p:nvSpPr>
          <p:cNvPr id="4" name="Text 2"/>
          <p:cNvSpPr txBox="1"/>
          <p:nvPr/>
        </p:nvSpPr>
        <p:spPr>
          <a:xfrm>
            <a:off x="640080" y="969264"/>
            <a:ext cx="10908792" cy="347472"/>
          </a:xfrm>
          <a:prstGeom prst="rect">
            <a:avLst/>
          </a:prstGeom>
          <a:noFill/>
          <a:ln/>
        </p:spPr>
        <p:txBody>
          <a:bodyPr wrap="square" lIns="0" tIns="0" rIns="0" bIns="0" rtlCol="0" anchor="t"/>
          <a:lstStyle/>
          <a:p>
            <a:pPr indent="0" marL="0">
              <a:buNone/>
            </a:pPr>
            <a:r>
              <a:rPr lang="en-US" sz="1400" dirty="0">
                <a:solidFill>
                  <a:srgbClr val="6B7280"/>
                </a:solidFill>
                <a:latin typeface="Arial" pitchFamily="34" charset="0"/>
                <a:ea typeface="Arial" pitchFamily="34" charset="-122"/>
                <a:cs typeface="Arial" pitchFamily="34" charset="-120"/>
              </a:rPr>
              <a:t>Counted before, never diagnosed. Strict rebuild differs on 26; after upgrades, 12.</a:t>
            </a:r>
            <a:endParaRPr lang="en-US" sz="1400" dirty="0"/>
          </a:p>
        </p:txBody>
      </p:sp>
      <p:sp>
        <p:nvSpPr>
          <p:cNvPr id="5" name="Text 3"/>
          <p:cNvSpPr txBox="1"/>
          <p:nvPr/>
        </p:nvSpPr>
        <p:spPr>
          <a:xfrm>
            <a:off x="640080" y="1508760"/>
            <a:ext cx="10908792" cy="3840480"/>
          </a:xfrm>
          <a:prstGeom prst="rect">
            <a:avLst/>
          </a:prstGeom>
          <a:noFill/>
          <a:ln/>
        </p:spPr>
        <p:txBody>
          <a:bodyPr wrap="square" lIns="0" tIns="0" rIns="0" bIns="0" rtlCol="0" anchor="t"/>
          <a:lstStyle/>
          <a:p>
            <a:pPr indent="0" marL="0">
              <a:spcAft>
                <a:spcPts val="900"/>
              </a:spcAft>
              <a:buNone/>
            </a:pPr>
            <a:r>
              <a:rPr lang="en-US" sz="1250" b="1" dirty="0">
                <a:solidFill>
                  <a:srgbClr val="12345C"/>
                </a:solidFill>
                <a:latin typeface="Arial" pitchFamily="34" charset="0"/>
                <a:ea typeface="Arial" pitchFamily="34" charset="-122"/>
                <a:cs typeface="Arial" pitchFamily="34" charset="-120"/>
              </a:rPr>
              <a:t>▬  </a:t>
            </a:r>
            <a:pPr indent="0" marL="0">
              <a:spcAft>
                <a:spcPts val="900"/>
              </a:spcAft>
              <a:buNone/>
            </a:pPr>
            <a:r>
              <a:rPr lang="en-US" sz="1250" b="1" dirty="0">
                <a:solidFill>
                  <a:srgbClr val="16181D"/>
                </a:solidFill>
                <a:latin typeface="Arial" pitchFamily="34" charset="0"/>
                <a:ea typeface="Arial" pitchFamily="34" charset="-122"/>
                <a:cs typeface="Arial" pitchFamily="34" charset="-120"/>
              </a:rPr>
              <a:t>2 cells — the network never moves.</a:t>
            </a:r>
            <a:pPr indent="0" marL="0">
              <a:spcAft>
                <a:spcPts val="900"/>
              </a:spcAft>
              <a:buNone/>
            </a:pPr>
            <a:endParaRPr lang="en-US" sz="1250" dirty="0"/>
          </a:p>
          <a:p>
            <a:pPr indent="0" marL="0">
              <a:spcAft>
                <a:spcPts val="900"/>
              </a:spcAft>
              <a:buNone/>
            </a:pPr>
            <a:r>
              <a:rPr lang="en-US" sz="1050" dirty="0">
                <a:solidFill>
                  <a:srgbClr val="6B7280"/>
                </a:solidFill>
                <a:latin typeface="Arial" pitchFamily="34" charset="0"/>
                <a:ea typeface="Arial" pitchFamily="34" charset="-122"/>
                <a:cs typeface="Arial" pitchFamily="34" charset="-120"/>
              </a:rPr>
              <a:t>     Both read 5.62e-7, exactly the untouched prior — they reach the wrong "engine lost power" node. Plumbing, not probability.</a:t>
            </a:r>
            <a:endParaRPr lang="en-US" sz="1250" dirty="0"/>
          </a:p>
          <a:p>
            <a:pPr indent="0" marL="0">
              <a:spcAft>
                <a:spcPts val="900"/>
              </a:spcAft>
              <a:buNone/>
            </a:pPr>
            <a:r>
              <a:rPr lang="en-US" sz="1250" b="1" dirty="0">
                <a:solidFill>
                  <a:srgbClr val="12345C"/>
                </a:solidFill>
                <a:latin typeface="Arial" pitchFamily="34" charset="0"/>
                <a:ea typeface="Arial" pitchFamily="34" charset="-122"/>
                <a:cs typeface="Arial" pitchFamily="34" charset="-120"/>
              </a:rPr>
              <a:t>▬  </a:t>
            </a:r>
            <a:pPr indent="0" marL="0">
              <a:spcAft>
                <a:spcPts val="900"/>
              </a:spcAft>
              <a:buNone/>
            </a:pPr>
            <a:r>
              <a:rPr lang="en-US" sz="1250" b="1" dirty="0">
                <a:solidFill>
                  <a:srgbClr val="16181D"/>
                </a:solidFill>
                <a:latin typeface="Arial" pitchFamily="34" charset="0"/>
                <a:ea typeface="Arial" pitchFamily="34" charset="-122"/>
                <a:cs typeface="Arial" pitchFamily="34" charset="-120"/>
              </a:rPr>
              <a:t>4 cells — one systematic overshoot at 5.2–5.5×.</a:t>
            </a:r>
            <a:pPr indent="0" marL="0">
              <a:spcAft>
                <a:spcPts val="900"/>
              </a:spcAft>
              <a:buNone/>
            </a:pPr>
            <a:endParaRPr lang="en-US" sz="1250" dirty="0"/>
          </a:p>
          <a:p>
            <a:pPr indent="0" marL="0">
              <a:spcAft>
                <a:spcPts val="900"/>
              </a:spcAft>
              <a:buNone/>
            </a:pPr>
            <a:r>
              <a:rPr lang="en-US" sz="1050" dirty="0">
                <a:solidFill>
                  <a:srgbClr val="6B7280"/>
                </a:solidFill>
                <a:latin typeface="Arial" pitchFamily="34" charset="0"/>
                <a:ea typeface="Arial" pitchFamily="34" charset="-122"/>
                <a:cs typeface="Arial" pitchFamily="34" charset="-120"/>
              </a:rPr>
              <a:t>     Too uniform to be four separate causes.</a:t>
            </a:r>
            <a:endParaRPr lang="en-US" sz="1250" dirty="0"/>
          </a:p>
          <a:p>
            <a:pPr indent="0" marL="0">
              <a:spcAft>
                <a:spcPts val="900"/>
              </a:spcAft>
              <a:buNone/>
            </a:pPr>
            <a:r>
              <a:rPr lang="en-US" sz="1250" b="1" dirty="0">
                <a:solidFill>
                  <a:srgbClr val="12345C"/>
                </a:solidFill>
                <a:latin typeface="Arial" pitchFamily="34" charset="0"/>
                <a:ea typeface="Arial" pitchFamily="34" charset="-122"/>
                <a:cs typeface="Arial" pitchFamily="34" charset="-120"/>
              </a:rPr>
              <a:t>▬  </a:t>
            </a:r>
            <a:pPr indent="0" marL="0">
              <a:spcAft>
                <a:spcPts val="900"/>
              </a:spcAft>
              <a:buNone/>
            </a:pPr>
            <a:r>
              <a:rPr lang="en-US" sz="1250" b="1" dirty="0">
                <a:solidFill>
                  <a:srgbClr val="16181D"/>
                </a:solidFill>
                <a:latin typeface="Arial" pitchFamily="34" charset="0"/>
                <a:ea typeface="Arial" pitchFamily="34" charset="-122"/>
                <a:cs typeface="Arial" pitchFamily="34" charset="-120"/>
              </a:rPr>
              <a:t>2 cells — threshold artifacts at 1.27× and 1.29×.</a:t>
            </a:r>
            <a:pPr indent="0" marL="0">
              <a:spcAft>
                <a:spcPts val="900"/>
              </a:spcAft>
              <a:buNone/>
            </a:pPr>
            <a:endParaRPr lang="en-US" sz="1250" dirty="0"/>
          </a:p>
          <a:p>
            <a:pPr indent="0" marL="0">
              <a:spcAft>
                <a:spcPts val="900"/>
              </a:spcAft>
              <a:buNone/>
            </a:pPr>
            <a:r>
              <a:rPr lang="en-US" sz="1050" dirty="0">
                <a:solidFill>
                  <a:srgbClr val="6B7280"/>
                </a:solidFill>
                <a:latin typeface="Arial" pitchFamily="34" charset="0"/>
                <a:ea typeface="Arial" pitchFamily="34" charset="-122"/>
                <a:cs typeface="Arial" pitchFamily="34" charset="-120"/>
              </a:rPr>
              <a:t>     They'd pass at a 30% band instead of 25%.</a:t>
            </a:r>
            <a:endParaRPr lang="en-US" sz="1250" dirty="0"/>
          </a:p>
          <a:p>
            <a:pPr indent="0" marL="0">
              <a:spcAft>
                <a:spcPts val="900"/>
              </a:spcAft>
              <a:buNone/>
            </a:pPr>
            <a:r>
              <a:rPr lang="en-US" sz="1250" b="1" dirty="0">
                <a:solidFill>
                  <a:srgbClr val="12345C"/>
                </a:solidFill>
                <a:latin typeface="Arial" pitchFamily="34" charset="0"/>
                <a:ea typeface="Arial" pitchFamily="34" charset="-122"/>
                <a:cs typeface="Arial" pitchFamily="34" charset="-120"/>
              </a:rPr>
              <a:t>▬  </a:t>
            </a:r>
            <a:pPr indent="0" marL="0">
              <a:spcAft>
                <a:spcPts val="900"/>
              </a:spcAft>
              <a:buNone/>
            </a:pPr>
            <a:r>
              <a:rPr lang="en-US" sz="1250" b="1" dirty="0">
                <a:solidFill>
                  <a:srgbClr val="16181D"/>
                </a:solidFill>
                <a:latin typeface="Arial" pitchFamily="34" charset="0"/>
                <a:ea typeface="Arial" pitchFamily="34" charset="-122"/>
                <a:cs typeface="Arial" pitchFamily="34" charset="-120"/>
              </a:rPr>
              <a:t>1 cell — the released model file agrees with us.</a:t>
            </a:r>
            <a:pPr indent="0" marL="0">
              <a:spcAft>
                <a:spcPts val="900"/>
              </a:spcAft>
              <a:buNone/>
            </a:pPr>
            <a:endParaRPr lang="en-US" sz="1250" dirty="0"/>
          </a:p>
          <a:p>
            <a:pPr indent="0" marL="0">
              <a:spcAft>
                <a:spcPts val="900"/>
              </a:spcAft>
              <a:buNone/>
            </a:pPr>
            <a:r>
              <a:rPr lang="en-US" sz="1050" dirty="0">
                <a:solidFill>
                  <a:srgbClr val="6B7280"/>
                </a:solidFill>
                <a:latin typeface="Arial" pitchFamily="34" charset="0"/>
                <a:ea typeface="Arial" pitchFamily="34" charset="-122"/>
                <a:cs typeface="Arial" pitchFamily="34" charset="-120"/>
              </a:rPr>
              <a:t>     NTSB.xdsl gives 1.766e-7, the table says 1.21e-7, we give 1.753e-7.</a:t>
            </a:r>
            <a:endParaRPr lang="en-US" sz="1250" dirty="0"/>
          </a:p>
        </p:txBody>
      </p:sp>
      <p:sp>
        <p:nvSpPr>
          <p:cNvPr id="6" name="Shape 4"/>
          <p:cNvSpPr/>
          <p:nvPr/>
        </p:nvSpPr>
        <p:spPr>
          <a:xfrm>
            <a:off x="640080" y="5074920"/>
            <a:ext cx="10908792" cy="1097280"/>
          </a:xfrm>
          <a:prstGeom prst="roundRect">
            <a:avLst>
              <a:gd name="adj" fmla="val 4167"/>
            </a:avLst>
          </a:prstGeom>
          <a:solidFill>
            <a:srgbClr val="FDFAF0"/>
          </a:solidFill>
          <a:ln w="12700">
            <a:solidFill>
              <a:srgbClr val="FDFAF0"/>
            </a:solidFill>
            <a:prstDash val="solid"/>
          </a:ln>
        </p:spPr>
      </p:sp>
      <p:sp>
        <p:nvSpPr>
          <p:cNvPr id="7" name="Text 5"/>
          <p:cNvSpPr txBox="1"/>
          <p:nvPr/>
        </p:nvSpPr>
        <p:spPr>
          <a:xfrm>
            <a:off x="841248" y="5212080"/>
            <a:ext cx="10506456" cy="274320"/>
          </a:xfrm>
          <a:prstGeom prst="rect">
            <a:avLst/>
          </a:prstGeom>
          <a:noFill/>
          <a:ln/>
        </p:spPr>
        <p:txBody>
          <a:bodyPr wrap="square" lIns="0" tIns="0" rIns="0" bIns="0" rtlCol="0" anchor="t"/>
          <a:lstStyle/>
          <a:p>
            <a:pPr indent="0" marL="0">
              <a:buNone/>
            </a:pPr>
            <a:r>
              <a:rPr lang="en-US" sz="1300" b="1" dirty="0">
                <a:solidFill>
                  <a:srgbClr val="8A6C10"/>
                </a:solidFill>
                <a:latin typeface="Arial" pitchFamily="34" charset="0"/>
                <a:ea typeface="Arial" pitchFamily="34" charset="-122"/>
                <a:cs typeface="Arial" pitchFamily="34" charset="-120"/>
              </a:rPr>
              <a:t>Frame as calibration, never as "better"</a:t>
            </a:r>
            <a:endParaRPr lang="en-US" sz="1300" dirty="0"/>
          </a:p>
        </p:txBody>
      </p:sp>
      <p:sp>
        <p:nvSpPr>
          <p:cNvPr id="8" name="Text 6"/>
          <p:cNvSpPr txBox="1"/>
          <p:nvPr/>
        </p:nvSpPr>
        <p:spPr>
          <a:xfrm>
            <a:off x="841248" y="5532120"/>
            <a:ext cx="10506456" cy="502920"/>
          </a:xfrm>
          <a:prstGeom prst="rect">
            <a:avLst/>
          </a:prstGeom>
          <a:noFill/>
          <a:ln/>
        </p:spPr>
        <p:txBody>
          <a:bodyPr wrap="square" lIns="0" tIns="0" rIns="0" bIns="0" rtlCol="0" anchor="t"/>
          <a:lstStyle/>
          <a:p>
            <a:pPr indent="0" marL="0">
              <a:spcAft>
                <a:spcPts val="300"/>
              </a:spcAft>
              <a:buNone/>
            </a:pPr>
            <a:r>
              <a:rPr lang="en-US" sz="1150" dirty="0">
                <a:solidFill>
                  <a:srgbClr val="16181D"/>
                </a:solidFill>
                <a:latin typeface="Arial" pitchFamily="34" charset="0"/>
                <a:ea typeface="Arial" pitchFamily="34" charset="-122"/>
                <a:cs typeface="Arial" pitchFamily="34" charset="-120"/>
              </a:rPr>
              <a:t>There's no ground truth in Table 9 — it's a model output, so a different number is different, not better. Among the 147 engine-power-loss accidents, ours is closer than the published value on all four. On the two dead-end cells, the published value beats ours — say that too.</a:t>
            </a:r>
            <a:endParaRPr lang="en-US" sz="1150" dirty="0"/>
          </a:p>
        </p:txBody>
      </p:sp>
      <p:sp>
        <p:nvSpPr>
          <p:cNvPr id="9" name="Text 7"/>
          <p:cNvSpPr txBox="1"/>
          <p:nvPr/>
        </p:nvSpPr>
        <p:spPr>
          <a:xfrm>
            <a:off x="11155680" y="6355080"/>
            <a:ext cx="822960" cy="274320"/>
          </a:xfrm>
          <a:prstGeom prst="rect">
            <a:avLst/>
          </a:prstGeom>
          <a:noFill/>
          <a:ln/>
        </p:spPr>
        <p:txBody>
          <a:bodyPr wrap="square" lIns="0" tIns="0" rIns="0" bIns="0" rtlCol="0" anchor="ctr"/>
          <a:lstStyle/>
          <a:p>
            <a:pPr algn="r" indent="0" marL="0">
              <a:buNone/>
            </a:pPr>
            <a:r>
              <a:rPr lang="en-US" sz="1100" dirty="0">
                <a:solidFill>
                  <a:srgbClr val="B8BCC4"/>
                </a:solidFill>
                <a:latin typeface="Arial" pitchFamily="34" charset="0"/>
                <a:ea typeface="Arial" pitchFamily="34" charset="-122"/>
                <a:cs typeface="Arial" pitchFamily="34" charset="-120"/>
              </a:rPr>
              <a:t>reserve</a:t>
            </a:r>
            <a:endParaRPr lang="en-US" sz="11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8A8F99"/>
          </a:solidFill>
          <a:ln/>
        </p:spPr>
      </p:sp>
      <p:sp>
        <p:nvSpPr>
          <p:cNvPr id="3" name="Text 1"/>
          <p:cNvSpPr txBox="1"/>
          <p:nvPr/>
        </p:nvSpPr>
        <p:spPr>
          <a:xfrm>
            <a:off x="640080" y="384048"/>
            <a:ext cx="10908792" cy="566928"/>
          </a:xfrm>
          <a:prstGeom prst="rect">
            <a:avLst/>
          </a:prstGeom>
          <a:noFill/>
          <a:ln/>
        </p:spPr>
        <p:txBody>
          <a:bodyPr wrap="square" lIns="0" tIns="0" rIns="0" bIns="0" rtlCol="0" anchor="t"/>
          <a:lstStyle/>
          <a:p>
            <a:pPr indent="0" marL="0">
              <a:buNone/>
            </a:pPr>
            <a:r>
              <a:rPr lang="en-US" sz="2700" b="1" dirty="0">
                <a:solidFill>
                  <a:srgbClr val="16181D"/>
                </a:solidFill>
                <a:latin typeface="Arial" pitchFamily="34" charset="0"/>
                <a:ea typeface="Arial" pitchFamily="34" charset="-122"/>
                <a:cs typeface="Arial" pitchFamily="34" charset="-120"/>
              </a:rPr>
              <a:t>Two jobs, one paper</a:t>
            </a:r>
            <a:endParaRPr lang="en-US" sz="2700" dirty="0"/>
          </a:p>
        </p:txBody>
      </p:sp>
      <p:sp>
        <p:nvSpPr>
          <p:cNvPr id="4" name="Text 2"/>
          <p:cNvSpPr txBox="1"/>
          <p:nvPr/>
        </p:nvSpPr>
        <p:spPr>
          <a:xfrm>
            <a:off x="640080" y="969264"/>
            <a:ext cx="10908792" cy="347472"/>
          </a:xfrm>
          <a:prstGeom prst="rect">
            <a:avLst/>
          </a:prstGeom>
          <a:noFill/>
          <a:ln/>
        </p:spPr>
        <p:txBody>
          <a:bodyPr wrap="square" lIns="0" tIns="0" rIns="0" bIns="0" rtlCol="0" anchor="t"/>
          <a:lstStyle/>
          <a:p>
            <a:pPr indent="0" marL="0">
              <a:buNone/>
            </a:pPr>
            <a:r>
              <a:rPr lang="en-US" sz="1400" dirty="0">
                <a:solidFill>
                  <a:srgbClr val="6B7280"/>
                </a:solidFill>
                <a:latin typeface="Arial" pitchFamily="34" charset="0"/>
                <a:ea typeface="Arial" pitchFamily="34" charset="-122"/>
                <a:cs typeface="Arial" pitchFamily="34" charset="-120"/>
              </a:rPr>
              <a:t>The setup — only if the two get conflated.</a:t>
            </a:r>
            <a:endParaRPr lang="en-US" sz="1400" dirty="0"/>
          </a:p>
        </p:txBody>
      </p:sp>
      <p:sp>
        <p:nvSpPr>
          <p:cNvPr id="5" name="Shape 3"/>
          <p:cNvSpPr/>
          <p:nvPr/>
        </p:nvSpPr>
        <p:spPr>
          <a:xfrm>
            <a:off x="640080" y="1554480"/>
            <a:ext cx="5257800" cy="2377440"/>
          </a:xfrm>
          <a:prstGeom prst="roundRect">
            <a:avLst>
              <a:gd name="adj" fmla="val 1923"/>
            </a:avLst>
          </a:prstGeom>
          <a:solidFill>
            <a:srgbClr val="F4F6FA"/>
          </a:solidFill>
          <a:ln w="12700">
            <a:solidFill>
              <a:srgbClr val="F4F6FA"/>
            </a:solidFill>
            <a:prstDash val="solid"/>
          </a:ln>
        </p:spPr>
      </p:sp>
      <p:sp>
        <p:nvSpPr>
          <p:cNvPr id="6" name="Text 4"/>
          <p:cNvSpPr txBox="1"/>
          <p:nvPr/>
        </p:nvSpPr>
        <p:spPr>
          <a:xfrm>
            <a:off x="841248" y="1691640"/>
            <a:ext cx="4855464" cy="274320"/>
          </a:xfrm>
          <a:prstGeom prst="rect">
            <a:avLst/>
          </a:prstGeom>
          <a:noFill/>
          <a:ln/>
        </p:spPr>
        <p:txBody>
          <a:bodyPr wrap="square" lIns="0" tIns="0" rIns="0" bIns="0" rtlCol="0" anchor="t"/>
          <a:lstStyle/>
          <a:p>
            <a:pPr indent="0" marL="0">
              <a:buNone/>
            </a:pPr>
            <a:r>
              <a:rPr lang="en-US" sz="1500" b="1" dirty="0">
                <a:solidFill>
                  <a:srgbClr val="12345C"/>
                </a:solidFill>
                <a:latin typeface="Arial" pitchFamily="34" charset="0"/>
                <a:ea typeface="Arial" pitchFamily="34" charset="-122"/>
                <a:cs typeface="Arial" pitchFamily="34" charset="-120"/>
              </a:rPr>
              <a:t>Job 1 — rebuild it.</a:t>
            </a:r>
            <a:endParaRPr lang="en-US" sz="1500" dirty="0"/>
          </a:p>
        </p:txBody>
      </p:sp>
      <p:sp>
        <p:nvSpPr>
          <p:cNvPr id="7" name="Text 5"/>
          <p:cNvSpPr txBox="1"/>
          <p:nvPr/>
        </p:nvSpPr>
        <p:spPr>
          <a:xfrm>
            <a:off x="841248" y="2011680"/>
            <a:ext cx="4855464" cy="1783080"/>
          </a:xfrm>
          <a:prstGeom prst="rect">
            <a:avLst/>
          </a:prstGeom>
          <a:noFill/>
          <a:ln/>
        </p:spPr>
        <p:txBody>
          <a:bodyPr wrap="square" lIns="0" tIns="0" rIns="0" bIns="0" rtlCol="0" anchor="t"/>
          <a:lstStyle/>
          <a:p>
            <a:pPr indent="0" marL="0">
              <a:spcAft>
                <a:spcPts val="300"/>
              </a:spcAft>
              <a:buNone/>
            </a:pPr>
            <a:r>
              <a:rPr lang="en-US" sz="1300" dirty="0">
                <a:solidFill>
                  <a:srgbClr val="16181D"/>
                </a:solidFill>
                <a:latin typeface="Arial" pitchFamily="34" charset="0"/>
                <a:ea typeface="Arial" pitchFamily="34" charset="-122"/>
                <a:cs typeface="Arial" pitchFamily="34" charset="-120"/>
              </a:rPr>
              <a:t>Reconstruct the 1982–2006 network from coded NTSB fields alone, and check it against every published number.</a:t>
            </a:r>
            <a:endParaRPr lang="en-US" sz="1300" dirty="0"/>
          </a:p>
          <a:p>
            <a:pPr indent="0" marL="0">
              <a:spcAft>
                <a:spcPts val="300"/>
              </a:spcAft>
              <a:buNone/>
            </a:pPr>
            <a:endParaRPr lang="en-US" sz="1300" dirty="0"/>
          </a:p>
          <a:p>
            <a:pPr indent="0" marL="0">
              <a:spcAft>
                <a:spcPts val="300"/>
              </a:spcAft>
              <a:buNone/>
            </a:pPr>
            <a:r>
              <a:rPr lang="en-US" sz="1300" dirty="0">
                <a:solidFill>
                  <a:srgbClr val="16181D"/>
                </a:solidFill>
                <a:latin typeface="Arial" pitchFamily="34" charset="0"/>
                <a:ea typeface="Arial" pitchFamily="34" charset="-122"/>
                <a:cs typeface="Arial" pitchFamily="34" charset="-120"/>
              </a:rPr>
              <a:t>1,742 accidents. No input from the released model file.</a:t>
            </a:r>
            <a:endParaRPr lang="en-US" sz="1300" dirty="0"/>
          </a:p>
        </p:txBody>
      </p:sp>
      <p:sp>
        <p:nvSpPr>
          <p:cNvPr id="8" name="Shape 6"/>
          <p:cNvSpPr/>
          <p:nvPr/>
        </p:nvSpPr>
        <p:spPr>
          <a:xfrm>
            <a:off x="6263640" y="1554480"/>
            <a:ext cx="5257800" cy="2377440"/>
          </a:xfrm>
          <a:prstGeom prst="roundRect">
            <a:avLst>
              <a:gd name="adj" fmla="val 1923"/>
            </a:avLst>
          </a:prstGeom>
          <a:solidFill>
            <a:srgbClr val="F4F6FA"/>
          </a:solidFill>
          <a:ln w="12700">
            <a:solidFill>
              <a:srgbClr val="F4F6FA"/>
            </a:solidFill>
            <a:prstDash val="solid"/>
          </a:ln>
        </p:spPr>
      </p:sp>
      <p:sp>
        <p:nvSpPr>
          <p:cNvPr id="9" name="Text 7"/>
          <p:cNvSpPr txBox="1"/>
          <p:nvPr/>
        </p:nvSpPr>
        <p:spPr>
          <a:xfrm>
            <a:off x="6464808" y="1691640"/>
            <a:ext cx="4855464" cy="274320"/>
          </a:xfrm>
          <a:prstGeom prst="rect">
            <a:avLst/>
          </a:prstGeom>
          <a:noFill/>
          <a:ln/>
        </p:spPr>
        <p:txBody>
          <a:bodyPr wrap="square" lIns="0" tIns="0" rIns="0" bIns="0" rtlCol="0" anchor="t"/>
          <a:lstStyle/>
          <a:p>
            <a:pPr indent="0" marL="0">
              <a:buNone/>
            </a:pPr>
            <a:r>
              <a:rPr lang="en-US" sz="1500" b="1" dirty="0">
                <a:solidFill>
                  <a:srgbClr val="12345C"/>
                </a:solidFill>
                <a:latin typeface="Arial" pitchFamily="34" charset="0"/>
                <a:ea typeface="Arial" pitchFamily="34" charset="-122"/>
                <a:cs typeface="Arial" pitchFamily="34" charset="-120"/>
              </a:rPr>
              <a:t>Job 2 — feed it text.</a:t>
            </a:r>
            <a:endParaRPr lang="en-US" sz="1500" dirty="0"/>
          </a:p>
        </p:txBody>
      </p:sp>
      <p:sp>
        <p:nvSpPr>
          <p:cNvPr id="10" name="Text 8"/>
          <p:cNvSpPr txBox="1"/>
          <p:nvPr/>
        </p:nvSpPr>
        <p:spPr>
          <a:xfrm>
            <a:off x="6464808" y="2011680"/>
            <a:ext cx="4855464" cy="1783080"/>
          </a:xfrm>
          <a:prstGeom prst="rect">
            <a:avLst/>
          </a:prstGeom>
          <a:noFill/>
          <a:ln/>
        </p:spPr>
        <p:txBody>
          <a:bodyPr wrap="square" lIns="0" tIns="0" rIns="0" bIns="0" rtlCol="0" anchor="t"/>
          <a:lstStyle/>
          <a:p>
            <a:pPr indent="0" marL="0">
              <a:spcAft>
                <a:spcPts val="300"/>
              </a:spcAft>
              <a:buNone/>
            </a:pPr>
            <a:r>
              <a:rPr lang="en-US" sz="1300" dirty="0">
                <a:solidFill>
                  <a:srgbClr val="16181D"/>
                </a:solidFill>
                <a:latin typeface="Arial" pitchFamily="34" charset="0"/>
                <a:ea typeface="Arial" pitchFamily="34" charset="-122"/>
                <a:cs typeface="Arial" pitchFamily="34" charset="-120"/>
              </a:rPr>
              <a:t>Take accidents from 2007–2019 the network has never seen, turn each narrative into evidence, and grade the answers against NTSB's own codes.</a:t>
            </a:r>
            <a:endParaRPr lang="en-US" sz="1300" dirty="0"/>
          </a:p>
          <a:p>
            <a:pPr indent="0" marL="0">
              <a:spcAft>
                <a:spcPts val="300"/>
              </a:spcAft>
              <a:buNone/>
            </a:pPr>
            <a:endParaRPr lang="en-US" sz="1300" dirty="0"/>
          </a:p>
          <a:p>
            <a:pPr indent="0" marL="0">
              <a:spcAft>
                <a:spcPts val="300"/>
              </a:spcAft>
              <a:buNone/>
            </a:pPr>
            <a:r>
              <a:rPr lang="en-US" sz="1300" dirty="0">
                <a:solidFill>
                  <a:srgbClr val="16181D"/>
                </a:solidFill>
                <a:latin typeface="Arial" pitchFamily="34" charset="0"/>
                <a:ea typeface="Arial" pitchFamily="34" charset="-122"/>
                <a:cs typeface="Arial" pitchFamily="34" charset="-120"/>
              </a:rPr>
              <a:t>296 accidents for severity, 253 for cause. Nothing retrained.</a:t>
            </a:r>
            <a:endParaRPr lang="en-US" sz="1300" dirty="0"/>
          </a:p>
        </p:txBody>
      </p:sp>
      <p:sp>
        <p:nvSpPr>
          <p:cNvPr id="11" name="Shape 9"/>
          <p:cNvSpPr/>
          <p:nvPr/>
        </p:nvSpPr>
        <p:spPr>
          <a:xfrm>
            <a:off x="640080" y="4206240"/>
            <a:ext cx="10908792" cy="914400"/>
          </a:xfrm>
          <a:prstGeom prst="roundRect">
            <a:avLst>
              <a:gd name="adj" fmla="val 5000"/>
            </a:avLst>
          </a:prstGeom>
          <a:solidFill>
            <a:srgbClr val="12345C"/>
          </a:solidFill>
          <a:ln w="12700">
            <a:solidFill>
              <a:srgbClr val="12345C"/>
            </a:solidFill>
            <a:prstDash val="solid"/>
          </a:ln>
        </p:spPr>
      </p:sp>
      <p:sp>
        <p:nvSpPr>
          <p:cNvPr id="12" name="Text 10"/>
          <p:cNvSpPr txBox="1"/>
          <p:nvPr/>
        </p:nvSpPr>
        <p:spPr>
          <a:xfrm>
            <a:off x="914400" y="4279392"/>
            <a:ext cx="10360152" cy="768096"/>
          </a:xfrm>
          <a:prstGeom prst="rect">
            <a:avLst/>
          </a:prstGeom>
          <a:noFill/>
          <a:ln/>
        </p:spPr>
        <p:txBody>
          <a:bodyPr wrap="square" lIns="0" tIns="0" rIns="0" bIns="0" rtlCol="0" anchor="ctr"/>
          <a:lstStyle/>
          <a:p>
            <a:pPr indent="0" marL="0">
              <a:buNone/>
            </a:pPr>
            <a:r>
              <a:rPr lang="en-US" sz="1500" b="1" dirty="0">
                <a:solidFill>
                  <a:srgbClr val="FFFFFF"/>
                </a:solidFill>
                <a:latin typeface="Arial" pitchFamily="34" charset="0"/>
                <a:ea typeface="Arial" pitchFamily="34" charset="-122"/>
                <a:cs typeface="Arial" pitchFamily="34" charset="-120"/>
              </a:rPr>
              <a:t>The network was built from codes. The question is whether free text can set the evidence instead — without touching the network.</a:t>
            </a:r>
            <a:endParaRPr lang="en-US" sz="1500" dirty="0"/>
          </a:p>
        </p:txBody>
      </p:sp>
      <p:sp>
        <p:nvSpPr>
          <p:cNvPr id="13" name="Text 11"/>
          <p:cNvSpPr txBox="1"/>
          <p:nvPr/>
        </p:nvSpPr>
        <p:spPr>
          <a:xfrm>
            <a:off x="11155680" y="6355080"/>
            <a:ext cx="822960" cy="274320"/>
          </a:xfrm>
          <a:prstGeom prst="rect">
            <a:avLst/>
          </a:prstGeom>
          <a:noFill/>
          <a:ln/>
        </p:spPr>
        <p:txBody>
          <a:bodyPr wrap="square" lIns="0" tIns="0" rIns="0" bIns="0" rtlCol="0" anchor="ctr"/>
          <a:lstStyle/>
          <a:p>
            <a:pPr algn="r" indent="0" marL="0">
              <a:buNone/>
            </a:pPr>
            <a:r>
              <a:rPr lang="en-US" sz="1100" dirty="0">
                <a:solidFill>
                  <a:srgbClr val="B8BCC4"/>
                </a:solidFill>
                <a:latin typeface="Arial" pitchFamily="34" charset="0"/>
                <a:ea typeface="Arial" pitchFamily="34" charset="-122"/>
                <a:cs typeface="Arial" pitchFamily="34" charset="-120"/>
              </a:rPr>
              <a:t>reserve</a:t>
            </a:r>
            <a:endParaRPr lang="en-US" sz="11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91440"/>
          </a:xfrm>
          <a:prstGeom prst="rect">
            <a:avLst/>
          </a:prstGeom>
          <a:solidFill>
            <a:srgbClr val="8A8F99"/>
          </a:solidFill>
          <a:ln/>
        </p:spPr>
      </p:sp>
      <p:sp>
        <p:nvSpPr>
          <p:cNvPr id="3" name="Text 1"/>
          <p:cNvSpPr txBox="1"/>
          <p:nvPr/>
        </p:nvSpPr>
        <p:spPr>
          <a:xfrm>
            <a:off x="640080" y="384048"/>
            <a:ext cx="10908792" cy="566928"/>
          </a:xfrm>
          <a:prstGeom prst="rect">
            <a:avLst/>
          </a:prstGeom>
          <a:noFill/>
          <a:ln/>
        </p:spPr>
        <p:txBody>
          <a:bodyPr wrap="square" lIns="0" tIns="0" rIns="0" bIns="0" rtlCol="0" anchor="t"/>
          <a:lstStyle/>
          <a:p>
            <a:pPr indent="0" marL="0">
              <a:buNone/>
            </a:pPr>
            <a:r>
              <a:rPr lang="en-US" sz="2700" b="1" dirty="0">
                <a:solidFill>
                  <a:srgbClr val="16181D"/>
                </a:solidFill>
                <a:latin typeface="Arial" pitchFamily="34" charset="0"/>
                <a:ea typeface="Arial" pitchFamily="34" charset="-122"/>
                <a:cs typeface="Arial" pitchFamily="34" charset="-120"/>
              </a:rPr>
              <a:t>The rest of the list</a:t>
            </a:r>
            <a:endParaRPr lang="en-US" sz="2700" dirty="0"/>
          </a:p>
        </p:txBody>
      </p:sp>
      <p:sp>
        <p:nvSpPr>
          <p:cNvPr id="4" name="Text 2"/>
          <p:cNvSpPr txBox="1"/>
          <p:nvPr/>
        </p:nvSpPr>
        <p:spPr>
          <a:xfrm>
            <a:off x="640080" y="969264"/>
            <a:ext cx="10908792" cy="347472"/>
          </a:xfrm>
          <a:prstGeom prst="rect">
            <a:avLst/>
          </a:prstGeom>
          <a:noFill/>
          <a:ln/>
        </p:spPr>
        <p:txBody>
          <a:bodyPr wrap="square" lIns="0" tIns="0" rIns="0" bIns="0" rtlCol="0" anchor="t"/>
          <a:lstStyle/>
          <a:p>
            <a:pPr indent="0" marL="0">
              <a:buNone/>
            </a:pPr>
            <a:r>
              <a:rPr lang="en-US" sz="1400" dirty="0">
                <a:solidFill>
                  <a:srgbClr val="6B7280"/>
                </a:solidFill>
                <a:latin typeface="Arial" pitchFamily="34" charset="0"/>
                <a:ea typeface="Arial" pitchFamily="34" charset="-122"/>
                <a:cs typeface="Arial" pitchFamily="34" charset="-120"/>
              </a:rPr>
              <a:t>Only if he asks "what else did you find?"</a:t>
            </a:r>
            <a:endParaRPr lang="en-US" sz="1400" dirty="0"/>
          </a:p>
        </p:txBody>
      </p:sp>
      <p:sp>
        <p:nvSpPr>
          <p:cNvPr id="5" name="Shape 3"/>
          <p:cNvSpPr/>
          <p:nvPr/>
        </p:nvSpPr>
        <p:spPr>
          <a:xfrm>
            <a:off x="640080" y="1463040"/>
            <a:ext cx="10908792" cy="365760"/>
          </a:xfrm>
          <a:prstGeom prst="rect">
            <a:avLst/>
          </a:prstGeom>
          <a:solidFill>
            <a:srgbClr val="12345C"/>
          </a:solidFill>
          <a:ln w="12700">
            <a:solidFill>
              <a:srgbClr val="12345C"/>
            </a:solidFill>
            <a:prstDash val="solid"/>
          </a:ln>
        </p:spPr>
      </p:sp>
      <p:sp>
        <p:nvSpPr>
          <p:cNvPr id="6" name="Text 4"/>
          <p:cNvSpPr txBox="1"/>
          <p:nvPr/>
        </p:nvSpPr>
        <p:spPr>
          <a:xfrm>
            <a:off x="786384" y="1463040"/>
            <a:ext cx="1106424" cy="36576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Where</a:t>
            </a:r>
            <a:endParaRPr lang="en-US" sz="1150" dirty="0"/>
          </a:p>
        </p:txBody>
      </p:sp>
      <p:sp>
        <p:nvSpPr>
          <p:cNvPr id="7" name="Text 5"/>
          <p:cNvSpPr txBox="1"/>
          <p:nvPr/>
        </p:nvSpPr>
        <p:spPr>
          <a:xfrm>
            <a:off x="2112264" y="1463040"/>
            <a:ext cx="9107424" cy="365760"/>
          </a:xfrm>
          <a:prstGeom prst="rect">
            <a:avLst/>
          </a:prstGeom>
          <a:noFill/>
          <a:ln/>
        </p:spPr>
        <p:txBody>
          <a:bodyPr wrap="square" lIns="0" tIns="0" rIns="0" bIns="0" rtlCol="0" anchor="ctr"/>
          <a:lstStyle/>
          <a:p>
            <a:pPr indent="0" marL="0">
              <a:buNone/>
            </a:pPr>
            <a:r>
              <a:rPr lang="en-US" sz="1150" b="1" dirty="0">
                <a:solidFill>
                  <a:srgbClr val="FFFFFF"/>
                </a:solidFill>
                <a:latin typeface="Arial" pitchFamily="34" charset="0"/>
                <a:ea typeface="Arial" pitchFamily="34" charset="-122"/>
                <a:cs typeface="Arial" pitchFamily="34" charset="-120"/>
              </a:rPr>
              <a:t>Issue</a:t>
            </a:r>
            <a:endParaRPr lang="en-US" sz="1150" dirty="0"/>
          </a:p>
        </p:txBody>
      </p:sp>
      <p:sp>
        <p:nvSpPr>
          <p:cNvPr id="8" name="Text 6"/>
          <p:cNvSpPr txBox="1"/>
          <p:nvPr/>
        </p:nvSpPr>
        <p:spPr>
          <a:xfrm>
            <a:off x="786384" y="1828800"/>
            <a:ext cx="1106424" cy="749808"/>
          </a:xfrm>
          <a:prstGeom prst="rect">
            <a:avLst/>
          </a:prstGeom>
          <a:noFill/>
          <a:ln/>
        </p:spPr>
        <p:txBody>
          <a:bodyPr wrap="square" lIns="0" tIns="0" rIns="0" bIns="0" rtlCol="0" anchor="ctr"/>
          <a:lstStyle/>
          <a:p>
            <a:pPr indent="0" marL="0">
              <a:buNone/>
            </a:pPr>
            <a:r>
              <a:rPr lang="en-US" sz="1000" b="1" dirty="0">
                <a:solidFill>
                  <a:srgbClr val="16181D"/>
                </a:solidFill>
                <a:latin typeface="Arial" pitchFamily="34" charset="0"/>
                <a:ea typeface="Arial" pitchFamily="34" charset="-122"/>
                <a:cs typeface="Arial" pitchFamily="34" charset="-120"/>
              </a:rPr>
              <a:t>§8.1 §8.2</a:t>
            </a:r>
            <a:endParaRPr lang="en-US" sz="1000" dirty="0"/>
          </a:p>
        </p:txBody>
      </p:sp>
      <p:sp>
        <p:nvSpPr>
          <p:cNvPr id="9" name="Text 7"/>
          <p:cNvSpPr txBox="1"/>
          <p:nvPr/>
        </p:nvSpPr>
        <p:spPr>
          <a:xfrm>
            <a:off x="2112264" y="1828800"/>
            <a:ext cx="9107424" cy="749808"/>
          </a:xfrm>
          <a:prstGeom prst="rect">
            <a:avLst/>
          </a:prstGeom>
          <a:noFill/>
          <a:ln/>
        </p:spPr>
        <p:txBody>
          <a:bodyPr wrap="square" lIns="0" tIns="0" rIns="0" bIns="0" rtlCol="0" anchor="ctr"/>
          <a:lstStyle/>
          <a:p>
            <a:pPr indent="0" marL="0">
              <a:buNone/>
            </a:pPr>
            <a:r>
              <a:rPr lang="en-US" sz="1000" dirty="0">
                <a:solidFill>
                  <a:srgbClr val="16181D"/>
                </a:solidFill>
                <a:latin typeface="Arial" pitchFamily="34" charset="0"/>
                <a:ea typeface="Arial" pitchFamily="34" charset="-122"/>
                <a:cs typeface="Arial" pitchFamily="34" charset="-120"/>
              </a:rPr>
              <a:t>Baselines that beat us are under-reported. "Ties supervised baselines" holds for injury accuracy (McNemar p = 0.289) but not Macro-F1 (0.603 vs 0.470). Table 8 shows embedding LR at 88.1% over retrieval's 84.2% and the prose doesn't say so.</a:t>
            </a:r>
            <a:endParaRPr lang="en-US" sz="1000" dirty="0"/>
          </a:p>
        </p:txBody>
      </p:sp>
      <p:sp>
        <p:nvSpPr>
          <p:cNvPr id="10" name="Shape 8"/>
          <p:cNvSpPr/>
          <p:nvPr/>
        </p:nvSpPr>
        <p:spPr>
          <a:xfrm>
            <a:off x="640080" y="2578608"/>
            <a:ext cx="10908792" cy="749808"/>
          </a:xfrm>
          <a:prstGeom prst="rect">
            <a:avLst/>
          </a:prstGeom>
          <a:solidFill>
            <a:srgbClr val="F7F8FA"/>
          </a:solidFill>
          <a:ln w="12700">
            <a:solidFill>
              <a:srgbClr val="F7F8FA"/>
            </a:solidFill>
            <a:prstDash val="solid"/>
          </a:ln>
        </p:spPr>
      </p:sp>
      <p:sp>
        <p:nvSpPr>
          <p:cNvPr id="11" name="Text 9"/>
          <p:cNvSpPr txBox="1"/>
          <p:nvPr/>
        </p:nvSpPr>
        <p:spPr>
          <a:xfrm>
            <a:off x="786384" y="2578608"/>
            <a:ext cx="1106424" cy="749808"/>
          </a:xfrm>
          <a:prstGeom prst="rect">
            <a:avLst/>
          </a:prstGeom>
          <a:noFill/>
          <a:ln/>
        </p:spPr>
        <p:txBody>
          <a:bodyPr wrap="square" lIns="0" tIns="0" rIns="0" bIns="0" rtlCol="0" anchor="ctr"/>
          <a:lstStyle/>
          <a:p>
            <a:pPr indent="0" marL="0">
              <a:buNone/>
            </a:pPr>
            <a:r>
              <a:rPr lang="en-US" sz="1000" b="1" dirty="0">
                <a:solidFill>
                  <a:srgbClr val="16181D"/>
                </a:solidFill>
                <a:latin typeface="Arial" pitchFamily="34" charset="0"/>
                <a:ea typeface="Arial" pitchFamily="34" charset="-122"/>
                <a:cs typeface="Arial" pitchFamily="34" charset="-120"/>
              </a:rPr>
              <a:t>§10.1</a:t>
            </a:r>
            <a:endParaRPr lang="en-US" sz="1000" dirty="0"/>
          </a:p>
        </p:txBody>
      </p:sp>
      <p:sp>
        <p:nvSpPr>
          <p:cNvPr id="12" name="Text 10"/>
          <p:cNvSpPr txBox="1"/>
          <p:nvPr/>
        </p:nvSpPr>
        <p:spPr>
          <a:xfrm>
            <a:off x="2112264" y="2578608"/>
            <a:ext cx="9107424" cy="749808"/>
          </a:xfrm>
          <a:prstGeom prst="rect">
            <a:avLst/>
          </a:prstGeom>
          <a:noFill/>
          <a:ln/>
        </p:spPr>
        <p:txBody>
          <a:bodyPr wrap="square" lIns="0" tIns="0" rIns="0" bIns="0" rtlCol="0" anchor="ctr"/>
          <a:lstStyle/>
          <a:p>
            <a:pPr indent="0" marL="0">
              <a:buNone/>
            </a:pPr>
            <a:r>
              <a:rPr lang="en-US" sz="1000" dirty="0">
                <a:solidFill>
                  <a:srgbClr val="16181D"/>
                </a:solidFill>
                <a:latin typeface="Arial" pitchFamily="34" charset="0"/>
                <a:ea typeface="Arial" pitchFamily="34" charset="-122"/>
                <a:cs typeface="Arial" pitchFamily="34" charset="-120"/>
              </a:rPr>
              <a:t>"12 of 93" never names the build — strict rebuild differs on 26. Table 7's 85/85 is a separate scoreboard, not part of the 93; as written it can read as "85 of 93."</a:t>
            </a:r>
            <a:endParaRPr lang="en-US" sz="1000" dirty="0"/>
          </a:p>
        </p:txBody>
      </p:sp>
      <p:sp>
        <p:nvSpPr>
          <p:cNvPr id="13" name="Text 11"/>
          <p:cNvSpPr txBox="1"/>
          <p:nvPr/>
        </p:nvSpPr>
        <p:spPr>
          <a:xfrm>
            <a:off x="786384" y="3328416"/>
            <a:ext cx="1106424" cy="749808"/>
          </a:xfrm>
          <a:prstGeom prst="rect">
            <a:avLst/>
          </a:prstGeom>
          <a:noFill/>
          <a:ln/>
        </p:spPr>
        <p:txBody>
          <a:bodyPr wrap="square" lIns="0" tIns="0" rIns="0" bIns="0" rtlCol="0" anchor="ctr"/>
          <a:lstStyle/>
          <a:p>
            <a:pPr indent="0" marL="0">
              <a:buNone/>
            </a:pPr>
            <a:r>
              <a:rPr lang="en-US" sz="1000" b="1" dirty="0">
                <a:solidFill>
                  <a:srgbClr val="16181D"/>
                </a:solidFill>
                <a:latin typeface="Arial" pitchFamily="34" charset="0"/>
                <a:ea typeface="Arial" pitchFamily="34" charset="-122"/>
                <a:cs typeface="Arial" pitchFamily="34" charset="-120"/>
              </a:rPr>
              <a:t>§1</a:t>
            </a:r>
            <a:endParaRPr lang="en-US" sz="1000" dirty="0"/>
          </a:p>
        </p:txBody>
      </p:sp>
      <p:sp>
        <p:nvSpPr>
          <p:cNvPr id="14" name="Text 12"/>
          <p:cNvSpPr txBox="1"/>
          <p:nvPr/>
        </p:nvSpPr>
        <p:spPr>
          <a:xfrm>
            <a:off x="2112264" y="3328416"/>
            <a:ext cx="9107424" cy="749808"/>
          </a:xfrm>
          <a:prstGeom prst="rect">
            <a:avLst/>
          </a:prstGeom>
          <a:noFill/>
          <a:ln/>
        </p:spPr>
        <p:txBody>
          <a:bodyPr wrap="square" lIns="0" tIns="0" rIns="0" bIns="0" rtlCol="0" anchor="ctr"/>
          <a:lstStyle/>
          <a:p>
            <a:pPr indent="0" marL="0">
              <a:buNone/>
            </a:pPr>
            <a:r>
              <a:rPr lang="en-US" sz="1000" dirty="0">
                <a:solidFill>
                  <a:srgbClr val="16181D"/>
                </a:solidFill>
                <a:latin typeface="Arial" pitchFamily="34" charset="0"/>
                <a:ea typeface="Arial" pitchFamily="34" charset="-122"/>
                <a:cs typeface="Arial" pitchFamily="34" charset="-120"/>
              </a:rPr>
              <a:t>"Extended so the reproduction matches the published numbers" overclaims.</a:t>
            </a:r>
            <a:endParaRPr lang="en-US" sz="1000" dirty="0"/>
          </a:p>
        </p:txBody>
      </p:sp>
      <p:sp>
        <p:nvSpPr>
          <p:cNvPr id="15" name="Shape 13"/>
          <p:cNvSpPr/>
          <p:nvPr/>
        </p:nvSpPr>
        <p:spPr>
          <a:xfrm>
            <a:off x="640080" y="4078224"/>
            <a:ext cx="10908792" cy="749808"/>
          </a:xfrm>
          <a:prstGeom prst="rect">
            <a:avLst/>
          </a:prstGeom>
          <a:solidFill>
            <a:srgbClr val="F7F8FA"/>
          </a:solidFill>
          <a:ln w="12700">
            <a:solidFill>
              <a:srgbClr val="F7F8FA"/>
            </a:solidFill>
            <a:prstDash val="solid"/>
          </a:ln>
        </p:spPr>
      </p:sp>
      <p:sp>
        <p:nvSpPr>
          <p:cNvPr id="16" name="Text 14"/>
          <p:cNvSpPr txBox="1"/>
          <p:nvPr/>
        </p:nvSpPr>
        <p:spPr>
          <a:xfrm>
            <a:off x="786384" y="4078224"/>
            <a:ext cx="1106424" cy="749808"/>
          </a:xfrm>
          <a:prstGeom prst="rect">
            <a:avLst/>
          </a:prstGeom>
          <a:noFill/>
          <a:ln/>
        </p:spPr>
        <p:txBody>
          <a:bodyPr wrap="square" lIns="0" tIns="0" rIns="0" bIns="0" rtlCol="0" anchor="ctr"/>
          <a:lstStyle/>
          <a:p>
            <a:pPr indent="0" marL="0">
              <a:buNone/>
            </a:pPr>
            <a:r>
              <a:rPr lang="en-US" sz="1000" b="1" dirty="0">
                <a:solidFill>
                  <a:srgbClr val="16181D"/>
                </a:solidFill>
                <a:latin typeface="Arial" pitchFamily="34" charset="0"/>
                <a:ea typeface="Arial" pitchFamily="34" charset="-122"/>
                <a:cs typeface="Arial" pitchFamily="34" charset="-120"/>
              </a:rPr>
              <a:t>§10.2</a:t>
            </a:r>
            <a:endParaRPr lang="en-US" sz="1000" dirty="0"/>
          </a:p>
        </p:txBody>
      </p:sp>
      <p:sp>
        <p:nvSpPr>
          <p:cNvPr id="17" name="Text 15"/>
          <p:cNvSpPr txBox="1"/>
          <p:nvPr/>
        </p:nvSpPr>
        <p:spPr>
          <a:xfrm>
            <a:off x="2112264" y="4078224"/>
            <a:ext cx="9107424" cy="749808"/>
          </a:xfrm>
          <a:prstGeom prst="rect">
            <a:avLst/>
          </a:prstGeom>
          <a:noFill/>
          <a:ln/>
        </p:spPr>
        <p:txBody>
          <a:bodyPr wrap="square" lIns="0" tIns="0" rIns="0" bIns="0" rtlCol="0" anchor="ctr"/>
          <a:lstStyle/>
          <a:p>
            <a:pPr indent="0" marL="0">
              <a:buNone/>
            </a:pPr>
            <a:r>
              <a:rPr lang="en-US" sz="1000" dirty="0">
                <a:solidFill>
                  <a:srgbClr val="16181D"/>
                </a:solidFill>
                <a:latin typeface="Arial" pitchFamily="34" charset="0"/>
                <a:ea typeface="Arial" pitchFamily="34" charset="-122"/>
                <a:cs typeface="Arial" pitchFamily="34" charset="-120"/>
              </a:rPr>
              <a:t>Three limitations missing: encoder pretraining may include 2007–2019 text; per-flight priors put posteriors far below empirical rates; two cells return the prior unchanged.</a:t>
            </a:r>
            <a:endParaRPr lang="en-US" sz="1000" dirty="0"/>
          </a:p>
        </p:txBody>
      </p:sp>
      <p:sp>
        <p:nvSpPr>
          <p:cNvPr id="18" name="Text 16"/>
          <p:cNvSpPr txBox="1"/>
          <p:nvPr/>
        </p:nvSpPr>
        <p:spPr>
          <a:xfrm>
            <a:off x="786384" y="4828032"/>
            <a:ext cx="1106424" cy="749808"/>
          </a:xfrm>
          <a:prstGeom prst="rect">
            <a:avLst/>
          </a:prstGeom>
          <a:noFill/>
          <a:ln/>
        </p:spPr>
        <p:txBody>
          <a:bodyPr wrap="square" lIns="0" tIns="0" rIns="0" bIns="0" rtlCol="0" anchor="ctr"/>
          <a:lstStyle/>
          <a:p>
            <a:pPr indent="0" marL="0">
              <a:buNone/>
            </a:pPr>
            <a:r>
              <a:rPr lang="en-US" sz="1000" b="1" dirty="0">
                <a:solidFill>
                  <a:srgbClr val="16181D"/>
                </a:solidFill>
                <a:latin typeface="Arial" pitchFamily="34" charset="0"/>
                <a:ea typeface="Arial" pitchFamily="34" charset="-122"/>
                <a:cs typeface="Arial" pitchFamily="34" charset="-120"/>
              </a:rPr>
              <a:t>§4</a:t>
            </a:r>
            <a:endParaRPr lang="en-US" sz="1000" dirty="0"/>
          </a:p>
        </p:txBody>
      </p:sp>
      <p:sp>
        <p:nvSpPr>
          <p:cNvPr id="19" name="Text 17"/>
          <p:cNvSpPr txBox="1"/>
          <p:nvPr/>
        </p:nvSpPr>
        <p:spPr>
          <a:xfrm>
            <a:off x="2112264" y="4828032"/>
            <a:ext cx="9107424" cy="749808"/>
          </a:xfrm>
          <a:prstGeom prst="rect">
            <a:avLst/>
          </a:prstGeom>
          <a:noFill/>
          <a:ln/>
        </p:spPr>
        <p:txBody>
          <a:bodyPr wrap="square" lIns="0" tIns="0" rIns="0" bIns="0" rtlCol="0" anchor="ctr"/>
          <a:lstStyle/>
          <a:p>
            <a:pPr indent="0" marL="0">
              <a:buNone/>
            </a:pPr>
            <a:r>
              <a:rPr lang="en-US" sz="1000" dirty="0">
                <a:solidFill>
                  <a:srgbClr val="16181D"/>
                </a:solidFill>
                <a:latin typeface="Arial" pitchFamily="34" charset="0"/>
                <a:ea typeface="Arial" pitchFamily="34" charset="-122"/>
                <a:cs typeface="Arial" pitchFamily="34" charset="-120"/>
              </a:rPr>
              <a:t>Conditional independence and d-separation appear nowhere in a Bayesian network paper. §4.2 says the brake-wear posterior is "higher than the prior" without computing it — it's 0.64, up from 0.10.</a:t>
            </a:r>
            <a:endParaRPr lang="en-US" sz="1000" dirty="0"/>
          </a:p>
        </p:txBody>
      </p:sp>
      <p:sp>
        <p:nvSpPr>
          <p:cNvPr id="20" name="Shape 18"/>
          <p:cNvSpPr/>
          <p:nvPr/>
        </p:nvSpPr>
        <p:spPr>
          <a:xfrm>
            <a:off x="640080" y="5577840"/>
            <a:ext cx="10908792" cy="749808"/>
          </a:xfrm>
          <a:prstGeom prst="rect">
            <a:avLst/>
          </a:prstGeom>
          <a:solidFill>
            <a:srgbClr val="F7F8FA"/>
          </a:solidFill>
          <a:ln w="12700">
            <a:solidFill>
              <a:srgbClr val="F7F8FA"/>
            </a:solidFill>
            <a:prstDash val="solid"/>
          </a:ln>
        </p:spPr>
      </p:sp>
      <p:sp>
        <p:nvSpPr>
          <p:cNvPr id="21" name="Text 19"/>
          <p:cNvSpPr txBox="1"/>
          <p:nvPr/>
        </p:nvSpPr>
        <p:spPr>
          <a:xfrm>
            <a:off x="786384" y="5577840"/>
            <a:ext cx="1106424" cy="749808"/>
          </a:xfrm>
          <a:prstGeom prst="rect">
            <a:avLst/>
          </a:prstGeom>
          <a:noFill/>
          <a:ln/>
        </p:spPr>
        <p:txBody>
          <a:bodyPr wrap="square" lIns="0" tIns="0" rIns="0" bIns="0" rtlCol="0" anchor="ctr"/>
          <a:lstStyle/>
          <a:p>
            <a:pPr indent="0" marL="0">
              <a:buNone/>
            </a:pPr>
            <a:r>
              <a:rPr lang="en-US" sz="1000" b="1" dirty="0">
                <a:solidFill>
                  <a:srgbClr val="16181D"/>
                </a:solidFill>
                <a:latin typeface="Arial" pitchFamily="34" charset="0"/>
                <a:ea typeface="Arial" pitchFamily="34" charset="-122"/>
                <a:cs typeface="Arial" pitchFamily="34" charset="-120"/>
              </a:rPr>
              <a:t>mechanics</a:t>
            </a:r>
            <a:endParaRPr lang="en-US" sz="1000" dirty="0"/>
          </a:p>
        </p:txBody>
      </p:sp>
      <p:sp>
        <p:nvSpPr>
          <p:cNvPr id="22" name="Text 20"/>
          <p:cNvSpPr txBox="1"/>
          <p:nvPr/>
        </p:nvSpPr>
        <p:spPr>
          <a:xfrm>
            <a:off x="2112264" y="5577840"/>
            <a:ext cx="9107424" cy="749808"/>
          </a:xfrm>
          <a:prstGeom prst="rect">
            <a:avLst/>
          </a:prstGeom>
          <a:noFill/>
          <a:ln/>
        </p:spPr>
        <p:txBody>
          <a:bodyPr wrap="square" lIns="0" tIns="0" rIns="0" bIns="0" rtlCol="0" anchor="ctr"/>
          <a:lstStyle/>
          <a:p>
            <a:pPr indent="0" marL="0">
              <a:buNone/>
            </a:pPr>
            <a:r>
              <a:rPr lang="en-US" sz="1000" dirty="0">
                <a:solidFill>
                  <a:srgbClr val="16181D"/>
                </a:solidFill>
                <a:latin typeface="Arial" pitchFamily="34" charset="0"/>
                <a:ea typeface="Arial" pitchFamily="34" charset="-122"/>
                <a:cs typeface="Arial" pitchFamily="34" charset="-120"/>
              </a:rPr>
              <a:t>Tables run 6 → 8, then mine collide with yours. §8.2 points at §8.3 for CICTT. §7 unnumbered. Duplicated paragraph. Table 1's 1,288 needs its filter stated.</a:t>
            </a:r>
            <a:endParaRPr lang="en-US" sz="1000" dirty="0"/>
          </a:p>
        </p:txBody>
      </p:sp>
      <p:sp>
        <p:nvSpPr>
          <p:cNvPr id="23" name="Text 21"/>
          <p:cNvSpPr txBox="1"/>
          <p:nvPr/>
        </p:nvSpPr>
        <p:spPr>
          <a:xfrm>
            <a:off x="11155680" y="6355080"/>
            <a:ext cx="822960" cy="274320"/>
          </a:xfrm>
          <a:prstGeom prst="rect">
            <a:avLst/>
          </a:prstGeom>
          <a:noFill/>
          <a:ln/>
        </p:spPr>
        <p:txBody>
          <a:bodyPr wrap="square" lIns="0" tIns="0" rIns="0" bIns="0" rtlCol="0" anchor="ctr"/>
          <a:lstStyle/>
          <a:p>
            <a:pPr algn="r" indent="0" marL="0">
              <a:buNone/>
            </a:pPr>
            <a:r>
              <a:rPr lang="en-US" sz="1100" dirty="0">
                <a:solidFill>
                  <a:srgbClr val="B8BCC4"/>
                </a:solidFill>
                <a:latin typeface="Arial" pitchFamily="34" charset="0"/>
                <a:ea typeface="Arial" pitchFamily="34" charset="-122"/>
                <a:cs typeface="Arial" pitchFamily="34" charset="-120"/>
              </a:rPr>
              <a:t>reserve</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Maha meeting 8 Sept 2026 — audit + proposal</dc:title>
  <dc:subject>PptxGenJS Presentation</dc:subject>
  <dc:creator>Kanu Shetkar</dc:creator>
  <cp:lastModifiedBy>Kanu Shetkar</cp:lastModifiedBy>
  <cp:revision>1</cp:revision>
  <dcterms:created xsi:type="dcterms:W3CDTF">2026-09-08T03:54:47Z</dcterms:created>
  <dcterms:modified xsi:type="dcterms:W3CDTF">2026-09-08T03:54:47Z</dcterms:modified>
</cp:coreProperties>
</file>